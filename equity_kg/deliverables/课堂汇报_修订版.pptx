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36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本次汇报研究企业股权知识表示与风险推理。当企业背后还有企业，只看一张股东表就难以看清关系。我们用虚构案例，演示如何追踪控制人、计算经济持股，并给出需要核查的风险线索。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zh-CN" altLang="en-US"/>
              <a:t>课堂报告</a:t>
            </a:r>
            <a:r>
              <a:rPr lang="en-US" altLang="zh-CN"/>
              <a:t>_</a:t>
            </a:r>
            <a:r>
              <a:rPr lang="zh-CN" altLang="en-US"/>
              <a:t>修订版</a:t>
            </a:r>
            <a:r>
              <a:rPr lang="en-US" altLang="zh-CN"/>
              <a:t>.docx</a:t>
            </a:r>
            <a:r>
              <a:rPr lang="zh-CN" altLang="en-US"/>
              <a:t>：摘要、背景与目标；本项目合成教学数据。</a:t>
            </a:r>
          </a:p>
          <a:p>
            <a:r>
              <a:rPr lang="en-US" altLang="zh-CN"/>
              <a:t>[/Sources]</a:t>
            </a:r>
          </a:p>
          <a:p>
            <a:endParaRPr lang="en-US" altLang="zh-CN"/>
          </a:p>
          <a:p>
            <a:r>
              <a:rPr lang="zh-CN" altLang="en-US"/>
              <a:t>组员与分工</a:t>
            </a:r>
          </a:p>
          <a:p>
            <a:r>
              <a:rPr lang="zh-CN" altLang="en-US"/>
              <a:t>梁镇贤（组长）　</a:t>
            </a:r>
            <a:r>
              <a:rPr lang="en-US" altLang="zh-CN"/>
              <a:t>202425220516</a:t>
            </a:r>
            <a:r>
              <a:rPr lang="zh-CN" altLang="en-US"/>
              <a:t>　项目统筹、数据建模与功能联调</a:t>
            </a:r>
          </a:p>
          <a:p>
            <a:r>
              <a:rPr lang="zh-CN" altLang="en-US"/>
              <a:t>陈宗波　</a:t>
            </a:r>
            <a:r>
              <a:rPr lang="en-US" altLang="zh-CN"/>
              <a:t>202425220507</a:t>
            </a:r>
            <a:r>
              <a:rPr lang="zh-CN" altLang="en-US"/>
              <a:t>　知识图谱构建、股权路径分析与可视化</a:t>
            </a:r>
          </a:p>
          <a:p>
            <a:r>
              <a:rPr lang="zh-CN" altLang="en-US"/>
              <a:t>温文辉　</a:t>
            </a:r>
            <a:r>
              <a:rPr lang="en-US" altLang="zh-CN"/>
              <a:t>202425220523</a:t>
            </a:r>
            <a:r>
              <a:rPr lang="zh-CN" altLang="en-US"/>
              <a:t>　产生式规则、控制关系推理与解释链</a:t>
            </a:r>
          </a:p>
          <a:p>
            <a:r>
              <a:rPr lang="zh-CN" altLang="en-US"/>
              <a:t>陈宇冲　</a:t>
            </a:r>
            <a:r>
              <a:rPr lang="en-US" altLang="zh-CN"/>
              <a:t>202425220505</a:t>
            </a:r>
            <a:r>
              <a:rPr lang="zh-CN" altLang="en-US"/>
              <a:t>　框架表示、风险线索汇总与测试验证</a:t>
            </a:r>
          </a:p>
          <a:p>
            <a:r>
              <a:rPr lang="zh-CN" altLang="en-US"/>
              <a:t>刘亦达　</a:t>
            </a:r>
            <a:r>
              <a:rPr lang="en-US" altLang="zh-CN"/>
              <a:t>202425220518</a:t>
            </a:r>
            <a:r>
              <a:rPr lang="zh-CN" altLang="en-US"/>
              <a:t>　查询效率对比、结果分析与材料整合</a:t>
            </a:r>
          </a:p>
          <a:p>
            <a:r>
              <a:rPr lang="zh-CN" altLang="en-US"/>
              <a:t>各成员工作量大致均衡，共同参与系统开发、测试验证、报告修改与汇报准备；表中列出各自侧重。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股权穿透，就是沿着多层股东关系向上追踪。在贷款审批和投资尽调中，既要知道谁控制企业，也要判断交易双方是否关联。多层持股和交叉担保增加了核查难度，因此需要把分散记录连接起来。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zh-CN" altLang="en-US"/>
              <a:t>课堂报告</a:t>
            </a:r>
            <a:r>
              <a:rPr lang="en-US" altLang="zh-CN"/>
              <a:t>_</a:t>
            </a:r>
            <a:r>
              <a:rPr lang="zh-CN" altLang="en-US"/>
              <a:t>修订版</a:t>
            </a:r>
            <a:r>
              <a:rPr lang="en-US" altLang="zh-CN"/>
              <a:t>.docx</a:t>
            </a:r>
            <a:r>
              <a:rPr lang="zh-CN" altLang="en-US"/>
              <a:t>：四、背景与目标；行业场景为本项目问题设定。</a:t>
            </a:r>
          </a:p>
          <a:p>
            <a:r>
              <a:rPr lang="en-US" altLang="zh-CN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行业参考是国际调查记者同盟的离岸数据库，它把人员、企业和中介连接起来，辅助关系追踪。我们的课堂流程是整理记录、建立关系网络、执行查询，再核查证据。使用十六个虚构实体，演示控制识别、关联交易和环路检测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ICIJ, About the Offshore Leaks Database: https://offshoreleaks.icij.org/pages/about</a:t>
            </a:r>
          </a:p>
          <a:p>
            <a:r>
              <a:rPr lang="zh-CN" altLang="en-US"/>
              <a:t>课堂报告</a:t>
            </a:r>
            <a:r>
              <a:rPr lang="en-US" altLang="zh-CN"/>
              <a:t>_</a:t>
            </a:r>
            <a:r>
              <a:rPr lang="zh-CN" altLang="en-US"/>
              <a:t>修订版</a:t>
            </a:r>
            <a:r>
              <a:rPr lang="en-US" altLang="zh-CN"/>
              <a:t>.docx</a:t>
            </a:r>
            <a:r>
              <a:rPr lang="zh-CN" altLang="en-US"/>
              <a:t>：四、背景与目标。整理记录、建模、查询、核查为本项目流程，不是对</a:t>
            </a:r>
            <a:r>
              <a:rPr lang="en-US" altLang="zh-CN"/>
              <a:t>ICIJ</a:t>
            </a:r>
            <a:r>
              <a:rPr lang="zh-CN" altLang="en-US"/>
              <a:t>内部实现的断言。</a:t>
            </a:r>
          </a:p>
          <a:p>
            <a:r>
              <a:rPr lang="en-US" altLang="zh-CN"/>
              <a:t>dataset.py: demo_dataset</a:t>
            </a:r>
            <a:r>
              <a:rPr lang="zh-CN" altLang="en-US"/>
              <a:t>；</a:t>
            </a:r>
            <a:r>
              <a:rPr lang="en-US" altLang="zh-CN"/>
              <a:t>data/demo/ </a:t>
            </a:r>
            <a:r>
              <a:rPr lang="zh-CN" altLang="en-US"/>
              <a:t>合成数据。</a:t>
            </a:r>
          </a:p>
          <a:p>
            <a:r>
              <a:rPr lang="en-US" altLang="zh-CN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来看恒通科技。王建国持有华鑫控股百分之八十，华鑫控股持有华鑫实业百分之六十五。这两家企业分别持有恒通科技百分之二十和三十五。基于这些事实，我们分别回答控制关系和经济持股两个问题。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dataset.py: demo_dataset</a:t>
            </a:r>
            <a:r>
              <a:rPr lang="zh-CN" altLang="en-US"/>
              <a:t>；</a:t>
            </a:r>
            <a:r>
              <a:rPr lang="en-US" altLang="zh-CN"/>
              <a:t>data/demo/holdings.csv</a:t>
            </a:r>
            <a:r>
              <a:rPr lang="zh-CN" altLang="en-US"/>
              <a:t>、</a:t>
            </a:r>
            <a:r>
              <a:rPr lang="en-US" altLang="zh-CN"/>
              <a:t>persons.csv</a:t>
            </a:r>
            <a:r>
              <a:rPr lang="zh-CN" altLang="en-US"/>
              <a:t>、</a:t>
            </a:r>
            <a:r>
              <a:rPr lang="en-US" altLang="zh-CN"/>
              <a:t>companies.csv</a:t>
            </a:r>
            <a:r>
              <a:rPr lang="zh-CN" altLang="en-US"/>
              <a:t>。所有名称与关系均为合成教学数据。</a:t>
            </a:r>
          </a:p>
          <a:p>
            <a:r>
              <a:rPr lang="en-US" altLang="zh-CN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同一案例采用三种表示。图谱用节点和边支持路径查询；产生式把事实与条件结合，例如持股超过百分之五十推出教学控制关系；框架通过槽和继承组织企业属性。它们分别面临数据质量、匹配成本和缺省值解释问题。</a:t>
            </a:r>
          </a:p>
          <a:p>
            <a:endParaRPr lang="zh-CN" altLang="en-US"/>
          </a:p>
          <a:p>
            <a:r>
              <a:rPr lang="en-US" altLang="zh-CN"/>
              <a:t>[</a:t>
            </a:r>
            <a:r>
              <a:rPr lang="en-US"/>
              <a:t>Sources]</a:t>
            </a:r>
          </a:p>
          <a:p>
            <a:r>
              <a:rPr lang="en-US"/>
              <a:t>Hogan et al., Knowledge Graphs, ACM Computing Surveys 54(4), Article 71: https://doi.org/10.1145/3447772</a:t>
            </a:r>
          </a:p>
          <a:p>
            <a:r>
              <a:rPr lang="en-US"/>
              <a:t>Russell and Norvig, Artificial Intelligence: A Modern Approach, 4th ed., Pearson, 2021.</a:t>
            </a:r>
          </a:p>
          <a:p>
            <a:r>
              <a:rPr lang="en-US"/>
              <a:t>Minsky, A Framework for Representing Knowledge, MIT AI Lab Memo 306, 1974.</a:t>
            </a:r>
          </a:p>
          <a:p>
            <a:r>
              <a:rPr lang="en-US"/>
              <a:t>kr/knowledge_graph.py；kr/production.py；kr/frames.py；reasoning/rules.py：R1。</a:t>
            </a:r>
            <a:r>
              <a:rPr lang="zh-CN" altLang="en-US"/>
              <a:t>课程第</a:t>
            </a:r>
            <a:r>
              <a:rPr lang="en-US" altLang="zh-CN"/>
              <a:t>2</a:t>
            </a:r>
            <a:r>
              <a:rPr lang="zh-CN" altLang="en-US"/>
              <a:t>章课件；课堂报告参考文献</a:t>
            </a:r>
            <a:r>
              <a:rPr lang="en-US" altLang="zh-CN"/>
              <a:t>[2]–[4]</a:t>
            </a:r>
            <a:r>
              <a:rPr lang="zh-CN" altLang="en-US"/>
              <a:t>、</a:t>
            </a:r>
            <a:r>
              <a:rPr lang="en-US" altLang="zh-CN"/>
              <a:t>[7]</a:t>
            </a:r>
            <a:r>
              <a:rPr lang="zh-CN" altLang="en-US"/>
              <a:t>。</a:t>
            </a:r>
          </a:p>
          <a:p>
            <a:r>
              <a:rPr lang="en-US" altLang="zh-CN"/>
              <a:t>[/</a:t>
            </a:r>
            <a:r>
              <a:rPr lang="en-US"/>
              <a:t>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先由持股百分之六十五推出对子公司的控制，再合并两家企业的持股，得到百分之五十五，控制关系继续传递至王建国。经济权益沿两条路径相乘再求和，只有百分之三十四点二。共同控制加交易还能推出核查线索，每条结论保留规则与前提。</a:t>
            </a:r>
          </a:p>
          <a:p>
            <a:endParaRPr lang="zh-CN" altLang="en-US"/>
          </a:p>
          <a:p>
            <a:r>
              <a:rPr lang="en-US" altLang="zh-CN"/>
              <a:t>[</a:t>
            </a:r>
            <a:r>
              <a:rPr lang="en-US"/>
              <a:t>Sources]</a:t>
            </a:r>
          </a:p>
          <a:p>
            <a:r>
              <a:rPr lang="en-US"/>
              <a:t>reasoning/rules.py：R1、R4、R5、R7、R12；R2</a:t>
            </a:r>
            <a:r>
              <a:rPr lang="zh-CN" altLang="en-US"/>
              <a:t>的配偶一致行动仅为教学假设。</a:t>
            </a:r>
          </a:p>
          <a:p>
            <a:r>
              <a:rPr lang="en-US"/>
              <a:t>reasoning/graph_reasoning.py：penetrate、upstream_paths；test_project.py：test_control、test_equity_is_not_voting_control、test_half_not_control。</a:t>
            </a:r>
          </a:p>
          <a:p>
            <a:r>
              <a:rPr lang="zh-CN" altLang="en-US"/>
              <a:t>经济持股：</a:t>
            </a:r>
            <a:r>
              <a:rPr lang="en-US" altLang="zh-CN"/>
              <a:t>0.8×0.2 + 0.8×0.65×0.35 = 0.342</a:t>
            </a:r>
            <a:r>
              <a:rPr lang="zh-CN" altLang="en-US"/>
              <a:t>；非循环示例。</a:t>
            </a:r>
          </a:p>
          <a:p>
            <a:r>
              <a:rPr lang="en-US" altLang="zh-CN"/>
              <a:t>[/</a:t>
            </a:r>
            <a:r>
              <a:rPr lang="en-US"/>
              <a:t>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功能复测得到五十三条事实扩充到一百三十五条，经历十七个周期，九条控制关系写回图谱。循环持股、担保圈和交易预警共标记六家企业，十一项功能测试通过。这验证了教学逻辑，不代表真实业务准确率。</a:t>
            </a:r>
          </a:p>
          <a:p>
            <a:endParaRPr lang="zh-CN" altLang="en-US"/>
          </a:p>
          <a:p>
            <a:r>
              <a:rPr lang="en-US" altLang="zh-CN"/>
              <a:t>[</a:t>
            </a:r>
            <a:r>
              <a:rPr lang="en-US"/>
              <a:t>Sources]</a:t>
            </a:r>
          </a:p>
          <a:p>
            <a:r>
              <a:rPr lang="en-US"/>
              <a:t>main.py；test_project.py；</a:t>
            </a:r>
            <a:r>
              <a:rPr lang="zh-CN" altLang="en-US"/>
              <a:t>本地 </a:t>
            </a:r>
            <a:r>
              <a:rPr lang="en-US"/>
              <a:t>qa/revision/main-run.txt、package-tests.txt、live-process-output.txt。</a:t>
            </a:r>
          </a:p>
          <a:p>
            <a:r>
              <a:rPr lang="zh-CN" altLang="en-US"/>
              <a:t>图像：本项目 </a:t>
            </a:r>
            <a:r>
              <a:rPr lang="en-US"/>
              <a:t>output/kg_reasoned.png，</a:t>
            </a:r>
            <a:r>
              <a:rPr lang="zh-CN" altLang="en-US"/>
              <a:t>合成数据及规则输出；</a:t>
            </a:r>
            <a:r>
              <a:rPr lang="en-US" altLang="zh-CN"/>
              <a:t>6</a:t>
            </a:r>
            <a:r>
              <a:rPr lang="zh-CN" altLang="en-US"/>
              <a:t>家为三类预警集合去重后的企业数。</a:t>
            </a:r>
          </a:p>
          <a:p>
            <a:r>
              <a:rPr lang="en-US" altLang="zh-CN"/>
              <a:t>[/</a:t>
            </a:r>
            <a:r>
              <a:rPr lang="en-US"/>
              <a:t>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效率图展示仓库保留的原基准，并非本次重新计时。实验先检查三种查询的结果等价，再对二十个目标重复九轮。八层查询的中位耗时分别约零点五六、一点零三、零点七七毫秒。这只比较当前内存图算法与</a:t>
            </a:r>
            <a:r>
              <a:rPr lang="en-US" altLang="zh-CN"/>
              <a:t>SQLite</a:t>
            </a:r>
            <a:r>
              <a:rPr lang="zh-CN" altLang="en-US"/>
              <a:t>实现，不能推广到所有数据库。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output/benchmark.json</a:t>
            </a:r>
            <a:r>
              <a:rPr lang="zh-CN" altLang="en-US"/>
              <a:t>、</a:t>
            </a:r>
            <a:r>
              <a:rPr lang="en-US" altLang="zh-CN"/>
              <a:t>output/benchmark.csv</a:t>
            </a:r>
            <a:r>
              <a:rPr lang="zh-CN" altLang="en-US"/>
              <a:t>；</a:t>
            </a:r>
            <a:r>
              <a:rPr lang="en-US" altLang="zh-CN"/>
              <a:t>benchmark.py</a:t>
            </a:r>
            <a:r>
              <a:rPr lang="zh-CN" altLang="en-US"/>
              <a:t>。原基准：</a:t>
            </a:r>
            <a:r>
              <a:rPr lang="en-US" altLang="zh-CN"/>
              <a:t>Python 3.13.1</a:t>
            </a:r>
            <a:r>
              <a:rPr lang="zh-CN" altLang="en-US"/>
              <a:t>、</a:t>
            </a:r>
            <a:r>
              <a:rPr lang="en-US" altLang="zh-CN"/>
              <a:t>NetworkX 3.5</a:t>
            </a:r>
            <a:r>
              <a:rPr lang="zh-CN" altLang="en-US"/>
              <a:t>、</a:t>
            </a:r>
            <a:r>
              <a:rPr lang="en-US" altLang="zh-CN"/>
              <a:t>SQLite 3.45.3</a:t>
            </a:r>
            <a:r>
              <a:rPr lang="zh-CN" altLang="en-US"/>
              <a:t>；</a:t>
            </a:r>
            <a:r>
              <a:rPr lang="en-US" altLang="zh-CN"/>
              <a:t>seed=42</a:t>
            </a:r>
            <a:r>
              <a:rPr lang="zh-CN" altLang="en-US"/>
              <a:t>；</a:t>
            </a:r>
            <a:r>
              <a:rPr lang="en-US" altLang="zh-CN"/>
              <a:t>430</a:t>
            </a:r>
            <a:r>
              <a:rPr lang="zh-CN" altLang="en-US"/>
              <a:t>实体、</a:t>
            </a:r>
            <a:r>
              <a:rPr lang="en-US" altLang="zh-CN"/>
              <a:t>792</a:t>
            </a:r>
            <a:r>
              <a:rPr lang="zh-CN" altLang="en-US"/>
              <a:t>条边。</a:t>
            </a:r>
          </a:p>
          <a:p>
            <a:r>
              <a:rPr lang="en-US" altLang="zh-CN"/>
              <a:t>8</a:t>
            </a:r>
            <a:r>
              <a:rPr lang="zh-CN" altLang="en-US"/>
              <a:t>层 </a:t>
            </a:r>
            <a:r>
              <a:rPr lang="en-US" altLang="zh-CN"/>
              <a:t>median_ms</a:t>
            </a:r>
            <a:r>
              <a:rPr lang="zh-CN" altLang="en-US"/>
              <a:t>：图</a:t>
            </a:r>
            <a:r>
              <a:rPr lang="en-US" altLang="zh-CN"/>
              <a:t>DFS=0.564 ms</a:t>
            </a:r>
            <a:r>
              <a:rPr lang="zh-CN" altLang="en-US"/>
              <a:t>；</a:t>
            </a:r>
            <a:r>
              <a:rPr lang="en-US" altLang="zh-CN"/>
              <a:t>SQL</a:t>
            </a:r>
            <a:r>
              <a:rPr lang="zh-CN" altLang="en-US"/>
              <a:t>递归</a:t>
            </a:r>
            <a:r>
              <a:rPr lang="en-US" altLang="zh-CN"/>
              <a:t>CTE=1.033 ms</a:t>
            </a:r>
            <a:r>
              <a:rPr lang="zh-CN" altLang="en-US"/>
              <a:t>；</a:t>
            </a:r>
            <a:r>
              <a:rPr lang="en-US" altLang="zh-CN"/>
              <a:t>SQL</a:t>
            </a:r>
            <a:r>
              <a:rPr lang="zh-CN" altLang="en-US"/>
              <a:t>逐层</a:t>
            </a:r>
            <a:r>
              <a:rPr lang="en-US" altLang="zh-CN"/>
              <a:t>JOIN=0.770 ms</a:t>
            </a:r>
            <a:r>
              <a:rPr lang="zh-CN" altLang="en-US"/>
              <a:t>（显示值四舍五入）。先按路径结果多重集合核对等价；每轮</a:t>
            </a:r>
            <a:r>
              <a:rPr lang="en-US" altLang="zh-CN"/>
              <a:t>20</a:t>
            </a:r>
            <a:r>
              <a:rPr lang="zh-CN" altLang="en-US"/>
              <a:t>目标平均查询耗时，再取</a:t>
            </a:r>
            <a:r>
              <a:rPr lang="en-US" altLang="zh-CN"/>
              <a:t>9</a:t>
            </a:r>
            <a:r>
              <a:rPr lang="zh-CN" altLang="en-US"/>
              <a:t>轮中位数。</a:t>
            </a:r>
          </a:p>
          <a:p>
            <a:r>
              <a:rPr lang="en-US" altLang="zh-CN"/>
              <a:t>NetworkX documentation: https://networkx.org/documentation/stable/ ; SQLite WITH clause: https://www.sqlite.org/lang_with.html</a:t>
            </a:r>
          </a:p>
          <a:p>
            <a:r>
              <a:rPr lang="en-US" altLang="zh-CN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回到业务问题，图谱找关系，规则推结论，框架组织属性，三者共同给出可追溯线索。当前仍受合成数据、简化控制规则和循环路径截断限制。下一步补充证据来源、身份核验与失效结论撤回，使知识更新后仍然可信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zh-CN" altLang="en-US"/>
              <a:t>课堂报告</a:t>
            </a:r>
            <a:r>
              <a:rPr lang="en-US" altLang="zh-CN"/>
              <a:t>_</a:t>
            </a:r>
            <a:r>
              <a:rPr lang="zh-CN" altLang="en-US"/>
              <a:t>修订版</a:t>
            </a:r>
            <a:r>
              <a:rPr lang="en-US" altLang="zh-CN"/>
              <a:t>.docx</a:t>
            </a:r>
            <a:r>
              <a:rPr lang="zh-CN" altLang="en-US"/>
              <a:t>：八、问题与改进思路；九、总结；完整书目见十、参考文献。</a:t>
            </a:r>
          </a:p>
          <a:p>
            <a:r>
              <a:rPr lang="en-US" altLang="zh-CN"/>
              <a:t>reasoning/graph_reasoning.py</a:t>
            </a:r>
            <a:r>
              <a:rPr lang="zh-CN" altLang="en-US"/>
              <a:t>：简单路径截断；</a:t>
            </a:r>
            <a:r>
              <a:rPr lang="en-US" altLang="zh-CN"/>
              <a:t>reasoning/rules.py</a:t>
            </a:r>
            <a:r>
              <a:rPr lang="zh-CN" altLang="en-US"/>
              <a:t>：有限教学控制规则；</a:t>
            </a:r>
            <a:r>
              <a:rPr lang="en-US" altLang="zh-CN"/>
              <a:t>kr/production.py</a:t>
            </a:r>
            <a:r>
              <a:rPr lang="zh-CN" altLang="en-US"/>
              <a:t>：当前正向推理实现。</a:t>
            </a:r>
          </a:p>
          <a:p>
            <a:r>
              <a:rPr lang="en-US" altLang="zh-CN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选题介绍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企业股权知识表示与风险推理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从“谁持有股份”出发，追踪“谁控制企业、哪些关系需要核查”。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8364A"/>
                </a:solidFill>
                <a:latin typeface="Microsoft YaHei"/>
              </a:defRPr>
            </a:pPr>
            <a:r>
              <a:t>当企业背后还有企业，</a:t>
            </a:r>
          </a:p>
          <a:p>
            <a:pPr>
              <a:spcAft>
                <a:spcPts val="900"/>
              </a:spcAft>
              <a:defRPr sz="3000" b="1">
                <a:solidFill>
                  <a:srgbClr val="18364A"/>
                </a:solidFill>
                <a:latin typeface="Microsoft YaHei"/>
              </a:defRPr>
            </a:pPr>
            <a:r>
              <a:t>只看一张股东表，就很难看清完整关系。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10698480" cy="1051560"/>
          </a:xfrm>
          <a:prstGeom prst="roundRect">
            <a:avLst/>
          </a:prstGeom>
          <a:solidFill>
            <a:srgbClr val="E1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102412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87F8C"/>
                </a:solidFill>
                <a:latin typeface="Microsoft YaHei"/>
              </a:defRPr>
            </a:pPr>
            <a:r>
              <a:rPr lang="zh-CN" altLang="en-US" b="1">
                <a:ea typeface="Microsoft YaHei" panose="020B0503020204020204" pitchFamily="34" charset="-122"/>
              </a:rPr>
              <a:t>图谱追踪关系，规则推导结论，框架汇总属性与线索</a:t>
            </a:r>
            <a:endParaRPr b="1">
              <a:ea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5715000"/>
            <a:ext cx="105156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607686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第</a:t>
            </a:r>
            <a:r>
              <a:rPr lang="en-US" altLang="zh-CN">
                <a:ea typeface="Microsoft YaHei" panose="020B0503020204020204" pitchFamily="34" charset="-122"/>
              </a:rPr>
              <a:t>6</a:t>
            </a:r>
            <a:r>
              <a:rPr lang="zh-CN" altLang="en-US">
                <a:ea typeface="Microsoft YaHei" panose="020B0503020204020204" pitchFamily="34" charset="-122"/>
              </a:rPr>
              <a:t>组：梁镇贤（组长）、陈宗波、温文辉、陈宇冲、刘亦达</a:t>
            </a:r>
          </a:p>
          <a:p>
            <a:pPr>
              <a:spcAft>
                <a:spcPts val="900"/>
              </a:spcAft>
              <a:defRPr sz="1600" b="0">
                <a:solidFill>
                  <a:srgbClr val="607686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全组共同参与开发、测试与汇报；学号及分工详见报告</a:t>
            </a:r>
            <a:endParaRPr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01 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为什么需要穿透企业股权关系？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股权穿透：沿着多层股东关系向上追踪，找到最终的自然人及其持股路径。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6032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6974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业务场景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银行贷款审批、投资尽调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审查目标企业及其关联方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56032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26974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人工核查的困难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337560"/>
            <a:ext cx="3200400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股东也可能是另一家企业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交易与担保记录彼此分散</a:t>
            </a:r>
            <a:endParaRPr>
              <a:ea typeface="Microsoft YaHei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46720" y="2560320"/>
            <a:ext cx="35661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6974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希望得到的答案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337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谁在背后控制企业？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风险线索由哪些事实支持？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406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18364A"/>
                </a:solidFill>
                <a:latin typeface="Microsoft YaHei"/>
              </a:defRPr>
            </a:pPr>
            <a:r>
              <a:t>因此，需要把分散记录连接起来，再按照明确规则追踪和推理。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02 行业案例与本项目目标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从真实关系追踪案例缩小到课堂任务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行业参考：ICIJ Offshore Leaks 公开数据库连接人员、企业与中介信息。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25780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697479"/>
            <a:ext cx="4892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rPr lang="zh-CN" altLang="en-US" b="1">
                <a:ea typeface="Microsoft YaHei" panose="020B0503020204020204" pitchFamily="34" charset="-122"/>
              </a:rPr>
              <a:t>关系网络辅助追踪与核查</a:t>
            </a:r>
            <a:endParaRPr b="1">
              <a:ea typeface="Microsoft YaHei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3337560"/>
            <a:ext cx="4892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en-US" altLang="zh-CN">
                <a:ea typeface="Microsoft YaHei" panose="020B0503020204020204" pitchFamily="34" charset="-122"/>
              </a:rPr>
              <a:t>ICIJ</a:t>
            </a:r>
            <a:r>
              <a:rPr lang="zh-CN" altLang="en-US">
                <a:ea typeface="Microsoft YaHei" panose="020B0503020204020204" pitchFamily="34" charset="-122"/>
              </a:rPr>
              <a:t>连接人员、企业与中介。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本项目：整理记录 → 建模 → 查询。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核查身份与来源，关联不等于违法。</a:t>
            </a:r>
            <a:endParaRPr>
              <a:ea typeface="Microsoft YaHei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26480" y="2560320"/>
            <a:ext cx="539496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26974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我们的可运行任务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337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① 识别多层股权背后的控制人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② 找出共同控制下的交易线索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③ 检测循环持股与担保圈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68112"/>
            <a:ext cx="106984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课堂数据：</a:t>
            </a:r>
            <a:r>
              <a:rPr lang="en-US" altLang="zh-CN">
                <a:ea typeface="Microsoft YaHei" panose="020B0503020204020204" pitchFamily="34" charset="-122"/>
              </a:rPr>
              <a:t>4</a:t>
            </a:r>
            <a:r>
              <a:rPr lang="zh-CN" altLang="en-US">
                <a:ea typeface="Microsoft YaHei" panose="020B0503020204020204" pitchFamily="34" charset="-122"/>
              </a:rPr>
              <a:t>名自然人、</a:t>
            </a:r>
            <a:r>
              <a:rPr lang="en-US" altLang="zh-CN">
                <a:ea typeface="Microsoft YaHei" panose="020B0503020204020204" pitchFamily="34" charset="-122"/>
              </a:rPr>
              <a:t>12</a:t>
            </a:r>
            <a:r>
              <a:rPr lang="zh-CN" altLang="en-US">
                <a:ea typeface="Microsoft YaHei" panose="020B0503020204020204" pitchFamily="34" charset="-122"/>
              </a:rPr>
              <a:t>家企业、</a:t>
            </a:r>
            <a:r>
              <a:rPr lang="en-US" altLang="zh-CN">
                <a:ea typeface="Microsoft YaHei" panose="020B0503020204020204" pitchFamily="34" charset="-122"/>
              </a:rPr>
              <a:t>25</a:t>
            </a:r>
            <a:r>
              <a:rPr lang="zh-CN" altLang="en-US">
                <a:ea typeface="Microsoft YaHei" panose="020B0503020204020204" pitchFamily="34" charset="-122"/>
              </a:rPr>
              <a:t>条关系；均为虚构。</a:t>
            </a:r>
            <a:endParaRPr>
              <a:ea typeface="Microsoft YaHei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01675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607686"/>
                </a:solidFill>
                <a:latin typeface="Microsoft YaHei"/>
              </a:defRPr>
            </a:pPr>
            <a:r>
              <a:t>来源：https://offshoreleaks.icij.org/pages/about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03 案例与问题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以恒通科技为例：多层股权怎样影响判断？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以下名称与比例均来自本项目的虚构数据；箭头方向表示“股东 → 被投资企业”。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51760"/>
            <a:ext cx="2011680" cy="658368"/>
          </a:xfrm>
          <a:prstGeom prst="roundRect">
            <a:avLst/>
          </a:prstGeom>
          <a:solidFill>
            <a:srgbClr val="E1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761488"/>
            <a:ext cx="188366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王建国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651760"/>
            <a:ext cx="2194560" cy="658368"/>
          </a:xfrm>
          <a:prstGeom prst="roundRect">
            <a:avLst/>
          </a:prstGeom>
          <a:solidFill>
            <a:srgbClr val="E1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13048" y="2761488"/>
            <a:ext cx="2066543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华鑫控股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651760"/>
            <a:ext cx="2286000" cy="658368"/>
          </a:xfrm>
          <a:prstGeom prst="roundRect">
            <a:avLst/>
          </a:prstGeom>
          <a:solidFill>
            <a:srgbClr val="E1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36408" y="2761488"/>
            <a:ext cx="215798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华鑫实业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617720"/>
            <a:ext cx="2560320" cy="658368"/>
          </a:xfrm>
          <a:prstGeom prst="roundRect">
            <a:avLst/>
          </a:prstGeom>
          <a:solidFill>
            <a:srgbClr val="E1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4727448"/>
            <a:ext cx="2432303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恒通科技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788920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94455"/>
                </a:solidFill>
                <a:latin typeface="Microsoft YaHei"/>
              </a:defRPr>
            </a:pPr>
            <a:r>
              <a:t>80%→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94455"/>
                </a:solidFill>
                <a:latin typeface="Microsoft YaHei"/>
              </a:defRPr>
            </a:pPr>
            <a:r>
              <a:t>65%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675887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294455"/>
                </a:solidFill>
                <a:latin typeface="Microsoft YaHei"/>
              </a:defRPr>
            </a:pPr>
            <a:r>
              <a:t>20%  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3675887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294455"/>
                </a:solidFill>
                <a:latin typeface="Microsoft YaHei"/>
              </a:defRPr>
            </a:pPr>
            <a:r>
              <a:t>↙  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18364A"/>
                </a:solidFill>
                <a:latin typeface="Microsoft YaHei"/>
              </a:defRPr>
            </a:pPr>
            <a:r>
              <a:t>问题一：谁能够控制恒通科技？</a:t>
            </a:r>
          </a:p>
          <a:p>
            <a:pPr>
              <a:spcAft>
                <a:spcPts val="900"/>
              </a:spcAft>
              <a:defRPr sz="2100" b="1">
                <a:solidFill>
                  <a:srgbClr val="18364A"/>
                </a:solidFill>
                <a:latin typeface="Microsoft YaHei"/>
              </a:defRPr>
            </a:pPr>
            <a:r>
              <a:t>问题二：沿股权路径计算的权益是多少？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94455"/>
                </a:solidFill>
                <a:latin typeface="Microsoft YaHei"/>
              </a:defRPr>
            </a:pPr>
            <a:r>
              <a:t>还需继续核查：若它与同一控制人旗下的企业交易，是否存在关联交易线索？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04 知识表示方法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把同一批记录表示成三种可计算的知识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图谱负责关系查询，规则负责条件推导，框架负责企业档案；三者共同支撑案例分析。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0881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596896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87F8C"/>
                </a:solidFill>
                <a:latin typeface="Microsoft YaHei"/>
              </a:defRPr>
            </a:pPr>
            <a:r>
              <a:t>知识图谱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60320"/>
            <a:ext cx="4617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t>王建国 —持股80%→ 华鑫控股</a:t>
            </a:r>
          </a:p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t>适合路径与环路查询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62432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607686"/>
                </a:solidFill>
                <a:latin typeface="Microsoft YaHei"/>
              </a:defRPr>
            </a:pPr>
            <a:r>
              <a:t>难点：实体对齐与数据质量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30168"/>
            <a:ext cx="10881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58184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87F8C"/>
                </a:solidFill>
                <a:latin typeface="Microsoft YaHei"/>
              </a:defRPr>
            </a:pPr>
            <a:r>
              <a:t>谓词与产生式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721608"/>
            <a:ext cx="4617720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rPr lang="en-US">
                <a:ea typeface="Microsoft YaHei" panose="020B0503020204020204" pitchFamily="34" charset="-122"/>
              </a:rPr>
              <a:t>Holds(P,C,r)，r&gt;0.5 ⇒ Controls(P,C)</a:t>
            </a:r>
          </a:p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适合条件推导与证据解释</a:t>
            </a:r>
            <a:endParaRPr>
              <a:ea typeface="Microsoft YaHei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35240" y="3785616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607686"/>
                </a:solidFill>
                <a:latin typeface="Microsoft YaHei"/>
              </a:defRPr>
            </a:pPr>
            <a:r>
              <a:t>难点：规则多时匹配成本增加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91456"/>
            <a:ext cx="108813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919472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087F8C"/>
                </a:solidFill>
                <a:latin typeface="Microsoft YaHei"/>
              </a:defRPr>
            </a:pPr>
            <a:r>
              <a:t>框架表示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882896"/>
            <a:ext cx="4617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t>恒通科技 is_a 上市公司</a:t>
            </a:r>
          </a:p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t>适合属性继承与档案更新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946904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607686"/>
                </a:solidFill>
                <a:latin typeface="Microsoft YaHei"/>
              </a:defRPr>
            </a:pPr>
            <a:r>
              <a:t>难点：缺省值不等于已知事实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94455"/>
                </a:solidFill>
                <a:latin typeface="Microsoft YaHei"/>
              </a:defRPr>
            </a:pPr>
            <a:r>
              <a:t>转换流程：关系记录 → 图谱与谓词事实 → 规则推导 → 结果写回企业框架和图谱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05 推理演示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沿着案例推出结论，并保留证据链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教学控制关系与经济权益分别计算，结论保留规则与前提。</a:t>
            </a:r>
            <a:endParaRPr>
              <a:ea typeface="Microsoft YaHe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53035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49377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控制关系的推导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49377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en-US">
                <a:ea typeface="Microsoft YaHei" panose="020B0503020204020204" pitchFamily="34" charset="-122"/>
              </a:rPr>
              <a:t>R1：65%</a:t>
            </a:r>
            <a:r>
              <a:rPr lang="zh-CN" altLang="en-US">
                <a:ea typeface="Microsoft YaHei" panose="020B0503020204020204" pitchFamily="34" charset="-122"/>
              </a:rPr>
              <a:t>持股推出对子公司的控制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en-US">
                <a:ea typeface="Microsoft YaHei" panose="020B0503020204020204" pitchFamily="34" charset="-122"/>
              </a:rPr>
              <a:t>R4：</a:t>
            </a:r>
            <a:r>
              <a:rPr lang="zh-CN" altLang="en-US">
                <a:ea typeface="Microsoft YaHei" panose="020B0503020204020204" pitchFamily="34" charset="-122"/>
              </a:rPr>
              <a:t>合并</a:t>
            </a:r>
            <a:r>
              <a:rPr lang="en-US" altLang="zh-CN">
                <a:ea typeface="Microsoft YaHei" panose="020B0503020204020204" pitchFamily="34" charset="-122"/>
              </a:rPr>
              <a:t>20%</a:t>
            </a:r>
            <a:r>
              <a:rPr lang="zh-CN" altLang="en-US">
                <a:ea typeface="Microsoft YaHei" panose="020B0503020204020204" pitchFamily="34" charset="-122"/>
              </a:rPr>
              <a:t>＋</a:t>
            </a:r>
            <a:r>
              <a:rPr lang="en-US" altLang="zh-CN">
                <a:ea typeface="Microsoft YaHei" panose="020B0503020204020204" pitchFamily="34" charset="-122"/>
              </a:rPr>
              <a:t>35%</a:t>
            </a:r>
            <a:r>
              <a:rPr lang="zh-CN" altLang="en-US">
                <a:ea typeface="Microsoft YaHei" panose="020B0503020204020204" pitchFamily="34" charset="-122"/>
              </a:rPr>
              <a:t>＝</a:t>
            </a:r>
            <a:r>
              <a:rPr lang="en-US" altLang="zh-CN">
                <a:ea typeface="Microsoft YaHei" panose="020B0503020204020204" pitchFamily="34" charset="-122"/>
              </a:rPr>
              <a:t>55%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en-US">
                <a:ea typeface="Microsoft YaHei" panose="020B0503020204020204" pitchFamily="34" charset="-122"/>
              </a:rPr>
              <a:t>R5：</a:t>
            </a:r>
            <a:r>
              <a:rPr lang="zh-CN" altLang="en-US">
                <a:ea typeface="Microsoft YaHei" panose="020B0503020204020204" pitchFamily="34" charset="-122"/>
              </a:rPr>
              <a:t>控制关系传递至王建国</a:t>
            </a:r>
            <a:endParaRPr>
              <a:ea typeface="Microsoft YaHei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2468880"/>
            <a:ext cx="534924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606040"/>
            <a:ext cx="4983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经济持股的计算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46120"/>
            <a:ext cx="4983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路径一：80%×20%＝16%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路径二：80%×65%×35%＝18.2%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两条路径合计：34.2%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10881360" cy="1033271"/>
          </a:xfrm>
          <a:prstGeom prst="roundRect">
            <a:avLst/>
          </a:prstGeom>
          <a:solidFill>
            <a:srgbClr val="E1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138928"/>
            <a:ext cx="10469880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en-US" altLang="zh-CN">
                <a:ea typeface="Microsoft YaHei" panose="020B0503020204020204" pitchFamily="34" charset="-122"/>
              </a:rPr>
              <a:t>R7</a:t>
            </a:r>
            <a:r>
              <a:rPr lang="zh-CN" altLang="en-US">
                <a:ea typeface="Microsoft YaHei" panose="020B0503020204020204" pitchFamily="34" charset="-122"/>
              </a:rPr>
              <a:t>：共同控制人＋交易 → 关联交易线索；</a:t>
            </a:r>
            <a:r>
              <a:rPr lang="en-US" altLang="zh-CN">
                <a:ea typeface="Microsoft YaHei" panose="020B0503020204020204" pitchFamily="34" charset="-122"/>
              </a:rPr>
              <a:t>R12</a:t>
            </a:r>
            <a:r>
              <a:rPr lang="zh-CN" altLang="en-US">
                <a:ea typeface="Microsoft YaHei" panose="020B0503020204020204" pitchFamily="34" charset="-122"/>
              </a:rPr>
              <a:t>：上市公司待核查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配偶一致行动属于教学假设，实务须另行取证；规则结论不等于法律认定。</a:t>
            </a:r>
            <a:endParaRPr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06 系统运行结果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从原始关系得到可解释的风险线索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完整流程：输入记录 → 正向推理与图查询 → 解释依据 → 回写图谱及企业档案。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07</a:t>
            </a:r>
          </a:p>
        </p:txBody>
      </p:sp>
      <p:pic>
        <p:nvPicPr>
          <p:cNvPr id="7" name="Picture 6" descr="kg_reaso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4390458" cy="35478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577840" y="2468880"/>
            <a:ext cx="59436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0" y="2606040"/>
            <a:ext cx="5577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rPr lang="zh-CN" altLang="en-US" b="1">
                <a:ea typeface="Microsoft YaHei" panose="020B0503020204020204" pitchFamily="34" charset="-122"/>
              </a:rPr>
              <a:t>功能复测与知识回写</a:t>
            </a:r>
            <a:endParaRPr b="1">
              <a:ea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60720" y="3246120"/>
            <a:ext cx="557784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en-US" altLang="zh-CN">
                <a:ea typeface="Microsoft YaHei" panose="020B0503020204020204" pitchFamily="34" charset="-122"/>
              </a:rPr>
              <a:t>53</a:t>
            </a:r>
            <a:r>
              <a:rPr lang="zh-CN" altLang="en-US">
                <a:ea typeface="Microsoft YaHei" panose="020B0503020204020204" pitchFamily="34" charset="-122"/>
              </a:rPr>
              <a:t>条事实 → </a:t>
            </a:r>
            <a:r>
              <a:rPr lang="en-US" altLang="zh-CN">
                <a:ea typeface="Microsoft YaHei" panose="020B0503020204020204" pitchFamily="34" charset="-122"/>
              </a:rPr>
              <a:t>17</a:t>
            </a:r>
            <a:r>
              <a:rPr lang="zh-CN" altLang="en-US">
                <a:ea typeface="Microsoft YaHei" panose="020B0503020204020204" pitchFamily="34" charset="-122"/>
              </a:rPr>
              <a:t>个周期 → </a:t>
            </a:r>
            <a:r>
              <a:rPr lang="en-US" altLang="zh-CN">
                <a:ea typeface="Microsoft YaHei" panose="020B0503020204020204" pitchFamily="34" charset="-122"/>
              </a:rPr>
              <a:t>135</a:t>
            </a:r>
            <a:r>
              <a:rPr lang="zh-CN" altLang="en-US">
                <a:ea typeface="Microsoft YaHei" panose="020B0503020204020204" pitchFamily="34" charset="-122"/>
              </a:rPr>
              <a:t>条事实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回写</a:t>
            </a:r>
            <a:r>
              <a:rPr lang="en-US" altLang="zh-CN">
                <a:ea typeface="Microsoft YaHei" panose="020B0503020204020204" pitchFamily="34" charset="-122"/>
              </a:rPr>
              <a:t>9</a:t>
            </a:r>
            <a:r>
              <a:rPr lang="zh-CN" altLang="en-US">
                <a:ea typeface="Microsoft YaHei" panose="020B0503020204020204" pitchFamily="34" charset="-122"/>
              </a:rPr>
              <a:t>条控制关系，标记</a:t>
            </a:r>
            <a:r>
              <a:rPr lang="en-US" altLang="zh-CN">
                <a:ea typeface="Microsoft YaHei" panose="020B0503020204020204" pitchFamily="34" charset="-122"/>
              </a:rPr>
              <a:t>6</a:t>
            </a:r>
            <a:r>
              <a:rPr lang="zh-CN" altLang="en-US">
                <a:ea typeface="Microsoft YaHei" panose="020B0503020204020204" pitchFamily="34" charset="-122"/>
              </a:rPr>
              <a:t>家企业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en-US" altLang="zh-CN">
                <a:ea typeface="Microsoft YaHei" panose="020B0503020204020204" pitchFamily="34" charset="-122"/>
              </a:rPr>
              <a:t>11</a:t>
            </a:r>
            <a:r>
              <a:rPr lang="zh-CN" altLang="en-US">
                <a:ea typeface="Microsoft YaHei" panose="020B0503020204020204" pitchFamily="34" charset="-122"/>
              </a:rPr>
              <a:t>项测试：控制、</a:t>
            </a:r>
            <a:r>
              <a:rPr lang="en-US" altLang="zh-CN">
                <a:ea typeface="Microsoft YaHei" panose="020B0503020204020204" pitchFamily="34" charset="-122"/>
              </a:rPr>
              <a:t>34.2%</a:t>
            </a:r>
            <a:r>
              <a:rPr lang="zh-CN" altLang="en-US">
                <a:ea typeface="Microsoft YaHei" panose="020B0503020204020204" pitchFamily="34" charset="-122"/>
              </a:rPr>
              <a:t>权益、边界等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灰线为原始关系；黑边为推理关系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验证教学逻辑，不代表真实风控准确率</a:t>
            </a:r>
            <a:endParaRPr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07 效率实验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rPr lang="zh-CN" altLang="en-US" b="1">
                <a:ea typeface="Microsoft YaHei" panose="020B0503020204020204" pitchFamily="34" charset="-122"/>
              </a:rPr>
              <a:t>原基准：等价查询的耗时如何比较？</a:t>
            </a:r>
            <a:endParaRPr b="1">
              <a:ea typeface="Microsoft YaHei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以下为仓库保留的原基准结果；功能复测未重新测量这些耗时。</a:t>
            </a:r>
            <a:endParaRPr>
              <a:ea typeface="Microsoft YaHe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364A"/>
                </a:solidFill>
                <a:latin typeface="Microsoft YaHei"/>
              </a:defRPr>
            </a:pPr>
            <a:r>
              <a:t>图 DFS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633472"/>
            <a:ext cx="2422150" cy="365760"/>
          </a:xfrm>
          <a:prstGeom prst="round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257860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0.564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1071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364A"/>
                </a:solidFill>
                <a:latin typeface="Microsoft YaHei"/>
              </a:defRPr>
            </a:pPr>
            <a:r>
              <a:t>SQL 递归 CTE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438144"/>
            <a:ext cx="4441093" cy="365760"/>
          </a:xfrm>
          <a:prstGeom prst="roundRect">
            <a:avLst/>
          </a:prstGeom>
          <a:solidFill>
            <a:srgbClr val="789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33832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1.033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1538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364A"/>
                </a:solidFill>
                <a:latin typeface="Microsoft YaHei"/>
              </a:defRPr>
            </a:pPr>
            <a:r>
              <a:t>SQL 逐层 JOIN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4242816"/>
            <a:ext cx="3311233" cy="365760"/>
          </a:xfrm>
          <a:prstGeom prst="roundRect">
            <a:avLst/>
          </a:prstGeom>
          <a:solidFill>
            <a:srgbClr val="789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0" y="418795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0.770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94455"/>
                </a:solidFill>
                <a:latin typeface="Microsoft YaHei"/>
              </a:defRPr>
            </a:pPr>
            <a:r>
              <a:rPr lang="en-US" altLang="zh-CN">
                <a:ea typeface="Microsoft YaHei" panose="020B0503020204020204" pitchFamily="34" charset="-122"/>
              </a:rPr>
              <a:t>430</a:t>
            </a:r>
            <a:r>
              <a:rPr lang="zh-CN" altLang="en-US">
                <a:ea typeface="Microsoft YaHei" panose="020B0503020204020204" pitchFamily="34" charset="-122"/>
              </a:rPr>
              <a:t>实体 </a:t>
            </a:r>
            <a:r>
              <a:rPr lang="en-US" altLang="zh-CN">
                <a:ea typeface="Microsoft YaHei" panose="020B0503020204020204" pitchFamily="34" charset="-122"/>
              </a:rPr>
              <a:t>/ 792</a:t>
            </a:r>
            <a:r>
              <a:rPr lang="zh-CN" altLang="en-US">
                <a:ea typeface="Microsoft YaHei" panose="020B0503020204020204" pitchFamily="34" charset="-122"/>
              </a:rPr>
              <a:t>边 </a:t>
            </a:r>
            <a:r>
              <a:rPr lang="en-US" altLang="zh-CN">
                <a:ea typeface="Microsoft YaHei" panose="020B0503020204020204" pitchFamily="34" charset="-122"/>
              </a:rPr>
              <a:t>/ 20</a:t>
            </a:r>
            <a:r>
              <a:rPr lang="zh-CN" altLang="en-US">
                <a:ea typeface="Microsoft YaHei" panose="020B0503020204020204" pitchFamily="34" charset="-122"/>
              </a:rPr>
              <a:t>目标 </a:t>
            </a:r>
            <a:r>
              <a:rPr lang="en-US" altLang="zh-CN">
                <a:ea typeface="Microsoft YaHei" panose="020B0503020204020204" pitchFamily="34" charset="-122"/>
              </a:rPr>
              <a:t>/ 9</a:t>
            </a:r>
            <a:r>
              <a:rPr lang="zh-CN" altLang="en-US">
                <a:ea typeface="Microsoft YaHei" panose="020B0503020204020204" pitchFamily="34" charset="-122"/>
              </a:rPr>
              <a:t>轮；</a:t>
            </a:r>
            <a:r>
              <a:rPr lang="en-US" altLang="zh-CN">
                <a:ea typeface="Microsoft YaHei" panose="020B0503020204020204" pitchFamily="34" charset="-122"/>
              </a:rPr>
              <a:t>8</a:t>
            </a:r>
            <a:r>
              <a:rPr lang="zh-CN" altLang="en-US">
                <a:ea typeface="Microsoft YaHei" panose="020B0503020204020204" pitchFamily="34" charset="-122"/>
              </a:rPr>
              <a:t>层查询，先核对结果多重集合等价。</a:t>
            </a:r>
            <a:endParaRPr>
              <a:ea typeface="Microsoft YaHei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607686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各轮平均查询耗时取中位数；含结果物化，不含建库与绘图，仅适用于此实现。</a:t>
            </a:r>
            <a:endParaRPr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087F8C"/>
                </a:solidFill>
                <a:latin typeface="Microsoft YaHei"/>
              </a:defRPr>
            </a:pPr>
            <a:r>
              <a:t>08 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8364A"/>
                </a:solidFill>
                <a:latin typeface="Microsoft YaHei"/>
              </a:defRPr>
            </a:pPr>
            <a:r>
              <a:t>回到业务问题：把分散记录变成有依据的线索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607686"/>
                </a:solidFill>
                <a:latin typeface="Microsoft YaHei"/>
              </a:defRPr>
            </a:pPr>
            <a:r>
              <a:t>本项目完成了一个小型、可运行、可追溯的知识表示与推理系统。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07686"/>
                </a:solidFill>
                <a:latin typeface="Microsoft YaHei"/>
              </a:defRPr>
            </a:pPr>
            <a:r>
              <a:t>人工智能课堂报告 · 第6组 · 企业股权知识表示与风险推理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087F8C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530352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49377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本次完成了什么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91840"/>
            <a:ext cx="493775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用三种知识表示组织同一案例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演示控制关系、路径和环路推理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t>用证据链与等价查询验证结果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514600"/>
            <a:ext cx="53492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651760"/>
            <a:ext cx="4983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仍有哪些不足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91840"/>
            <a:ext cx="49834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合成数据与简化规则限制外推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循环持股截断，不等于完整权益</a:t>
            </a:r>
          </a:p>
          <a:p>
            <a:pPr>
              <a:spcAft>
                <a:spcPts val="900"/>
              </a:spcAft>
              <a:defRPr sz="1900" b="0">
                <a:solidFill>
                  <a:srgbClr val="294455"/>
                </a:solidFill>
                <a:latin typeface="Microsoft YaHei"/>
              </a:defRPr>
            </a:pPr>
            <a:r>
              <a:rPr lang="zh-CN" altLang="en-US">
                <a:ea typeface="Microsoft YaHei" panose="020B0503020204020204" pitchFamily="34" charset="-122"/>
              </a:rPr>
              <a:t>补充来源、身份核验与失效结论撤回</a:t>
            </a:r>
            <a:endParaRPr>
              <a:ea typeface="Microsoft YaHei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8364A"/>
                </a:solidFill>
                <a:latin typeface="Microsoft YaHei"/>
              </a:defRPr>
            </a:pPr>
            <a:r>
              <a:t>结论：表示方法要匹配任务；推理结论要有证据，也要说明适用条件。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07686"/>
                </a:solidFill>
                <a:latin typeface="Microsoft YaHei"/>
              </a:defRPr>
            </a:pPr>
            <a:r>
              <a:t>参考：ICIJ Offshore Leaks；Hogan等《Knowledge Graphs》；课程第2章；NetworkX与SQLite文档。完整书目见报告。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2665</Words>
  <Application>Microsoft Office PowerPoint</Application>
  <PresentationFormat>宽屏</PresentationFormat>
  <Paragraphs>192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彧 荀</cp:lastModifiedBy>
  <cp:revision>2</cp:revision>
  <dcterms:created xsi:type="dcterms:W3CDTF">2013-01-27T09:14:16Z</dcterms:created>
  <dcterms:modified xsi:type="dcterms:W3CDTF">2026-09-29T03:32:37Z</dcterms:modified>
  <cp:category/>
</cp:coreProperties>
</file>