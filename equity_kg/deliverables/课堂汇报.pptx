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本次汇报研究企业股权知识表示与风险推理。我们从一个实际问题出发：银行或投资者审查一家企业时，如何从分散的股东记录中找到背后的控制人，并发现需要核查的关联关系？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企业股权穿透，是沿着多层股东关系向上追踪。在贷款审批和投资尽调中，审查人员既要知道谁控制企业，也要判断交易双方是否有关联。多层持股、交叉担保和分散资料，使人工核查容易遗漏关系。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真实行业案例参考国际调查记者同盟的离岸数据库。它连接人员、企业和中介，帮助追踪公司背后的人。本项目借鉴这种关系追踪思路，使用虚构数据，完成控制人识别、关联交易核查和环路检测三个课堂任务。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看贯穿演示的恒通科技案例。王建国持有华鑫控股百分之八十，华鑫控股持有华鑫实业百分之六十五。后二者分别持有恒通科技百分之二十和三十五。现在的问题是：王建国是否控制恒通科技，经济持股又是多少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为回答这些问题，我们采用三种表示。图谱把人和企业表示为节点，适合找路径。谓词与产生式把持股事实和控制条件写成规则，便于解释结论。框架通过槽和继承整理企业档案，但不擅长全局路径计算。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在简化规则下，华鑫控股控制华鑫实业，能够合并支配恒通科技百分之五十五的股份，再向上推导王建国的控制关系。经济持股则按路径相乘后求和，得到百分之三十四点二。控制权和经济持股不能混为一谈。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程序运行后，五十三条初始事实扩充为一百三十五条，九条自然人控制关系写回图谱。循环持股、担保圈和交易待核查共涉及六家企业。十一项功能测试通过。这些结果验证了演示逻辑，不代表真实业务准确率。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我们还比较了同一多跳股东查询的效率。固定四百三十个实体，查询二十个目标，重复九轮。八层查询中，图遍历约零点五六毫秒，SQL两种实现分别约一点零三和零点七七毫秒。优势仅适用于当前数据与实现。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到开头的问题，系统能够把分散股东记录连接起来，推导控制链，并给出关联风险的证据。图谱、规则和框架各有所长。当前仍受虚构数据和简化规则限制，下一步需要补充时间与来源、身份核验和动态更新，再用于真实核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选题介绍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企业股权知识表示与风险推理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从“谁持有股份”出发，追踪“谁控制企业、哪些关系需要核查”。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64A"/>
                </a:solidFill>
                <a:latin typeface="Microsoft YaHei"/>
              </a:defRPr>
            </a:pPr>
            <a:r>
              <a:t>当企业背后还有企业，</a:t>
            </a:r>
          </a:p>
          <a:p>
            <a:pPr>
              <a:spcAft>
                <a:spcPts val="900"/>
              </a:spcAft>
              <a:defRPr sz="3000" b="1">
                <a:solidFill>
                  <a:srgbClr val="18364A"/>
                </a:solidFill>
                <a:latin typeface="Microsoft YaHei"/>
              </a:defRPr>
            </a:pPr>
            <a:r>
              <a:t>只看一张股东表，就很难看清完整关系。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10698480" cy="1051560"/>
          </a:xfrm>
          <a:prstGeom prst="roundRect">
            <a:avLst/>
          </a:prstGeom>
          <a:solidFill>
            <a:srgbClr val="E1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48056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87F8C"/>
                </a:solidFill>
                <a:latin typeface="Microsoft YaHei"/>
              </a:defRPr>
            </a:pPr>
            <a:r>
              <a:t>汇报主线：业务背景 → 案例问题 → 知识表示 → 推理与验证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607686"/>
                </a:solidFill>
                <a:latin typeface="Microsoft YaHei"/>
              </a:defRPr>
            </a:pPr>
            <a:r>
              <a:t>组员姓名、学号与分工：待填写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01 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为什么需要穿透企业股权关系？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股权穿透：沿着多层股东关系向上追踪，找到最终的自然人及其持股路径。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60320"/>
            <a:ext cx="35661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业务场景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银行贷款审批、投资尽调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审查目标企业及其关联方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560320"/>
            <a:ext cx="35661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6974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人工核查的困难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337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股东也可能是另一家企业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交易与担保分散在不同记录中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60320"/>
            <a:ext cx="35661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6974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希望得到的答案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337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谁在背后控制企业？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风险线索由哪些事实支持？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406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18364A"/>
                </a:solidFill>
                <a:latin typeface="Microsoft YaHei"/>
              </a:defRPr>
            </a:pPr>
            <a:r>
              <a:t>因此，需要把分散记录连接起来，再按照明确规则追踪和推理。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02 行业案例与本项目目标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从真实关系追踪案例缩小到课堂任务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行业参考：ICIJ Offshore Leaks 公开数据库连接人员、企业与中介信息。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25780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697479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真实案例给出的启发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3756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企业可以是其他企业的股东。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把记录组织成关系网络，才能沿链追踪。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数据仍需身份核实，出现关联不等于违法。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560320"/>
            <a:ext cx="539496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6974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我们的可运行任务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337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① 识别多层股权背后的控制人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② 找出共同控制下的交易线索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③ 检测循环持股与担保圈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681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课堂范围：4名自然人、12家虚构企业、25条原始关系；不复现ICIJ内部系统。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1675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07686"/>
                </a:solidFill>
                <a:latin typeface="Microsoft YaHei"/>
              </a:defRPr>
            </a:pPr>
            <a:r>
              <a:t>来源：https://offshoreleaks.icij.org/pages/about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03 案例与问题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以恒通科技为例：多层股权怎样影响判断？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以下名称与比例均来自本项目的虚构数据；箭头方向表示“股东 → 被投资企业”。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51760"/>
            <a:ext cx="2011680" cy="658368"/>
          </a:xfrm>
          <a:prstGeom prst="roundRect">
            <a:avLst/>
          </a:prstGeom>
          <a:solidFill>
            <a:srgbClr val="E1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61488"/>
            <a:ext cx="188366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王建国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651760"/>
            <a:ext cx="2194560" cy="658368"/>
          </a:xfrm>
          <a:prstGeom prst="roundRect">
            <a:avLst/>
          </a:prstGeom>
          <a:solidFill>
            <a:srgbClr val="E1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2761488"/>
            <a:ext cx="2066543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华鑫控股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651760"/>
            <a:ext cx="2286000" cy="658368"/>
          </a:xfrm>
          <a:prstGeom prst="roundRect">
            <a:avLst/>
          </a:prstGeom>
          <a:solidFill>
            <a:srgbClr val="E1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761488"/>
            <a:ext cx="215798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华鑫实业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617720"/>
            <a:ext cx="2560320" cy="658368"/>
          </a:xfrm>
          <a:prstGeom prst="roundRect">
            <a:avLst/>
          </a:prstGeom>
          <a:solidFill>
            <a:srgbClr val="E1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4727448"/>
            <a:ext cx="2432303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恒通科技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78892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94455"/>
                </a:solidFill>
                <a:latin typeface="Microsoft YaHei"/>
              </a:defRPr>
            </a:pPr>
            <a:r>
              <a:t>80%→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94455"/>
                </a:solidFill>
                <a:latin typeface="Microsoft YaHei"/>
              </a:defRPr>
            </a:pPr>
            <a:r>
              <a:t>65%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675887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294455"/>
                </a:solidFill>
                <a:latin typeface="Microsoft YaHei"/>
              </a:defRPr>
            </a:pPr>
            <a:r>
              <a:t>20%  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3675887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294455"/>
                </a:solidFill>
                <a:latin typeface="Microsoft YaHei"/>
              </a:defRPr>
            </a:pPr>
            <a:r>
              <a:t>↙  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18364A"/>
                </a:solidFill>
                <a:latin typeface="Microsoft YaHei"/>
              </a:defRPr>
            </a:pPr>
            <a:r>
              <a:t>问题一：谁能够控制恒通科技？</a:t>
            </a:r>
          </a:p>
          <a:p>
            <a:pPr>
              <a:spcAft>
                <a:spcPts val="900"/>
              </a:spcAft>
              <a:defRPr sz="2100" b="1">
                <a:solidFill>
                  <a:srgbClr val="18364A"/>
                </a:solidFill>
                <a:latin typeface="Microsoft YaHei"/>
              </a:defRPr>
            </a:pPr>
            <a:r>
              <a:t>问题二：沿股权路径计算的权益是多少？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94455"/>
                </a:solidFill>
                <a:latin typeface="Microsoft YaHei"/>
              </a:defRPr>
            </a:pPr>
            <a:r>
              <a:t>还需继续核查：若它与同一控制人旗下的企业交易，是否存在关联交易线索？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04 知识表示方法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把同一批记录表示成三种可计算的知识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图谱负责关系查询，规则负责条件推导，框架负责企业档案；三者共同支撑案例分析。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0881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96896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87F8C"/>
                </a:solidFill>
                <a:latin typeface="Microsoft YaHei"/>
              </a:defRPr>
            </a:pPr>
            <a:r>
              <a:t>知识图谱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60320"/>
            <a:ext cx="4617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94455"/>
                </a:solidFill>
                <a:latin typeface="Microsoft YaHei"/>
              </a:defRPr>
            </a:pPr>
            <a:r>
              <a:t>王建国 —持股80%→ 华鑫控股</a:t>
            </a:r>
          </a:p>
          <a:p>
            <a:pPr>
              <a:spcAft>
                <a:spcPts val="900"/>
              </a:spcAft>
              <a:defRPr sz="1800" b="0">
                <a:solidFill>
                  <a:srgbClr val="294455"/>
                </a:solidFill>
                <a:latin typeface="Microsoft YaHei"/>
              </a:defRPr>
            </a:pPr>
            <a:r>
              <a:t>适合路径与环路查询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62432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607686"/>
                </a:solidFill>
                <a:latin typeface="Microsoft YaHei"/>
              </a:defRPr>
            </a:pPr>
            <a:r>
              <a:t>难点：实体对齐与数据质量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30168"/>
            <a:ext cx="10881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58184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87F8C"/>
                </a:solidFill>
                <a:latin typeface="Microsoft YaHei"/>
              </a:defRPr>
            </a:pPr>
            <a:r>
              <a:t>谓词与产生式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721608"/>
            <a:ext cx="4617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94455"/>
                </a:solidFill>
                <a:latin typeface="Microsoft YaHei"/>
              </a:defRPr>
            </a:pPr>
            <a:r>
              <a:t>Holds(P1,C1,0.8) → 控制规则</a:t>
            </a:r>
          </a:p>
          <a:p>
            <a:pPr>
              <a:spcAft>
                <a:spcPts val="900"/>
              </a:spcAft>
              <a:defRPr sz="1800" b="0">
                <a:solidFill>
                  <a:srgbClr val="294455"/>
                </a:solidFill>
                <a:latin typeface="Microsoft YaHei"/>
              </a:defRPr>
            </a:pPr>
            <a:r>
              <a:t>适合明确条件与证据解释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785616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607686"/>
                </a:solidFill>
                <a:latin typeface="Microsoft YaHei"/>
              </a:defRPr>
            </a:pPr>
            <a:r>
              <a:t>难点：规则多时匹配成本增加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91456"/>
            <a:ext cx="10881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19472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87F8C"/>
                </a:solidFill>
                <a:latin typeface="Microsoft YaHei"/>
              </a:defRPr>
            </a:pPr>
            <a:r>
              <a:t>框架表示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882896"/>
            <a:ext cx="4617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94455"/>
                </a:solidFill>
                <a:latin typeface="Microsoft YaHei"/>
              </a:defRPr>
            </a:pPr>
            <a:r>
              <a:t>恒通科技 is_a 上市公司</a:t>
            </a:r>
          </a:p>
          <a:p>
            <a:pPr>
              <a:spcAft>
                <a:spcPts val="900"/>
              </a:spcAft>
              <a:defRPr sz="1800" b="0">
                <a:solidFill>
                  <a:srgbClr val="294455"/>
                </a:solidFill>
                <a:latin typeface="Microsoft YaHei"/>
              </a:defRPr>
            </a:pPr>
            <a:r>
              <a:t>适合属性继承与档案更新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946904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607686"/>
                </a:solidFill>
                <a:latin typeface="Microsoft YaHei"/>
              </a:defRPr>
            </a:pPr>
            <a:r>
              <a:t>难点：缺省值不等于已知事实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80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94455"/>
                </a:solidFill>
                <a:latin typeface="Microsoft YaHei"/>
              </a:defRPr>
            </a:pPr>
            <a:r>
              <a:t>转换流程：关系记录 → 图谱与谓词事实 → 规则推导 → 结果写回企业框架和图谱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05 推理演示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沿着案例推出结论，并保留证据链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先说明控制规则，再计算经济持股；两者回答的问题不同。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53035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49377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控制关系的推导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49377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华鑫控股控制华鑫实业（65%）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可支配股权：20%＋35%＝55%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控制关系向上传递到王建国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468880"/>
            <a:ext cx="534924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606040"/>
            <a:ext cx="4983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经济持股的计算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246120"/>
            <a:ext cx="4983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路径一：80%×20%＝16%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路径二：80%×65%×35%＝18.2%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两条路径合计：34.2%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83480"/>
            <a:ext cx="10881360" cy="1033271"/>
          </a:xfrm>
          <a:prstGeom prst="roundRect">
            <a:avLst/>
          </a:prstGeom>
          <a:solidFill>
            <a:srgbClr val="E1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38928"/>
            <a:ext cx="10469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继续推理：共同控制人＋企业间交易 → 关联交易待核查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每条结论记录来源规则和前提；配偶一致行动等属于教学假设，需另行取证。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06 系统运行结果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从原始关系得到可解释的风险线索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完整流程：输入记录 → 正向推理与图查询 → 解释依据 → 回写图谱及企业档案。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07</a:t>
            </a:r>
          </a:p>
        </p:txBody>
      </p:sp>
      <p:pic>
        <p:nvPicPr>
          <p:cNvPr id="7" name="Picture 6" descr="kg_reaso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4390458" cy="35478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577840" y="2468880"/>
            <a:ext cx="594360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26060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运行结果与验证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24612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53条事实 → 17个周期 → 135条事实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新增9条自然人控制关系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6家企业带风险线索，支持追溯依据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11项测试通过：控制链、环路、负例、边界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图中黑边为推理关系，红圈为风险线索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07 效率实验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相同查询任务，不同表示的效率如何？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在相同无环数据上先核对查询结果一致，再比较图DFS、SQL递归CTE和逐层JOIN。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8364A"/>
                </a:solidFill>
                <a:latin typeface="Microsoft YaHei"/>
              </a:defRPr>
            </a:pPr>
            <a:r>
              <a:t>图 DFS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633472"/>
            <a:ext cx="2422150" cy="365760"/>
          </a:xfrm>
          <a:prstGeom prst="round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257860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0.564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1071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8364A"/>
                </a:solidFill>
                <a:latin typeface="Microsoft YaHei"/>
              </a:defRPr>
            </a:pPr>
            <a:r>
              <a:t>SQL 递归 CTE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3438144"/>
            <a:ext cx="4441093" cy="365760"/>
          </a:xfrm>
          <a:prstGeom prst="roundRect">
            <a:avLst/>
          </a:prstGeom>
          <a:solidFill>
            <a:srgbClr val="789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33832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1.033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1538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8364A"/>
                </a:solidFill>
                <a:latin typeface="Microsoft YaHei"/>
              </a:defRPr>
            </a:pPr>
            <a:r>
              <a:t>SQL 逐层 JOIN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4242816"/>
            <a:ext cx="3311233" cy="365760"/>
          </a:xfrm>
          <a:prstGeom prst="roundRect">
            <a:avLst/>
          </a:prstGeom>
          <a:solidFill>
            <a:srgbClr val="789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418795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0.770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94455"/>
                </a:solidFill>
                <a:latin typeface="Microsoft YaHei"/>
              </a:defRPr>
            </a:pPr>
            <a:r>
              <a:t>430实体 / 792条边 / 20个目标 / 9轮重复；显示8层查询的轮间中位耗时。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607686"/>
                </a:solidFill>
                <a:latin typeface="Microsoft YaHei"/>
              </a:defRPr>
            </a:pPr>
            <a:r>
              <a:t>计时包含结果物化，不含建库与绘图；小规模内存实验不等同于生产数据库评测。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08 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回到业务问题：把分散记录变成有依据的线索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本项目完成了一个小型、可运行、可追溯的知识表示与推理系统。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530352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49377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本次完成了什么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91840"/>
            <a:ext cx="493775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用三种知识表示组织同一案例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演示控制关系、路径和环路推理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用证据链与等价查询验证结果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514600"/>
            <a:ext cx="53492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651760"/>
            <a:ext cx="4983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仍有哪些不足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291840"/>
            <a:ext cx="498347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虚构数据，控制规则覆盖有限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循环股权按简单路径截断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后续加入时间、来源、身份核验及增量推理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8364A"/>
                </a:solidFill>
                <a:latin typeface="Microsoft YaHei"/>
              </a:defRPr>
            </a:pPr>
            <a:r>
              <a:t>结论：表示方法要匹配任务；推理结论要有证据，也要说明适用条件。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07686"/>
                </a:solidFill>
                <a:latin typeface="Microsoft YaHei"/>
              </a:defRPr>
            </a:pPr>
            <a:r>
              <a:t>参考：ICIJ Offshore Leaks；Hogan等《Knowledge Graphs》；课程第2章；NetworkX与SQLite文档。完整书目见报告。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