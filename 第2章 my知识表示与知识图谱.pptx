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1.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 id="2147483864" r:id="rId20"/>
    <p:sldMasterId id="2147483876" r:id="rId21"/>
    <p:sldMasterId id="2147483888" r:id="rId22"/>
    <p:sldMasterId id="2147483900" r:id="rId23"/>
    <p:sldMasterId id="2147483912" r:id="rId24"/>
    <p:sldMasterId id="2147483924" r:id="rId25"/>
    <p:sldMasterId id="2147483936" r:id="rId26"/>
    <p:sldMasterId id="2147483948" r:id="rId27"/>
    <p:sldMasterId id="2147483960" r:id="rId28"/>
    <p:sldMasterId id="2147483972" r:id="rId29"/>
    <p:sldMasterId id="2147483984" r:id="rId30"/>
    <p:sldMasterId id="2147483996" r:id="rId31"/>
    <p:sldMasterId id="2147484008" r:id="rId32"/>
    <p:sldMasterId id="2147484020" r:id="rId33"/>
    <p:sldMasterId id="2147484032" r:id="rId34"/>
    <p:sldMasterId id="2147484044" r:id="rId35"/>
    <p:sldMasterId id="2147484056" r:id="rId36"/>
    <p:sldMasterId id="2147484068" r:id="rId37"/>
    <p:sldMasterId id="2147484080" r:id="rId38"/>
    <p:sldMasterId id="2147484092" r:id="rId39"/>
  </p:sldMasterIdLst>
  <p:notesMasterIdLst>
    <p:notesMasterId r:id="rId42"/>
  </p:notesMasterIdLst>
  <p:handoutMasterIdLst>
    <p:handoutMasterId r:id="rId139"/>
  </p:handoutMasterIdLst>
  <p:sldIdLst>
    <p:sldId id="328" r:id="rId40"/>
    <p:sldId id="463" r:id="rId41"/>
    <p:sldId id="387" r:id="rId43"/>
    <p:sldId id="458" r:id="rId44"/>
    <p:sldId id="259" r:id="rId45"/>
    <p:sldId id="260" r:id="rId46"/>
    <p:sldId id="257" r:id="rId47"/>
    <p:sldId id="258" r:id="rId48"/>
    <p:sldId id="385" r:id="rId49"/>
    <p:sldId id="389" r:id="rId50"/>
    <p:sldId id="390" r:id="rId51"/>
    <p:sldId id="391" r:id="rId52"/>
    <p:sldId id="392" r:id="rId53"/>
    <p:sldId id="261" r:id="rId54"/>
    <p:sldId id="265" r:id="rId55"/>
    <p:sldId id="267" r:id="rId56"/>
    <p:sldId id="377" r:id="rId57"/>
    <p:sldId id="327" r:id="rId58"/>
    <p:sldId id="268" r:id="rId59"/>
    <p:sldId id="269" r:id="rId60"/>
    <p:sldId id="360" r:id="rId61"/>
    <p:sldId id="270" r:id="rId62"/>
    <p:sldId id="361" r:id="rId63"/>
    <p:sldId id="362" r:id="rId64"/>
    <p:sldId id="363" r:id="rId65"/>
    <p:sldId id="364" r:id="rId66"/>
    <p:sldId id="374" r:id="rId67"/>
    <p:sldId id="366" r:id="rId68"/>
    <p:sldId id="367" r:id="rId69"/>
    <p:sldId id="273" r:id="rId70"/>
    <p:sldId id="368" r:id="rId71"/>
    <p:sldId id="274" r:id="rId72"/>
    <p:sldId id="370" r:id="rId73"/>
    <p:sldId id="275" r:id="rId74"/>
    <p:sldId id="378" r:id="rId75"/>
    <p:sldId id="371" r:id="rId76"/>
    <p:sldId id="276" r:id="rId77"/>
    <p:sldId id="372" r:id="rId78"/>
    <p:sldId id="277" r:id="rId79"/>
    <p:sldId id="279" r:id="rId80"/>
    <p:sldId id="332" r:id="rId81"/>
    <p:sldId id="280" r:id="rId82"/>
    <p:sldId id="337" r:id="rId83"/>
    <p:sldId id="339" r:id="rId84"/>
    <p:sldId id="282" r:id="rId85"/>
    <p:sldId id="340" r:id="rId86"/>
    <p:sldId id="287" r:id="rId87"/>
    <p:sldId id="342" r:id="rId88"/>
    <p:sldId id="379" r:id="rId89"/>
    <p:sldId id="290" r:id="rId90"/>
    <p:sldId id="346" r:id="rId91"/>
    <p:sldId id="345" r:id="rId92"/>
    <p:sldId id="348" r:id="rId93"/>
    <p:sldId id="380" r:id="rId94"/>
    <p:sldId id="343" r:id="rId95"/>
    <p:sldId id="297" r:id="rId96"/>
    <p:sldId id="333" r:id="rId97"/>
    <p:sldId id="298" r:id="rId98"/>
    <p:sldId id="299" r:id="rId99"/>
    <p:sldId id="301" r:id="rId100"/>
    <p:sldId id="351" r:id="rId101"/>
    <p:sldId id="352" r:id="rId102"/>
    <p:sldId id="304" r:id="rId103"/>
    <p:sldId id="305" r:id="rId104"/>
    <p:sldId id="306" r:id="rId105"/>
    <p:sldId id="393" r:id="rId106"/>
    <p:sldId id="394" r:id="rId107"/>
    <p:sldId id="395" r:id="rId108"/>
    <p:sldId id="396" r:id="rId109"/>
    <p:sldId id="397" r:id="rId110"/>
    <p:sldId id="459" r:id="rId111"/>
    <p:sldId id="405" r:id="rId112"/>
    <p:sldId id="404" r:id="rId113"/>
    <p:sldId id="410" r:id="rId114"/>
    <p:sldId id="398" r:id="rId115"/>
    <p:sldId id="461" r:id="rId116"/>
    <p:sldId id="462" r:id="rId117"/>
    <p:sldId id="438" r:id="rId118"/>
    <p:sldId id="439" r:id="rId119"/>
    <p:sldId id="440" r:id="rId120"/>
    <p:sldId id="441" r:id="rId121"/>
    <p:sldId id="442" r:id="rId122"/>
    <p:sldId id="443" r:id="rId123"/>
    <p:sldId id="444" r:id="rId124"/>
    <p:sldId id="445" r:id="rId125"/>
    <p:sldId id="446" r:id="rId126"/>
    <p:sldId id="447" r:id="rId127"/>
    <p:sldId id="448" r:id="rId128"/>
    <p:sldId id="449" r:id="rId129"/>
    <p:sldId id="450" r:id="rId130"/>
    <p:sldId id="451" r:id="rId131"/>
    <p:sldId id="452" r:id="rId132"/>
    <p:sldId id="453" r:id="rId133"/>
    <p:sldId id="454" r:id="rId134"/>
    <p:sldId id="455" r:id="rId135"/>
    <p:sldId id="456" r:id="rId136"/>
    <p:sldId id="457" r:id="rId137"/>
    <p:sldId id="330" r:id="rId138"/>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206" userDrawn="1">
          <p15:clr>
            <a:srgbClr val="A4A3A4"/>
          </p15:clr>
        </p15:guide>
        <p15:guide id="2" pos="287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0328"/>
  </p:normalViewPr>
  <p:slideViewPr>
    <p:cSldViewPr snapToGrid="0" showGuides="1">
      <p:cViewPr varScale="1">
        <p:scale>
          <a:sx n="100" d="100"/>
          <a:sy n="100" d="100"/>
        </p:scale>
        <p:origin x="298" y="58"/>
      </p:cViewPr>
      <p:guideLst>
        <p:guide orient="horz" pos="2206"/>
        <p:guide pos="287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4514"/>
    </p:cViewPr>
  </p:sorterViewPr>
  <p:gridSpacing cx="76199" cy="76199"/>
</p:viewPr>
</file>

<file path=ppt/_rels/presentation.xml.rels><?xml version="1.0" encoding="UTF-8" standalone="yes"?>
<Relationships xmlns="http://schemas.openxmlformats.org/package/2006/relationships"><Relationship Id="rId99" Type="http://schemas.openxmlformats.org/officeDocument/2006/relationships/slide" Target="slides/slide59.xml"/><Relationship Id="rId98" Type="http://schemas.openxmlformats.org/officeDocument/2006/relationships/slide" Target="slides/slide58.xml"/><Relationship Id="rId97" Type="http://schemas.openxmlformats.org/officeDocument/2006/relationships/slide" Target="slides/slide57.xml"/><Relationship Id="rId96" Type="http://schemas.openxmlformats.org/officeDocument/2006/relationships/slide" Target="slides/slide56.xml"/><Relationship Id="rId95" Type="http://schemas.openxmlformats.org/officeDocument/2006/relationships/slide" Target="slides/slide55.xml"/><Relationship Id="rId94" Type="http://schemas.openxmlformats.org/officeDocument/2006/relationships/slide" Target="slides/slide54.xml"/><Relationship Id="rId93" Type="http://schemas.openxmlformats.org/officeDocument/2006/relationships/slide" Target="slides/slide53.xml"/><Relationship Id="rId92" Type="http://schemas.openxmlformats.org/officeDocument/2006/relationships/slide" Target="slides/slide52.xml"/><Relationship Id="rId91" Type="http://schemas.openxmlformats.org/officeDocument/2006/relationships/slide" Target="slides/slide51.xml"/><Relationship Id="rId90" Type="http://schemas.openxmlformats.org/officeDocument/2006/relationships/slide" Target="slides/slide50.xml"/><Relationship Id="rId9" Type="http://schemas.openxmlformats.org/officeDocument/2006/relationships/slideMaster" Target="slideMasters/slideMaster8.xml"/><Relationship Id="rId89" Type="http://schemas.openxmlformats.org/officeDocument/2006/relationships/slide" Target="slides/slide49.xml"/><Relationship Id="rId88" Type="http://schemas.openxmlformats.org/officeDocument/2006/relationships/slide" Target="slides/slide48.xml"/><Relationship Id="rId87" Type="http://schemas.openxmlformats.org/officeDocument/2006/relationships/slide" Target="slides/slide47.xml"/><Relationship Id="rId86" Type="http://schemas.openxmlformats.org/officeDocument/2006/relationships/slide" Target="slides/slide46.xml"/><Relationship Id="rId85" Type="http://schemas.openxmlformats.org/officeDocument/2006/relationships/slide" Target="slides/slide45.xml"/><Relationship Id="rId84" Type="http://schemas.openxmlformats.org/officeDocument/2006/relationships/slide" Target="slides/slide44.xml"/><Relationship Id="rId83" Type="http://schemas.openxmlformats.org/officeDocument/2006/relationships/slide" Target="slides/slide43.xml"/><Relationship Id="rId82" Type="http://schemas.openxmlformats.org/officeDocument/2006/relationships/slide" Target="slides/slide42.xml"/><Relationship Id="rId81" Type="http://schemas.openxmlformats.org/officeDocument/2006/relationships/slide" Target="slides/slide41.xml"/><Relationship Id="rId80" Type="http://schemas.openxmlformats.org/officeDocument/2006/relationships/slide" Target="slides/slide40.xml"/><Relationship Id="rId8" Type="http://schemas.openxmlformats.org/officeDocument/2006/relationships/slideMaster" Target="slideMasters/slideMaster7.xml"/><Relationship Id="rId79" Type="http://schemas.openxmlformats.org/officeDocument/2006/relationships/slide" Target="slides/slide39.xml"/><Relationship Id="rId78" Type="http://schemas.openxmlformats.org/officeDocument/2006/relationships/slide" Target="slides/slide38.xml"/><Relationship Id="rId77" Type="http://schemas.openxmlformats.org/officeDocument/2006/relationships/slide" Target="slides/slide37.xml"/><Relationship Id="rId76" Type="http://schemas.openxmlformats.org/officeDocument/2006/relationships/slide" Target="slides/slide36.xml"/><Relationship Id="rId75" Type="http://schemas.openxmlformats.org/officeDocument/2006/relationships/slide" Target="slides/slide35.xml"/><Relationship Id="rId74" Type="http://schemas.openxmlformats.org/officeDocument/2006/relationships/slide" Target="slides/slide34.xml"/><Relationship Id="rId73" Type="http://schemas.openxmlformats.org/officeDocument/2006/relationships/slide" Target="slides/slide33.xml"/><Relationship Id="rId72" Type="http://schemas.openxmlformats.org/officeDocument/2006/relationships/slide" Target="slides/slide32.xml"/><Relationship Id="rId71" Type="http://schemas.openxmlformats.org/officeDocument/2006/relationships/slide" Target="slides/slide31.xml"/><Relationship Id="rId70" Type="http://schemas.openxmlformats.org/officeDocument/2006/relationships/slide" Target="slides/slide30.xml"/><Relationship Id="rId7" Type="http://schemas.openxmlformats.org/officeDocument/2006/relationships/slideMaster" Target="slideMasters/slideMaster6.xml"/><Relationship Id="rId69" Type="http://schemas.openxmlformats.org/officeDocument/2006/relationships/slide" Target="slides/slide29.xml"/><Relationship Id="rId68" Type="http://schemas.openxmlformats.org/officeDocument/2006/relationships/slide" Target="slides/slide28.xml"/><Relationship Id="rId67" Type="http://schemas.openxmlformats.org/officeDocument/2006/relationships/slide" Target="slides/slide27.xml"/><Relationship Id="rId66" Type="http://schemas.openxmlformats.org/officeDocument/2006/relationships/slide" Target="slides/slide26.xml"/><Relationship Id="rId65" Type="http://schemas.openxmlformats.org/officeDocument/2006/relationships/slide" Target="slides/slide25.xml"/><Relationship Id="rId64" Type="http://schemas.openxmlformats.org/officeDocument/2006/relationships/slide" Target="slides/slide24.xml"/><Relationship Id="rId63" Type="http://schemas.openxmlformats.org/officeDocument/2006/relationships/slide" Target="slides/slide23.xml"/><Relationship Id="rId62" Type="http://schemas.openxmlformats.org/officeDocument/2006/relationships/slide" Target="slides/slide22.xml"/><Relationship Id="rId61" Type="http://schemas.openxmlformats.org/officeDocument/2006/relationships/slide" Target="slides/slide21.xml"/><Relationship Id="rId60" Type="http://schemas.openxmlformats.org/officeDocument/2006/relationships/slide" Target="slides/slide20.xml"/><Relationship Id="rId6" Type="http://schemas.openxmlformats.org/officeDocument/2006/relationships/slideMaster" Target="slideMasters/slideMaster5.xml"/><Relationship Id="rId59" Type="http://schemas.openxmlformats.org/officeDocument/2006/relationships/slide" Target="slides/slide19.xml"/><Relationship Id="rId58" Type="http://schemas.openxmlformats.org/officeDocument/2006/relationships/slide" Target="slides/slide18.xml"/><Relationship Id="rId57" Type="http://schemas.openxmlformats.org/officeDocument/2006/relationships/slide" Target="slides/slide17.xml"/><Relationship Id="rId56" Type="http://schemas.openxmlformats.org/officeDocument/2006/relationships/slide" Target="slides/slide16.xml"/><Relationship Id="rId55" Type="http://schemas.openxmlformats.org/officeDocument/2006/relationships/slide" Target="slides/slide15.xml"/><Relationship Id="rId54" Type="http://schemas.openxmlformats.org/officeDocument/2006/relationships/slide" Target="slides/slide14.xml"/><Relationship Id="rId53" Type="http://schemas.openxmlformats.org/officeDocument/2006/relationships/slide" Target="slides/slide13.xml"/><Relationship Id="rId52" Type="http://schemas.openxmlformats.org/officeDocument/2006/relationships/slide" Target="slides/slide12.xml"/><Relationship Id="rId51" Type="http://schemas.openxmlformats.org/officeDocument/2006/relationships/slide" Target="slides/slide11.xml"/><Relationship Id="rId50" Type="http://schemas.openxmlformats.org/officeDocument/2006/relationships/slide" Target="slides/slide10.xml"/><Relationship Id="rId5" Type="http://schemas.openxmlformats.org/officeDocument/2006/relationships/slideMaster" Target="slideMasters/slideMaster4.xml"/><Relationship Id="rId49" Type="http://schemas.openxmlformats.org/officeDocument/2006/relationships/slide" Target="slides/slide9.xml"/><Relationship Id="rId48" Type="http://schemas.openxmlformats.org/officeDocument/2006/relationships/slide" Target="slides/slide8.xml"/><Relationship Id="rId47" Type="http://schemas.openxmlformats.org/officeDocument/2006/relationships/slide" Target="slides/slide7.xml"/><Relationship Id="rId46" Type="http://schemas.openxmlformats.org/officeDocument/2006/relationships/slide" Target="slides/slide6.xml"/><Relationship Id="rId45" Type="http://schemas.openxmlformats.org/officeDocument/2006/relationships/slide" Target="slides/slide5.xml"/><Relationship Id="rId44" Type="http://schemas.openxmlformats.org/officeDocument/2006/relationships/slide" Target="slides/slide4.xml"/><Relationship Id="rId43" Type="http://schemas.openxmlformats.org/officeDocument/2006/relationships/slide" Target="slides/slide3.xml"/><Relationship Id="rId42" Type="http://schemas.openxmlformats.org/officeDocument/2006/relationships/notesMaster" Target="notesMasters/notesMaster1.xml"/><Relationship Id="rId41" Type="http://schemas.openxmlformats.org/officeDocument/2006/relationships/slide" Target="slides/slide2.xml"/><Relationship Id="rId40" Type="http://schemas.openxmlformats.org/officeDocument/2006/relationships/slide" Target="slides/slide1.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2" Type="http://schemas.openxmlformats.org/officeDocument/2006/relationships/tableStyles" Target="tableStyles.xml"/><Relationship Id="rId141" Type="http://schemas.openxmlformats.org/officeDocument/2006/relationships/viewProps" Target="viewProps.xml"/><Relationship Id="rId140" Type="http://schemas.openxmlformats.org/officeDocument/2006/relationships/presProps" Target="presProps.xml"/><Relationship Id="rId14" Type="http://schemas.openxmlformats.org/officeDocument/2006/relationships/slideMaster" Target="slideMasters/slideMaster13.xml"/><Relationship Id="rId139" Type="http://schemas.openxmlformats.org/officeDocument/2006/relationships/handoutMaster" Target="handoutMasters/handoutMaster1.xml"/><Relationship Id="rId138" Type="http://schemas.openxmlformats.org/officeDocument/2006/relationships/slide" Target="slides/slide98.xml"/><Relationship Id="rId137" Type="http://schemas.openxmlformats.org/officeDocument/2006/relationships/slide" Target="slides/slide97.xml"/><Relationship Id="rId136" Type="http://schemas.openxmlformats.org/officeDocument/2006/relationships/slide" Target="slides/slide96.xml"/><Relationship Id="rId135" Type="http://schemas.openxmlformats.org/officeDocument/2006/relationships/slide" Target="slides/slide95.xml"/><Relationship Id="rId134" Type="http://schemas.openxmlformats.org/officeDocument/2006/relationships/slide" Target="slides/slide94.xml"/><Relationship Id="rId133" Type="http://schemas.openxmlformats.org/officeDocument/2006/relationships/slide" Target="slides/slide93.xml"/><Relationship Id="rId132" Type="http://schemas.openxmlformats.org/officeDocument/2006/relationships/slide" Target="slides/slide92.xml"/><Relationship Id="rId131" Type="http://schemas.openxmlformats.org/officeDocument/2006/relationships/slide" Target="slides/slide91.xml"/><Relationship Id="rId130" Type="http://schemas.openxmlformats.org/officeDocument/2006/relationships/slide" Target="slides/slide90.xml"/><Relationship Id="rId13" Type="http://schemas.openxmlformats.org/officeDocument/2006/relationships/slideMaster" Target="slideMasters/slideMaster12.xml"/><Relationship Id="rId129" Type="http://schemas.openxmlformats.org/officeDocument/2006/relationships/slide" Target="slides/slide89.xml"/><Relationship Id="rId128" Type="http://schemas.openxmlformats.org/officeDocument/2006/relationships/slide" Target="slides/slide88.xml"/><Relationship Id="rId127" Type="http://schemas.openxmlformats.org/officeDocument/2006/relationships/slide" Target="slides/slide87.xml"/><Relationship Id="rId126" Type="http://schemas.openxmlformats.org/officeDocument/2006/relationships/slide" Target="slides/slide86.xml"/><Relationship Id="rId125" Type="http://schemas.openxmlformats.org/officeDocument/2006/relationships/slide" Target="slides/slide85.xml"/><Relationship Id="rId124" Type="http://schemas.openxmlformats.org/officeDocument/2006/relationships/slide" Target="slides/slide84.xml"/><Relationship Id="rId123" Type="http://schemas.openxmlformats.org/officeDocument/2006/relationships/slide" Target="slides/slide83.xml"/><Relationship Id="rId122" Type="http://schemas.openxmlformats.org/officeDocument/2006/relationships/slide" Target="slides/slide82.xml"/><Relationship Id="rId121" Type="http://schemas.openxmlformats.org/officeDocument/2006/relationships/slide" Target="slides/slide81.xml"/><Relationship Id="rId120" Type="http://schemas.openxmlformats.org/officeDocument/2006/relationships/slide" Target="slides/slide80.xml"/><Relationship Id="rId12" Type="http://schemas.openxmlformats.org/officeDocument/2006/relationships/slideMaster" Target="slideMasters/slideMaster11.xml"/><Relationship Id="rId119" Type="http://schemas.openxmlformats.org/officeDocument/2006/relationships/slide" Target="slides/slide79.xml"/><Relationship Id="rId118" Type="http://schemas.openxmlformats.org/officeDocument/2006/relationships/slide" Target="slides/slide78.xml"/><Relationship Id="rId117" Type="http://schemas.openxmlformats.org/officeDocument/2006/relationships/slide" Target="slides/slide77.xml"/><Relationship Id="rId116" Type="http://schemas.openxmlformats.org/officeDocument/2006/relationships/slide" Target="slides/slide76.xml"/><Relationship Id="rId115" Type="http://schemas.openxmlformats.org/officeDocument/2006/relationships/slide" Target="slides/slide75.xml"/><Relationship Id="rId114" Type="http://schemas.openxmlformats.org/officeDocument/2006/relationships/slide" Target="slides/slide74.xml"/><Relationship Id="rId113" Type="http://schemas.openxmlformats.org/officeDocument/2006/relationships/slide" Target="slides/slide73.xml"/><Relationship Id="rId112" Type="http://schemas.openxmlformats.org/officeDocument/2006/relationships/slide" Target="slides/slide72.xml"/><Relationship Id="rId111" Type="http://schemas.openxmlformats.org/officeDocument/2006/relationships/slide" Target="slides/slide71.xml"/><Relationship Id="rId110" Type="http://schemas.openxmlformats.org/officeDocument/2006/relationships/slide" Target="slides/slide70.xml"/><Relationship Id="rId11" Type="http://schemas.openxmlformats.org/officeDocument/2006/relationships/slideMaster" Target="slideMasters/slideMaster10.xml"/><Relationship Id="rId109" Type="http://schemas.openxmlformats.org/officeDocument/2006/relationships/slide" Target="slides/slide69.xml"/><Relationship Id="rId108" Type="http://schemas.openxmlformats.org/officeDocument/2006/relationships/slide" Target="slides/slide68.xml"/><Relationship Id="rId107" Type="http://schemas.openxmlformats.org/officeDocument/2006/relationships/slide" Target="slides/slide67.xml"/><Relationship Id="rId106" Type="http://schemas.openxmlformats.org/officeDocument/2006/relationships/slide" Target="slides/slide66.xml"/><Relationship Id="rId105" Type="http://schemas.openxmlformats.org/officeDocument/2006/relationships/slide" Target="slides/slide65.xml"/><Relationship Id="rId104" Type="http://schemas.openxmlformats.org/officeDocument/2006/relationships/slide" Target="slides/slide64.xml"/><Relationship Id="rId103" Type="http://schemas.openxmlformats.org/officeDocument/2006/relationships/slide" Target="slides/slide63.xml"/><Relationship Id="rId102" Type="http://schemas.openxmlformats.org/officeDocument/2006/relationships/slide" Target="slides/slide62.xml"/><Relationship Id="rId101" Type="http://schemas.openxmlformats.org/officeDocument/2006/relationships/slide" Target="slides/slide61.xml"/><Relationship Id="rId100" Type="http://schemas.openxmlformats.org/officeDocument/2006/relationships/slide" Target="slides/slide6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12.vml.rels><?xml version="1.0" encoding="UTF-8" standalone="yes"?>
<Relationships xmlns="http://schemas.openxmlformats.org/package/2006/relationships"><Relationship Id="rId7" Type="http://schemas.openxmlformats.org/officeDocument/2006/relationships/image" Target="../media/image38.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60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9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86019"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9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86020"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9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86021"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strike="noStrike" noProof="1" dirty="0">
                <a:latin typeface="Arial" panose="020B0604020202090204" pitchFamily="34" charset="0"/>
                <a:ea typeface="宋体" pitchFamily="2" charset="-122"/>
                <a:cs typeface="+mn-cs"/>
              </a:rPr>
            </a:fld>
            <a:endParaRPr lang="en-US" altLang="zh-CN" sz="1200" strike="noStrike" noProof="1"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39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9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8397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9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4100"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397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8397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9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8397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strike="noStrike" noProof="1" dirty="0">
                <a:latin typeface="Arial" panose="020B0604020202090204" pitchFamily="34" charset="0"/>
                <a:ea typeface="宋体" pitchFamily="2" charset="-122"/>
                <a:cs typeface="+mn-cs"/>
              </a:rPr>
            </a:fld>
            <a:endParaRPr lang="en-US" altLang="zh-CN"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dirty="0"/>
            </a:fld>
            <a:endParaRPr lang="en-US" altLang="zh-CN" dirty="0"/>
          </a:p>
        </p:txBody>
      </p:sp>
      <p:sp>
        <p:nvSpPr>
          <p:cNvPr id="45058" name="Rectangle 2"/>
          <p:cNvSpPr>
            <a:spLocks noRot="1" noTextEdit="1"/>
          </p:cNvSpPr>
          <p:nvPr>
            <p:ph type="sldImg"/>
          </p:nvPr>
        </p:nvSpPr>
        <p:spPr>
          <a:solidFill>
            <a:srgbClr val="FFFFFF"/>
          </a:solidFill>
        </p:spPr>
      </p:sp>
      <p:sp>
        <p:nvSpPr>
          <p:cNvPr id="45059" name="Rectangle 3"/>
          <p:cNvSpPr/>
          <p:nvPr>
            <p:ph type="body"/>
          </p:nvPr>
        </p:nvSpPr>
        <p:spPr>
          <a:xfrm>
            <a:off x="914400" y="4343400"/>
            <a:ext cx="5029200" cy="4114800"/>
          </a:xfrm>
          <a:solidFill>
            <a:srgbClr val="FFFFFF"/>
          </a:solidFill>
          <a:ln>
            <a:solidFill>
              <a:srgbClr val="000000"/>
            </a:solidFill>
            <a:mite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dirty="0"/>
            </a:fld>
            <a:endParaRPr lang="en-US" altLang="zh-CN" dirty="0"/>
          </a:p>
        </p:txBody>
      </p:sp>
      <p:sp>
        <p:nvSpPr>
          <p:cNvPr id="62466" name="Rectangle 2"/>
          <p:cNvSpPr>
            <a:spLocks noRot="1" noTextEdit="1"/>
          </p:cNvSpPr>
          <p:nvPr>
            <p:ph type="sldImg"/>
          </p:nvPr>
        </p:nvSpPr>
        <p:spPr>
          <a:solidFill>
            <a:srgbClr val="FFFFFF"/>
          </a:solidFill>
        </p:spPr>
      </p:sp>
      <p:sp>
        <p:nvSpPr>
          <p:cNvPr id="62467" name="Rectangle 3"/>
          <p:cNvSpPr/>
          <p:nvPr>
            <p:ph type="body"/>
          </p:nvPr>
        </p:nvSpPr>
        <p:spPr>
          <a:xfrm>
            <a:off x="914400" y="4343400"/>
            <a:ext cx="5029200" cy="4114800"/>
          </a:xfrm>
          <a:solidFill>
            <a:srgbClr val="FFFFFF"/>
          </a:solidFill>
          <a:ln>
            <a:solidFill>
              <a:srgbClr val="000000"/>
            </a:solidFill>
            <a:miter/>
          </a:ln>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9.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0.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0.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1.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1.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2.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3.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4.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4.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5.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6.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6.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7.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7.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8.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8.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5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6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9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98.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2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0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20.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4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4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4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5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6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6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75.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8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86.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9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97.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08.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408363"/>
            <a:ext cx="7772400"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sz="1800"/>
          </a:p>
        </p:txBody>
      </p:sp>
      <p:sp>
        <p:nvSpPr>
          <p:cNvPr id="5" name="Text Box 8"/>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endParaRPr>
          </a:p>
        </p:txBody>
      </p:sp>
      <p:sp>
        <p:nvSpPr>
          <p:cNvPr id="2054" name="Line 9"/>
          <p:cNvSpPr/>
          <p:nvPr userDrawn="1"/>
        </p:nvSpPr>
        <p:spPr>
          <a:xfrm>
            <a:off x="225425" y="457200"/>
            <a:ext cx="8680450" cy="0"/>
          </a:xfrm>
          <a:prstGeom prst="line">
            <a:avLst/>
          </a:prstGeom>
          <a:ln w="57150" cap="flat" cmpd="thinThick">
            <a:solidFill>
              <a:schemeClr val="accent2"/>
            </a:solidFill>
            <a:prstDash val="solid"/>
            <a:round/>
            <a:headEnd type="none" w="med" len="med"/>
            <a:tailEnd type="none" w="med" len="med"/>
          </a:ln>
        </p:spPr>
      </p:sp>
      <p:sp>
        <p:nvSpPr>
          <p:cNvPr id="10244"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10245"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7" name="Rectangle 6"/>
          <p:cNvSpPr>
            <a:spLocks noGrp="1" noChangeArrowheads="1"/>
          </p:cNvSpPr>
          <p:nvPr>
            <p:ph type="ftr" sz="quarter" idx="3"/>
          </p:nvPr>
        </p:nvSpPr>
        <p:spPr bwMode="auto">
          <a:xfrm>
            <a:off x="733425" y="138113"/>
            <a:ext cx="7737475" cy="323850"/>
          </a:xfrm>
          <a:prstGeom prst="rect">
            <a:avLst/>
          </a:prstGeom>
          <a:ln>
            <a:miter lim="800000"/>
          </a:ln>
        </p:spPr>
        <p:txBody>
          <a:bodyPr vert="horz" wrap="square" lIns="91440" tIns="45720" rIns="91440" bIns="45720" numCol="1" anchor="t" anchorCtr="0" compatLnSpc="1"/>
          <a:lstStyle>
            <a:lvl1pPr eaLnBrk="1" hangingPunct="1">
              <a:defRPr sz="1600">
                <a:solidFill>
                  <a:srgbClr val="A50021"/>
                </a:solidFill>
                <a:latin typeface="Arial" panose="020B0604020202090204" pitchFamily="34" charset="0"/>
                <a:ea typeface="MS PGothic" panose="020B0600070205080204"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rgbClr val="A50021"/>
              </a:solidFill>
              <a:effectLst/>
              <a:uLnTx/>
              <a:uFillTx/>
              <a:latin typeface="Arial" panose="020B0604020202090204" pitchFamily="34" charset="0"/>
              <a:ea typeface="MS PGothic" panose="020B0600070205080204" pitchFamily="34" charset="-128"/>
              <a:cs typeface="+mn-cs"/>
            </a:endParaRPr>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0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4" Type="http://schemas.openxmlformats.org/officeDocument/2006/relationships/theme" Target="../theme/theme3.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4" Type="http://schemas.openxmlformats.org/officeDocument/2006/relationships/theme" Target="../theme/theme4.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4" Type="http://schemas.openxmlformats.org/officeDocument/2006/relationships/theme" Target="../theme/theme5.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4" Type="http://schemas.openxmlformats.org/officeDocument/2006/relationships/theme" Target="../theme/theme6.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4" Type="http://schemas.openxmlformats.org/officeDocument/2006/relationships/theme" Target="../theme/theme7.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4" Type="http://schemas.openxmlformats.org/officeDocument/2006/relationships/theme" Target="../theme/theme8.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4" Type="http://schemas.openxmlformats.org/officeDocument/2006/relationships/theme" Target="../theme/theme9.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4" Type="http://schemas.openxmlformats.org/officeDocument/2006/relationships/theme" Target="../theme/theme10.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4" Type="http://schemas.openxmlformats.org/officeDocument/2006/relationships/theme" Target="../theme/theme11.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4" Type="http://schemas.openxmlformats.org/officeDocument/2006/relationships/theme" Target="../theme/theme12.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4" Type="http://schemas.openxmlformats.org/officeDocument/2006/relationships/theme" Target="../theme/theme13.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4" Type="http://schemas.openxmlformats.org/officeDocument/2006/relationships/theme" Target="../theme/theme14.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4" Type="http://schemas.openxmlformats.org/officeDocument/2006/relationships/theme" Target="../theme/theme15.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4" Type="http://schemas.openxmlformats.org/officeDocument/2006/relationships/theme" Target="../theme/theme16.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4" Type="http://schemas.openxmlformats.org/officeDocument/2006/relationships/theme" Target="../theme/theme17.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4" Type="http://schemas.openxmlformats.org/officeDocument/2006/relationships/theme" Target="../theme/theme18.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7.xml"/><Relationship Id="rId8" Type="http://schemas.openxmlformats.org/officeDocument/2006/relationships/slideLayout" Target="../slideLayouts/slideLayout206.xml"/><Relationship Id="rId7" Type="http://schemas.openxmlformats.org/officeDocument/2006/relationships/slideLayout" Target="../slideLayouts/slideLayout205.xml"/><Relationship Id="rId6" Type="http://schemas.openxmlformats.org/officeDocument/2006/relationships/slideLayout" Target="../slideLayouts/slideLayout204.xml"/><Relationship Id="rId5" Type="http://schemas.openxmlformats.org/officeDocument/2006/relationships/slideLayout" Target="../slideLayouts/slideLayout203.xml"/><Relationship Id="rId4" Type="http://schemas.openxmlformats.org/officeDocument/2006/relationships/slideLayout" Target="../slideLayouts/slideLayout202.xml"/><Relationship Id="rId3" Type="http://schemas.openxmlformats.org/officeDocument/2006/relationships/slideLayout" Target="../slideLayouts/slideLayout201.xml"/><Relationship Id="rId2" Type="http://schemas.openxmlformats.org/officeDocument/2006/relationships/slideLayout" Target="../slideLayouts/slideLayout200.xml"/><Relationship Id="rId14" Type="http://schemas.openxmlformats.org/officeDocument/2006/relationships/theme" Target="../theme/theme19.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209.xml"/><Relationship Id="rId10" Type="http://schemas.openxmlformats.org/officeDocument/2006/relationships/slideLayout" Target="../slideLayouts/slideLayout208.xml"/><Relationship Id="rId1" Type="http://schemas.openxmlformats.org/officeDocument/2006/relationships/slideLayout" Target="../slideLayouts/slideLayout199.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18.xml"/><Relationship Id="rId8" Type="http://schemas.openxmlformats.org/officeDocument/2006/relationships/slideLayout" Target="../slideLayouts/slideLayout217.xml"/><Relationship Id="rId7" Type="http://schemas.openxmlformats.org/officeDocument/2006/relationships/slideLayout" Target="../slideLayouts/slideLayout216.xml"/><Relationship Id="rId6" Type="http://schemas.openxmlformats.org/officeDocument/2006/relationships/slideLayout" Target="../slideLayouts/slideLayout215.xml"/><Relationship Id="rId5" Type="http://schemas.openxmlformats.org/officeDocument/2006/relationships/slideLayout" Target="../slideLayouts/slideLayout214.xml"/><Relationship Id="rId4" Type="http://schemas.openxmlformats.org/officeDocument/2006/relationships/slideLayout" Target="../slideLayouts/slideLayout213.xml"/><Relationship Id="rId3" Type="http://schemas.openxmlformats.org/officeDocument/2006/relationships/slideLayout" Target="../slideLayouts/slideLayout212.xml"/><Relationship Id="rId2" Type="http://schemas.openxmlformats.org/officeDocument/2006/relationships/slideLayout" Target="../slideLayouts/slideLayout211.xml"/><Relationship Id="rId14" Type="http://schemas.openxmlformats.org/officeDocument/2006/relationships/theme" Target="../theme/theme20.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220.xml"/><Relationship Id="rId10" Type="http://schemas.openxmlformats.org/officeDocument/2006/relationships/slideLayout" Target="../slideLayouts/slideLayout219.xml"/><Relationship Id="rId1" Type="http://schemas.openxmlformats.org/officeDocument/2006/relationships/slideLayout" Target="../slideLayouts/slideLayout210.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29.xml"/><Relationship Id="rId8" Type="http://schemas.openxmlformats.org/officeDocument/2006/relationships/slideLayout" Target="../slideLayouts/slideLayout228.xml"/><Relationship Id="rId7" Type="http://schemas.openxmlformats.org/officeDocument/2006/relationships/slideLayout" Target="../slideLayouts/slideLayout227.xml"/><Relationship Id="rId6" Type="http://schemas.openxmlformats.org/officeDocument/2006/relationships/slideLayout" Target="../slideLayouts/slideLayout226.xml"/><Relationship Id="rId5" Type="http://schemas.openxmlformats.org/officeDocument/2006/relationships/slideLayout" Target="../slideLayouts/slideLayout225.xml"/><Relationship Id="rId4" Type="http://schemas.openxmlformats.org/officeDocument/2006/relationships/slideLayout" Target="../slideLayouts/slideLayout224.xml"/><Relationship Id="rId3" Type="http://schemas.openxmlformats.org/officeDocument/2006/relationships/slideLayout" Target="../slideLayouts/slideLayout223.xml"/><Relationship Id="rId2" Type="http://schemas.openxmlformats.org/officeDocument/2006/relationships/slideLayout" Target="../slideLayouts/slideLayout222.xml"/><Relationship Id="rId14" Type="http://schemas.openxmlformats.org/officeDocument/2006/relationships/theme" Target="../theme/theme21.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231.xml"/><Relationship Id="rId10" Type="http://schemas.openxmlformats.org/officeDocument/2006/relationships/slideLayout" Target="../slideLayouts/slideLayout230.xml"/><Relationship Id="rId1" Type="http://schemas.openxmlformats.org/officeDocument/2006/relationships/slideLayout" Target="../slideLayouts/slideLayout22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40.xml"/><Relationship Id="rId8" Type="http://schemas.openxmlformats.org/officeDocument/2006/relationships/slideLayout" Target="../slideLayouts/slideLayout239.xml"/><Relationship Id="rId7" Type="http://schemas.openxmlformats.org/officeDocument/2006/relationships/slideLayout" Target="../slideLayouts/slideLayout238.xml"/><Relationship Id="rId6" Type="http://schemas.openxmlformats.org/officeDocument/2006/relationships/slideLayout" Target="../slideLayouts/slideLayout237.xml"/><Relationship Id="rId5" Type="http://schemas.openxmlformats.org/officeDocument/2006/relationships/slideLayout" Target="../slideLayouts/slideLayout236.xml"/><Relationship Id="rId4" Type="http://schemas.openxmlformats.org/officeDocument/2006/relationships/slideLayout" Target="../slideLayouts/slideLayout235.xml"/><Relationship Id="rId3" Type="http://schemas.openxmlformats.org/officeDocument/2006/relationships/slideLayout" Target="../slideLayouts/slideLayout234.xml"/><Relationship Id="rId2" Type="http://schemas.openxmlformats.org/officeDocument/2006/relationships/slideLayout" Target="../slideLayouts/slideLayout233.xml"/><Relationship Id="rId14" Type="http://schemas.openxmlformats.org/officeDocument/2006/relationships/theme" Target="../theme/theme22.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242.xml"/><Relationship Id="rId10" Type="http://schemas.openxmlformats.org/officeDocument/2006/relationships/slideLayout" Target="../slideLayouts/slideLayout241.xml"/><Relationship Id="rId1" Type="http://schemas.openxmlformats.org/officeDocument/2006/relationships/slideLayout" Target="../slideLayouts/slideLayout232.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51.xml"/><Relationship Id="rId8" Type="http://schemas.openxmlformats.org/officeDocument/2006/relationships/slideLayout" Target="../slideLayouts/slideLayout250.xml"/><Relationship Id="rId7" Type="http://schemas.openxmlformats.org/officeDocument/2006/relationships/slideLayout" Target="../slideLayouts/slideLayout249.xml"/><Relationship Id="rId6" Type="http://schemas.openxmlformats.org/officeDocument/2006/relationships/slideLayout" Target="../slideLayouts/slideLayout248.xml"/><Relationship Id="rId5" Type="http://schemas.openxmlformats.org/officeDocument/2006/relationships/slideLayout" Target="../slideLayouts/slideLayout247.xml"/><Relationship Id="rId4" Type="http://schemas.openxmlformats.org/officeDocument/2006/relationships/slideLayout" Target="../slideLayouts/slideLayout246.xml"/><Relationship Id="rId3" Type="http://schemas.openxmlformats.org/officeDocument/2006/relationships/slideLayout" Target="../slideLayouts/slideLayout245.xml"/><Relationship Id="rId2" Type="http://schemas.openxmlformats.org/officeDocument/2006/relationships/slideLayout" Target="../slideLayouts/slideLayout244.xml"/><Relationship Id="rId14" Type="http://schemas.openxmlformats.org/officeDocument/2006/relationships/theme" Target="../theme/theme23.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253.xml"/><Relationship Id="rId10" Type="http://schemas.openxmlformats.org/officeDocument/2006/relationships/slideLayout" Target="../slideLayouts/slideLayout252.xml"/><Relationship Id="rId1" Type="http://schemas.openxmlformats.org/officeDocument/2006/relationships/slideLayout" Target="../slideLayouts/slideLayout243.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262.xml"/><Relationship Id="rId8" Type="http://schemas.openxmlformats.org/officeDocument/2006/relationships/slideLayout" Target="../slideLayouts/slideLayout261.xml"/><Relationship Id="rId7" Type="http://schemas.openxmlformats.org/officeDocument/2006/relationships/slideLayout" Target="../slideLayouts/slideLayout260.xml"/><Relationship Id="rId6" Type="http://schemas.openxmlformats.org/officeDocument/2006/relationships/slideLayout" Target="../slideLayouts/slideLayout259.xml"/><Relationship Id="rId5" Type="http://schemas.openxmlformats.org/officeDocument/2006/relationships/slideLayout" Target="../slideLayouts/slideLayout258.xml"/><Relationship Id="rId4" Type="http://schemas.openxmlformats.org/officeDocument/2006/relationships/slideLayout" Target="../slideLayouts/slideLayout257.xml"/><Relationship Id="rId3" Type="http://schemas.openxmlformats.org/officeDocument/2006/relationships/slideLayout" Target="../slideLayouts/slideLayout256.xml"/><Relationship Id="rId2" Type="http://schemas.openxmlformats.org/officeDocument/2006/relationships/slideLayout" Target="../slideLayouts/slideLayout255.xml"/><Relationship Id="rId14" Type="http://schemas.openxmlformats.org/officeDocument/2006/relationships/theme" Target="../theme/theme24.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264.xml"/><Relationship Id="rId10" Type="http://schemas.openxmlformats.org/officeDocument/2006/relationships/slideLayout" Target="../slideLayouts/slideLayout263.xml"/><Relationship Id="rId1" Type="http://schemas.openxmlformats.org/officeDocument/2006/relationships/slideLayout" Target="../slideLayouts/slideLayout254.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73.xml"/><Relationship Id="rId8" Type="http://schemas.openxmlformats.org/officeDocument/2006/relationships/slideLayout" Target="../slideLayouts/slideLayout272.xml"/><Relationship Id="rId7" Type="http://schemas.openxmlformats.org/officeDocument/2006/relationships/slideLayout" Target="../slideLayouts/slideLayout271.xml"/><Relationship Id="rId6" Type="http://schemas.openxmlformats.org/officeDocument/2006/relationships/slideLayout" Target="../slideLayouts/slideLayout270.xml"/><Relationship Id="rId5" Type="http://schemas.openxmlformats.org/officeDocument/2006/relationships/slideLayout" Target="../slideLayouts/slideLayout269.xml"/><Relationship Id="rId4" Type="http://schemas.openxmlformats.org/officeDocument/2006/relationships/slideLayout" Target="../slideLayouts/slideLayout268.xml"/><Relationship Id="rId3" Type="http://schemas.openxmlformats.org/officeDocument/2006/relationships/slideLayout" Target="../slideLayouts/slideLayout267.xml"/><Relationship Id="rId2" Type="http://schemas.openxmlformats.org/officeDocument/2006/relationships/slideLayout" Target="../slideLayouts/slideLayout266.xml"/><Relationship Id="rId14" Type="http://schemas.openxmlformats.org/officeDocument/2006/relationships/theme" Target="../theme/theme25.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275.xml"/><Relationship Id="rId10" Type="http://schemas.openxmlformats.org/officeDocument/2006/relationships/slideLayout" Target="../slideLayouts/slideLayout274.xml"/><Relationship Id="rId1" Type="http://schemas.openxmlformats.org/officeDocument/2006/relationships/slideLayout" Target="../slideLayouts/slideLayout265.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84.xml"/><Relationship Id="rId8" Type="http://schemas.openxmlformats.org/officeDocument/2006/relationships/slideLayout" Target="../slideLayouts/slideLayout283.xml"/><Relationship Id="rId7" Type="http://schemas.openxmlformats.org/officeDocument/2006/relationships/slideLayout" Target="../slideLayouts/slideLayout282.xml"/><Relationship Id="rId6" Type="http://schemas.openxmlformats.org/officeDocument/2006/relationships/slideLayout" Target="../slideLayouts/slideLayout281.xml"/><Relationship Id="rId5" Type="http://schemas.openxmlformats.org/officeDocument/2006/relationships/slideLayout" Target="../slideLayouts/slideLayout280.xml"/><Relationship Id="rId4" Type="http://schemas.openxmlformats.org/officeDocument/2006/relationships/slideLayout" Target="../slideLayouts/slideLayout279.xml"/><Relationship Id="rId3" Type="http://schemas.openxmlformats.org/officeDocument/2006/relationships/slideLayout" Target="../slideLayouts/slideLayout278.xml"/><Relationship Id="rId2" Type="http://schemas.openxmlformats.org/officeDocument/2006/relationships/slideLayout" Target="../slideLayouts/slideLayout277.xml"/><Relationship Id="rId14" Type="http://schemas.openxmlformats.org/officeDocument/2006/relationships/theme" Target="../theme/theme26.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286.xml"/><Relationship Id="rId10" Type="http://schemas.openxmlformats.org/officeDocument/2006/relationships/slideLayout" Target="../slideLayouts/slideLayout285.xml"/><Relationship Id="rId1" Type="http://schemas.openxmlformats.org/officeDocument/2006/relationships/slideLayout" Target="../slideLayouts/slideLayout27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95.xml"/><Relationship Id="rId8" Type="http://schemas.openxmlformats.org/officeDocument/2006/relationships/slideLayout" Target="../slideLayouts/slideLayout294.xml"/><Relationship Id="rId7" Type="http://schemas.openxmlformats.org/officeDocument/2006/relationships/slideLayout" Target="../slideLayouts/slideLayout293.xml"/><Relationship Id="rId6" Type="http://schemas.openxmlformats.org/officeDocument/2006/relationships/slideLayout" Target="../slideLayouts/slideLayout292.xml"/><Relationship Id="rId5" Type="http://schemas.openxmlformats.org/officeDocument/2006/relationships/slideLayout" Target="../slideLayouts/slideLayout291.xml"/><Relationship Id="rId4" Type="http://schemas.openxmlformats.org/officeDocument/2006/relationships/slideLayout" Target="../slideLayouts/slideLayout290.xml"/><Relationship Id="rId3" Type="http://schemas.openxmlformats.org/officeDocument/2006/relationships/slideLayout" Target="../slideLayouts/slideLayout289.xml"/><Relationship Id="rId2" Type="http://schemas.openxmlformats.org/officeDocument/2006/relationships/slideLayout" Target="../slideLayouts/slideLayout288.xml"/><Relationship Id="rId14" Type="http://schemas.openxmlformats.org/officeDocument/2006/relationships/theme" Target="../theme/theme27.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297.xml"/><Relationship Id="rId10" Type="http://schemas.openxmlformats.org/officeDocument/2006/relationships/slideLayout" Target="../slideLayouts/slideLayout296.xml"/><Relationship Id="rId1" Type="http://schemas.openxmlformats.org/officeDocument/2006/relationships/slideLayout" Target="../slideLayouts/slideLayout287.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306.xml"/><Relationship Id="rId8" Type="http://schemas.openxmlformats.org/officeDocument/2006/relationships/slideLayout" Target="../slideLayouts/slideLayout305.xml"/><Relationship Id="rId7" Type="http://schemas.openxmlformats.org/officeDocument/2006/relationships/slideLayout" Target="../slideLayouts/slideLayout304.xml"/><Relationship Id="rId6" Type="http://schemas.openxmlformats.org/officeDocument/2006/relationships/slideLayout" Target="../slideLayouts/slideLayout303.xml"/><Relationship Id="rId5" Type="http://schemas.openxmlformats.org/officeDocument/2006/relationships/slideLayout" Target="../slideLayouts/slideLayout302.xml"/><Relationship Id="rId4" Type="http://schemas.openxmlformats.org/officeDocument/2006/relationships/slideLayout" Target="../slideLayouts/slideLayout301.xml"/><Relationship Id="rId3" Type="http://schemas.openxmlformats.org/officeDocument/2006/relationships/slideLayout" Target="../slideLayouts/slideLayout300.xml"/><Relationship Id="rId2" Type="http://schemas.openxmlformats.org/officeDocument/2006/relationships/slideLayout" Target="../slideLayouts/slideLayout299.xml"/><Relationship Id="rId14" Type="http://schemas.openxmlformats.org/officeDocument/2006/relationships/theme" Target="../theme/theme28.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308.xml"/><Relationship Id="rId10" Type="http://schemas.openxmlformats.org/officeDocument/2006/relationships/slideLayout" Target="../slideLayouts/slideLayout307.xml"/><Relationship Id="rId1" Type="http://schemas.openxmlformats.org/officeDocument/2006/relationships/slideLayout" Target="../slideLayouts/slideLayout298.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317.xml"/><Relationship Id="rId8" Type="http://schemas.openxmlformats.org/officeDocument/2006/relationships/slideLayout" Target="../slideLayouts/slideLayout316.xml"/><Relationship Id="rId7" Type="http://schemas.openxmlformats.org/officeDocument/2006/relationships/slideLayout" Target="../slideLayouts/slideLayout315.xml"/><Relationship Id="rId6" Type="http://schemas.openxmlformats.org/officeDocument/2006/relationships/slideLayout" Target="../slideLayouts/slideLayout314.xml"/><Relationship Id="rId5" Type="http://schemas.openxmlformats.org/officeDocument/2006/relationships/slideLayout" Target="../slideLayouts/slideLayout313.xml"/><Relationship Id="rId4" Type="http://schemas.openxmlformats.org/officeDocument/2006/relationships/slideLayout" Target="../slideLayouts/slideLayout312.xml"/><Relationship Id="rId3" Type="http://schemas.openxmlformats.org/officeDocument/2006/relationships/slideLayout" Target="../slideLayouts/slideLayout311.xml"/><Relationship Id="rId2" Type="http://schemas.openxmlformats.org/officeDocument/2006/relationships/slideLayout" Target="../slideLayouts/slideLayout310.xml"/><Relationship Id="rId14" Type="http://schemas.openxmlformats.org/officeDocument/2006/relationships/theme" Target="../theme/theme29.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319.xml"/><Relationship Id="rId10" Type="http://schemas.openxmlformats.org/officeDocument/2006/relationships/slideLayout" Target="../slideLayouts/slideLayout318.xml"/><Relationship Id="rId1" Type="http://schemas.openxmlformats.org/officeDocument/2006/relationships/slideLayout" Target="../slideLayouts/slideLayout309.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328.xml"/><Relationship Id="rId8" Type="http://schemas.openxmlformats.org/officeDocument/2006/relationships/slideLayout" Target="../slideLayouts/slideLayout327.xml"/><Relationship Id="rId7" Type="http://schemas.openxmlformats.org/officeDocument/2006/relationships/slideLayout" Target="../slideLayouts/slideLayout326.xml"/><Relationship Id="rId6" Type="http://schemas.openxmlformats.org/officeDocument/2006/relationships/slideLayout" Target="../slideLayouts/slideLayout325.xml"/><Relationship Id="rId5" Type="http://schemas.openxmlformats.org/officeDocument/2006/relationships/slideLayout" Target="../slideLayouts/slideLayout324.xml"/><Relationship Id="rId4" Type="http://schemas.openxmlformats.org/officeDocument/2006/relationships/slideLayout" Target="../slideLayouts/slideLayout323.xml"/><Relationship Id="rId3" Type="http://schemas.openxmlformats.org/officeDocument/2006/relationships/slideLayout" Target="../slideLayouts/slideLayout322.xml"/><Relationship Id="rId2" Type="http://schemas.openxmlformats.org/officeDocument/2006/relationships/slideLayout" Target="../slideLayouts/slideLayout321.xml"/><Relationship Id="rId14" Type="http://schemas.openxmlformats.org/officeDocument/2006/relationships/theme" Target="../theme/theme30.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330.xml"/><Relationship Id="rId10" Type="http://schemas.openxmlformats.org/officeDocument/2006/relationships/slideLayout" Target="../slideLayouts/slideLayout329.xml"/><Relationship Id="rId1" Type="http://schemas.openxmlformats.org/officeDocument/2006/relationships/slideLayout" Target="../slideLayouts/slideLayout320.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339.xml"/><Relationship Id="rId8" Type="http://schemas.openxmlformats.org/officeDocument/2006/relationships/slideLayout" Target="../slideLayouts/slideLayout338.xml"/><Relationship Id="rId7" Type="http://schemas.openxmlformats.org/officeDocument/2006/relationships/slideLayout" Target="../slideLayouts/slideLayout337.xml"/><Relationship Id="rId6" Type="http://schemas.openxmlformats.org/officeDocument/2006/relationships/slideLayout" Target="../slideLayouts/slideLayout336.xml"/><Relationship Id="rId5" Type="http://schemas.openxmlformats.org/officeDocument/2006/relationships/slideLayout" Target="../slideLayouts/slideLayout335.xml"/><Relationship Id="rId4" Type="http://schemas.openxmlformats.org/officeDocument/2006/relationships/slideLayout" Target="../slideLayouts/slideLayout334.xml"/><Relationship Id="rId3" Type="http://schemas.openxmlformats.org/officeDocument/2006/relationships/slideLayout" Target="../slideLayouts/slideLayout333.xml"/><Relationship Id="rId2" Type="http://schemas.openxmlformats.org/officeDocument/2006/relationships/slideLayout" Target="../slideLayouts/slideLayout332.xml"/><Relationship Id="rId14" Type="http://schemas.openxmlformats.org/officeDocument/2006/relationships/theme" Target="../theme/theme31.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341.xml"/><Relationship Id="rId10" Type="http://schemas.openxmlformats.org/officeDocument/2006/relationships/slideLayout" Target="../slideLayouts/slideLayout340.xml"/><Relationship Id="rId1" Type="http://schemas.openxmlformats.org/officeDocument/2006/relationships/slideLayout" Target="../slideLayouts/slideLayout33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350.xml"/><Relationship Id="rId8" Type="http://schemas.openxmlformats.org/officeDocument/2006/relationships/slideLayout" Target="../slideLayouts/slideLayout349.xml"/><Relationship Id="rId7" Type="http://schemas.openxmlformats.org/officeDocument/2006/relationships/slideLayout" Target="../slideLayouts/slideLayout348.xml"/><Relationship Id="rId6" Type="http://schemas.openxmlformats.org/officeDocument/2006/relationships/slideLayout" Target="../slideLayouts/slideLayout347.xml"/><Relationship Id="rId5" Type="http://schemas.openxmlformats.org/officeDocument/2006/relationships/slideLayout" Target="../slideLayouts/slideLayout346.xml"/><Relationship Id="rId4" Type="http://schemas.openxmlformats.org/officeDocument/2006/relationships/slideLayout" Target="../slideLayouts/slideLayout345.xml"/><Relationship Id="rId3" Type="http://schemas.openxmlformats.org/officeDocument/2006/relationships/slideLayout" Target="../slideLayouts/slideLayout344.xml"/><Relationship Id="rId2" Type="http://schemas.openxmlformats.org/officeDocument/2006/relationships/slideLayout" Target="../slideLayouts/slideLayout343.xml"/><Relationship Id="rId14" Type="http://schemas.openxmlformats.org/officeDocument/2006/relationships/theme" Target="../theme/theme32.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352.xml"/><Relationship Id="rId10" Type="http://schemas.openxmlformats.org/officeDocument/2006/relationships/slideLayout" Target="../slideLayouts/slideLayout351.xml"/><Relationship Id="rId1" Type="http://schemas.openxmlformats.org/officeDocument/2006/relationships/slideLayout" Target="../slideLayouts/slideLayout342.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361.xml"/><Relationship Id="rId8" Type="http://schemas.openxmlformats.org/officeDocument/2006/relationships/slideLayout" Target="../slideLayouts/slideLayout360.xml"/><Relationship Id="rId7" Type="http://schemas.openxmlformats.org/officeDocument/2006/relationships/slideLayout" Target="../slideLayouts/slideLayout359.xml"/><Relationship Id="rId6" Type="http://schemas.openxmlformats.org/officeDocument/2006/relationships/slideLayout" Target="../slideLayouts/slideLayout358.xml"/><Relationship Id="rId5" Type="http://schemas.openxmlformats.org/officeDocument/2006/relationships/slideLayout" Target="../slideLayouts/slideLayout357.xml"/><Relationship Id="rId4" Type="http://schemas.openxmlformats.org/officeDocument/2006/relationships/slideLayout" Target="../slideLayouts/slideLayout356.xml"/><Relationship Id="rId3" Type="http://schemas.openxmlformats.org/officeDocument/2006/relationships/slideLayout" Target="../slideLayouts/slideLayout355.xml"/><Relationship Id="rId2" Type="http://schemas.openxmlformats.org/officeDocument/2006/relationships/slideLayout" Target="../slideLayouts/slideLayout354.xml"/><Relationship Id="rId14" Type="http://schemas.openxmlformats.org/officeDocument/2006/relationships/theme" Target="../theme/theme33.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363.xml"/><Relationship Id="rId10" Type="http://schemas.openxmlformats.org/officeDocument/2006/relationships/slideLayout" Target="../slideLayouts/slideLayout362.xml"/><Relationship Id="rId1" Type="http://schemas.openxmlformats.org/officeDocument/2006/relationships/slideLayout" Target="../slideLayouts/slideLayout353.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372.xml"/><Relationship Id="rId8" Type="http://schemas.openxmlformats.org/officeDocument/2006/relationships/slideLayout" Target="../slideLayouts/slideLayout371.xml"/><Relationship Id="rId7" Type="http://schemas.openxmlformats.org/officeDocument/2006/relationships/slideLayout" Target="../slideLayouts/slideLayout370.xml"/><Relationship Id="rId6" Type="http://schemas.openxmlformats.org/officeDocument/2006/relationships/slideLayout" Target="../slideLayouts/slideLayout369.xml"/><Relationship Id="rId5" Type="http://schemas.openxmlformats.org/officeDocument/2006/relationships/slideLayout" Target="../slideLayouts/slideLayout368.xml"/><Relationship Id="rId4" Type="http://schemas.openxmlformats.org/officeDocument/2006/relationships/slideLayout" Target="../slideLayouts/slideLayout367.xml"/><Relationship Id="rId3" Type="http://schemas.openxmlformats.org/officeDocument/2006/relationships/slideLayout" Target="../slideLayouts/slideLayout366.xml"/><Relationship Id="rId2" Type="http://schemas.openxmlformats.org/officeDocument/2006/relationships/slideLayout" Target="../slideLayouts/slideLayout365.xml"/><Relationship Id="rId14" Type="http://schemas.openxmlformats.org/officeDocument/2006/relationships/theme" Target="../theme/theme34.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374.xml"/><Relationship Id="rId10" Type="http://schemas.openxmlformats.org/officeDocument/2006/relationships/slideLayout" Target="../slideLayouts/slideLayout373.xml"/><Relationship Id="rId1" Type="http://schemas.openxmlformats.org/officeDocument/2006/relationships/slideLayout" Target="../slideLayouts/slideLayout364.xml"/></Relationships>
</file>

<file path=ppt/slideMasters/_rels/slideMaster35.xml.rels><?xml version="1.0" encoding="UTF-8" standalone="yes"?>
<Relationships xmlns="http://schemas.openxmlformats.org/package/2006/relationships"><Relationship Id="rId9" Type="http://schemas.openxmlformats.org/officeDocument/2006/relationships/slideLayout" Target="../slideLayouts/slideLayout383.xml"/><Relationship Id="rId8" Type="http://schemas.openxmlformats.org/officeDocument/2006/relationships/slideLayout" Target="../slideLayouts/slideLayout382.xml"/><Relationship Id="rId7" Type="http://schemas.openxmlformats.org/officeDocument/2006/relationships/slideLayout" Target="../slideLayouts/slideLayout381.xml"/><Relationship Id="rId6" Type="http://schemas.openxmlformats.org/officeDocument/2006/relationships/slideLayout" Target="../slideLayouts/slideLayout380.xml"/><Relationship Id="rId5" Type="http://schemas.openxmlformats.org/officeDocument/2006/relationships/slideLayout" Target="../slideLayouts/slideLayout379.xml"/><Relationship Id="rId4" Type="http://schemas.openxmlformats.org/officeDocument/2006/relationships/slideLayout" Target="../slideLayouts/slideLayout378.xml"/><Relationship Id="rId3" Type="http://schemas.openxmlformats.org/officeDocument/2006/relationships/slideLayout" Target="../slideLayouts/slideLayout377.xml"/><Relationship Id="rId2" Type="http://schemas.openxmlformats.org/officeDocument/2006/relationships/slideLayout" Target="../slideLayouts/slideLayout376.xml"/><Relationship Id="rId14" Type="http://schemas.openxmlformats.org/officeDocument/2006/relationships/theme" Target="../theme/theme35.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385.xml"/><Relationship Id="rId10" Type="http://schemas.openxmlformats.org/officeDocument/2006/relationships/slideLayout" Target="../slideLayouts/slideLayout384.xml"/><Relationship Id="rId1" Type="http://schemas.openxmlformats.org/officeDocument/2006/relationships/slideLayout" Target="../slideLayouts/slideLayout375.xml"/></Relationships>
</file>

<file path=ppt/slideMasters/_rels/slideMaster36.xml.rels><?xml version="1.0" encoding="UTF-8" standalone="yes"?>
<Relationships xmlns="http://schemas.openxmlformats.org/package/2006/relationships"><Relationship Id="rId9" Type="http://schemas.openxmlformats.org/officeDocument/2006/relationships/slideLayout" Target="../slideLayouts/slideLayout394.xml"/><Relationship Id="rId8" Type="http://schemas.openxmlformats.org/officeDocument/2006/relationships/slideLayout" Target="../slideLayouts/slideLayout393.xml"/><Relationship Id="rId7" Type="http://schemas.openxmlformats.org/officeDocument/2006/relationships/slideLayout" Target="../slideLayouts/slideLayout392.xml"/><Relationship Id="rId6" Type="http://schemas.openxmlformats.org/officeDocument/2006/relationships/slideLayout" Target="../slideLayouts/slideLayout391.xml"/><Relationship Id="rId5" Type="http://schemas.openxmlformats.org/officeDocument/2006/relationships/slideLayout" Target="../slideLayouts/slideLayout390.xml"/><Relationship Id="rId4" Type="http://schemas.openxmlformats.org/officeDocument/2006/relationships/slideLayout" Target="../slideLayouts/slideLayout389.xml"/><Relationship Id="rId3" Type="http://schemas.openxmlformats.org/officeDocument/2006/relationships/slideLayout" Target="../slideLayouts/slideLayout388.xml"/><Relationship Id="rId2" Type="http://schemas.openxmlformats.org/officeDocument/2006/relationships/slideLayout" Target="../slideLayouts/slideLayout387.xml"/><Relationship Id="rId14" Type="http://schemas.openxmlformats.org/officeDocument/2006/relationships/theme" Target="../theme/theme36.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396.xml"/><Relationship Id="rId10" Type="http://schemas.openxmlformats.org/officeDocument/2006/relationships/slideLayout" Target="../slideLayouts/slideLayout395.xml"/><Relationship Id="rId1" Type="http://schemas.openxmlformats.org/officeDocument/2006/relationships/slideLayout" Target="../slideLayouts/slideLayout386.xml"/></Relationships>
</file>

<file path=ppt/slideMasters/_rels/slideMaster37.xml.rels><?xml version="1.0" encoding="UTF-8" standalone="yes"?>
<Relationships xmlns="http://schemas.openxmlformats.org/package/2006/relationships"><Relationship Id="rId9" Type="http://schemas.openxmlformats.org/officeDocument/2006/relationships/slideLayout" Target="../slideLayouts/slideLayout405.xml"/><Relationship Id="rId8" Type="http://schemas.openxmlformats.org/officeDocument/2006/relationships/slideLayout" Target="../slideLayouts/slideLayout404.xml"/><Relationship Id="rId7" Type="http://schemas.openxmlformats.org/officeDocument/2006/relationships/slideLayout" Target="../slideLayouts/slideLayout403.xml"/><Relationship Id="rId6" Type="http://schemas.openxmlformats.org/officeDocument/2006/relationships/slideLayout" Target="../slideLayouts/slideLayout402.xml"/><Relationship Id="rId5" Type="http://schemas.openxmlformats.org/officeDocument/2006/relationships/slideLayout" Target="../slideLayouts/slideLayout401.xml"/><Relationship Id="rId4" Type="http://schemas.openxmlformats.org/officeDocument/2006/relationships/slideLayout" Target="../slideLayouts/slideLayout400.xml"/><Relationship Id="rId3" Type="http://schemas.openxmlformats.org/officeDocument/2006/relationships/slideLayout" Target="../slideLayouts/slideLayout399.xml"/><Relationship Id="rId2" Type="http://schemas.openxmlformats.org/officeDocument/2006/relationships/slideLayout" Target="../slideLayouts/slideLayout398.xml"/><Relationship Id="rId14" Type="http://schemas.openxmlformats.org/officeDocument/2006/relationships/theme" Target="../theme/theme37.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407.xml"/><Relationship Id="rId10" Type="http://schemas.openxmlformats.org/officeDocument/2006/relationships/slideLayout" Target="../slideLayouts/slideLayout406.xml"/><Relationship Id="rId1" Type="http://schemas.openxmlformats.org/officeDocument/2006/relationships/slideLayout" Target="../slideLayouts/slideLayout397.xml"/></Relationships>
</file>

<file path=ppt/slideMasters/_rels/slideMaster38.xml.rels><?xml version="1.0" encoding="UTF-8" standalone="yes"?>
<Relationships xmlns="http://schemas.openxmlformats.org/package/2006/relationships"><Relationship Id="rId9" Type="http://schemas.openxmlformats.org/officeDocument/2006/relationships/slideLayout" Target="../slideLayouts/slideLayout416.xml"/><Relationship Id="rId8" Type="http://schemas.openxmlformats.org/officeDocument/2006/relationships/slideLayout" Target="../slideLayouts/slideLayout415.xml"/><Relationship Id="rId7" Type="http://schemas.openxmlformats.org/officeDocument/2006/relationships/slideLayout" Target="../slideLayouts/slideLayout414.xml"/><Relationship Id="rId6" Type="http://schemas.openxmlformats.org/officeDocument/2006/relationships/slideLayout" Target="../slideLayouts/slideLayout413.xml"/><Relationship Id="rId5" Type="http://schemas.openxmlformats.org/officeDocument/2006/relationships/slideLayout" Target="../slideLayouts/slideLayout412.xml"/><Relationship Id="rId4" Type="http://schemas.openxmlformats.org/officeDocument/2006/relationships/slideLayout" Target="../slideLayouts/slideLayout411.xml"/><Relationship Id="rId3" Type="http://schemas.openxmlformats.org/officeDocument/2006/relationships/slideLayout" Target="../slideLayouts/slideLayout410.xml"/><Relationship Id="rId2" Type="http://schemas.openxmlformats.org/officeDocument/2006/relationships/slideLayout" Target="../slideLayouts/slideLayout409.xml"/><Relationship Id="rId14" Type="http://schemas.openxmlformats.org/officeDocument/2006/relationships/theme" Target="../theme/theme38.xml"/><Relationship Id="rId13" Type="http://schemas.openxmlformats.org/officeDocument/2006/relationships/image" Target="../media/image4.png"/><Relationship Id="rId12" Type="http://schemas.openxmlformats.org/officeDocument/2006/relationships/image" Target="../media/image1.png"/><Relationship Id="rId11" Type="http://schemas.openxmlformats.org/officeDocument/2006/relationships/slideLayout" Target="../slideLayouts/slideLayout418.xml"/><Relationship Id="rId10" Type="http://schemas.openxmlformats.org/officeDocument/2006/relationships/slideLayout" Target="../slideLayouts/slideLayout417.xml"/><Relationship Id="rId1" Type="http://schemas.openxmlformats.org/officeDocument/2006/relationships/slideLayout" Target="../slideLayouts/slideLayout4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9226" name="Rectangle 10"/>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90204" pitchFamily="34" charset="0"/>
                <a:ea typeface="MS PGothic" panose="020B0600070205080204" pitchFamily="34" charset="-128"/>
                <a:cs typeface="+mn-cs"/>
              </a:rPr>
            </a:fld>
            <a:endParaRPr lang="ja-JP" altLang="en-US"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Lst>
  <p:transition>
    <p:random/>
  </p:transition>
  <p:hf sldNum="0" hdr="0" ftr="0" dt="0"/>
  <p:txStyles>
    <p:titleStyle>
      <a:lvl1pPr indent="176530" algn="l" rtl="0" eaLnBrk="0" fontAlgn="base" hangingPunct="0">
        <a:spcBef>
          <a:spcPct val="0"/>
        </a:spcBef>
        <a:spcAft>
          <a:spcPct val="0"/>
        </a:spcAft>
        <a:defRPr sz="3600">
          <a:solidFill>
            <a:schemeClr val="bg1"/>
          </a:solidFill>
          <a:latin typeface="+mj-lt"/>
          <a:ea typeface="+mj-ea"/>
          <a:cs typeface="+mj-cs"/>
        </a:defRPr>
      </a:lvl1pPr>
      <a:lvl2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2pPr>
      <a:lvl3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3pPr>
      <a:lvl4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4pPr>
      <a:lvl5pPr indent="176530" algn="l" rtl="0" eaLnBrk="0" fontAlgn="base" hangingPunct="0">
        <a:spcBef>
          <a:spcPct val="0"/>
        </a:spcBef>
        <a:spcAft>
          <a:spcPct val="0"/>
        </a:spcAft>
        <a:defRPr sz="3600">
          <a:solidFill>
            <a:schemeClr val="bg1"/>
          </a:solidFill>
          <a:latin typeface="黑体" panose="02010609060101010101" pitchFamily="49" charset="-122"/>
          <a:ea typeface="黑体" panose="02010609060101010101" pitchFamily="49" charset="-122"/>
        </a:defRPr>
      </a:lvl5pPr>
      <a:lvl6pPr marL="4572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6pPr>
      <a:lvl7pPr marL="9144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7pPr>
      <a:lvl8pPr marL="13716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8pPr>
      <a:lvl9pPr marL="1828800" indent="176530" algn="l" rtl="0" fontAlgn="base">
        <a:spcBef>
          <a:spcPct val="0"/>
        </a:spcBef>
        <a:spcAft>
          <a:spcPct val="0"/>
        </a:spcAft>
        <a:defRPr sz="3600">
          <a:solidFill>
            <a:schemeClr val="bg1"/>
          </a:solidFill>
          <a:latin typeface="黑体" panose="02010609060101010101" pitchFamily="49" charset="-122"/>
          <a:ea typeface="黑体" panose="02010609060101010101" pitchFamily="49" charset="-122"/>
        </a:defRPr>
      </a:lvl9pPr>
    </p:titleStyle>
    <p:bodyStyle>
      <a:lvl1pPr marL="469900" indent="-469900" algn="l" rtl="0" eaLnBrk="0" fontAlgn="base" hangingPunct="0">
        <a:lnSpc>
          <a:spcPct val="120000"/>
        </a:lnSpc>
        <a:spcBef>
          <a:spcPct val="20000"/>
        </a:spcBef>
        <a:spcAft>
          <a:spcPct val="0"/>
        </a:spcAft>
        <a:buClr>
          <a:schemeClr val="accent2"/>
        </a:buClr>
        <a:buFont typeface="Wingdings" panose="05000000000000000000" pitchFamily="2" charset="2"/>
        <a:buBlip>
          <a:blip r:embed="rId13"/>
        </a:buBlip>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6" Type="http://schemas.openxmlformats.org/officeDocument/2006/relationships/notesSlide" Target="../notesSlides/notesSlide1.xml"/><Relationship Id="rId35" Type="http://schemas.openxmlformats.org/officeDocument/2006/relationships/slideLayout" Target="../slideLayouts/slideLayout409.xml"/><Relationship Id="rId34" Type="http://schemas.openxmlformats.org/officeDocument/2006/relationships/tags" Target="../tags/tag28.xml"/><Relationship Id="rId33" Type="http://schemas.openxmlformats.org/officeDocument/2006/relationships/image" Target="../media/image11.svg"/><Relationship Id="rId32" Type="http://schemas.openxmlformats.org/officeDocument/2006/relationships/image" Target="../media/image10.png"/><Relationship Id="rId31" Type="http://schemas.openxmlformats.org/officeDocument/2006/relationships/tags" Target="../tags/tag27.xml"/><Relationship Id="rId30" Type="http://schemas.openxmlformats.org/officeDocument/2006/relationships/tags" Target="../tags/tag26.xml"/><Relationship Id="rId3" Type="http://schemas.openxmlformats.org/officeDocument/2006/relationships/tags" Target="../tags/tag3.xml"/><Relationship Id="rId29" Type="http://schemas.openxmlformats.org/officeDocument/2006/relationships/tags" Target="../tags/tag25.xml"/><Relationship Id="rId28" Type="http://schemas.openxmlformats.org/officeDocument/2006/relationships/tags" Target="../tags/tag24.xml"/><Relationship Id="rId27" Type="http://schemas.openxmlformats.org/officeDocument/2006/relationships/image" Target="../media/image9.svg"/><Relationship Id="rId26" Type="http://schemas.openxmlformats.org/officeDocument/2006/relationships/image" Target="../media/image8.png"/><Relationship Id="rId25" Type="http://schemas.openxmlformats.org/officeDocument/2006/relationships/tags" Target="../tags/tag23.xml"/><Relationship Id="rId24" Type="http://schemas.openxmlformats.org/officeDocument/2006/relationships/tags" Target="../tags/tag22.xml"/><Relationship Id="rId23" Type="http://schemas.openxmlformats.org/officeDocument/2006/relationships/tags" Target="../tags/tag21.xml"/><Relationship Id="rId22" Type="http://schemas.openxmlformats.org/officeDocument/2006/relationships/tags" Target="../tags/tag20.xml"/><Relationship Id="rId21" Type="http://schemas.openxmlformats.org/officeDocument/2006/relationships/image" Target="../media/image7.svg"/><Relationship Id="rId20" Type="http://schemas.openxmlformats.org/officeDocument/2006/relationships/image" Target="../media/image6.png"/><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4.jpeg"/><Relationship Id="rId6" Type="http://schemas.openxmlformats.org/officeDocument/2006/relationships/image" Target="../media/image13.jpeg"/><Relationship Id="rId5" Type="http://schemas.openxmlformats.org/officeDocument/2006/relationships/hyperlink" Target="http://baike.baidu.com/view/2770.htm" TargetMode="External"/><Relationship Id="rId4" Type="http://schemas.openxmlformats.org/officeDocument/2006/relationships/hyperlink" Target="http://baike.baidu.com/view/22147.htm" TargetMode="External"/><Relationship Id="rId3" Type="http://schemas.openxmlformats.org/officeDocument/2006/relationships/hyperlink" Target="http://baike.baidu.com/view/68693.htm" TargetMode="External"/><Relationship Id="rId2" Type="http://schemas.openxmlformats.org/officeDocument/2006/relationships/hyperlink" Target="http://baike.baidu.com/view/68557.htm" TargetMode="External"/><Relationship Id="rId1" Type="http://schemas.openxmlformats.org/officeDocument/2006/relationships/hyperlink" Target="http://baike.baidu.com/view/25728.htm" TargetMode="Externa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2.xml"/><Relationship Id="rId7" Type="http://schemas.openxmlformats.org/officeDocument/2006/relationships/oleObject" Target="../embeddings/oleObject7.bin"/><Relationship Id="rId6" Type="http://schemas.openxmlformats.org/officeDocument/2006/relationships/image" Target="../media/image23.wmf"/><Relationship Id="rId5" Type="http://schemas.openxmlformats.org/officeDocument/2006/relationships/oleObject" Target="../embeddings/oleObject6.bin"/><Relationship Id="rId4" Type="http://schemas.openxmlformats.org/officeDocument/2006/relationships/image" Target="../media/image22.wmf"/><Relationship Id="rId3" Type="http://schemas.openxmlformats.org/officeDocument/2006/relationships/oleObject" Target="../embeddings/oleObject5.bin"/><Relationship Id="rId2" Type="http://schemas.openxmlformats.org/officeDocument/2006/relationships/image" Target="../media/image21.wmf"/><Relationship Id="rId1"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13.bin"/><Relationship Id="rId8" Type="http://schemas.openxmlformats.org/officeDocument/2006/relationships/oleObject" Target="../embeddings/oleObject12.bin"/><Relationship Id="rId7" Type="http://schemas.openxmlformats.org/officeDocument/2006/relationships/oleObject" Target="../embeddings/oleObject11.bin"/><Relationship Id="rId6" Type="http://schemas.openxmlformats.org/officeDocument/2006/relationships/image" Target="../media/image23.wmf"/><Relationship Id="rId5" Type="http://schemas.openxmlformats.org/officeDocument/2006/relationships/oleObject" Target="../embeddings/oleObject10.bin"/><Relationship Id="rId4" Type="http://schemas.openxmlformats.org/officeDocument/2006/relationships/image" Target="../media/image22.wmf"/><Relationship Id="rId3" Type="http://schemas.openxmlformats.org/officeDocument/2006/relationships/oleObject" Target="../embeddings/oleObject9.bin"/><Relationship Id="rId2" Type="http://schemas.openxmlformats.org/officeDocument/2006/relationships/image" Target="../media/image21.wmf"/><Relationship Id="rId13" Type="http://schemas.openxmlformats.org/officeDocument/2006/relationships/vmlDrawing" Target="../drawings/vmlDrawing5.vml"/><Relationship Id="rId12" Type="http://schemas.openxmlformats.org/officeDocument/2006/relationships/slideLayout" Target="../slideLayouts/slideLayout2.xml"/><Relationship Id="rId11" Type="http://schemas.openxmlformats.org/officeDocument/2006/relationships/oleObject" Target="../embeddings/oleObject15.bin"/><Relationship Id="rId10" Type="http://schemas.openxmlformats.org/officeDocument/2006/relationships/oleObject" Target="../embeddings/oleObject14.bin"/><Relationship Id="rId1" Type="http://schemas.openxmlformats.org/officeDocument/2006/relationships/oleObject" Target="../embeddings/oleObject8.bin"/></Relationships>
</file>

<file path=ppt/slides/_rels/slide27.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slideLayout" Target="../slideLayouts/slideLayout7.xml"/><Relationship Id="rId5" Type="http://schemas.openxmlformats.org/officeDocument/2006/relationships/oleObject" Target="../embeddings/oleObject18.bin"/><Relationship Id="rId4" Type="http://schemas.openxmlformats.org/officeDocument/2006/relationships/image" Target="../media/image23.wmf"/><Relationship Id="rId3" Type="http://schemas.openxmlformats.org/officeDocument/2006/relationships/oleObject" Target="../embeddings/oleObject17.bin"/><Relationship Id="rId2" Type="http://schemas.openxmlformats.org/officeDocument/2006/relationships/image" Target="../media/image21.wmf"/><Relationship Id="rId1" Type="http://schemas.openxmlformats.org/officeDocument/2006/relationships/oleObject" Target="../embeddings/oleObject16.bin"/></Relationships>
</file>

<file path=ppt/slides/_rels/slide28.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2.xml"/><Relationship Id="rId6" Type="http://schemas.openxmlformats.org/officeDocument/2006/relationships/image" Target="../media/image26.wmf"/><Relationship Id="rId5" Type="http://schemas.openxmlformats.org/officeDocument/2006/relationships/oleObject" Target="../embeddings/oleObject21.bin"/><Relationship Id="rId4" Type="http://schemas.openxmlformats.org/officeDocument/2006/relationships/image" Target="../media/image25.wmf"/><Relationship Id="rId3" Type="http://schemas.openxmlformats.org/officeDocument/2006/relationships/oleObject" Target="../embeddings/oleObject20.bin"/><Relationship Id="rId2" Type="http://schemas.openxmlformats.org/officeDocument/2006/relationships/image" Target="../media/image24.wmf"/><Relationship Id="rId1" Type="http://schemas.openxmlformats.org/officeDocument/2006/relationships/oleObject" Target="../embeddings/oleObject19.bin"/></Relationships>
</file>

<file path=ppt/slides/_rels/slide29.xml.rels><?xml version="1.0" encoding="UTF-8" standalone="yes"?>
<Relationships xmlns="http://schemas.openxmlformats.org/package/2006/relationships"><Relationship Id="rId7" Type="http://schemas.openxmlformats.org/officeDocument/2006/relationships/vmlDrawing" Target="../drawings/vmlDrawing8.vml"/><Relationship Id="rId6" Type="http://schemas.openxmlformats.org/officeDocument/2006/relationships/slideLayout" Target="../slideLayouts/slideLayout2.xml"/><Relationship Id="rId5" Type="http://schemas.openxmlformats.org/officeDocument/2006/relationships/oleObject" Target="../embeddings/oleObject24.bin"/><Relationship Id="rId4" Type="http://schemas.openxmlformats.org/officeDocument/2006/relationships/oleObject" Target="../embeddings/oleObject23.bin"/><Relationship Id="rId3" Type="http://schemas.openxmlformats.org/officeDocument/2006/relationships/image" Target="../media/image27.wmf"/><Relationship Id="rId2" Type="http://schemas.openxmlformats.org/officeDocument/2006/relationships/oleObject" Target="../embeddings/oleObject22.bin"/><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28.wmf"/><Relationship Id="rId1" Type="http://schemas.openxmlformats.org/officeDocument/2006/relationships/oleObject" Target="../embeddings/oleObject25.bin"/></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29.wmf"/><Relationship Id="rId1" Type="http://schemas.openxmlformats.org/officeDocument/2006/relationships/oleObject" Target="../embeddings/oleObject26.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7" Type="http://schemas.openxmlformats.org/officeDocument/2006/relationships/vmlDrawing" Target="../drawings/vmlDrawing11.vml"/><Relationship Id="rId6" Type="http://schemas.openxmlformats.org/officeDocument/2006/relationships/slideLayout" Target="../slideLayouts/slideLayout7.xml"/><Relationship Id="rId5" Type="http://schemas.openxmlformats.org/officeDocument/2006/relationships/oleObject" Target="../embeddings/oleObject29.bin"/><Relationship Id="rId4" Type="http://schemas.openxmlformats.org/officeDocument/2006/relationships/image" Target="../media/image31.wmf"/><Relationship Id="rId3" Type="http://schemas.openxmlformats.org/officeDocument/2006/relationships/oleObject" Target="../embeddings/oleObject28.bin"/><Relationship Id="rId2" Type="http://schemas.openxmlformats.org/officeDocument/2006/relationships/image" Target="../media/image30.wmf"/><Relationship Id="rId1" Type="http://schemas.openxmlformats.org/officeDocument/2006/relationships/oleObject" Target="../embeddings/oleObject27.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34.bin"/><Relationship Id="rId8" Type="http://schemas.openxmlformats.org/officeDocument/2006/relationships/image" Target="../media/image35.wmf"/><Relationship Id="rId7" Type="http://schemas.openxmlformats.org/officeDocument/2006/relationships/oleObject" Target="../embeddings/oleObject33.bin"/><Relationship Id="rId6" Type="http://schemas.openxmlformats.org/officeDocument/2006/relationships/image" Target="../media/image34.wmf"/><Relationship Id="rId5" Type="http://schemas.openxmlformats.org/officeDocument/2006/relationships/oleObject" Target="../embeddings/oleObject32.bin"/><Relationship Id="rId4" Type="http://schemas.openxmlformats.org/officeDocument/2006/relationships/image" Target="../media/image33.wmf"/><Relationship Id="rId3" Type="http://schemas.openxmlformats.org/officeDocument/2006/relationships/oleObject" Target="../embeddings/oleObject31.bin"/><Relationship Id="rId2" Type="http://schemas.openxmlformats.org/officeDocument/2006/relationships/image" Target="../media/image32.wmf"/><Relationship Id="rId16" Type="http://schemas.openxmlformats.org/officeDocument/2006/relationships/vmlDrawing" Target="../drawings/vmlDrawing12.vml"/><Relationship Id="rId15" Type="http://schemas.openxmlformats.org/officeDocument/2006/relationships/slideLayout" Target="../slideLayouts/slideLayout2.xml"/><Relationship Id="rId14" Type="http://schemas.openxmlformats.org/officeDocument/2006/relationships/image" Target="../media/image38.wmf"/><Relationship Id="rId13" Type="http://schemas.openxmlformats.org/officeDocument/2006/relationships/oleObject" Target="../embeddings/oleObject36.bin"/><Relationship Id="rId12" Type="http://schemas.openxmlformats.org/officeDocument/2006/relationships/image" Target="../media/image37.wmf"/><Relationship Id="rId11" Type="http://schemas.openxmlformats.org/officeDocument/2006/relationships/oleObject" Target="../embeddings/oleObject35.bin"/><Relationship Id="rId10" Type="http://schemas.openxmlformats.org/officeDocument/2006/relationships/image" Target="../media/image36.wmf"/><Relationship Id="rId1" Type="http://schemas.openxmlformats.org/officeDocument/2006/relationships/oleObject" Target="../embeddings/oleObject30.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image" Target="../media/image40.wmf"/><Relationship Id="rId3" Type="http://schemas.openxmlformats.org/officeDocument/2006/relationships/oleObject" Target="../embeddings/oleObject38.bin"/><Relationship Id="rId2" Type="http://schemas.openxmlformats.org/officeDocument/2006/relationships/image" Target="../media/image39.wmf"/><Relationship Id="rId1" Type="http://schemas.openxmlformats.org/officeDocument/2006/relationships/oleObject" Target="../embeddings/oleObject37.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41.wmf"/><Relationship Id="rId1" Type="http://schemas.openxmlformats.org/officeDocument/2006/relationships/oleObject" Target="../embeddings/oleObject39.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48.jpeg"/><Relationship Id="rId6" Type="http://schemas.openxmlformats.org/officeDocument/2006/relationships/image" Target="../media/image47.jpeg"/><Relationship Id="rId5" Type="http://schemas.openxmlformats.org/officeDocument/2006/relationships/image" Target="../media/image46.jpeg"/><Relationship Id="rId4" Type="http://schemas.openxmlformats.org/officeDocument/2006/relationships/image" Target="../media/image45.jpeg"/><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image" Target="../media/image42.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4.xml.rels><?xml version="1.0" encoding="UTF-8" standalone="yes"?>
<Relationships xmlns="http://schemas.openxmlformats.org/package/2006/relationships"><Relationship Id="rId5" Type="http://schemas.openxmlformats.org/officeDocument/2006/relationships/vmlDrawing" Target="../drawings/vmlDrawing15.vml"/><Relationship Id="rId4" Type="http://schemas.openxmlformats.org/officeDocument/2006/relationships/slideLayout" Target="../slideLayouts/slideLayout7.xml"/><Relationship Id="rId3" Type="http://schemas.openxmlformats.org/officeDocument/2006/relationships/image" Target="../media/image49.wmf"/><Relationship Id="rId2" Type="http://schemas.openxmlformats.org/officeDocument/2006/relationships/oleObject" Target="../embeddings/oleObject40.bin"/><Relationship Id="rId1" Type="http://schemas.openxmlformats.org/officeDocument/2006/relationships/image" Target="../media/image48.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2.xml"/><Relationship Id="rId2" Type="http://schemas.openxmlformats.org/officeDocument/2006/relationships/image" Target="../media/image50.png"/><Relationship Id="rId1" Type="http://schemas.openxmlformats.org/officeDocument/2006/relationships/oleObject" Target="../embeddings/oleObject41.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98.xml"/><Relationship Id="rId1" Type="http://schemas.openxmlformats.org/officeDocument/2006/relationships/image" Target="../media/image5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22.xml"/><Relationship Id="rId1" Type="http://schemas.openxmlformats.org/officeDocument/2006/relationships/tags" Target="../tags/tag29.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33.xml"/><Relationship Id="rId1" Type="http://schemas.openxmlformats.org/officeDocument/2006/relationships/tags" Target="../tags/tag30.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44.xml"/><Relationship Id="rId1" Type="http://schemas.openxmlformats.org/officeDocument/2006/relationships/tags" Target="../tags/tag31.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55.xml"/><Relationship Id="rId1" Type="http://schemas.openxmlformats.org/officeDocument/2006/relationships/tags" Target="../tags/tag3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66.xml"/><Relationship Id="rId1" Type="http://schemas.openxmlformats.org/officeDocument/2006/relationships/tags" Target="../tags/tag33.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77.xml"/><Relationship Id="rId1" Type="http://schemas.openxmlformats.org/officeDocument/2006/relationships/tags" Target="../tags/tag34.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88.xml"/><Relationship Id="rId1" Type="http://schemas.openxmlformats.org/officeDocument/2006/relationships/tags" Target="../tags/tag35.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99.xml"/><Relationship Id="rId1" Type="http://schemas.openxmlformats.org/officeDocument/2006/relationships/tags" Target="../tags/tag36.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99.xml"/><Relationship Id="rId1" Type="http://schemas.openxmlformats.org/officeDocument/2006/relationships/tags" Target="../tags/tag37.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310.xml"/><Relationship Id="rId1" Type="http://schemas.openxmlformats.org/officeDocument/2006/relationships/tags" Target="../tags/tag38.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321.xml"/><Relationship Id="rId1" Type="http://schemas.openxmlformats.org/officeDocument/2006/relationships/tags" Target="../tags/tag39.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332.xml"/><Relationship Id="rId1" Type="http://schemas.openxmlformats.org/officeDocument/2006/relationships/tags" Target="../tags/tag40.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99.xml"/><Relationship Id="rId1" Type="http://schemas.openxmlformats.org/officeDocument/2006/relationships/tags" Target="../tags/tag41.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343.xml"/><Relationship Id="rId1" Type="http://schemas.openxmlformats.org/officeDocument/2006/relationships/tags" Target="../tags/tag42.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99.xml"/><Relationship Id="rId1" Type="http://schemas.openxmlformats.org/officeDocument/2006/relationships/tags" Target="../tags/tag43.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354.xml"/><Relationship Id="rId1" Type="http://schemas.openxmlformats.org/officeDocument/2006/relationships/tags" Target="../tags/tag44.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99.xml"/><Relationship Id="rId1" Type="http://schemas.openxmlformats.org/officeDocument/2006/relationships/tags" Target="../tags/tag45.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365.xml"/><Relationship Id="rId1" Type="http://schemas.openxmlformats.org/officeDocument/2006/relationships/tags" Target="../tags/tag46.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99.xml"/><Relationship Id="rId1" Type="http://schemas.openxmlformats.org/officeDocument/2006/relationships/tags" Target="../tags/tag47.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376.xml"/><Relationship Id="rId1" Type="http://schemas.openxmlformats.org/officeDocument/2006/relationships/tags" Target="../tags/tag48.xml"/></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ctrTitle"/>
          </p:nvPr>
        </p:nvSpPr>
        <p:spPr>
          <a:xfrm>
            <a:off x="609600" y="1658620"/>
            <a:ext cx="8058150" cy="1031240"/>
          </a:xfrm>
          <a:noFill/>
          <a:extLst>
            <a:ext uri="{909E8E84-426E-40DD-AFC4-6F175D3DCCD1}">
              <a14:hiddenFill xmlns:a14="http://schemas.microsoft.com/office/drawing/2010/main">
                <a:solidFill>
                  <a:srgbClr val="A50021"/>
                </a:solidFill>
              </a14:hiddenFill>
            </a:ext>
          </a:extLst>
        </p:spPr>
        <p:txBody>
          <a:bodyPr vert="horz" wrap="square" lIns="91440" tIns="45720" rIns="91440" bIns="45720" anchor="b" anchorCtr="0"/>
          <a:p>
            <a:pPr algn="ctr" eaLnBrk="1" hangingPunct="1">
              <a:buClrTx/>
              <a:buSzTx/>
              <a:buFontTx/>
            </a:pPr>
            <a:r>
              <a:rPr lang="zh-CN" altLang="en-US" sz="4600" b="1" dirty="0">
                <a:solidFill>
                  <a:schemeClr val="tx1"/>
                </a:solidFill>
                <a:latin typeface="Times New Roman" panose="02020503050405090304" pitchFamily="18" charset="0"/>
                <a:ea typeface="+mj-ea"/>
                <a:cs typeface="+mj-cs"/>
              </a:rPr>
              <a:t>第 </a:t>
            </a:r>
            <a:r>
              <a:rPr lang="en-US" altLang="zh-CN" sz="4600" b="1" dirty="0">
                <a:solidFill>
                  <a:schemeClr val="tx1"/>
                </a:solidFill>
                <a:latin typeface="Times New Roman" panose="02020503050405090304" pitchFamily="18" charset="0"/>
                <a:ea typeface="+mj-ea"/>
                <a:cs typeface="+mj-cs"/>
              </a:rPr>
              <a:t>2 </a:t>
            </a:r>
            <a:r>
              <a:rPr lang="zh-CN" altLang="en-US" sz="4600" b="1" dirty="0">
                <a:solidFill>
                  <a:schemeClr val="tx1"/>
                </a:solidFill>
                <a:latin typeface="Times New Roman" panose="02020503050405090304" pitchFamily="18" charset="0"/>
                <a:ea typeface="+mj-ea"/>
                <a:cs typeface="+mj-cs"/>
              </a:rPr>
              <a:t>章   知识表示与知识图谱</a:t>
            </a:r>
            <a:r>
              <a:rPr lang="zh-CN" altLang="en-US" sz="4200" dirty="0">
                <a:solidFill>
                  <a:schemeClr val="tx1"/>
                </a:solidFill>
                <a:latin typeface="Times New Roman" panose="02020503050405090304" pitchFamily="18" charset="0"/>
                <a:ea typeface="+mj-ea"/>
                <a:cs typeface="+mj-cs"/>
              </a:rPr>
              <a:t>  </a:t>
            </a:r>
            <a:endParaRPr lang="zh-CN" altLang="en-US" sz="4200" dirty="0">
              <a:solidFill>
                <a:schemeClr val="tx1"/>
              </a:solidFill>
              <a:latin typeface="Times New Roman" panose="02020503050405090304" pitchFamily="18" charset="0"/>
              <a:ea typeface="+mj-ea"/>
              <a:cs typeface="+mj-cs"/>
            </a:endParaRPr>
          </a:p>
        </p:txBody>
      </p:sp>
      <p:sp>
        <p:nvSpPr>
          <p:cNvPr id="6147" name="Rectangle 4"/>
          <p:cNvSpPr>
            <a:spLocks noGrp="1"/>
          </p:cNvSpPr>
          <p:nvPr/>
        </p:nvSpPr>
        <p:spPr>
          <a:xfrm>
            <a:off x="990600" y="5823585"/>
            <a:ext cx="4267200" cy="764540"/>
          </a:xfrm>
          <a:prstGeom prst="rect">
            <a:avLst/>
          </a:prstGeom>
          <a:noFill/>
          <a:ln w="9525">
            <a:noFill/>
          </a:ln>
        </p:spPr>
        <p:txBody>
          <a:bodyPr vert="horz" wrap="square" lIns="91440" tIns="45720" rIns="91440" bIns="45720" anchor="t" anchorCtr="0"/>
          <a:lstStyle>
            <a:lvl1pPr marL="0" indent="0" algn="ctr" rtl="0" eaLnBrk="0" fontAlgn="base" hangingPunct="0">
              <a:lnSpc>
                <a:spcPct val="120000"/>
              </a:lnSpc>
              <a:spcBef>
                <a:spcPct val="40000"/>
              </a:spcBef>
              <a:spcAft>
                <a:spcPct val="0"/>
              </a:spcAft>
              <a:buClr>
                <a:schemeClr val="accent2"/>
              </a:buClr>
              <a:buFont typeface="Wingdings" panose="05000000000000000000" pitchFamily="2" charset="2"/>
              <a:buNone/>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a:lstStyle>
          <a:p>
            <a:pPr marL="0" marR="0" indent="0" algn="l" defTabSz="914400" rtl="0" eaLnBrk="1" fontAlgn="base" latinLnBrk="0" hangingPunct="1">
              <a:lnSpc>
                <a:spcPct val="120000"/>
              </a:lnSpc>
              <a:spcBef>
                <a:spcPct val="40000"/>
              </a:spcBef>
              <a:spcAft>
                <a:spcPct val="0"/>
              </a:spcAft>
              <a:buClr>
                <a:schemeClr val="accent2"/>
              </a:buClr>
              <a:buSzTx/>
              <a:buFont typeface="Wingdings" panose="05000000000000000000" pitchFamily="2" charset="2"/>
              <a:buNone/>
            </a:pPr>
            <a:r>
              <a:rPr kumimoji="0" lang="zh-CN" altLang="en-US" sz="1200" b="1" i="0" u="none" strike="noStrike" kern="0" cap="none" spc="0" normalizeH="0" baseline="0" noProof="1" dirty="0">
                <a:solidFill>
                  <a:schemeClr val="accent2"/>
                </a:solidFill>
                <a:latin typeface="华文琥珀" panose="02010800040101010101" pitchFamily="2" charset="-122"/>
                <a:ea typeface="华文琥珀" panose="02010800040101010101" pitchFamily="2" charset="-122"/>
                <a:cs typeface="+mn-cs"/>
              </a:rPr>
              <a:t>教材：</a:t>
            </a:r>
            <a:endParaRPr kumimoji="0" lang="zh-CN" altLang="en-US" sz="1200" b="1" i="0" u="none" strike="noStrike" kern="0" cap="none" spc="0" normalizeH="0" baseline="0" noProof="1" dirty="0">
              <a:solidFill>
                <a:schemeClr val="accent2"/>
              </a:solidFill>
              <a:latin typeface="华文琥珀" panose="02010800040101010101" pitchFamily="2" charset="-122"/>
              <a:ea typeface="华文琥珀" panose="02010800040101010101" pitchFamily="2" charset="-122"/>
              <a:cs typeface="+mn-cs"/>
            </a:endParaRPr>
          </a:p>
          <a:p>
            <a:pPr marL="0" marR="0" indent="0" algn="l" defTabSz="914400" rtl="0" eaLnBrk="1" fontAlgn="base" latinLnBrk="0" hangingPunct="1">
              <a:lnSpc>
                <a:spcPct val="140000"/>
              </a:lnSpc>
              <a:spcBef>
                <a:spcPct val="0"/>
              </a:spcBef>
              <a:spcAft>
                <a:spcPct val="0"/>
              </a:spcAft>
              <a:buClr>
                <a:schemeClr val="accent2"/>
              </a:buClr>
              <a:buSzTx/>
              <a:buFont typeface="Wingdings" panose="05000000000000000000" pitchFamily="2" charset="2"/>
              <a:buNone/>
            </a:pPr>
            <a:r>
              <a:rPr kumimoji="0" lang="zh-CN" altLang="en-US" sz="900" b="1" i="0" u="none" strike="noStrike" kern="0" cap="none" spc="0" normalizeH="0" baseline="0" noProof="1" dirty="0">
                <a:solidFill>
                  <a:srgbClr val="0000FF"/>
                </a:solidFill>
                <a:latin typeface="Times New Roman" panose="02020503050405090304" pitchFamily="18" charset="0"/>
                <a:ea typeface="楷体_GB2312" pitchFamily="49" charset="-122"/>
                <a:cs typeface="+mn-cs"/>
              </a:rPr>
              <a:t>王万良</a:t>
            </a:r>
            <a:r>
              <a:rPr kumimoji="0" lang="en-US" altLang="zh-CN" sz="900" b="1" i="0" u="none" strike="noStrike" kern="0" cap="none" spc="0" normalizeH="0" baseline="0" noProof="1" dirty="0">
                <a:solidFill>
                  <a:srgbClr val="0000FF"/>
                </a:solidFill>
                <a:latin typeface="Times New Roman" panose="02020503050405090304" pitchFamily="18" charset="0"/>
                <a:ea typeface="楷体_GB2312" pitchFamily="49" charset="-122"/>
                <a:cs typeface="+mn-cs"/>
              </a:rPr>
              <a:t>《</a:t>
            </a:r>
            <a:r>
              <a:rPr kumimoji="0" lang="zh-CN" altLang="en-US" sz="900" b="1" i="0" u="none" strike="noStrike" kern="0" cap="none" spc="0" normalizeH="0" baseline="0" noProof="1" dirty="0">
                <a:solidFill>
                  <a:srgbClr val="0000FF"/>
                </a:solidFill>
                <a:latin typeface="Times New Roman" panose="02020503050405090304" pitchFamily="18" charset="0"/>
                <a:ea typeface="楷体_GB2312" pitchFamily="49" charset="-122"/>
                <a:cs typeface="+mn-cs"/>
              </a:rPr>
              <a:t>人工智能导论</a:t>
            </a:r>
            <a:r>
              <a:rPr kumimoji="0" lang="en-US" altLang="zh-CN" sz="900" b="1" i="0" u="none" strike="noStrike" kern="0" cap="none" spc="0" normalizeH="0" baseline="0" noProof="1" dirty="0">
                <a:solidFill>
                  <a:srgbClr val="0000FF"/>
                </a:solidFill>
                <a:latin typeface="Times New Roman" panose="02020503050405090304" pitchFamily="18" charset="0"/>
                <a:ea typeface="楷体_GB2312" pitchFamily="49" charset="-122"/>
                <a:cs typeface="+mn-cs"/>
              </a:rPr>
              <a:t>》</a:t>
            </a:r>
            <a:r>
              <a:rPr kumimoji="0" lang="zh-CN" altLang="en-US" sz="900" b="1" i="0" u="none" strike="noStrike" kern="0" cap="none" spc="0" normalizeH="0" baseline="0" noProof="1" dirty="0">
                <a:solidFill>
                  <a:srgbClr val="0000FF"/>
                </a:solidFill>
                <a:latin typeface="Times New Roman" panose="02020503050405090304" pitchFamily="18" charset="0"/>
                <a:ea typeface="楷体_GB2312" pitchFamily="49" charset="-122"/>
                <a:cs typeface="+mn-cs"/>
              </a:rPr>
              <a:t>（第</a:t>
            </a:r>
            <a:r>
              <a:rPr kumimoji="0" lang="en-US" altLang="zh-CN" sz="900" b="1" i="0" u="none" strike="noStrike" kern="0" cap="none" spc="0" normalizeH="0" baseline="0" noProof="1" dirty="0">
                <a:solidFill>
                  <a:srgbClr val="0000FF"/>
                </a:solidFill>
                <a:latin typeface="Times New Roman" panose="02020503050405090304" pitchFamily="18" charset="0"/>
                <a:ea typeface="楷体_GB2312" pitchFamily="49" charset="-122"/>
                <a:cs typeface="+mn-cs"/>
              </a:rPr>
              <a:t>6</a:t>
            </a:r>
            <a:r>
              <a:rPr kumimoji="0" lang="zh-CN" altLang="en-US" sz="900" b="1" i="0" u="none" strike="noStrike" kern="0" cap="none" spc="0" normalizeH="0" baseline="0" noProof="1" dirty="0">
                <a:solidFill>
                  <a:srgbClr val="0000FF"/>
                </a:solidFill>
                <a:latin typeface="Times New Roman" panose="02020503050405090304" pitchFamily="18" charset="0"/>
                <a:ea typeface="楷体_GB2312" pitchFamily="49" charset="-122"/>
                <a:cs typeface="+mn-cs"/>
              </a:rPr>
              <a:t>版）高等教育出版社，</a:t>
            </a:r>
            <a:r>
              <a:rPr kumimoji="0" lang="en-US" altLang="zh-CN" sz="900" b="1" i="0" u="none" strike="noStrike" kern="0" cap="none" spc="0" normalizeH="0" baseline="0" noProof="1" dirty="0">
                <a:solidFill>
                  <a:srgbClr val="0000FF"/>
                </a:solidFill>
                <a:latin typeface="Times New Roman" panose="02020503050405090304" pitchFamily="18" charset="0"/>
                <a:ea typeface="楷体_GB2312" pitchFamily="49" charset="-122"/>
                <a:cs typeface="+mn-cs"/>
              </a:rPr>
              <a:t>2025</a:t>
            </a:r>
            <a:endParaRPr kumimoji="0" lang="en-US" altLang="zh-CN" sz="900" b="1" i="0" u="none" strike="noStrike" kern="0" cap="none" spc="0" normalizeH="0" baseline="0" noProof="1" dirty="0">
              <a:solidFill>
                <a:srgbClr val="0000FF"/>
              </a:solidFill>
              <a:latin typeface="Times New Roman" panose="02020503050405090304" pitchFamily="18" charset="0"/>
              <a:ea typeface="楷体_GB2312" pitchFamily="49" charset="-122"/>
              <a:cs typeface="+mn-cs"/>
            </a:endParaRPr>
          </a:p>
        </p:txBody>
      </p:sp>
      <p:pic>
        <p:nvPicPr>
          <p:cNvPr id="7189" name="图片 6"/>
          <p:cNvPicPr>
            <a:picLocks noChangeAspect="1"/>
          </p:cNvPicPr>
          <p:nvPr/>
        </p:nvPicPr>
        <p:blipFill>
          <a:blip r:embed="rId1"/>
          <a:stretch>
            <a:fillRect/>
          </a:stretch>
        </p:blipFill>
        <p:spPr>
          <a:xfrm>
            <a:off x="5478145" y="3655060"/>
            <a:ext cx="2237740" cy="2816225"/>
          </a:xfrm>
          <a:prstGeom prst="rect">
            <a:avLst/>
          </a:prstGeom>
          <a:noFill/>
          <a:ln w="9525">
            <a:noFill/>
          </a:ln>
        </p:spPr>
      </p:pic>
      <p:sp>
        <p:nvSpPr>
          <p:cNvPr id="2" name="Rectangle 4"/>
          <p:cNvSpPr>
            <a:spLocks noGrp="1"/>
          </p:cNvSpPr>
          <p:nvPr/>
        </p:nvSpPr>
        <p:spPr>
          <a:xfrm>
            <a:off x="883285" y="4358005"/>
            <a:ext cx="4267200" cy="1030605"/>
          </a:xfrm>
          <a:prstGeom prst="rect">
            <a:avLst/>
          </a:prstGeom>
          <a:noFill/>
          <a:ln w="9525">
            <a:noFill/>
          </a:ln>
        </p:spPr>
        <p:txBody>
          <a:bodyPr vert="horz" wrap="square" lIns="91440" tIns="45720" rIns="91440" bIns="45720" anchor="t" anchorCtr="0"/>
          <a:lstStyle>
            <a:lvl1pPr marL="0" indent="0" algn="ctr" rtl="0" eaLnBrk="0" fontAlgn="base" hangingPunct="0">
              <a:lnSpc>
                <a:spcPct val="120000"/>
              </a:lnSpc>
              <a:spcBef>
                <a:spcPct val="40000"/>
              </a:spcBef>
              <a:spcAft>
                <a:spcPct val="0"/>
              </a:spcAft>
              <a:buClr>
                <a:schemeClr val="accent2"/>
              </a:buClr>
              <a:buFont typeface="Wingdings" panose="05000000000000000000" pitchFamily="2" charset="2"/>
              <a:buNone/>
              <a:defRPr sz="28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a:lstStyle>
          <a:p>
            <a:pPr marL="0" marR="0" indent="0" algn="l" defTabSz="914400" rtl="0" eaLnBrk="1" fontAlgn="base" latinLnBrk="0" hangingPunct="1">
              <a:lnSpc>
                <a:spcPct val="120000"/>
              </a:lnSpc>
              <a:spcBef>
                <a:spcPct val="40000"/>
              </a:spcBef>
              <a:spcAft>
                <a:spcPct val="0"/>
              </a:spcAft>
              <a:buClr>
                <a:schemeClr val="accent2"/>
              </a:buClr>
              <a:buSzTx/>
              <a:buFont typeface="Wingdings" panose="05000000000000000000" pitchFamily="2" charset="2"/>
              <a:buNone/>
            </a:pPr>
            <a:r>
              <a:rPr kumimoji="0" lang="zh-CN" altLang="en-US" sz="2400" b="1" i="0" u="none" strike="noStrike" kern="0" cap="none" spc="0" normalizeH="0" baseline="0" noProof="1" dirty="0">
                <a:solidFill>
                  <a:srgbClr val="0070C0"/>
                </a:solidFill>
                <a:latin typeface="华文琥珀" panose="02010800040101010101" pitchFamily="2" charset="-122"/>
                <a:ea typeface="华文琥珀" panose="02010800040101010101" pitchFamily="2" charset="-122"/>
                <a:cs typeface="+mn-cs"/>
              </a:rPr>
              <a:t>主讲教师</a:t>
            </a:r>
            <a:r>
              <a:rPr kumimoji="0" lang="en-US" altLang="zh-CN" sz="2400" b="1" i="0" u="none" strike="noStrike" kern="0" cap="none" spc="0" normalizeH="0" baseline="0" noProof="1" dirty="0">
                <a:solidFill>
                  <a:srgbClr val="0070C0"/>
                </a:solidFill>
                <a:latin typeface="华文琥珀" panose="02010800040101010101" pitchFamily="2" charset="-122"/>
                <a:ea typeface="华文琥珀" panose="02010800040101010101" pitchFamily="2" charset="-122"/>
                <a:cs typeface="+mn-cs"/>
              </a:rPr>
              <a:t>：</a:t>
            </a:r>
            <a:r>
              <a:rPr kumimoji="0" lang="zh-CN" altLang="en-US" sz="2400" b="1" i="0" u="none" strike="noStrike" kern="0" cap="none" spc="0" normalizeH="0" baseline="0" noProof="1" dirty="0">
                <a:solidFill>
                  <a:srgbClr val="0070C0"/>
                </a:solidFill>
                <a:latin typeface="华文琥珀" panose="02010800040101010101" pitchFamily="2" charset="-122"/>
                <a:ea typeface="华文琥珀" panose="02010800040101010101" pitchFamily="2" charset="-122"/>
                <a:cs typeface="+mn-cs"/>
              </a:rPr>
              <a:t>王美华</a:t>
            </a:r>
            <a:endParaRPr kumimoji="0" lang="zh-CN" altLang="en-US" sz="2400" b="1" i="0" u="none" strike="noStrike" kern="0" cap="none" spc="0" normalizeH="0" baseline="0" noProof="1" dirty="0">
              <a:solidFill>
                <a:srgbClr val="0070C0"/>
              </a:solidFill>
              <a:latin typeface="华文琥珀" panose="02010800040101010101" pitchFamily="2" charset="-122"/>
              <a:ea typeface="华文琥珀" panose="02010800040101010101" pitchFamily="2" charset="-122"/>
              <a:cs typeface="+mn-cs"/>
            </a:endParaRPr>
          </a:p>
          <a:p>
            <a:pPr marL="0" marR="0" indent="0" algn="l" defTabSz="914400" rtl="0" eaLnBrk="1" fontAlgn="base" latinLnBrk="0" hangingPunct="1">
              <a:lnSpc>
                <a:spcPct val="120000"/>
              </a:lnSpc>
              <a:spcBef>
                <a:spcPct val="40000"/>
              </a:spcBef>
              <a:spcAft>
                <a:spcPct val="0"/>
              </a:spcAft>
              <a:buClr>
                <a:schemeClr val="accent2"/>
              </a:buClr>
              <a:buSzTx/>
              <a:buFont typeface="Wingdings" panose="05000000000000000000" pitchFamily="2" charset="2"/>
              <a:buNone/>
            </a:pPr>
            <a:r>
              <a:rPr kumimoji="0" lang="zh-CN" altLang="en-US" sz="2400" b="1" i="0" u="none" strike="noStrike" kern="0" cap="none" spc="0" normalizeH="0" baseline="0" noProof="1" dirty="0">
                <a:solidFill>
                  <a:srgbClr val="0070C0"/>
                </a:solidFill>
                <a:latin typeface="华文琥珀" panose="02010800040101010101" pitchFamily="2" charset="-122"/>
                <a:ea typeface="华文琥珀" panose="02010800040101010101" pitchFamily="2" charset="-122"/>
                <a:cs typeface="+mn-cs"/>
              </a:rPr>
              <a:t>计算机科学系</a:t>
            </a:r>
            <a:r>
              <a:rPr kumimoji="0" lang="en-US" altLang="zh-CN" sz="2400" b="1" i="0" u="none" strike="noStrike" kern="0" cap="none" spc="0" normalizeH="0" baseline="0" noProof="1" dirty="0">
                <a:solidFill>
                  <a:srgbClr val="0070C0"/>
                </a:solidFill>
                <a:latin typeface="华文琥珀" panose="02010800040101010101" pitchFamily="2" charset="-122"/>
                <a:ea typeface="华文琥珀" panose="02010800040101010101" pitchFamily="2" charset="-122"/>
                <a:cs typeface="+mn-cs"/>
              </a:rPr>
              <a:t> 614</a:t>
            </a:r>
            <a:r>
              <a:rPr kumimoji="0" lang="zh-CN" altLang="en-US" sz="2400" b="1" i="0" u="none" strike="noStrike" kern="0" cap="none" spc="0" normalizeH="0" baseline="0" noProof="1" dirty="0">
                <a:solidFill>
                  <a:srgbClr val="0070C0"/>
                </a:solidFill>
                <a:latin typeface="华文琥珀" panose="02010800040101010101" pitchFamily="2" charset="-122"/>
                <a:ea typeface="华文琥珀" panose="02010800040101010101" pitchFamily="2" charset="-122"/>
                <a:cs typeface="+mn-cs"/>
              </a:rPr>
              <a:t>办公室</a:t>
            </a:r>
            <a:endParaRPr kumimoji="0" lang="zh-CN" altLang="en-US" sz="2400" b="1" i="0" u="none" strike="noStrike" kern="0" cap="none" spc="0" normalizeH="0" baseline="0" noProof="1" dirty="0">
              <a:solidFill>
                <a:srgbClr val="0070C0"/>
              </a:solidFill>
              <a:latin typeface="华文琥珀" panose="02010800040101010101" pitchFamily="2" charset="-122"/>
              <a:ea typeface="华文琥珀" panose="02010800040101010101" pitchFamily="2" charset="-122"/>
              <a:cs typeface="+mn-cs"/>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t>导引：大模型下对知识提取新方法</a:t>
            </a:r>
            <a:endParaRPr lang="zh-CN" altLang="en-US" dirty="0"/>
          </a:p>
        </p:txBody>
      </p:sp>
      <p:sp>
        <p:nvSpPr>
          <p:cNvPr id="15" name="图形 17"/>
          <p:cNvSpPr/>
          <p:nvPr>
            <p:custDataLst>
              <p:tags r:id="rId2"/>
            </p:custDataLst>
          </p:nvPr>
        </p:nvSpPr>
        <p:spPr>
          <a:xfrm>
            <a:off x="4389111" y="4141289"/>
            <a:ext cx="1152141" cy="1058973"/>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noFill/>
          <a:ln w="12700" cap="flat">
            <a:solidFill>
              <a:schemeClr val="tx2">
                <a:lumMod val="50000"/>
                <a:lumOff val="50000"/>
                <a:alpha val="2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sz="1800">
              <a:solidFill>
                <a:schemeClr val="tx1"/>
              </a:solidFill>
            </a:endParaRPr>
          </a:p>
        </p:txBody>
      </p:sp>
      <p:sp>
        <p:nvSpPr>
          <p:cNvPr id="17" name="图形 17"/>
          <p:cNvSpPr/>
          <p:nvPr>
            <p:custDataLst>
              <p:tags r:id="rId3"/>
            </p:custDataLst>
          </p:nvPr>
        </p:nvSpPr>
        <p:spPr>
          <a:xfrm>
            <a:off x="3162724" y="4815569"/>
            <a:ext cx="513543" cy="472016"/>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noFill/>
          <a:ln w="9525" cap="flat">
            <a:solidFill>
              <a:schemeClr val="tx2">
                <a:lumMod val="50000"/>
                <a:lumOff val="50000"/>
                <a:alpha val="15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sz="1800">
              <a:solidFill>
                <a:schemeClr val="tx1"/>
              </a:solidFill>
            </a:endParaRPr>
          </a:p>
        </p:txBody>
      </p:sp>
      <p:sp>
        <p:nvSpPr>
          <p:cNvPr id="6" name="图形 17"/>
          <p:cNvSpPr/>
          <p:nvPr>
            <p:custDataLst>
              <p:tags r:id="rId4"/>
            </p:custDataLst>
          </p:nvPr>
        </p:nvSpPr>
        <p:spPr>
          <a:xfrm>
            <a:off x="5847252" y="4137559"/>
            <a:ext cx="867215" cy="797087"/>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noFill/>
          <a:ln w="12700" cap="flat">
            <a:solidFill>
              <a:schemeClr val="tx2">
                <a:lumMod val="50000"/>
                <a:lumOff val="50000"/>
                <a:alpha val="15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sz="1800">
              <a:solidFill>
                <a:schemeClr val="tx1"/>
              </a:solidFill>
            </a:endParaRPr>
          </a:p>
        </p:txBody>
      </p:sp>
      <p:sp>
        <p:nvSpPr>
          <p:cNvPr id="13" name="图形 17"/>
          <p:cNvSpPr/>
          <p:nvPr>
            <p:custDataLst>
              <p:tags r:id="rId5"/>
            </p:custDataLst>
          </p:nvPr>
        </p:nvSpPr>
        <p:spPr>
          <a:xfrm>
            <a:off x="2717401" y="2688744"/>
            <a:ext cx="513543" cy="472016"/>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noFill/>
          <a:ln w="9525" cap="flat">
            <a:solidFill>
              <a:schemeClr val="tx2">
                <a:lumMod val="50000"/>
                <a:lumOff val="50000"/>
                <a:alpha val="15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sz="1800">
              <a:solidFill>
                <a:schemeClr val="tx1"/>
              </a:solidFill>
            </a:endParaRPr>
          </a:p>
        </p:txBody>
      </p:sp>
      <p:sp>
        <p:nvSpPr>
          <p:cNvPr id="7" name="图形 17"/>
          <p:cNvSpPr/>
          <p:nvPr>
            <p:custDataLst>
              <p:tags r:id="rId6"/>
            </p:custDataLst>
          </p:nvPr>
        </p:nvSpPr>
        <p:spPr>
          <a:xfrm>
            <a:off x="5382810" y="1999542"/>
            <a:ext cx="1128929" cy="1009088"/>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noFill/>
          <a:ln w="9525" cap="flat">
            <a:solidFill>
              <a:schemeClr val="tx2">
                <a:lumMod val="50000"/>
                <a:lumOff val="50000"/>
                <a:alpha val="1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sz="1800">
              <a:solidFill>
                <a:schemeClr val="tx1"/>
              </a:solidFill>
            </a:endParaRPr>
          </a:p>
        </p:txBody>
      </p:sp>
      <p:sp>
        <p:nvSpPr>
          <p:cNvPr id="8" name="图形 17"/>
          <p:cNvSpPr/>
          <p:nvPr>
            <p:custDataLst>
              <p:tags r:id="rId7"/>
            </p:custDataLst>
          </p:nvPr>
        </p:nvSpPr>
        <p:spPr>
          <a:xfrm>
            <a:off x="7303528" y="5287471"/>
            <a:ext cx="444857" cy="409884"/>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noFill/>
          <a:ln w="9525" cap="flat">
            <a:solidFill>
              <a:schemeClr val="tx2">
                <a:lumMod val="50000"/>
                <a:lumOff val="50000"/>
                <a:alpha val="15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sz="1800">
              <a:solidFill>
                <a:schemeClr val="tx1"/>
              </a:solidFill>
            </a:endParaRPr>
          </a:p>
        </p:txBody>
      </p:sp>
      <p:sp>
        <p:nvSpPr>
          <p:cNvPr id="9" name="图形 9"/>
          <p:cNvSpPr/>
          <p:nvPr>
            <p:custDataLst>
              <p:tags r:id="rId8"/>
            </p:custDataLst>
          </p:nvPr>
        </p:nvSpPr>
        <p:spPr>
          <a:xfrm>
            <a:off x="240379" y="2636051"/>
            <a:ext cx="789463" cy="705086"/>
          </a:xfrm>
          <a:custGeom>
            <a:avLst/>
            <a:gdLst>
              <a:gd name="connsiteX0" fmla="*/ 958463 w 1370981"/>
              <a:gd name="connsiteY0" fmla="*/ -1130 h 1224453"/>
              <a:gd name="connsiteX1" fmla="*/ 1078507 w 1370981"/>
              <a:gd name="connsiteY1" fmla="*/ 68177 h 1224453"/>
              <a:gd name="connsiteX2" fmla="*/ 1351945 w 1370981"/>
              <a:gd name="connsiteY2" fmla="*/ 541789 h 1224453"/>
              <a:gd name="connsiteX3" fmla="*/ 1351945 w 1370981"/>
              <a:gd name="connsiteY3" fmla="*/ 680404 h 1224453"/>
              <a:gd name="connsiteX4" fmla="*/ 1078507 w 1370981"/>
              <a:gd name="connsiteY4" fmla="*/ 1154016 h 1224453"/>
              <a:gd name="connsiteX5" fmla="*/ 958463 w 1370981"/>
              <a:gd name="connsiteY5" fmla="*/ 1223323 h 1224453"/>
              <a:gd name="connsiteX6" fmla="*/ 411586 w 1370981"/>
              <a:gd name="connsiteY6" fmla="*/ 1223323 h 1224453"/>
              <a:gd name="connsiteX7" fmla="*/ 291542 w 1370981"/>
              <a:gd name="connsiteY7" fmla="*/ 1154016 h 1224453"/>
              <a:gd name="connsiteX8" fmla="*/ 18104 w 1370981"/>
              <a:gd name="connsiteY8" fmla="*/ 680404 h 1224453"/>
              <a:gd name="connsiteX9" fmla="*/ 18104 w 1370981"/>
              <a:gd name="connsiteY9" fmla="*/ 541789 h 1224453"/>
              <a:gd name="connsiteX10" fmla="*/ 291542 w 1370981"/>
              <a:gd name="connsiteY10" fmla="*/ 68177 h 1224453"/>
              <a:gd name="connsiteX11" fmla="*/ 411586 w 1370981"/>
              <a:gd name="connsiteY11" fmla="*/ -1130 h 1224453"/>
              <a:gd name="connsiteX12" fmla="*/ 958463 w 1370981"/>
              <a:gd name="connsiteY12" fmla="*/ -1130 h 122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0981" h="1224453">
                <a:moveTo>
                  <a:pt x="958463" y="-1130"/>
                </a:moveTo>
                <a:cubicBezTo>
                  <a:pt x="1007986" y="-1130"/>
                  <a:pt x="1053750" y="25276"/>
                  <a:pt x="1078507" y="68177"/>
                </a:cubicBezTo>
                <a:lnTo>
                  <a:pt x="1351945" y="541789"/>
                </a:lnTo>
                <a:cubicBezTo>
                  <a:pt x="1376705" y="584690"/>
                  <a:pt x="1376705" y="637503"/>
                  <a:pt x="1351945" y="680404"/>
                </a:cubicBezTo>
                <a:lnTo>
                  <a:pt x="1078507" y="1154016"/>
                </a:lnTo>
                <a:cubicBezTo>
                  <a:pt x="1053750" y="1196917"/>
                  <a:pt x="1007986" y="1223323"/>
                  <a:pt x="958463" y="1223323"/>
                </a:cubicBezTo>
                <a:lnTo>
                  <a:pt x="411586" y="1223323"/>
                </a:lnTo>
                <a:cubicBezTo>
                  <a:pt x="362062" y="1223323"/>
                  <a:pt x="316299" y="1196917"/>
                  <a:pt x="291542" y="1154016"/>
                </a:cubicBezTo>
                <a:lnTo>
                  <a:pt x="18104" y="680404"/>
                </a:lnTo>
                <a:cubicBezTo>
                  <a:pt x="-6656" y="637503"/>
                  <a:pt x="-6656" y="584690"/>
                  <a:pt x="18104" y="541789"/>
                </a:cubicBezTo>
                <a:lnTo>
                  <a:pt x="291542" y="68177"/>
                </a:lnTo>
                <a:cubicBezTo>
                  <a:pt x="316299" y="25276"/>
                  <a:pt x="362062" y="-1130"/>
                  <a:pt x="411586" y="-1130"/>
                </a:cubicBezTo>
                <a:lnTo>
                  <a:pt x="958463" y="-1130"/>
                </a:lnTo>
                <a:close/>
              </a:path>
            </a:pathLst>
          </a:custGeom>
          <a:noFill/>
          <a:ln w="9525" cap="flat">
            <a:solidFill>
              <a:schemeClr val="tx2">
                <a:lumMod val="50000"/>
                <a:lumOff val="50000"/>
                <a:alpha val="10000"/>
              </a:schemeClr>
            </a:solidFill>
            <a:prstDash val="solid"/>
            <a:miter/>
          </a:ln>
        </p:spPr>
        <p:txBody>
          <a:bodyPr rtlCol="0" anchor="ctr">
            <a:noAutofit/>
          </a:bodyPr>
          <a:p>
            <a:endParaRPr lang="zh-CN" altLang="en-US" sz="1800">
              <a:solidFill>
                <a:schemeClr val="tx1"/>
              </a:solidFill>
            </a:endParaRPr>
          </a:p>
        </p:txBody>
      </p:sp>
      <p:sp>
        <p:nvSpPr>
          <p:cNvPr id="11" name="图形 14"/>
          <p:cNvSpPr/>
          <p:nvPr>
            <p:custDataLst>
              <p:tags r:id="rId9"/>
            </p:custDataLst>
          </p:nvPr>
        </p:nvSpPr>
        <p:spPr>
          <a:xfrm>
            <a:off x="655392" y="2342278"/>
            <a:ext cx="1247632" cy="1122518"/>
          </a:xfrm>
          <a:custGeom>
            <a:avLst/>
            <a:gdLst>
              <a:gd name="connsiteX0" fmla="*/ 1407114 w 2012417"/>
              <a:gd name="connsiteY0" fmla="*/ -1130 h 1797334"/>
              <a:gd name="connsiteX1" fmla="*/ 1583322 w 2012417"/>
              <a:gd name="connsiteY1" fmla="*/ 100604 h 1797334"/>
              <a:gd name="connsiteX2" fmla="*/ 1984693 w 2012417"/>
              <a:gd name="connsiteY2" fmla="*/ 795803 h 1797334"/>
              <a:gd name="connsiteX3" fmla="*/ 1984693 w 2012417"/>
              <a:gd name="connsiteY3" fmla="*/ 999271 h 1797334"/>
              <a:gd name="connsiteX4" fmla="*/ 1583322 w 2012417"/>
              <a:gd name="connsiteY4" fmla="*/ 1694471 h 1797334"/>
              <a:gd name="connsiteX5" fmla="*/ 1407114 w 2012417"/>
              <a:gd name="connsiteY5" fmla="*/ 1796205 h 1797334"/>
              <a:gd name="connsiteX6" fmla="*/ 604372 w 2012417"/>
              <a:gd name="connsiteY6" fmla="*/ 1796205 h 1797334"/>
              <a:gd name="connsiteX7" fmla="*/ 428163 w 2012417"/>
              <a:gd name="connsiteY7" fmla="*/ 1694471 h 1797334"/>
              <a:gd name="connsiteX8" fmla="*/ 26792 w 2012417"/>
              <a:gd name="connsiteY8" fmla="*/ 999271 h 1797334"/>
              <a:gd name="connsiteX9" fmla="*/ 26792 w 2012417"/>
              <a:gd name="connsiteY9" fmla="*/ 795803 h 1797334"/>
              <a:gd name="connsiteX10" fmla="*/ 428163 w 2012417"/>
              <a:gd name="connsiteY10" fmla="*/ 100604 h 1797334"/>
              <a:gd name="connsiteX11" fmla="*/ 604372 w 2012417"/>
              <a:gd name="connsiteY11" fmla="*/ -1130 h 1797334"/>
              <a:gd name="connsiteX12" fmla="*/ 1407114 w 2012417"/>
              <a:gd name="connsiteY12" fmla="*/ -1130 h 1797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12417" h="1797334">
                <a:moveTo>
                  <a:pt x="1407114" y="-1130"/>
                </a:moveTo>
                <a:cubicBezTo>
                  <a:pt x="1479808" y="-1130"/>
                  <a:pt x="1546983" y="37630"/>
                  <a:pt x="1583322" y="100604"/>
                </a:cubicBezTo>
                <a:lnTo>
                  <a:pt x="1984693" y="795803"/>
                </a:lnTo>
                <a:cubicBezTo>
                  <a:pt x="2021038" y="858777"/>
                  <a:pt x="2021038" y="936298"/>
                  <a:pt x="1984693" y="999271"/>
                </a:cubicBezTo>
                <a:lnTo>
                  <a:pt x="1583322" y="1694471"/>
                </a:lnTo>
                <a:cubicBezTo>
                  <a:pt x="1546983" y="1757444"/>
                  <a:pt x="1479808" y="1796205"/>
                  <a:pt x="1407114" y="1796205"/>
                </a:cubicBezTo>
                <a:lnTo>
                  <a:pt x="604372" y="1796205"/>
                </a:lnTo>
                <a:cubicBezTo>
                  <a:pt x="531677" y="1796205"/>
                  <a:pt x="464503" y="1757444"/>
                  <a:pt x="428163" y="1694471"/>
                </a:cubicBezTo>
                <a:lnTo>
                  <a:pt x="26792" y="999271"/>
                </a:lnTo>
                <a:cubicBezTo>
                  <a:pt x="-9552" y="936298"/>
                  <a:pt x="-9552" y="858777"/>
                  <a:pt x="26792" y="795803"/>
                </a:cubicBezTo>
                <a:lnTo>
                  <a:pt x="428163" y="100604"/>
                </a:lnTo>
                <a:cubicBezTo>
                  <a:pt x="464503" y="37630"/>
                  <a:pt x="531677" y="-1130"/>
                  <a:pt x="604372" y="-1130"/>
                </a:cubicBezTo>
                <a:lnTo>
                  <a:pt x="1407114" y="-1130"/>
                </a:lnTo>
                <a:close/>
              </a:path>
            </a:pathLst>
          </a:custGeom>
          <a:noFill/>
          <a:ln w="12700" cap="flat">
            <a:solidFill>
              <a:schemeClr val="tx2">
                <a:lumMod val="50000"/>
                <a:lumOff val="50000"/>
                <a:alpha val="15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sz="1800">
              <a:solidFill>
                <a:schemeClr val="tx1"/>
              </a:solidFill>
            </a:endParaRPr>
          </a:p>
        </p:txBody>
      </p:sp>
      <p:sp>
        <p:nvSpPr>
          <p:cNvPr id="12" name="图形 17"/>
          <p:cNvSpPr/>
          <p:nvPr>
            <p:custDataLst>
              <p:tags r:id="rId10"/>
            </p:custDataLst>
          </p:nvPr>
        </p:nvSpPr>
        <p:spPr>
          <a:xfrm>
            <a:off x="411980" y="4674278"/>
            <a:ext cx="893444" cy="797851"/>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noFill/>
          <a:ln w="9525" cap="flat">
            <a:solidFill>
              <a:schemeClr val="tx2">
                <a:lumMod val="50000"/>
                <a:lumOff val="50000"/>
                <a:alpha val="1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sz="1800">
              <a:solidFill>
                <a:schemeClr val="tx1"/>
              </a:solidFill>
            </a:endParaRPr>
          </a:p>
        </p:txBody>
      </p:sp>
      <p:sp>
        <p:nvSpPr>
          <p:cNvPr id="14" name="图形 17"/>
          <p:cNvSpPr>
            <a:spLocks noChangeAspect="1"/>
          </p:cNvSpPr>
          <p:nvPr>
            <p:custDataLst>
              <p:tags r:id="rId11"/>
            </p:custDataLst>
          </p:nvPr>
        </p:nvSpPr>
        <p:spPr>
          <a:xfrm>
            <a:off x="5237789" y="3529495"/>
            <a:ext cx="2345949" cy="2167776"/>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noFill/>
          <a:ln w="15875" cap="flat">
            <a:solidFill>
              <a:schemeClr val="tx2">
                <a:lumMod val="50000"/>
                <a:lumOff val="50000"/>
                <a:alpha val="20000"/>
              </a:schemeClr>
            </a:solidFill>
            <a:prstDash val="solid"/>
            <a:miter/>
          </a:ln>
        </p:spPr>
        <p:txBody>
          <a:bodyPr rtlCol="0" anchor="ctr">
            <a:noAutofit/>
          </a:bodyPr>
          <a:p>
            <a:endParaRPr lang="zh-CN" altLang="en-US" sz="1800">
              <a:solidFill>
                <a:schemeClr val="tx1"/>
              </a:solidFill>
            </a:endParaRPr>
          </a:p>
        </p:txBody>
      </p:sp>
      <p:sp>
        <p:nvSpPr>
          <p:cNvPr id="16" name="图形 17"/>
          <p:cNvSpPr/>
          <p:nvPr>
            <p:custDataLst>
              <p:tags r:id="rId12"/>
            </p:custDataLst>
          </p:nvPr>
        </p:nvSpPr>
        <p:spPr>
          <a:xfrm>
            <a:off x="7761908" y="4627647"/>
            <a:ext cx="513543" cy="472016"/>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noFill/>
          <a:ln w="9525" cap="flat">
            <a:solidFill>
              <a:schemeClr val="tx2">
                <a:lumMod val="50000"/>
                <a:lumOff val="50000"/>
                <a:alpha val="15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sz="1800">
              <a:solidFill>
                <a:schemeClr val="tx1"/>
              </a:solidFill>
            </a:endParaRPr>
          </a:p>
        </p:txBody>
      </p:sp>
      <p:sp>
        <p:nvSpPr>
          <p:cNvPr id="18" name="图形 17"/>
          <p:cNvSpPr/>
          <p:nvPr>
            <p:custDataLst>
              <p:tags r:id="rId13"/>
            </p:custDataLst>
          </p:nvPr>
        </p:nvSpPr>
        <p:spPr>
          <a:xfrm>
            <a:off x="7043795" y="2424814"/>
            <a:ext cx="1152141" cy="1058973"/>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noFill/>
          <a:ln w="12700" cap="flat">
            <a:solidFill>
              <a:schemeClr val="tx2">
                <a:lumMod val="50000"/>
                <a:lumOff val="50000"/>
                <a:alpha val="2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sz="1800">
              <a:solidFill>
                <a:schemeClr val="tx1"/>
              </a:solidFill>
            </a:endParaRPr>
          </a:p>
        </p:txBody>
      </p:sp>
      <p:sp>
        <p:nvSpPr>
          <p:cNvPr id="52" name="图形 17"/>
          <p:cNvSpPr/>
          <p:nvPr>
            <p:custDataLst>
              <p:tags r:id="rId14"/>
            </p:custDataLst>
          </p:nvPr>
        </p:nvSpPr>
        <p:spPr>
          <a:xfrm>
            <a:off x="7901334" y="2300310"/>
            <a:ext cx="545827" cy="501689"/>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noFill/>
          <a:ln w="9525" cap="flat">
            <a:solidFill>
              <a:schemeClr val="tx2">
                <a:lumMod val="50000"/>
                <a:lumOff val="50000"/>
                <a:alpha val="15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sz="1800" dirty="0">
              <a:solidFill>
                <a:schemeClr val="tx1"/>
              </a:solidFill>
            </a:endParaRPr>
          </a:p>
        </p:txBody>
      </p:sp>
      <p:sp>
        <p:nvSpPr>
          <p:cNvPr id="19" name="图形 17"/>
          <p:cNvSpPr/>
          <p:nvPr>
            <p:custDataLst>
              <p:tags r:id="rId15"/>
            </p:custDataLst>
          </p:nvPr>
        </p:nvSpPr>
        <p:spPr>
          <a:xfrm>
            <a:off x="3411731" y="3758918"/>
            <a:ext cx="775935" cy="713449"/>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noFill/>
          <a:ln w="9525" cap="flat">
            <a:solidFill>
              <a:schemeClr val="tx2">
                <a:lumMod val="50000"/>
                <a:lumOff val="50000"/>
                <a:alpha val="1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sz="1800">
              <a:solidFill>
                <a:schemeClr val="tx1"/>
              </a:solidFill>
            </a:endParaRPr>
          </a:p>
        </p:txBody>
      </p:sp>
      <p:sp>
        <p:nvSpPr>
          <p:cNvPr id="20" name="图形 17"/>
          <p:cNvSpPr/>
          <p:nvPr>
            <p:custDataLst>
              <p:tags r:id="rId16"/>
            </p:custDataLst>
          </p:nvPr>
        </p:nvSpPr>
        <p:spPr>
          <a:xfrm>
            <a:off x="1162734" y="4086731"/>
            <a:ext cx="1199027" cy="1102067"/>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noFill/>
          <a:ln w="12700" cap="flat">
            <a:solidFill>
              <a:schemeClr val="tx2">
                <a:lumMod val="50000"/>
                <a:lumOff val="50000"/>
                <a:alpha val="2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sz="1800">
              <a:solidFill>
                <a:schemeClr val="tx1"/>
              </a:solidFill>
            </a:endParaRPr>
          </a:p>
        </p:txBody>
      </p:sp>
      <p:sp>
        <p:nvSpPr>
          <p:cNvPr id="21" name="图形 17"/>
          <p:cNvSpPr>
            <a:spLocks noChangeAspect="1"/>
          </p:cNvSpPr>
          <p:nvPr>
            <p:custDataLst>
              <p:tags r:id="rId17"/>
            </p:custDataLst>
          </p:nvPr>
        </p:nvSpPr>
        <p:spPr>
          <a:xfrm>
            <a:off x="1623445" y="3004900"/>
            <a:ext cx="2099637" cy="1929849"/>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gradFill>
            <a:gsLst>
              <a:gs pos="50000">
                <a:srgbClr val="3474CB"/>
              </a:gs>
              <a:gs pos="0">
                <a:srgbClr val="03BEC1"/>
              </a:gs>
              <a:gs pos="100000">
                <a:srgbClr val="8E52DF"/>
              </a:gs>
            </a:gsLst>
            <a:lin ang="5400000" scaled="1"/>
          </a:gradFill>
          <a:ln w="9525" cap="flat">
            <a:noFill/>
            <a:prstDash val="solid"/>
            <a:miter/>
          </a:ln>
          <a:effectLst>
            <a:outerShdw blurRad="127000" dist="127000" dir="7200000" sx="101000" sy="101000" algn="tr" rotWithShape="0">
              <a:schemeClr val="accent1">
                <a:alpha val="20000"/>
              </a:schemeClr>
            </a:outerShdw>
          </a:effectLst>
        </p:spPr>
        <p:txBody>
          <a:bodyPr rtlCol="0" anchor="ctr"/>
          <a:p>
            <a:endParaRPr lang="zh-CN" altLang="en-US" sz="1800">
              <a:solidFill>
                <a:schemeClr val="tx1"/>
              </a:solidFill>
            </a:endParaRPr>
          </a:p>
        </p:txBody>
      </p:sp>
      <p:sp>
        <p:nvSpPr>
          <p:cNvPr id="22" name="图形 17"/>
          <p:cNvSpPr>
            <a:spLocks noChangeAspect="1"/>
          </p:cNvSpPr>
          <p:nvPr>
            <p:custDataLst>
              <p:tags r:id="rId18"/>
            </p:custDataLst>
          </p:nvPr>
        </p:nvSpPr>
        <p:spPr>
          <a:xfrm>
            <a:off x="5361827" y="3661926"/>
            <a:ext cx="2103628" cy="1903413"/>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gradFill>
            <a:gsLst>
              <a:gs pos="25000">
                <a:srgbClr val="FFD83A"/>
              </a:gs>
              <a:gs pos="75000">
                <a:srgbClr val="FFFD6D"/>
              </a:gs>
              <a:gs pos="0">
                <a:srgbClr val="F8C334"/>
              </a:gs>
              <a:gs pos="100000">
                <a:srgbClr val="FFFEB8"/>
              </a:gs>
            </a:gsLst>
            <a:lin ang="18900000" scaled="1"/>
          </a:gradFill>
          <a:ln w="9525" cap="flat">
            <a:noFill/>
            <a:prstDash val="solid"/>
            <a:miter/>
          </a:ln>
          <a:effectLst>
            <a:outerShdw blurRad="127000" dist="127000" dir="7200000" sx="101000" sy="101000" algn="tr" rotWithShape="0">
              <a:schemeClr val="accent3">
                <a:alpha val="20000"/>
              </a:schemeClr>
            </a:outerShdw>
          </a:effectLst>
        </p:spPr>
        <p:txBody>
          <a:bodyPr rtlCol="0" anchor="ctr">
            <a:noAutofit/>
          </a:bodyPr>
          <a:p>
            <a:pPr lvl="0" algn="l">
              <a:buClrTx/>
              <a:buSzTx/>
              <a:buFontTx/>
            </a:pPr>
            <a:endParaRPr lang="zh-CN" altLang="en-US" sz="1800">
              <a:solidFill>
                <a:schemeClr val="tx1"/>
              </a:solidFill>
              <a:sym typeface="+mn-ea"/>
            </a:endParaRPr>
          </a:p>
        </p:txBody>
      </p:sp>
      <p:pic>
        <p:nvPicPr>
          <p:cNvPr id="23" name="图片 3" descr="拼图"/>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rot="16200000">
            <a:off x="2461864" y="3493589"/>
            <a:ext cx="422981" cy="422981"/>
          </a:xfrm>
          <a:prstGeom prst="rect">
            <a:avLst/>
          </a:prstGeom>
        </p:spPr>
      </p:pic>
      <p:sp>
        <p:nvSpPr>
          <p:cNvPr id="24" name="标题"/>
          <p:cNvSpPr txBox="1"/>
          <p:nvPr>
            <p:custDataLst>
              <p:tags r:id="rId22"/>
            </p:custDataLst>
          </p:nvPr>
        </p:nvSpPr>
        <p:spPr>
          <a:xfrm>
            <a:off x="1949393" y="3986009"/>
            <a:ext cx="1447883" cy="687344"/>
          </a:xfrm>
          <a:prstGeom prst="rect">
            <a:avLst/>
          </a:prstGeom>
          <a:noFill/>
        </p:spPr>
        <p:txBody>
          <a:bodyPr wrap="square" lIns="0" tIns="0" rIns="0" bIns="0" rtlCol="0" anchor="t" anchorCtr="0">
            <a:normAutofit/>
          </a:bodyPr>
          <a:p>
            <a:pPr algn="ctr"/>
            <a:r>
              <a:rPr lang="zh-CN" altLang="en-US" sz="3200" b="1" spc="300" dirty="0">
                <a:solidFill>
                  <a:srgbClr val="FFFFFF"/>
                </a:solidFill>
                <a:latin typeface="+mn-ea"/>
              </a:rPr>
              <a:t>萃取</a:t>
            </a:r>
            <a:endParaRPr lang="zh-CN" altLang="en-US" sz="3200" b="1" spc="300" dirty="0">
              <a:solidFill>
                <a:srgbClr val="FFFFFF"/>
              </a:solidFill>
              <a:latin typeface="+mn-ea"/>
            </a:endParaRPr>
          </a:p>
        </p:txBody>
      </p:sp>
      <p:sp>
        <p:nvSpPr>
          <p:cNvPr id="26" name="标题"/>
          <p:cNvSpPr txBox="1"/>
          <p:nvPr>
            <p:custDataLst>
              <p:tags r:id="rId23"/>
            </p:custDataLst>
          </p:nvPr>
        </p:nvSpPr>
        <p:spPr>
          <a:xfrm>
            <a:off x="5603374" y="4564230"/>
            <a:ext cx="1620416" cy="687344"/>
          </a:xfrm>
          <a:prstGeom prst="rect">
            <a:avLst/>
          </a:prstGeom>
          <a:noFill/>
        </p:spPr>
        <p:txBody>
          <a:bodyPr wrap="square" lIns="0" tIns="0" rIns="0" bIns="0" rtlCol="0" anchor="t" anchorCtr="0">
            <a:normAutofit/>
          </a:bodyPr>
          <a:p>
            <a:pPr algn="ctr"/>
            <a:r>
              <a:rPr lang="zh-CN" altLang="zh-CN" sz="3200" b="1" spc="300" dirty="0">
                <a:solidFill>
                  <a:srgbClr val="0070C0"/>
                </a:solidFill>
                <a:latin typeface="+mn-ea"/>
                <a:sym typeface="+mn-ea"/>
              </a:rPr>
              <a:t>增强</a:t>
            </a:r>
            <a:endParaRPr lang="zh-CN" altLang="zh-CN" sz="3200" b="1" spc="300" dirty="0">
              <a:solidFill>
                <a:srgbClr val="0070C0"/>
              </a:solidFill>
              <a:latin typeface="+mn-ea"/>
              <a:sym typeface="+mn-ea"/>
            </a:endParaRPr>
          </a:p>
        </p:txBody>
      </p:sp>
      <p:sp>
        <p:nvSpPr>
          <p:cNvPr id="27" name="图形 17"/>
          <p:cNvSpPr>
            <a:spLocks noChangeAspect="1"/>
          </p:cNvSpPr>
          <p:nvPr>
            <p:custDataLst>
              <p:tags r:id="rId24"/>
            </p:custDataLst>
          </p:nvPr>
        </p:nvSpPr>
        <p:spPr>
          <a:xfrm>
            <a:off x="3585664" y="2005138"/>
            <a:ext cx="2045058" cy="1850540"/>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gradFill>
            <a:gsLst>
              <a:gs pos="0">
                <a:srgbClr val="CFF9AE"/>
              </a:gs>
              <a:gs pos="90000">
                <a:srgbClr val="49E7CE"/>
              </a:gs>
            </a:gsLst>
            <a:path path="circle">
              <a:fillToRect l="100000" t="100000"/>
            </a:path>
            <a:tileRect r="-100000" b="-100000"/>
          </a:gradFill>
          <a:ln w="9525" cap="flat">
            <a:noFill/>
            <a:prstDash val="solid"/>
            <a:miter/>
          </a:ln>
          <a:effectLst>
            <a:outerShdw blurRad="127000" dist="127000" dir="7200000" sx="101000" sy="101000" algn="tr" rotWithShape="0">
              <a:schemeClr val="accent2">
                <a:alpha val="20000"/>
              </a:schemeClr>
            </a:outerShdw>
          </a:effectLst>
        </p:spPr>
        <p:txBody>
          <a:bodyPr rtlCol="0" anchor="ctr">
            <a:noAutofit/>
          </a:bodyPr>
          <a:p>
            <a:pPr lvl="0" algn="l">
              <a:buClrTx/>
              <a:buSzTx/>
              <a:buFontTx/>
            </a:pPr>
            <a:endParaRPr lang="zh-CN" altLang="en-US" sz="1800">
              <a:solidFill>
                <a:schemeClr val="tx1"/>
              </a:solidFill>
              <a:sym typeface="+mn-ea"/>
            </a:endParaRPr>
          </a:p>
        </p:txBody>
      </p:sp>
      <p:pic>
        <p:nvPicPr>
          <p:cNvPr id="28" name="图片 8" descr="设置"/>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4449730" y="2418286"/>
            <a:ext cx="317089" cy="317089"/>
          </a:xfrm>
          <a:prstGeom prst="rect">
            <a:avLst/>
          </a:prstGeom>
        </p:spPr>
      </p:pic>
      <p:sp>
        <p:nvSpPr>
          <p:cNvPr id="29" name="标题"/>
          <p:cNvSpPr txBox="1"/>
          <p:nvPr>
            <p:custDataLst>
              <p:tags r:id="rId28"/>
            </p:custDataLst>
          </p:nvPr>
        </p:nvSpPr>
        <p:spPr>
          <a:xfrm>
            <a:off x="3835138" y="2893452"/>
            <a:ext cx="1546273" cy="687344"/>
          </a:xfrm>
          <a:prstGeom prst="rect">
            <a:avLst/>
          </a:prstGeom>
          <a:noFill/>
        </p:spPr>
        <p:txBody>
          <a:bodyPr wrap="square" lIns="0" tIns="0" rIns="0" bIns="0" rtlCol="0" anchor="t" anchorCtr="0">
            <a:normAutofit/>
          </a:bodyPr>
          <a:p>
            <a:pPr algn="ctr"/>
            <a:r>
              <a:rPr lang="zh-CN" altLang="en-US" sz="3200" b="1" spc="300" dirty="0">
                <a:solidFill>
                  <a:srgbClr val="FFFFFF"/>
                </a:solidFill>
                <a:latin typeface="+mn-ea"/>
              </a:rPr>
              <a:t>蒸馏</a:t>
            </a:r>
            <a:endParaRPr lang="zh-CN" altLang="en-US" sz="3200" b="1" spc="300" dirty="0">
              <a:solidFill>
                <a:srgbClr val="FFFFFF"/>
              </a:solidFill>
              <a:latin typeface="+mn-ea"/>
            </a:endParaRPr>
          </a:p>
        </p:txBody>
      </p:sp>
      <p:sp>
        <p:nvSpPr>
          <p:cNvPr id="30" name="图形 17"/>
          <p:cNvSpPr>
            <a:spLocks noChangeAspect="1"/>
          </p:cNvSpPr>
          <p:nvPr>
            <p:custDataLst>
              <p:tags r:id="rId29"/>
            </p:custDataLst>
          </p:nvPr>
        </p:nvSpPr>
        <p:spPr>
          <a:xfrm>
            <a:off x="3483543" y="1903483"/>
            <a:ext cx="2249114" cy="2035595"/>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noFill/>
          <a:ln w="9525" cap="flat">
            <a:solidFill>
              <a:schemeClr val="tx2">
                <a:lumMod val="50000"/>
                <a:lumOff val="50000"/>
                <a:alpha val="15000"/>
              </a:schemeClr>
            </a:solidFill>
            <a:prstDash val="solid"/>
            <a:miter/>
          </a:ln>
        </p:spPr>
        <p:txBody>
          <a:bodyPr rtlCol="0" anchor="ctr">
            <a:noAutofit/>
          </a:bodyPr>
          <a:p>
            <a:pPr lvl="0" algn="l">
              <a:buClrTx/>
              <a:buSzTx/>
              <a:buFontTx/>
            </a:pPr>
            <a:endParaRPr lang="zh-CN" altLang="en-US" sz="1800">
              <a:solidFill>
                <a:schemeClr val="tx1"/>
              </a:solidFill>
              <a:sym typeface="+mn-ea"/>
            </a:endParaRPr>
          </a:p>
        </p:txBody>
      </p:sp>
      <p:sp>
        <p:nvSpPr>
          <p:cNvPr id="31" name="图形 17"/>
          <p:cNvSpPr/>
          <p:nvPr>
            <p:custDataLst>
              <p:tags r:id="rId30"/>
            </p:custDataLst>
          </p:nvPr>
        </p:nvSpPr>
        <p:spPr>
          <a:xfrm>
            <a:off x="6292109" y="2884592"/>
            <a:ext cx="621121" cy="571226"/>
          </a:xfrm>
          <a:custGeom>
            <a:avLst/>
            <a:gdLst>
              <a:gd name="connsiteX0" fmla="*/ 1029010 w 1471843"/>
              <a:gd name="connsiteY0" fmla="*/ -1130 h 1314537"/>
              <a:gd name="connsiteX1" fmla="*/ 1157886 w 1471843"/>
              <a:gd name="connsiteY1" fmla="*/ 73276 h 1314537"/>
              <a:gd name="connsiteX2" fmla="*/ 1451441 w 1471843"/>
              <a:gd name="connsiteY2" fmla="*/ 581732 h 1314537"/>
              <a:gd name="connsiteX3" fmla="*/ 1451441 w 1471843"/>
              <a:gd name="connsiteY3" fmla="*/ 730545 h 1314537"/>
              <a:gd name="connsiteX4" fmla="*/ 1157886 w 1471843"/>
              <a:gd name="connsiteY4" fmla="*/ 1239001 h 1314537"/>
              <a:gd name="connsiteX5" fmla="*/ 1029010 w 1471843"/>
              <a:gd name="connsiteY5" fmla="*/ 1313407 h 1314537"/>
              <a:gd name="connsiteX6" fmla="*/ 441900 w 1471843"/>
              <a:gd name="connsiteY6" fmla="*/ 1313407 h 1314537"/>
              <a:gd name="connsiteX7" fmla="*/ 313025 w 1471843"/>
              <a:gd name="connsiteY7" fmla="*/ 1239001 h 1314537"/>
              <a:gd name="connsiteX8" fmla="*/ 19470 w 1471843"/>
              <a:gd name="connsiteY8" fmla="*/ 730545 h 1314537"/>
              <a:gd name="connsiteX9" fmla="*/ 19470 w 1471843"/>
              <a:gd name="connsiteY9" fmla="*/ 581732 h 1314537"/>
              <a:gd name="connsiteX10" fmla="*/ 313025 w 1471843"/>
              <a:gd name="connsiteY10" fmla="*/ 73276 h 1314537"/>
              <a:gd name="connsiteX11" fmla="*/ 441900 w 1471843"/>
              <a:gd name="connsiteY11" fmla="*/ -1130 h 1314537"/>
              <a:gd name="connsiteX12" fmla="*/ 1029010 w 1471843"/>
              <a:gd name="connsiteY12" fmla="*/ -1130 h 1314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1843" h="1314537">
                <a:moveTo>
                  <a:pt x="1029010" y="-1130"/>
                </a:moveTo>
                <a:cubicBezTo>
                  <a:pt x="1082178" y="-1130"/>
                  <a:pt x="1131308" y="27218"/>
                  <a:pt x="1157886" y="73276"/>
                </a:cubicBezTo>
                <a:lnTo>
                  <a:pt x="1451441" y="581732"/>
                </a:lnTo>
                <a:cubicBezTo>
                  <a:pt x="1478023" y="627790"/>
                  <a:pt x="1478023" y="684487"/>
                  <a:pt x="1451441" y="730545"/>
                </a:cubicBezTo>
                <a:lnTo>
                  <a:pt x="1157886" y="1239001"/>
                </a:lnTo>
                <a:cubicBezTo>
                  <a:pt x="1131308" y="1285058"/>
                  <a:pt x="1082178" y="1313407"/>
                  <a:pt x="1029010" y="1313407"/>
                </a:cubicBezTo>
                <a:lnTo>
                  <a:pt x="441900" y="1313407"/>
                </a:lnTo>
                <a:cubicBezTo>
                  <a:pt x="388733" y="1313407"/>
                  <a:pt x="339603" y="1285058"/>
                  <a:pt x="313025" y="1239001"/>
                </a:cubicBezTo>
                <a:lnTo>
                  <a:pt x="19470" y="730545"/>
                </a:lnTo>
                <a:cubicBezTo>
                  <a:pt x="-7112" y="684487"/>
                  <a:pt x="-7112" y="627790"/>
                  <a:pt x="19470" y="581732"/>
                </a:cubicBezTo>
                <a:lnTo>
                  <a:pt x="313025" y="73276"/>
                </a:lnTo>
                <a:cubicBezTo>
                  <a:pt x="339603" y="27218"/>
                  <a:pt x="388733" y="-1130"/>
                  <a:pt x="441900" y="-1130"/>
                </a:cubicBezTo>
                <a:lnTo>
                  <a:pt x="1029010" y="-1130"/>
                </a:lnTo>
                <a:close/>
              </a:path>
            </a:pathLst>
          </a:custGeom>
          <a:noFill/>
          <a:ln w="9525" cap="flat">
            <a:solidFill>
              <a:schemeClr val="tx2">
                <a:lumMod val="50000"/>
                <a:lumOff val="50000"/>
                <a:alpha val="1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sz="1800">
              <a:solidFill>
                <a:schemeClr val="tx1"/>
              </a:solidFill>
            </a:endParaRPr>
          </a:p>
        </p:txBody>
      </p:sp>
      <p:pic>
        <p:nvPicPr>
          <p:cNvPr id="32" name="图片 42" descr="作业批改"/>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tretch>
            <a:fillRect/>
          </a:stretch>
        </p:blipFill>
        <p:spPr>
          <a:xfrm>
            <a:off x="6254804" y="4086731"/>
            <a:ext cx="317236" cy="317236"/>
          </a:xfrm>
          <a:prstGeom prst="rect">
            <a:avLst/>
          </a:prstGeom>
        </p:spPr>
      </p:pic>
    </p:spTree>
    <p:custDataLst>
      <p:tags r:id="rId34"/>
    </p:custData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灯片编号占位符 1"/>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146" name="Rectangle 4"/>
          <p:cNvSpPr/>
          <p:nvPr/>
        </p:nvSpPr>
        <p:spPr>
          <a:xfrm>
            <a:off x="0" y="0"/>
            <a:ext cx="9144000" cy="765175"/>
          </a:xfrm>
          <a:prstGeom prst="rect">
            <a:avLst/>
          </a:prstGeom>
          <a:solidFill>
            <a:srgbClr val="A50021"/>
          </a:solidFill>
          <a:ln w="9525">
            <a:noFill/>
          </a:ln>
        </p:spPr>
        <p:txBody>
          <a:bodyPr anchor="b" anchorCtr="0"/>
          <a:p>
            <a:pPr indent="176530">
              <a:buClrTx/>
              <a:buFontTx/>
              <a:buNone/>
            </a:pPr>
            <a:r>
              <a:rPr lang="zh-CN" altLang="en-US" sz="3600" dirty="0">
                <a:solidFill>
                  <a:schemeClr val="bg1"/>
                </a:solidFill>
                <a:latin typeface="Times New Roman" panose="02020503050405090304" pitchFamily="18" charset="0"/>
                <a:ea typeface="黑体" panose="02010609060101010101" pitchFamily="49" charset="-122"/>
              </a:rPr>
              <a:t>第</a:t>
            </a:r>
            <a:r>
              <a:rPr lang="en-US" altLang="zh-CN" sz="3600" dirty="0">
                <a:solidFill>
                  <a:schemeClr val="bg1"/>
                </a:solidFill>
                <a:latin typeface="Times New Roman" panose="02020503050405090304" pitchFamily="18" charset="0"/>
                <a:ea typeface="黑体" panose="02010609060101010101" pitchFamily="49" charset="-122"/>
              </a:rPr>
              <a:t>2</a:t>
            </a:r>
            <a:r>
              <a:rPr lang="zh-CN" altLang="en-US" sz="3600" dirty="0">
                <a:solidFill>
                  <a:schemeClr val="bg1"/>
                </a:solidFill>
                <a:latin typeface="Times New Roman" panose="02020503050405090304" pitchFamily="18" charset="0"/>
                <a:ea typeface="黑体" panose="02010609060101010101" pitchFamily="49" charset="-122"/>
              </a:rPr>
              <a:t>章  知识表示与知识图谱</a:t>
            </a:r>
            <a:endParaRPr lang="zh-CN" altLang="en-US" sz="3600" dirty="0">
              <a:solidFill>
                <a:schemeClr val="bg1"/>
              </a:solidFill>
              <a:latin typeface="Times New Roman" panose="02020503050405090304" pitchFamily="18" charset="0"/>
              <a:ea typeface="黑体" panose="02010609060101010101" pitchFamily="49" charset="-122"/>
            </a:endParaRPr>
          </a:p>
        </p:txBody>
      </p:sp>
      <p:sp>
        <p:nvSpPr>
          <p:cNvPr id="6147" name="Rectangle 5"/>
          <p:cNvSpPr/>
          <p:nvPr/>
        </p:nvSpPr>
        <p:spPr>
          <a:xfrm>
            <a:off x="507365" y="1882775"/>
            <a:ext cx="7929880" cy="4440555"/>
          </a:xfrm>
          <a:prstGeom prst="rect">
            <a:avLst/>
          </a:prstGeom>
          <a:noFill/>
          <a:ln w="9525">
            <a:noFill/>
          </a:ln>
        </p:spPr>
        <p:txBody>
          <a:bodyPr anchor="t" anchorCtr="0"/>
          <a:p>
            <a:pPr marL="469900" indent="-469900">
              <a:lnSpc>
                <a:spcPct val="120000"/>
              </a:lnSpc>
              <a:spcBef>
                <a:spcPct val="20000"/>
              </a:spcBef>
              <a:buClr>
                <a:schemeClr val="accent2"/>
              </a:buClr>
              <a:buFont typeface="Wingdings" panose="05000000000000000000" pitchFamily="2" charset="2"/>
              <a:buChar char="•"/>
            </a:pPr>
            <a:r>
              <a:rPr lang="zh-CN" altLang="en-US" sz="2800" b="1" dirty="0">
                <a:latin typeface="Times New Roman" panose="02020503050405090304" pitchFamily="18" charset="0"/>
                <a:ea typeface="宋体" pitchFamily="2" charset="-122"/>
              </a:rPr>
              <a:t>人类的智能活动主要是获得并运用知识。知识是智能的基础。为了使计算机具有智能，能模拟人类的智能行为，就必须使它具有知识。但知识需要用适当的模式表示出来才能存储到计算机中去，因此，知识的表示成为人工智能中一个十分重要的研究课题。</a:t>
            </a:r>
            <a:endParaRPr lang="zh-CN" altLang="en-US" sz="2800" b="1" dirty="0">
              <a:latin typeface="Times New Roman" panose="02020503050405090304" pitchFamily="18" charset="0"/>
              <a:ea typeface="宋体" pitchFamily="2" charset="-122"/>
            </a:endParaRPr>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灯片编号占位符 1"/>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146" name="Rectangle 4"/>
          <p:cNvSpPr/>
          <p:nvPr/>
        </p:nvSpPr>
        <p:spPr>
          <a:xfrm>
            <a:off x="0" y="0"/>
            <a:ext cx="9144000" cy="765175"/>
          </a:xfrm>
          <a:prstGeom prst="rect">
            <a:avLst/>
          </a:prstGeom>
          <a:solidFill>
            <a:srgbClr val="A50021"/>
          </a:solidFill>
          <a:ln w="9525">
            <a:noFill/>
          </a:ln>
        </p:spPr>
        <p:txBody>
          <a:bodyPr anchor="b" anchorCtr="0"/>
          <a:p>
            <a:pPr indent="176530">
              <a:buClrTx/>
              <a:buFontTx/>
              <a:buNone/>
            </a:pPr>
            <a:r>
              <a:rPr lang="zh-CN" altLang="en-US" sz="3600" dirty="0">
                <a:solidFill>
                  <a:schemeClr val="bg1"/>
                </a:solidFill>
                <a:latin typeface="Times New Roman" panose="02020503050405090304" pitchFamily="18" charset="0"/>
                <a:ea typeface="黑体" panose="02010609060101010101" pitchFamily="49" charset="-122"/>
              </a:rPr>
              <a:t>第</a:t>
            </a:r>
            <a:r>
              <a:rPr lang="en-US" altLang="zh-CN" sz="3600" dirty="0">
                <a:solidFill>
                  <a:schemeClr val="bg1"/>
                </a:solidFill>
                <a:latin typeface="Times New Roman" panose="02020503050405090304" pitchFamily="18" charset="0"/>
                <a:ea typeface="黑体" panose="02010609060101010101" pitchFamily="49" charset="-122"/>
              </a:rPr>
              <a:t>2</a:t>
            </a:r>
            <a:r>
              <a:rPr lang="zh-CN" altLang="en-US" sz="3600" dirty="0">
                <a:solidFill>
                  <a:schemeClr val="bg1"/>
                </a:solidFill>
                <a:latin typeface="Times New Roman" panose="02020503050405090304" pitchFamily="18" charset="0"/>
                <a:ea typeface="黑体" panose="02010609060101010101" pitchFamily="49" charset="-122"/>
              </a:rPr>
              <a:t>章  知识表示与知识图谱</a:t>
            </a:r>
            <a:endParaRPr lang="zh-CN" altLang="en-US" sz="3600" dirty="0">
              <a:solidFill>
                <a:schemeClr val="bg1"/>
              </a:solidFill>
              <a:latin typeface="Times New Roman" panose="02020503050405090304" pitchFamily="18" charset="0"/>
              <a:ea typeface="黑体" panose="02010609060101010101" pitchFamily="49" charset="-122"/>
            </a:endParaRPr>
          </a:p>
        </p:txBody>
      </p:sp>
      <p:sp>
        <p:nvSpPr>
          <p:cNvPr id="6147" name="Rectangle 5"/>
          <p:cNvSpPr/>
          <p:nvPr/>
        </p:nvSpPr>
        <p:spPr>
          <a:xfrm>
            <a:off x="227013" y="922338"/>
            <a:ext cx="8642350" cy="5400675"/>
          </a:xfrm>
          <a:prstGeom prst="rect">
            <a:avLst/>
          </a:prstGeom>
          <a:noFill/>
          <a:ln w="9525">
            <a:noFill/>
          </a:ln>
        </p:spPr>
        <p:txBody>
          <a:bodyPr anchor="t" anchorCtr="0"/>
          <a:p>
            <a:pPr marL="469900" indent="-469900">
              <a:lnSpc>
                <a:spcPct val="120000"/>
              </a:lnSpc>
              <a:spcBef>
                <a:spcPct val="20000"/>
              </a:spcBef>
              <a:buClr>
                <a:schemeClr val="accent2"/>
              </a:buClr>
              <a:buFont typeface="Wingdings" panose="05000000000000000000" pitchFamily="2" charset="2"/>
              <a:buChar char="•"/>
            </a:pPr>
            <a:r>
              <a:rPr lang="zh-CN" altLang="en-US" sz="2800" b="1" dirty="0">
                <a:latin typeface="Times New Roman" panose="02020503050405090304" pitchFamily="18" charset="0"/>
                <a:ea typeface="宋体" pitchFamily="2" charset="-122"/>
              </a:rPr>
              <a:t>本章首先介绍知识与知识表示的概念，然后介绍一阶谓词逻辑、产生式、框架、语义网络等当前人工智能中应用广泛的知识表示方法，简要介绍知识图谱，为后面介绍推理方法、专家系统等奠定基础。</a:t>
            </a:r>
            <a:endParaRPr lang="zh-CN" altLang="en-US" sz="2800" b="1" dirty="0">
              <a:latin typeface="Times New Roman" panose="02020503050405090304" pitchFamily="18" charset="0"/>
              <a:ea typeface="宋体" pitchFamily="2" charset="-122"/>
            </a:endParaRP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170" name="Rectangle 2"/>
          <p:cNvSpPr>
            <a:spLocks noGrp="1"/>
          </p:cNvSpPr>
          <p:nvPr>
            <p:ph type="title"/>
          </p:nvPr>
        </p:nvSpPr>
        <p:spPr/>
        <p:txBody>
          <a:bodyPr vert="horz" wrap="square" lIns="91440" tIns="45720" rIns="91440" bIns="45720" anchor="b" anchorCtr="0"/>
          <a:p>
            <a:pPr eaLnBrk="1" hangingPunct="1"/>
            <a:r>
              <a:rPr lang="zh-CN" altLang="en-US" dirty="0">
                <a:latin typeface="Times New Roman" panose="02020503050405090304" pitchFamily="18" charset="0"/>
              </a:rPr>
              <a:t>第</a:t>
            </a:r>
            <a:r>
              <a:rPr lang="en-US" altLang="zh-CN" dirty="0">
                <a:latin typeface="Times New Roman" panose="02020503050405090304" pitchFamily="18" charset="0"/>
              </a:rPr>
              <a:t>2</a:t>
            </a:r>
            <a:r>
              <a:rPr lang="zh-CN" altLang="en-US" dirty="0">
                <a:latin typeface="Times New Roman" panose="02020503050405090304" pitchFamily="18" charset="0"/>
              </a:rPr>
              <a:t>章  知识表示与知识图谱</a:t>
            </a:r>
            <a:endParaRPr lang="zh-CN" altLang="en-US" dirty="0">
              <a:latin typeface="Times New Roman" panose="02020503050405090304" pitchFamily="18" charset="0"/>
            </a:endParaRPr>
          </a:p>
        </p:txBody>
      </p:sp>
      <p:sp>
        <p:nvSpPr>
          <p:cNvPr id="7171" name="Rectangle 3"/>
          <p:cNvSpPr>
            <a:spLocks noGrp="1"/>
          </p:cNvSpPr>
          <p:nvPr>
            <p:ph idx="1"/>
          </p:nvPr>
        </p:nvSpPr>
        <p:spPr>
          <a:xfrm>
            <a:off x="501650" y="908050"/>
            <a:ext cx="8642350" cy="5400675"/>
          </a:xfrm>
        </p:spPr>
        <p:txBody>
          <a:bodyPr vert="horz" wrap="square" lIns="91440" tIns="45720" rIns="91440" bIns="45720" anchor="t" anchorCtr="0"/>
          <a:p>
            <a:pPr eaLnBrk="1" hangingPunct="1">
              <a:lnSpc>
                <a:spcPct val="160000"/>
              </a:lnSpc>
            </a:pPr>
            <a:r>
              <a:rPr lang="en-US" altLang="zh-CN" b="1" dirty="0">
                <a:latin typeface="Times New Roman" panose="02020503050405090304" pitchFamily="18" charset="0"/>
              </a:rPr>
              <a:t>2.1  </a:t>
            </a:r>
            <a:r>
              <a:rPr lang="zh-CN" altLang="en-US" b="1" dirty="0">
                <a:latin typeface="Times New Roman" panose="02020503050405090304" pitchFamily="18" charset="0"/>
              </a:rPr>
              <a:t>知识与知识表示的概念 </a:t>
            </a:r>
            <a:endParaRPr lang="zh-CN" altLang="en-US" b="1" dirty="0">
              <a:latin typeface="Times New Roman" panose="02020503050405090304" pitchFamily="18" charset="0"/>
            </a:endParaRPr>
          </a:p>
          <a:p>
            <a:pPr eaLnBrk="1" hangingPunct="1">
              <a:lnSpc>
                <a:spcPct val="160000"/>
              </a:lnSpc>
            </a:pPr>
            <a:r>
              <a:rPr lang="en-US" altLang="zh-CN" b="1" dirty="0">
                <a:latin typeface="Times New Roman" panose="02020503050405090304" pitchFamily="18" charset="0"/>
              </a:rPr>
              <a:t>2.2  </a:t>
            </a:r>
            <a:r>
              <a:rPr lang="zh-CN" altLang="en-US" b="1" dirty="0">
                <a:latin typeface="Times New Roman" panose="02020503050405090304" pitchFamily="18" charset="0"/>
              </a:rPr>
              <a:t>一阶谓词逻辑表示法 </a:t>
            </a:r>
            <a:endParaRPr lang="zh-CN" altLang="en-US" b="1" dirty="0">
              <a:latin typeface="Times New Roman" panose="02020503050405090304" pitchFamily="18" charset="0"/>
            </a:endParaRPr>
          </a:p>
          <a:p>
            <a:pPr eaLnBrk="1" hangingPunct="1">
              <a:lnSpc>
                <a:spcPct val="160000"/>
              </a:lnSpc>
            </a:pPr>
            <a:r>
              <a:rPr lang="en-US" altLang="zh-CN" b="1" dirty="0">
                <a:latin typeface="Times New Roman" panose="02020503050405090304" pitchFamily="18" charset="0"/>
              </a:rPr>
              <a:t>2.3  </a:t>
            </a:r>
            <a:r>
              <a:rPr lang="zh-CN" altLang="en-US" b="1" dirty="0">
                <a:latin typeface="Times New Roman" panose="02020503050405090304" pitchFamily="18" charset="0"/>
              </a:rPr>
              <a:t>产生式表示法 </a:t>
            </a:r>
            <a:endParaRPr lang="zh-CN" altLang="en-US" b="1" dirty="0">
              <a:latin typeface="Times New Roman" panose="02020503050405090304" pitchFamily="18" charset="0"/>
            </a:endParaRPr>
          </a:p>
          <a:p>
            <a:pPr eaLnBrk="1" hangingPunct="1">
              <a:lnSpc>
                <a:spcPct val="160000"/>
              </a:lnSpc>
            </a:pPr>
            <a:r>
              <a:rPr lang="en-US" altLang="zh-CN" b="1" dirty="0">
                <a:latin typeface="Times New Roman" panose="02020503050405090304" pitchFamily="18" charset="0"/>
              </a:rPr>
              <a:t>2.4  </a:t>
            </a:r>
            <a:r>
              <a:rPr lang="zh-CN" altLang="en-US" b="1" dirty="0">
                <a:latin typeface="Times New Roman" panose="02020503050405090304" pitchFamily="18" charset="0"/>
              </a:rPr>
              <a:t>框架表示法</a:t>
            </a:r>
            <a:endParaRPr lang="en-US" altLang="zh-CN" b="1" dirty="0">
              <a:latin typeface="Times New Roman" panose="02020503050405090304" pitchFamily="18" charset="0"/>
            </a:endParaRPr>
          </a:p>
          <a:p>
            <a:pPr eaLnBrk="1" hangingPunct="1">
              <a:lnSpc>
                <a:spcPct val="160000"/>
              </a:lnSpc>
            </a:pPr>
            <a:r>
              <a:rPr lang="en-US" altLang="zh-CN" b="1" dirty="0">
                <a:latin typeface="Times New Roman" panose="02020503050405090304" pitchFamily="18" charset="0"/>
              </a:rPr>
              <a:t>2.5  </a:t>
            </a:r>
            <a:r>
              <a:rPr lang="zh-CN" altLang="en-US" b="1" dirty="0">
                <a:latin typeface="Times New Roman" panose="02020503050405090304" pitchFamily="18" charset="0"/>
              </a:rPr>
              <a:t>知识图谱 </a:t>
            </a:r>
            <a:endParaRPr lang="zh-CN" altLang="en-US" b="1" dirty="0">
              <a:latin typeface="Times New Roman" panose="02020503050405090304" pitchFamily="18" charset="0"/>
            </a:endParaRP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8194" name="Rectangle 2"/>
          <p:cNvSpPr>
            <a:spLocks noGrp="1"/>
          </p:cNvSpPr>
          <p:nvPr>
            <p:ph type="title"/>
          </p:nvPr>
        </p:nvSpPr>
        <p:spPr/>
        <p:txBody>
          <a:bodyPr vert="horz" wrap="square" lIns="91440" tIns="45720" rIns="91440" bIns="45720" anchor="b" anchorCtr="0"/>
          <a:p>
            <a:pPr eaLnBrk="1" hangingPunct="1"/>
            <a:r>
              <a:rPr lang="zh-CN" altLang="en-US" dirty="0">
                <a:latin typeface="Times New Roman" panose="02020503050405090304" pitchFamily="18" charset="0"/>
              </a:rPr>
              <a:t>第</a:t>
            </a:r>
            <a:r>
              <a:rPr lang="en-US" altLang="zh-CN" dirty="0">
                <a:latin typeface="Times New Roman" panose="02020503050405090304" pitchFamily="18" charset="0"/>
              </a:rPr>
              <a:t>2</a:t>
            </a:r>
            <a:r>
              <a:rPr lang="zh-CN" altLang="en-US" dirty="0">
                <a:latin typeface="Times New Roman" panose="02020503050405090304" pitchFamily="18" charset="0"/>
              </a:rPr>
              <a:t>章  知识表示与知识图谱</a:t>
            </a:r>
            <a:endParaRPr lang="zh-CN" altLang="en-US" dirty="0">
              <a:latin typeface="Times New Roman" panose="02020503050405090304" pitchFamily="18" charset="0"/>
            </a:endParaRPr>
          </a:p>
        </p:txBody>
      </p:sp>
      <p:sp>
        <p:nvSpPr>
          <p:cNvPr id="8195" name="Rectangle 3"/>
          <p:cNvSpPr>
            <a:spLocks noGrp="1"/>
          </p:cNvSpPr>
          <p:nvPr>
            <p:ph idx="1"/>
          </p:nvPr>
        </p:nvSpPr>
        <p:spPr>
          <a:xfrm>
            <a:off x="511175" y="922338"/>
            <a:ext cx="8382000" cy="5400675"/>
          </a:xfrm>
        </p:spPr>
        <p:txBody>
          <a:bodyPr vert="horz" wrap="square" lIns="91440" tIns="45720" rIns="91440" bIns="45720" anchor="t" anchorCtr="0"/>
          <a:p>
            <a:pPr eaLnBrk="1" hangingPunct="1">
              <a:lnSpc>
                <a:spcPct val="160000"/>
              </a:lnSpc>
              <a:buClr>
                <a:srgbClr val="0000FF"/>
              </a:buClr>
              <a:buSzPct val="150000"/>
              <a:buFont typeface="Wingdings" panose="05000000000000000000" pitchFamily="2" charset="2"/>
              <a:buChar char="ü"/>
            </a:pPr>
            <a:r>
              <a:rPr lang="en-US" altLang="zh-CN" b="1" dirty="0">
                <a:solidFill>
                  <a:srgbClr val="0000FF"/>
                </a:solidFill>
                <a:latin typeface="Times New Roman" panose="02020503050405090304" pitchFamily="18" charset="0"/>
              </a:rPr>
              <a:t>2.1  </a:t>
            </a:r>
            <a:r>
              <a:rPr lang="zh-CN" altLang="en-US" b="1" dirty="0">
                <a:solidFill>
                  <a:srgbClr val="0000FF"/>
                </a:solidFill>
                <a:latin typeface="Times New Roman" panose="02020503050405090304" pitchFamily="18" charset="0"/>
              </a:rPr>
              <a:t>知识与知识表示的概念</a:t>
            </a:r>
            <a:r>
              <a:rPr lang="zh-CN" altLang="en-US" b="1" dirty="0">
                <a:latin typeface="Times New Roman" panose="02020503050405090304" pitchFamily="18" charset="0"/>
              </a:rPr>
              <a:t> </a:t>
            </a:r>
            <a:endParaRPr lang="zh-CN" altLang="en-US" b="1" dirty="0">
              <a:latin typeface="Times New Roman" panose="02020503050405090304" pitchFamily="18" charset="0"/>
            </a:endParaRPr>
          </a:p>
          <a:p>
            <a:pPr eaLnBrk="1" hangingPunct="1">
              <a:lnSpc>
                <a:spcPct val="160000"/>
              </a:lnSpc>
            </a:pPr>
            <a:r>
              <a:rPr lang="en-US" altLang="zh-CN" b="1" dirty="0">
                <a:latin typeface="Times New Roman" panose="02020503050405090304" pitchFamily="18" charset="0"/>
              </a:rPr>
              <a:t>2.2  </a:t>
            </a:r>
            <a:r>
              <a:rPr lang="zh-CN" altLang="en-US" b="1" dirty="0">
                <a:latin typeface="Times New Roman" panose="02020503050405090304" pitchFamily="18" charset="0"/>
              </a:rPr>
              <a:t>一阶谓词逻辑表示法 </a:t>
            </a:r>
            <a:endParaRPr lang="zh-CN" altLang="en-US" b="1" dirty="0">
              <a:latin typeface="Times New Roman" panose="02020503050405090304" pitchFamily="18" charset="0"/>
            </a:endParaRPr>
          </a:p>
          <a:p>
            <a:pPr eaLnBrk="1" hangingPunct="1">
              <a:lnSpc>
                <a:spcPct val="160000"/>
              </a:lnSpc>
            </a:pPr>
            <a:r>
              <a:rPr lang="en-US" altLang="zh-CN" b="1" dirty="0">
                <a:latin typeface="Times New Roman" panose="02020503050405090304" pitchFamily="18" charset="0"/>
              </a:rPr>
              <a:t>2.3  </a:t>
            </a:r>
            <a:r>
              <a:rPr lang="zh-CN" altLang="en-US" b="1" dirty="0">
                <a:latin typeface="Times New Roman" panose="02020503050405090304" pitchFamily="18" charset="0"/>
              </a:rPr>
              <a:t>产生式表示法 </a:t>
            </a:r>
            <a:endParaRPr lang="zh-CN" altLang="en-US" b="1" dirty="0">
              <a:latin typeface="Times New Roman" panose="02020503050405090304" pitchFamily="18" charset="0"/>
            </a:endParaRPr>
          </a:p>
          <a:p>
            <a:pPr eaLnBrk="1" hangingPunct="1">
              <a:lnSpc>
                <a:spcPct val="160000"/>
              </a:lnSpc>
            </a:pPr>
            <a:r>
              <a:rPr lang="en-US" altLang="zh-CN" b="1" dirty="0">
                <a:latin typeface="Times New Roman" panose="02020503050405090304" pitchFamily="18" charset="0"/>
              </a:rPr>
              <a:t>2.4  </a:t>
            </a:r>
            <a:r>
              <a:rPr lang="zh-CN" altLang="en-US" b="1" dirty="0">
                <a:latin typeface="Times New Roman" panose="02020503050405090304" pitchFamily="18" charset="0"/>
              </a:rPr>
              <a:t>框架表示法</a:t>
            </a:r>
            <a:endParaRPr lang="en-US" altLang="zh-CN" b="1" dirty="0">
              <a:latin typeface="Times New Roman" panose="02020503050405090304" pitchFamily="18" charset="0"/>
            </a:endParaRPr>
          </a:p>
          <a:p>
            <a:pPr eaLnBrk="1" hangingPunct="1">
              <a:lnSpc>
                <a:spcPct val="160000"/>
              </a:lnSpc>
            </a:pPr>
            <a:r>
              <a:rPr lang="en-US" altLang="zh-CN" b="1" dirty="0">
                <a:latin typeface="Times New Roman" panose="02020503050405090304" pitchFamily="18" charset="0"/>
              </a:rPr>
              <a:t>2.5  </a:t>
            </a:r>
            <a:r>
              <a:rPr lang="zh-CN" altLang="en-US" b="1" dirty="0">
                <a:latin typeface="Times New Roman" panose="02020503050405090304" pitchFamily="18" charset="0"/>
              </a:rPr>
              <a:t>知识图谱 </a:t>
            </a:r>
            <a:endParaRPr lang="zh-CN" altLang="en-US" b="1" dirty="0">
              <a:latin typeface="Times New Roman" panose="02020503050405090304" pitchFamily="18"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9218"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2.1.1  </a:t>
            </a:r>
            <a:r>
              <a:rPr lang="zh-CN" altLang="en-US" dirty="0">
                <a:latin typeface="Times New Roman" panose="02020503050405090304" pitchFamily="18" charset="0"/>
              </a:rPr>
              <a:t>知识的概念</a:t>
            </a:r>
            <a:endParaRPr lang="zh-CN" altLang="en-US" dirty="0">
              <a:latin typeface="Times New Roman" panose="02020503050405090304" pitchFamily="18" charset="0"/>
            </a:endParaRPr>
          </a:p>
        </p:txBody>
      </p:sp>
      <p:sp>
        <p:nvSpPr>
          <p:cNvPr id="7171" name="Rectangle 3"/>
          <p:cNvSpPr>
            <a:spLocks noGrp="1"/>
          </p:cNvSpPr>
          <p:nvPr>
            <p:ph idx="1"/>
          </p:nvPr>
        </p:nvSpPr>
        <p:spPr/>
        <p:txBody>
          <a:bodyPr vert="horz" wrap="square" lIns="91440" tIns="45720" rIns="91440" bIns="45720" anchor="t" anchorCtr="0"/>
          <a:p>
            <a:pPr eaLnBrk="1" hangingPunct="1">
              <a:spcBef>
                <a:spcPct val="40000"/>
              </a:spcBef>
            </a:pPr>
            <a:r>
              <a:rPr lang="zh-CN" altLang="en-US" sz="2600" b="1" dirty="0"/>
              <a:t>知识：在长期的生活及社会实践中、在科学研究及实验中积累起来的对客观世界的认识与经验。</a:t>
            </a:r>
            <a:endParaRPr lang="zh-CN" altLang="en-US" sz="2600" b="1" dirty="0"/>
          </a:p>
          <a:p>
            <a:pPr eaLnBrk="1" hangingPunct="1">
              <a:spcBef>
                <a:spcPct val="40000"/>
              </a:spcBef>
            </a:pPr>
            <a:r>
              <a:rPr lang="zh-CN" altLang="en-US" sz="2600" b="1" dirty="0"/>
              <a:t>知识：把有关</a:t>
            </a:r>
            <a:r>
              <a:rPr lang="zh-CN" altLang="en-US" sz="2600" b="1" dirty="0">
                <a:solidFill>
                  <a:schemeClr val="accent2"/>
                </a:solidFill>
              </a:rPr>
              <a:t>信息关联</a:t>
            </a:r>
            <a:r>
              <a:rPr lang="zh-CN" altLang="en-US" sz="2600" b="1" dirty="0"/>
              <a:t>在一起所形成的信息结构。 </a:t>
            </a:r>
            <a:endParaRPr lang="zh-CN" altLang="en-US" sz="2600" b="1" dirty="0"/>
          </a:p>
          <a:p>
            <a:pPr eaLnBrk="1" hangingPunct="1">
              <a:spcBef>
                <a:spcPct val="40000"/>
              </a:spcBef>
            </a:pPr>
            <a:r>
              <a:rPr lang="zh-CN" altLang="en-US" sz="2600" b="1" dirty="0"/>
              <a:t>知识反映了客观世界中事物之间的关系，不同事物或者相同事物间的不同关系形成了不同的知识。</a:t>
            </a:r>
            <a:endParaRPr lang="zh-CN" altLang="en-US" sz="2600" b="1" dirty="0"/>
          </a:p>
          <a:p>
            <a:pPr eaLnBrk="1" hangingPunct="1">
              <a:spcBef>
                <a:spcPct val="40000"/>
              </a:spcBef>
              <a:buNone/>
            </a:pPr>
            <a:r>
              <a:rPr lang="zh-CN" altLang="en-US" sz="2600" b="1" dirty="0"/>
              <a:t>     </a:t>
            </a:r>
            <a:endParaRPr lang="zh-CN" altLang="en-US" b="1" dirty="0"/>
          </a:p>
        </p:txBody>
      </p:sp>
      <p:sp>
        <p:nvSpPr>
          <p:cNvPr id="7173" name="AutoShape 5"/>
          <p:cNvSpPr/>
          <p:nvPr/>
        </p:nvSpPr>
        <p:spPr>
          <a:xfrm>
            <a:off x="3546475" y="2890838"/>
            <a:ext cx="5407025" cy="1219200"/>
          </a:xfrm>
          <a:prstGeom prst="accentCallout2">
            <a:avLst>
              <a:gd name="adj1" fmla="val 9375"/>
              <a:gd name="adj2" fmla="val -1407"/>
              <a:gd name="adj3" fmla="val 9375"/>
              <a:gd name="adj4" fmla="val -3463"/>
              <a:gd name="adj5" fmla="val -22264"/>
              <a:gd name="adj6" fmla="val -5606"/>
            </a:avLst>
          </a:prstGeom>
          <a:gradFill rotWithShape="0">
            <a:gsLst>
              <a:gs pos="0">
                <a:schemeClr val="bg1"/>
              </a:gs>
              <a:gs pos="100000">
                <a:schemeClr val="accent1"/>
              </a:gs>
            </a:gsLst>
            <a:path path="shape">
              <a:fillToRect l="50000" t="50000" r="50000" b="50000"/>
            </a:path>
            <a:tileRect/>
          </a:gradFill>
          <a:ln w="9525" cap="flat" cmpd="sng">
            <a:solidFill>
              <a:schemeClr val="accent2"/>
            </a:solidFill>
            <a:prstDash val="solid"/>
            <a:miter/>
            <a:headEnd type="none" w="med" len="med"/>
            <a:tailEnd type="none" w="med" len="med"/>
          </a:ln>
        </p:spPr>
        <p:txBody>
          <a:bodyPr anchor="t" anchorCtr="0"/>
          <a:p>
            <a:pPr>
              <a:buClrTx/>
              <a:buFontTx/>
              <a:buNone/>
            </a:pPr>
            <a:r>
              <a:rPr lang="zh-CN" altLang="en-US" sz="2400" b="1" dirty="0">
                <a:latin typeface="Arial" panose="020B0604020202090204" pitchFamily="34" charset="0"/>
                <a:ea typeface="宋体" pitchFamily="2" charset="-122"/>
              </a:rPr>
              <a:t>信息关联形式：</a:t>
            </a:r>
            <a:r>
              <a:rPr lang="zh-CN" altLang="en-US" sz="2400" b="1" dirty="0">
                <a:latin typeface="Times New Roman" panose="02020503050405090304" pitchFamily="18" charset="0"/>
                <a:ea typeface="宋体" pitchFamily="2" charset="-122"/>
              </a:rPr>
              <a:t>“</a:t>
            </a:r>
            <a:r>
              <a:rPr lang="zh-CN" altLang="en-US" sz="2400" b="1" dirty="0">
                <a:latin typeface="宋体" pitchFamily="2" charset="-122"/>
                <a:ea typeface="宋体" pitchFamily="2" charset="-122"/>
              </a:rPr>
              <a:t>如果</a:t>
            </a:r>
            <a:r>
              <a:rPr lang="en-US" altLang="zh-CN" sz="2800" baseline="5000" dirty="0">
                <a:latin typeface="宋体" pitchFamily="2" charset="-122"/>
                <a:ea typeface="宋体" pitchFamily="2" charset="-122"/>
              </a:rPr>
              <a:t>……</a:t>
            </a:r>
            <a:r>
              <a:rPr lang="zh-CN" altLang="en-US" b="1" dirty="0">
                <a:latin typeface="Arial" panose="020B0604020202090204" pitchFamily="34" charset="0"/>
                <a:ea typeface="宋体" pitchFamily="2" charset="-122"/>
              </a:rPr>
              <a:t>，</a:t>
            </a:r>
            <a:r>
              <a:rPr lang="zh-CN" altLang="en-US" sz="2400" b="1" dirty="0">
                <a:latin typeface="宋体" pitchFamily="2" charset="-122"/>
                <a:ea typeface="宋体" pitchFamily="2" charset="-122"/>
              </a:rPr>
              <a:t>则</a:t>
            </a:r>
            <a:r>
              <a:rPr lang="en-US" altLang="zh-CN" sz="2800" baseline="5000" dirty="0">
                <a:latin typeface="宋体" pitchFamily="2" charset="-122"/>
                <a:ea typeface="宋体" pitchFamily="2" charset="-122"/>
              </a:rPr>
              <a:t>……</a:t>
            </a:r>
            <a:r>
              <a:rPr lang="en-US" altLang="zh-CN" sz="2400" b="1" dirty="0">
                <a:latin typeface="Times New Roman" panose="02020503050405090304" pitchFamily="18" charset="0"/>
                <a:ea typeface="宋体" pitchFamily="2" charset="-122"/>
              </a:rPr>
              <a:t>”</a:t>
            </a:r>
            <a:r>
              <a:rPr lang="en-US" altLang="zh-CN" sz="2400" b="1" dirty="0">
                <a:latin typeface="Arial" panose="020B0604020202090204" pitchFamily="34" charset="0"/>
                <a:ea typeface="宋体" pitchFamily="2" charset="-122"/>
              </a:rPr>
              <a:t> </a:t>
            </a:r>
            <a:endParaRPr lang="en-US" altLang="zh-CN" sz="2400" b="1" dirty="0">
              <a:latin typeface="Arial" panose="020B0604020202090204" pitchFamily="34" charset="0"/>
              <a:ea typeface="宋体" pitchFamily="2" charset="-122"/>
            </a:endParaRPr>
          </a:p>
          <a:p>
            <a:pPr>
              <a:buClrTx/>
              <a:buFontTx/>
              <a:buNone/>
            </a:pPr>
            <a:endParaRPr lang="en-US" altLang="zh-CN" sz="2400" b="1" dirty="0">
              <a:latin typeface="Arial" panose="020B0604020202090204" pitchFamily="34" charset="0"/>
              <a:ea typeface="宋体" pitchFamily="2" charset="-122"/>
            </a:endParaRPr>
          </a:p>
          <a:p>
            <a:pPr>
              <a:buClrTx/>
              <a:buFontTx/>
              <a:buNone/>
            </a:pPr>
            <a:r>
              <a:rPr lang="zh-CN" altLang="en-US" sz="2400" b="1" dirty="0">
                <a:solidFill>
                  <a:schemeClr val="accent2"/>
                </a:solidFill>
                <a:latin typeface="宋体" pitchFamily="2" charset="-122"/>
                <a:ea typeface="宋体" pitchFamily="2" charset="-122"/>
              </a:rPr>
              <a:t>如果大雁向南飞，则冬天就要来临了。</a:t>
            </a:r>
            <a:endParaRPr lang="zh-CN" altLang="en-US" sz="2400" b="1" dirty="0">
              <a:solidFill>
                <a:schemeClr val="accent2"/>
              </a:solidFill>
              <a:latin typeface="宋体" pitchFamily="2" charset="-122"/>
              <a:ea typeface="宋体" pitchFamily="2" charset="-122"/>
            </a:endParaRPr>
          </a:p>
          <a:p>
            <a:pPr algn="ctr">
              <a:buClrTx/>
              <a:buFontTx/>
              <a:buNone/>
            </a:pPr>
            <a:r>
              <a:rPr lang="zh-CN" altLang="en-US" dirty="0">
                <a:latin typeface="Arial" panose="020B0604020202090204" pitchFamily="34" charset="0"/>
                <a:ea typeface="宋体" pitchFamily="2" charset="-122"/>
              </a:rPr>
              <a:t> </a:t>
            </a:r>
            <a:endParaRPr lang="zh-CN" altLang="en-US" dirty="0">
              <a:latin typeface="Arial" panose="020B0604020202090204" pitchFamily="34" charset="0"/>
              <a:ea typeface="宋体" pitchFamily="2" charset="-122"/>
            </a:endParaRPr>
          </a:p>
        </p:txBody>
      </p:sp>
      <p:sp>
        <p:nvSpPr>
          <p:cNvPr id="7174" name="Text Box 6"/>
          <p:cNvSpPr txBox="1"/>
          <p:nvPr/>
        </p:nvSpPr>
        <p:spPr>
          <a:xfrm>
            <a:off x="7239000" y="5524500"/>
            <a:ext cx="1905000" cy="519113"/>
          </a:xfrm>
          <a:prstGeom prst="rect">
            <a:avLst/>
          </a:prstGeom>
          <a:noFill/>
          <a:ln w="9525">
            <a:noFill/>
          </a:ln>
        </p:spPr>
        <p:txBody>
          <a:bodyPr anchor="t" anchorCtr="0">
            <a:spAutoFit/>
          </a:bodyPr>
          <a:p>
            <a:pPr>
              <a:spcBef>
                <a:spcPct val="50000"/>
              </a:spcBef>
              <a:buClrTx/>
              <a:buFontTx/>
              <a:buNone/>
            </a:pPr>
            <a:r>
              <a:rPr lang="en-US" altLang="zh-CN" sz="2800" b="1" dirty="0">
                <a:latin typeface="Times New Roman" panose="02020503050405090304" pitchFamily="18" charset="0"/>
                <a:ea typeface="宋体" pitchFamily="2" charset="-122"/>
              </a:rPr>
              <a:t>——</a:t>
            </a:r>
            <a:r>
              <a:rPr lang="en-US" altLang="zh-CN" sz="2800" b="1" dirty="0">
                <a:latin typeface="宋体" pitchFamily="2" charset="-122"/>
                <a:ea typeface="宋体" pitchFamily="2" charset="-122"/>
              </a:rPr>
              <a:t> </a:t>
            </a:r>
            <a:r>
              <a:rPr lang="zh-CN" altLang="en-US" sz="2800" b="1" dirty="0">
                <a:solidFill>
                  <a:schemeClr val="accent2"/>
                </a:solidFill>
                <a:latin typeface="宋体" pitchFamily="2" charset="-122"/>
                <a:ea typeface="宋体" pitchFamily="2" charset="-122"/>
              </a:rPr>
              <a:t>规则</a:t>
            </a:r>
            <a:endParaRPr lang="zh-CN" altLang="en-US" sz="2800" b="1" dirty="0">
              <a:solidFill>
                <a:schemeClr val="accent2"/>
              </a:solidFill>
              <a:latin typeface="宋体" pitchFamily="2" charset="-122"/>
              <a:ea typeface="宋体" pitchFamily="2" charset="-122"/>
            </a:endParaRPr>
          </a:p>
        </p:txBody>
      </p:sp>
      <p:sp>
        <p:nvSpPr>
          <p:cNvPr id="7176" name="Rectangle 8"/>
          <p:cNvSpPr/>
          <p:nvPr/>
        </p:nvSpPr>
        <p:spPr>
          <a:xfrm>
            <a:off x="3276600" y="4648200"/>
            <a:ext cx="2252663" cy="604838"/>
          </a:xfrm>
          <a:prstGeom prst="rect">
            <a:avLst/>
          </a:prstGeom>
          <a:noFill/>
          <a:ln w="9525">
            <a:noFill/>
          </a:ln>
        </p:spPr>
        <p:txBody>
          <a:bodyPr anchor="t" anchorCtr="0">
            <a:spAutoFit/>
          </a:bodyPr>
          <a:p>
            <a:pPr>
              <a:lnSpc>
                <a:spcPct val="120000"/>
              </a:lnSpc>
              <a:spcBef>
                <a:spcPct val="40000"/>
              </a:spcBef>
              <a:buClr>
                <a:schemeClr val="accent2"/>
              </a:buClr>
              <a:buFont typeface="Wingdings" panose="05000000000000000000" pitchFamily="2" charset="2"/>
              <a:buNone/>
            </a:pPr>
            <a:r>
              <a:rPr lang="en-US" altLang="zh-CN" sz="2800" b="1" dirty="0">
                <a:latin typeface="Arial" panose="020B0604020202090204" pitchFamily="34" charset="0"/>
                <a:ea typeface="宋体" pitchFamily="2" charset="-122"/>
              </a:rPr>
              <a:t>——   </a:t>
            </a:r>
            <a:r>
              <a:rPr lang="zh-CN" altLang="en-US" sz="2800" b="1" dirty="0">
                <a:solidFill>
                  <a:schemeClr val="accent2"/>
                </a:solidFill>
                <a:latin typeface="Arial" panose="020B0604020202090204" pitchFamily="34" charset="0"/>
                <a:ea typeface="宋体" pitchFamily="2" charset="-122"/>
              </a:rPr>
              <a:t>事实</a:t>
            </a:r>
            <a:endParaRPr lang="zh-CN" altLang="en-US" sz="2800" b="1" dirty="0">
              <a:solidFill>
                <a:schemeClr val="accent2"/>
              </a:solidFill>
              <a:latin typeface="Arial" panose="020B0604020202090204" pitchFamily="34" charset="0"/>
              <a:ea typeface="宋体" pitchFamily="2" charset="-122"/>
            </a:endParaRPr>
          </a:p>
        </p:txBody>
      </p:sp>
      <p:sp>
        <p:nvSpPr>
          <p:cNvPr id="7177" name="Rectangle 9"/>
          <p:cNvSpPr/>
          <p:nvPr/>
        </p:nvSpPr>
        <p:spPr>
          <a:xfrm>
            <a:off x="657225" y="3946525"/>
            <a:ext cx="7086600" cy="2109788"/>
          </a:xfrm>
          <a:prstGeom prst="rect">
            <a:avLst/>
          </a:prstGeom>
          <a:noFill/>
          <a:ln w="9525">
            <a:noFill/>
          </a:ln>
        </p:spPr>
        <p:txBody>
          <a:bodyPr anchor="t" anchorCtr="0">
            <a:spAutoFit/>
          </a:bodyPr>
          <a:p>
            <a:pPr>
              <a:lnSpc>
                <a:spcPct val="120000"/>
              </a:lnSpc>
              <a:spcBef>
                <a:spcPct val="50000"/>
              </a:spcBef>
              <a:buClr>
                <a:schemeClr val="accent2"/>
              </a:buClr>
              <a:buFont typeface="Wingdings" panose="05000000000000000000" pitchFamily="2" charset="2"/>
              <a:buNone/>
            </a:pPr>
            <a:r>
              <a:rPr lang="zh-CN" altLang="en-US" sz="2800" b="1" dirty="0">
                <a:latin typeface="Arial" panose="020B0604020202090204" pitchFamily="34" charset="0"/>
                <a:ea typeface="宋体" pitchFamily="2" charset="-122"/>
              </a:rPr>
              <a:t>例如：</a:t>
            </a:r>
            <a:endParaRPr lang="zh-CN" altLang="en-US" sz="2800" b="1" dirty="0">
              <a:latin typeface="Arial" panose="020B0604020202090204" pitchFamily="34" charset="0"/>
              <a:ea typeface="宋体" pitchFamily="2" charset="-122"/>
            </a:endParaRPr>
          </a:p>
          <a:p>
            <a:pPr>
              <a:lnSpc>
                <a:spcPct val="120000"/>
              </a:lnSpc>
              <a:spcBef>
                <a:spcPct val="50000"/>
              </a:spcBef>
              <a:buClr>
                <a:schemeClr val="accent2"/>
              </a:buClr>
              <a:buFont typeface="Wingdings" panose="05000000000000000000" pitchFamily="2" charset="2"/>
              <a:buNone/>
            </a:pPr>
            <a:r>
              <a:rPr lang="zh-CN" altLang="en-US" sz="2800" b="1" dirty="0">
                <a:latin typeface="Arial" panose="020B0604020202090204" pitchFamily="34" charset="0"/>
                <a:ea typeface="宋体" pitchFamily="2" charset="-122"/>
              </a:rPr>
              <a:t> </a:t>
            </a:r>
            <a:r>
              <a:rPr lang="zh-CN" altLang="en-US" sz="2800" b="1" dirty="0">
                <a:latin typeface="Times New Roman" panose="02020503050405090304" pitchFamily="18" charset="0"/>
                <a:ea typeface="宋体" pitchFamily="2" charset="-122"/>
              </a:rPr>
              <a:t>“</a:t>
            </a:r>
            <a:r>
              <a:rPr lang="zh-CN" altLang="en-US" sz="2800" b="1" dirty="0">
                <a:solidFill>
                  <a:schemeClr val="folHlink"/>
                </a:solidFill>
                <a:latin typeface="宋体" pitchFamily="2" charset="-122"/>
                <a:ea typeface="宋体" pitchFamily="2" charset="-122"/>
              </a:rPr>
              <a:t>雪是白色的</a:t>
            </a:r>
            <a:r>
              <a:rPr lang="zh-CN" altLang="en-US" sz="2800" b="1" dirty="0">
                <a:latin typeface="Times New Roman" panose="02020503050405090304" pitchFamily="18" charset="0"/>
                <a:ea typeface="宋体" pitchFamily="2" charset="-122"/>
              </a:rPr>
              <a:t>”</a:t>
            </a:r>
            <a:r>
              <a:rPr lang="zh-CN" altLang="en-US" sz="2800" b="1" dirty="0">
                <a:latin typeface="Arial" panose="020B0604020202090204" pitchFamily="34" charset="0"/>
                <a:ea typeface="宋体" pitchFamily="2" charset="-122"/>
              </a:rPr>
              <a:t> 。</a:t>
            </a:r>
            <a:endParaRPr lang="zh-CN" altLang="en-US" sz="2800" b="1" dirty="0">
              <a:latin typeface="Arial" panose="020B0604020202090204" pitchFamily="34" charset="0"/>
              <a:ea typeface="宋体" pitchFamily="2" charset="-122"/>
            </a:endParaRPr>
          </a:p>
          <a:p>
            <a:pPr>
              <a:lnSpc>
                <a:spcPct val="120000"/>
              </a:lnSpc>
              <a:spcBef>
                <a:spcPct val="50000"/>
              </a:spcBef>
              <a:buClr>
                <a:schemeClr val="accent2"/>
              </a:buClr>
              <a:buFont typeface="Wingdings" panose="05000000000000000000" pitchFamily="2" charset="2"/>
              <a:buNone/>
            </a:pPr>
            <a:r>
              <a:rPr lang="zh-CN" altLang="en-US" sz="2800" b="1" dirty="0">
                <a:latin typeface="Arial" panose="020B0604020202090204" pitchFamily="34" charset="0"/>
                <a:ea typeface="宋体" pitchFamily="2" charset="-122"/>
              </a:rPr>
              <a:t> </a:t>
            </a:r>
            <a:r>
              <a:rPr lang="zh-CN" altLang="en-US" sz="2800" b="1" dirty="0">
                <a:latin typeface="Times New Roman" panose="02020503050405090304" pitchFamily="18" charset="0"/>
                <a:ea typeface="宋体" pitchFamily="2" charset="-122"/>
              </a:rPr>
              <a:t>“</a:t>
            </a:r>
            <a:r>
              <a:rPr lang="zh-CN" altLang="en-US" sz="2800" b="1" dirty="0">
                <a:solidFill>
                  <a:schemeClr val="folHlink"/>
                </a:solidFill>
                <a:latin typeface="宋体" pitchFamily="2" charset="-122"/>
                <a:ea typeface="宋体" pitchFamily="2" charset="-122"/>
              </a:rPr>
              <a:t>如果头痛且流涕，则有可能患了感冒</a:t>
            </a:r>
            <a:r>
              <a:rPr lang="zh-CN" altLang="en-US" sz="2800" b="1" dirty="0">
                <a:latin typeface="Times New Roman" panose="02020503050405090304" pitchFamily="18" charset="0"/>
                <a:ea typeface="宋体" pitchFamily="2" charset="-122"/>
              </a:rPr>
              <a:t>”</a:t>
            </a:r>
            <a:r>
              <a:rPr lang="zh-CN" altLang="en-US" sz="3000" b="1" dirty="0">
                <a:latin typeface="Arial" panose="020B0604020202090204" pitchFamily="34" charset="0"/>
                <a:ea typeface="宋体" pitchFamily="2" charset="-122"/>
              </a:rPr>
              <a:t> 。</a:t>
            </a:r>
            <a:endParaRPr lang="zh-CN" altLang="en-US" sz="3000" b="1" dirty="0">
              <a:latin typeface="Arial" panose="020B0604020202090204" pitchFamily="34"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171">
                                            <p:txEl>
                                              <p:charRg st="0" end="43"/>
                                            </p:txEl>
                                          </p:spTgt>
                                        </p:tgtEl>
                                        <p:attrNameLst>
                                          <p:attrName>style.visibility</p:attrName>
                                        </p:attrNameLst>
                                      </p:cBhvr>
                                      <p:to>
                                        <p:strVal val="visible"/>
                                      </p:to>
                                    </p:set>
                                    <p:anim calcmode="lin" valueType="num">
                                      <p:cBhvr additive="base">
                                        <p:cTn id="7" dur="500" fill="hold"/>
                                        <p:tgtEl>
                                          <p:spTgt spid="7171">
                                            <p:txEl>
                                              <p:charRg st="0" end="4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71">
                                            <p:txEl>
                                              <p:charRg st="0" end="43"/>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7171">
                                            <p:txEl>
                                              <p:charRg st="43" end="67"/>
                                            </p:txEl>
                                          </p:spTgt>
                                        </p:tgtEl>
                                        <p:attrNameLst>
                                          <p:attrName>style.visibility</p:attrName>
                                        </p:attrNameLst>
                                      </p:cBhvr>
                                      <p:to>
                                        <p:strVal val="visible"/>
                                      </p:to>
                                    </p:set>
                                    <p:anim calcmode="lin" valueType="num">
                                      <p:cBhvr additive="base">
                                        <p:cTn id="12" dur="500" fill="hold"/>
                                        <p:tgtEl>
                                          <p:spTgt spid="7171">
                                            <p:txEl>
                                              <p:charRg st="43" end="67"/>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7171">
                                            <p:txEl>
                                              <p:charRg st="43" end="67"/>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7171">
                                            <p:txEl>
                                              <p:charRg st="67" end="111"/>
                                            </p:txEl>
                                          </p:spTgt>
                                        </p:tgtEl>
                                        <p:attrNameLst>
                                          <p:attrName>style.visibility</p:attrName>
                                        </p:attrNameLst>
                                      </p:cBhvr>
                                      <p:to>
                                        <p:strVal val="visible"/>
                                      </p:to>
                                    </p:set>
                                    <p:anim calcmode="lin" valueType="num">
                                      <p:cBhvr additive="base">
                                        <p:cTn id="17" dur="500" fill="hold"/>
                                        <p:tgtEl>
                                          <p:spTgt spid="7171">
                                            <p:txEl>
                                              <p:charRg st="67" end="11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7171">
                                            <p:txEl>
                                              <p:charRg st="67" end="111"/>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7171">
                                            <p:txEl>
                                              <p:charRg st="111" end="117"/>
                                            </p:txEl>
                                          </p:spTgt>
                                        </p:tgtEl>
                                        <p:attrNameLst>
                                          <p:attrName>style.visibility</p:attrName>
                                        </p:attrNameLst>
                                      </p:cBhvr>
                                      <p:to>
                                        <p:strVal val="visible"/>
                                      </p:to>
                                    </p:set>
                                    <p:anim calcmode="lin" valueType="num">
                                      <p:cBhvr additive="base">
                                        <p:cTn id="22" dur="500" fill="hold"/>
                                        <p:tgtEl>
                                          <p:spTgt spid="7171">
                                            <p:txEl>
                                              <p:charRg st="111" end="117"/>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7171">
                                            <p:txEl>
                                              <p:charRg st="111" end="117"/>
                                            </p:txEl>
                                          </p:spTgt>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1" fill="hold" grpId="0" nodeType="clickEffect">
                                  <p:stCondLst>
                                    <p:cond delay="0"/>
                                  </p:stCondLst>
                                  <p:childTnLst>
                                    <p:set>
                                      <p:cBhvr>
                                        <p:cTn id="27" dur="1" fill="hold">
                                          <p:stCondLst>
                                            <p:cond delay="0"/>
                                          </p:stCondLst>
                                        </p:cTn>
                                        <p:tgtEl>
                                          <p:spTgt spid="7173"/>
                                        </p:tgtEl>
                                        <p:attrNameLst>
                                          <p:attrName>style.visibility</p:attrName>
                                        </p:attrNameLst>
                                      </p:cBhvr>
                                      <p:to>
                                        <p:strVal val="visible"/>
                                      </p:to>
                                    </p:set>
                                    <p:anim calcmode="lin" valueType="num">
                                      <p:cBhvr>
                                        <p:cTn id="28" dur="500" fill="hold"/>
                                        <p:tgtEl>
                                          <p:spTgt spid="7173"/>
                                        </p:tgtEl>
                                        <p:attrNameLst>
                                          <p:attrName>ppt_x</p:attrName>
                                        </p:attrNameLst>
                                      </p:cBhvr>
                                      <p:tavLst>
                                        <p:tav tm="0">
                                          <p:val>
                                            <p:strVal val="#ppt_x"/>
                                          </p:val>
                                        </p:tav>
                                        <p:tav tm="100000">
                                          <p:val>
                                            <p:strVal val="#ppt_x"/>
                                          </p:val>
                                        </p:tav>
                                      </p:tavLst>
                                    </p:anim>
                                    <p:anim calcmode="lin" valueType="num">
                                      <p:cBhvr>
                                        <p:cTn id="29" dur="500" fill="hold"/>
                                        <p:tgtEl>
                                          <p:spTgt spid="7173"/>
                                        </p:tgtEl>
                                        <p:attrNameLst>
                                          <p:attrName>ppt_y</p:attrName>
                                        </p:attrNameLst>
                                      </p:cBhvr>
                                      <p:tavLst>
                                        <p:tav tm="0">
                                          <p:val>
                                            <p:strVal val="#ppt_y-#ppt_h/2"/>
                                          </p:val>
                                        </p:tav>
                                        <p:tav tm="100000">
                                          <p:val>
                                            <p:strVal val="#ppt_y"/>
                                          </p:val>
                                        </p:tav>
                                      </p:tavLst>
                                    </p:anim>
                                    <p:anim calcmode="lin" valueType="num">
                                      <p:cBhvr>
                                        <p:cTn id="30" dur="500" fill="hold"/>
                                        <p:tgtEl>
                                          <p:spTgt spid="7173"/>
                                        </p:tgtEl>
                                        <p:attrNameLst>
                                          <p:attrName>ppt_w</p:attrName>
                                        </p:attrNameLst>
                                      </p:cBhvr>
                                      <p:tavLst>
                                        <p:tav tm="0">
                                          <p:val>
                                            <p:strVal val="#ppt_w"/>
                                          </p:val>
                                        </p:tav>
                                        <p:tav tm="100000">
                                          <p:val>
                                            <p:strVal val="#ppt_w"/>
                                          </p:val>
                                        </p:tav>
                                      </p:tavLst>
                                    </p:anim>
                                    <p:anim calcmode="lin" valueType="num">
                                      <p:cBhvr>
                                        <p:cTn id="31" dur="500" fill="hold"/>
                                        <p:tgtEl>
                                          <p:spTgt spid="7173"/>
                                        </p:tgtEl>
                                        <p:attrNameLst>
                                          <p:attrName>ppt_h</p:attrName>
                                        </p:attrNameLst>
                                      </p:cBhvr>
                                      <p:tavLst>
                                        <p:tav tm="0">
                                          <p:val>
                                            <p:fltVal val="0.000000"/>
                                          </p:val>
                                        </p:tav>
                                        <p:tav tm="100000">
                                          <p:val>
                                            <p:strVal val="#ppt_h"/>
                                          </p:val>
                                        </p:tav>
                                      </p:tavLst>
                                    </p:anim>
                                  </p:childTnLst>
                                  <p:subTnLst>
                                    <p:set>
                                      <p:cBhvr override="childStyle">
                                        <p:cTn dur="1" fill="hold" display="0" masterRel="nextClick" afterEffect="1"/>
                                        <p:tgtEl>
                                          <p:spTgt spid="7173"/>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7177"/>
                                        </p:tgtEl>
                                        <p:attrNameLst>
                                          <p:attrName>style.visibility</p:attrName>
                                        </p:attrNameLst>
                                      </p:cBhvr>
                                      <p:to>
                                        <p:strVal val="visible"/>
                                      </p:to>
                                    </p:set>
                                    <p:anim calcmode="lin" valueType="num">
                                      <p:cBhvr additive="base">
                                        <p:cTn id="36" dur="500" fill="hold"/>
                                        <p:tgtEl>
                                          <p:spTgt spid="7177"/>
                                        </p:tgtEl>
                                        <p:attrNameLst>
                                          <p:attrName>ppt_x</p:attrName>
                                        </p:attrNameLst>
                                      </p:cBhvr>
                                      <p:tavLst>
                                        <p:tav tm="0">
                                          <p:val>
                                            <p:strVal val="0-#ppt_w/2"/>
                                          </p:val>
                                        </p:tav>
                                        <p:tav tm="100000">
                                          <p:val>
                                            <p:strVal val="#ppt_x"/>
                                          </p:val>
                                        </p:tav>
                                      </p:tavLst>
                                    </p:anim>
                                    <p:anim calcmode="lin" valueType="num">
                                      <p:cBhvr additive="base">
                                        <p:cTn id="37" dur="500" fill="hold"/>
                                        <p:tgtEl>
                                          <p:spTgt spid="7177"/>
                                        </p:tgtEl>
                                        <p:attrNameLst>
                                          <p:attrName>ppt_y</p:attrName>
                                        </p:attrNameLst>
                                      </p:cBhvr>
                                      <p:tavLst>
                                        <p:tav tm="0">
                                          <p:val>
                                            <p:strVal val="#ppt_y"/>
                                          </p:val>
                                        </p:tav>
                                        <p:tav tm="100000">
                                          <p:val>
                                            <p:strVal val="#ppt_y"/>
                                          </p:val>
                                        </p:tav>
                                      </p:tavLst>
                                    </p:anim>
                                  </p:childTnLst>
                                </p:cTn>
                              </p:par>
                            </p:childTnLst>
                          </p:cTn>
                        </p:par>
                        <p:par>
                          <p:cTn id="38" fill="hold">
                            <p:stCondLst>
                              <p:cond delay="500"/>
                            </p:stCondLst>
                            <p:childTnLst>
                              <p:par>
                                <p:cTn id="39" presetID="1" presetClass="entr" presetSubtype="0" fill="hold" grpId="0" nodeType="afterEffect">
                                  <p:stCondLst>
                                    <p:cond delay="0"/>
                                  </p:stCondLst>
                                  <p:childTnLst>
                                    <p:set>
                                      <p:cBhvr>
                                        <p:cTn id="40" dur="1" fill="hold">
                                          <p:stCondLst>
                                            <p:cond delay="499"/>
                                          </p:stCondLst>
                                        </p:cTn>
                                        <p:tgtEl>
                                          <p:spTgt spid="7176"/>
                                        </p:tgtEl>
                                        <p:attrNameLst>
                                          <p:attrName>style.visibility</p:attrName>
                                        </p:attrNameLst>
                                      </p:cBhvr>
                                      <p:to>
                                        <p:strVal val="visible"/>
                                      </p:to>
                                    </p:set>
                                  </p:childTnLst>
                                </p:cTn>
                              </p:par>
                            </p:childTnLst>
                          </p:cTn>
                        </p:par>
                        <p:par>
                          <p:cTn id="41" fill="hold">
                            <p:stCondLst>
                              <p:cond delay="1000"/>
                            </p:stCondLst>
                            <p:childTnLst>
                              <p:par>
                                <p:cTn id="42" presetID="1" presetClass="entr" presetSubtype="0" fill="hold" grpId="0" nodeType="afterEffect">
                                  <p:stCondLst>
                                    <p:cond delay="0"/>
                                  </p:stCondLst>
                                  <p:childTnLst>
                                    <p:set>
                                      <p:cBhvr>
                                        <p:cTn id="43" dur="1" fill="hold">
                                          <p:stCondLst>
                                            <p:cond delay="499"/>
                                          </p:stCondLst>
                                        </p:cTn>
                                        <p:tgtEl>
                                          <p:spTgt spid="71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dvAuto="1000" build="p"/>
      <p:bldP spid="7173" grpId="0" animBg="1"/>
      <p:bldP spid="7174" grpId="0"/>
      <p:bldP spid="7176" grpId="0"/>
      <p:bldP spid="717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0242" name="Rectangle 25"/>
          <p:cNvSpPr>
            <a:spLocks noGrp="1"/>
          </p:cNvSpPr>
          <p:nvPr>
            <p:ph type="title"/>
          </p:nvPr>
        </p:nvSpPr>
        <p:spPr/>
        <p:txBody>
          <a:bodyPr vert="horz" wrap="square" lIns="91440" tIns="45720" rIns="91440" bIns="45720" anchor="b" anchorCtr="0"/>
          <a:p>
            <a:pPr eaLnBrk="1" hangingPunct="1"/>
            <a:r>
              <a:rPr lang="en-US" altLang="zh-CN" dirty="0"/>
              <a:t>2.1.2 </a:t>
            </a:r>
            <a:r>
              <a:rPr lang="zh-CN" altLang="en-US" dirty="0"/>
              <a:t>知识的特性</a:t>
            </a:r>
            <a:endParaRPr lang="zh-CN" altLang="en-US" dirty="0"/>
          </a:p>
        </p:txBody>
      </p:sp>
      <p:sp>
        <p:nvSpPr>
          <p:cNvPr id="10243" name="Rectangle 26"/>
          <p:cNvSpPr txBox="1"/>
          <p:nvPr/>
        </p:nvSpPr>
        <p:spPr>
          <a:xfrm>
            <a:off x="327025" y="908050"/>
            <a:ext cx="8642350" cy="2139950"/>
          </a:xfrm>
          <a:prstGeom prst="rect">
            <a:avLst/>
          </a:prstGeom>
          <a:noFill/>
          <a:ln w="9525">
            <a:noFill/>
          </a:ln>
        </p:spPr>
        <p:txBody>
          <a:bodyPr anchor="t" anchorCtr="0"/>
          <a:p>
            <a:pPr>
              <a:lnSpc>
                <a:spcPct val="120000"/>
              </a:lnSpc>
              <a:spcBef>
                <a:spcPct val="20000"/>
              </a:spcBef>
              <a:buClr>
                <a:schemeClr val="accent2"/>
              </a:buClr>
              <a:buFont typeface="Wingdings" panose="05000000000000000000" pitchFamily="2" charset="2"/>
              <a:buNone/>
            </a:pPr>
            <a:r>
              <a:rPr lang="en-US" altLang="zh-CN" sz="2800" b="1" dirty="0">
                <a:solidFill>
                  <a:srgbClr val="0000FF"/>
                </a:solidFill>
                <a:latin typeface="Arial" panose="020B0604020202090204" pitchFamily="34" charset="0"/>
                <a:ea typeface="宋体" pitchFamily="2" charset="-122"/>
              </a:rPr>
              <a:t>  1.</a:t>
            </a:r>
            <a:r>
              <a:rPr lang="zh-CN" altLang="en-US" sz="2800" b="1" dirty="0">
                <a:solidFill>
                  <a:srgbClr val="0000FF"/>
                </a:solidFill>
                <a:latin typeface="Arial" panose="020B0604020202090204" pitchFamily="34" charset="0"/>
                <a:ea typeface="宋体" pitchFamily="2" charset="-122"/>
              </a:rPr>
              <a:t>相对正确性</a:t>
            </a:r>
            <a:endParaRPr lang="zh-CN" altLang="en-US" sz="2800" b="1" dirty="0">
              <a:solidFill>
                <a:srgbClr val="0000FF"/>
              </a:solidFill>
              <a:latin typeface="Arial" panose="020B0604020202090204" pitchFamily="34" charset="0"/>
              <a:ea typeface="宋体" pitchFamily="2" charset="-122"/>
            </a:endParaRPr>
          </a:p>
          <a:p>
            <a:pPr>
              <a:lnSpc>
                <a:spcPct val="120000"/>
              </a:lnSpc>
              <a:spcBef>
                <a:spcPct val="20000"/>
              </a:spcBef>
              <a:buClr>
                <a:schemeClr val="accent2"/>
              </a:buClr>
              <a:buFont typeface="Wingdings" panose="05000000000000000000" pitchFamily="2" charset="2"/>
              <a:buBlip>
                <a:blip r:embed="rId1"/>
              </a:buBlip>
            </a:pPr>
            <a:r>
              <a:rPr lang="zh-CN" altLang="en-US" sz="2400" b="1" dirty="0">
                <a:latin typeface="Arial" panose="020B0604020202090204" pitchFamily="34" charset="0"/>
                <a:ea typeface="宋体" pitchFamily="2" charset="-122"/>
              </a:rPr>
              <a:t>     任何知识都是在一定的条件及环境下产生的，在这种条件及环境下才是正确的。</a:t>
            </a:r>
            <a:endParaRPr lang="zh-CN" altLang="en-US" sz="2400" b="1" dirty="0">
              <a:latin typeface="Arial" panose="020B0604020202090204" pitchFamily="34" charset="0"/>
              <a:ea typeface="宋体" pitchFamily="2" charset="-122"/>
            </a:endParaRPr>
          </a:p>
          <a:p>
            <a:pPr>
              <a:lnSpc>
                <a:spcPct val="120000"/>
              </a:lnSpc>
              <a:spcBef>
                <a:spcPct val="40000"/>
              </a:spcBef>
              <a:buClr>
                <a:schemeClr val="accent2"/>
              </a:buClr>
              <a:buFont typeface="Wingdings" panose="05000000000000000000" pitchFamily="2" charset="2"/>
              <a:buBlip>
                <a:blip r:embed="rId1"/>
              </a:buBlip>
            </a:pPr>
            <a:endParaRPr lang="en-US" altLang="zh-CN" sz="3700" b="1" dirty="0">
              <a:latin typeface="Times New Roman" panose="02020503050405090304" pitchFamily="18" charset="0"/>
              <a:ea typeface="宋体" pitchFamily="2" charset="-122"/>
            </a:endParaRPr>
          </a:p>
        </p:txBody>
      </p:sp>
      <p:sp>
        <p:nvSpPr>
          <p:cNvPr id="11" name="AutoShape 27"/>
          <p:cNvSpPr/>
          <p:nvPr/>
        </p:nvSpPr>
        <p:spPr>
          <a:xfrm>
            <a:off x="4335463" y="2430463"/>
            <a:ext cx="3238500" cy="1146175"/>
          </a:xfrm>
          <a:prstGeom prst="accentCallout2">
            <a:avLst>
              <a:gd name="adj1" fmla="val 9972"/>
              <a:gd name="adj2" fmla="val -2352"/>
              <a:gd name="adj3" fmla="val 9972"/>
              <a:gd name="adj4" fmla="val -21176"/>
              <a:gd name="adj5" fmla="val -51106"/>
              <a:gd name="adj6" fmla="val -40736"/>
            </a:avLst>
          </a:prstGeom>
          <a:solidFill>
            <a:schemeClr val="accent1"/>
          </a:solidFill>
          <a:ln w="9525" cap="flat" cmpd="sng">
            <a:solidFill>
              <a:schemeClr val="tx1"/>
            </a:solidFill>
            <a:prstDash val="solid"/>
            <a:miter/>
            <a:headEnd type="none" w="med" len="med"/>
            <a:tailEnd type="none" w="med" len="med"/>
          </a:ln>
        </p:spPr>
        <p:txBody>
          <a:bodyPr anchor="t" anchorCtr="0"/>
          <a:p>
            <a:pPr algn="just">
              <a:buClrTx/>
              <a:buFontTx/>
              <a:buNone/>
            </a:pPr>
            <a:r>
              <a:rPr lang="en-US" altLang="zh-CN" sz="2400" dirty="0">
                <a:latin typeface="Times New Roman" panose="02020503050405090304" pitchFamily="18" charset="0"/>
                <a:ea typeface="宋体" pitchFamily="2" charset="-122"/>
              </a:rPr>
              <a:t>1+1=2</a:t>
            </a:r>
            <a:r>
              <a:rPr lang="en-US" altLang="zh-CN" sz="2400" dirty="0">
                <a:latin typeface="Arial" panose="020B0604020202090204" pitchFamily="34" charset="0"/>
                <a:ea typeface="宋体" pitchFamily="2" charset="-122"/>
              </a:rPr>
              <a:t>  </a:t>
            </a:r>
            <a:r>
              <a:rPr lang="zh-CN" altLang="en-US" sz="2400" dirty="0">
                <a:latin typeface="Times New Roman" panose="02020503050405090304" pitchFamily="18" charset="0"/>
                <a:ea typeface="宋体" pitchFamily="2" charset="-122"/>
              </a:rPr>
              <a:t>（十进制）</a:t>
            </a:r>
            <a:endParaRPr lang="zh-CN" altLang="en-US" sz="2400" dirty="0">
              <a:latin typeface="Times New Roman" panose="02020503050405090304" pitchFamily="18" charset="0"/>
              <a:ea typeface="宋体" pitchFamily="2" charset="-122"/>
            </a:endParaRPr>
          </a:p>
          <a:p>
            <a:pPr algn="just">
              <a:buClrTx/>
              <a:buFontTx/>
              <a:buNone/>
            </a:pPr>
            <a:r>
              <a:rPr lang="en-US" altLang="zh-CN" sz="2400" dirty="0">
                <a:latin typeface="Times New Roman" panose="02020503050405090304" pitchFamily="18" charset="0"/>
                <a:ea typeface="宋体" pitchFamily="2" charset="-122"/>
              </a:rPr>
              <a:t>1+1=10  (</a:t>
            </a:r>
            <a:r>
              <a:rPr lang="zh-CN" altLang="en-US" sz="2400" dirty="0">
                <a:latin typeface="Times New Roman" panose="02020503050405090304" pitchFamily="18" charset="0"/>
                <a:ea typeface="宋体" pitchFamily="2" charset="-122"/>
              </a:rPr>
              <a:t>二进制）</a:t>
            </a:r>
            <a:endParaRPr lang="zh-CN" altLang="en-US" sz="2400" dirty="0">
              <a:latin typeface="Times New Roman" panose="02020503050405090304" pitchFamily="18" charset="0"/>
              <a:ea typeface="宋体" pitchFamily="2" charset="-122"/>
            </a:endParaRPr>
          </a:p>
        </p:txBody>
      </p:sp>
      <p:sp>
        <p:nvSpPr>
          <p:cNvPr id="12" name="Rectangle 28"/>
          <p:cNvSpPr/>
          <p:nvPr/>
        </p:nvSpPr>
        <p:spPr>
          <a:xfrm>
            <a:off x="-160337" y="2832100"/>
            <a:ext cx="8912225" cy="3151188"/>
          </a:xfrm>
          <a:prstGeom prst="rect">
            <a:avLst/>
          </a:prstGeom>
          <a:noFill/>
          <a:ln w="9525">
            <a:noFill/>
          </a:ln>
        </p:spPr>
        <p:txBody>
          <a:bodyPr anchor="t" anchorCtr="0">
            <a:spAutoFit/>
          </a:bodyPr>
          <a:p>
            <a:pPr marL="1257300" lvl="2" indent="-342900" algn="l" rtl="0" eaLnBrk="1" fontAlgn="base" hangingPunct="1">
              <a:lnSpc>
                <a:spcPct val="120000"/>
              </a:lnSpc>
              <a:spcBef>
                <a:spcPct val="30000"/>
              </a:spcBef>
              <a:spcAft>
                <a:spcPct val="0"/>
              </a:spcAft>
              <a:buClr>
                <a:schemeClr val="accent2"/>
              </a:buClr>
              <a:buFont typeface="Wingdings" panose="05000000000000000000" pitchFamily="2" charset="2"/>
              <a:buNone/>
            </a:pPr>
            <a:r>
              <a:rPr lang="zh-CN" altLang="en-US" sz="2400" b="1" dirty="0">
                <a:solidFill>
                  <a:srgbClr val="0000CC"/>
                </a:solidFill>
                <a:latin typeface="Arial" panose="020B0604020202090204" pitchFamily="34" charset="0"/>
                <a:ea typeface="宋体" pitchFamily="2" charset="-122"/>
              </a:rPr>
              <a:t>王安石</a:t>
            </a:r>
            <a:r>
              <a:rPr lang="en-US" altLang="zh-CN" sz="2400" b="1" dirty="0">
                <a:solidFill>
                  <a:srgbClr val="0000CC"/>
                </a:solidFill>
                <a:latin typeface="Arial" panose="020B0604020202090204" pitchFamily="34" charset="0"/>
                <a:ea typeface="宋体" pitchFamily="2" charset="-122"/>
              </a:rPr>
              <a:t>(1021</a:t>
            </a:r>
            <a:r>
              <a:rPr lang="zh-CN" altLang="en-US" sz="2400" b="1" dirty="0">
                <a:solidFill>
                  <a:srgbClr val="0000CC"/>
                </a:solidFill>
                <a:latin typeface="Arial" panose="020B0604020202090204" pitchFamily="34" charset="0"/>
                <a:ea typeface="宋体" pitchFamily="2" charset="-122"/>
              </a:rPr>
              <a:t>～</a:t>
            </a:r>
            <a:r>
              <a:rPr lang="en-US" altLang="zh-CN" sz="2400" b="1" dirty="0">
                <a:solidFill>
                  <a:srgbClr val="0000CC"/>
                </a:solidFill>
                <a:latin typeface="Arial" panose="020B0604020202090204" pitchFamily="34" charset="0"/>
                <a:ea typeface="宋体" pitchFamily="2" charset="-122"/>
              </a:rPr>
              <a:t>1086)</a:t>
            </a:r>
            <a:r>
              <a:rPr lang="en-US" altLang="zh-CN" sz="2400" dirty="0">
                <a:solidFill>
                  <a:schemeClr val="tx1"/>
                </a:solidFill>
                <a:latin typeface="Arial" panose="020B0604020202090204" pitchFamily="34" charset="0"/>
                <a:ea typeface="宋体" pitchFamily="2" charset="-122"/>
              </a:rPr>
              <a:t> </a:t>
            </a:r>
            <a:r>
              <a:rPr lang="en-US" altLang="zh-CN" sz="2400" b="1" dirty="0">
                <a:solidFill>
                  <a:srgbClr val="0000CC"/>
                </a:solidFill>
                <a:latin typeface="Arial" panose="020B0604020202090204" pitchFamily="34" charset="0"/>
                <a:ea typeface="宋体" pitchFamily="2" charset="-122"/>
              </a:rPr>
              <a:t>:</a:t>
            </a:r>
            <a:r>
              <a:rPr lang="zh-CN" altLang="en-US" sz="2400" b="1" dirty="0">
                <a:solidFill>
                  <a:schemeClr val="tx1"/>
                </a:solidFill>
                <a:latin typeface="Arial" panose="020B0604020202090204" pitchFamily="34" charset="0"/>
                <a:ea typeface="宋体" pitchFamily="2" charset="-122"/>
              </a:rPr>
              <a:t>西风昨夜过园林  </a:t>
            </a:r>
            <a:endParaRPr lang="zh-CN" altLang="en-US" sz="2400" b="1" dirty="0">
              <a:solidFill>
                <a:schemeClr val="tx1"/>
              </a:solidFill>
              <a:latin typeface="Arial" panose="020B0604020202090204" pitchFamily="34" charset="0"/>
              <a:ea typeface="宋体" pitchFamily="2" charset="-122"/>
            </a:endParaRPr>
          </a:p>
          <a:p>
            <a:pPr marL="1257300" lvl="2" indent="-342900" algn="l" rtl="0" eaLnBrk="1" fontAlgn="base" hangingPunct="1">
              <a:lnSpc>
                <a:spcPct val="120000"/>
              </a:lnSpc>
              <a:spcBef>
                <a:spcPct val="30000"/>
              </a:spcBef>
              <a:spcAft>
                <a:spcPct val="0"/>
              </a:spcAft>
              <a:buClr>
                <a:schemeClr val="accent2"/>
              </a:buClr>
              <a:buFont typeface="Wingdings" panose="05000000000000000000" pitchFamily="2" charset="2"/>
              <a:buNone/>
            </a:pPr>
            <a:r>
              <a:rPr lang="zh-CN" altLang="en-US" sz="2400" b="1" dirty="0">
                <a:solidFill>
                  <a:schemeClr val="tx1"/>
                </a:solidFill>
                <a:latin typeface="Arial" panose="020B0604020202090204" pitchFamily="34" charset="0"/>
                <a:ea typeface="宋体" pitchFamily="2" charset="-122"/>
              </a:rPr>
              <a:t>                                  吹落黄花满地金</a:t>
            </a:r>
            <a:endParaRPr lang="zh-CN" altLang="en-US" sz="2400" b="1" dirty="0">
              <a:solidFill>
                <a:schemeClr val="tx1"/>
              </a:solidFill>
              <a:latin typeface="Arial" panose="020B0604020202090204" pitchFamily="34" charset="0"/>
              <a:ea typeface="宋体" pitchFamily="2" charset="-122"/>
            </a:endParaRPr>
          </a:p>
          <a:p>
            <a:pPr marL="1257300" lvl="2" indent="-342900" algn="l" rtl="0" eaLnBrk="1" fontAlgn="base" hangingPunct="1">
              <a:lnSpc>
                <a:spcPct val="120000"/>
              </a:lnSpc>
              <a:spcBef>
                <a:spcPct val="30000"/>
              </a:spcBef>
              <a:spcAft>
                <a:spcPct val="0"/>
              </a:spcAft>
              <a:buClr>
                <a:schemeClr val="accent2"/>
              </a:buClr>
              <a:buFont typeface="Wingdings" panose="05000000000000000000" pitchFamily="2" charset="2"/>
              <a:buNone/>
            </a:pPr>
            <a:r>
              <a:rPr lang="zh-CN" altLang="en-US" sz="2400" b="1" dirty="0">
                <a:solidFill>
                  <a:srgbClr val="0000CC"/>
                </a:solidFill>
                <a:latin typeface="Arial" panose="020B0604020202090204" pitchFamily="34" charset="0"/>
                <a:ea typeface="宋体" pitchFamily="2" charset="-122"/>
              </a:rPr>
              <a:t>苏    轼</a:t>
            </a:r>
            <a:r>
              <a:rPr lang="en-US" altLang="zh-CN" sz="2400" b="1" dirty="0">
                <a:solidFill>
                  <a:srgbClr val="0000CC"/>
                </a:solidFill>
                <a:latin typeface="Arial" panose="020B0604020202090204" pitchFamily="34" charset="0"/>
                <a:ea typeface="宋体" pitchFamily="2" charset="-122"/>
              </a:rPr>
              <a:t>(1037</a:t>
            </a:r>
            <a:r>
              <a:rPr lang="zh-CN" altLang="en-US" sz="2400" b="1" dirty="0">
                <a:solidFill>
                  <a:srgbClr val="0000CC"/>
                </a:solidFill>
                <a:latin typeface="Arial" panose="020B0604020202090204" pitchFamily="34" charset="0"/>
                <a:ea typeface="宋体" pitchFamily="2" charset="-122"/>
              </a:rPr>
              <a:t>～</a:t>
            </a:r>
            <a:r>
              <a:rPr lang="en-US" altLang="zh-CN" sz="2400" b="1" dirty="0">
                <a:solidFill>
                  <a:srgbClr val="0000CC"/>
                </a:solidFill>
                <a:latin typeface="Arial" panose="020B0604020202090204" pitchFamily="34" charset="0"/>
                <a:ea typeface="宋体" pitchFamily="2" charset="-122"/>
              </a:rPr>
              <a:t>1101):</a:t>
            </a:r>
            <a:r>
              <a:rPr lang="zh-CN" altLang="en-US" sz="2400" b="1" dirty="0">
                <a:solidFill>
                  <a:schemeClr val="tx1"/>
                </a:solidFill>
                <a:latin typeface="Arial" panose="020B0604020202090204" pitchFamily="34" charset="0"/>
                <a:ea typeface="宋体" pitchFamily="2" charset="-122"/>
              </a:rPr>
              <a:t>秋花不比春花落</a:t>
            </a:r>
            <a:endParaRPr lang="zh-CN" altLang="en-US" sz="2400" b="1" dirty="0">
              <a:solidFill>
                <a:schemeClr val="tx1"/>
              </a:solidFill>
              <a:latin typeface="Arial" panose="020B0604020202090204" pitchFamily="34" charset="0"/>
              <a:ea typeface="宋体" pitchFamily="2" charset="-122"/>
            </a:endParaRPr>
          </a:p>
          <a:p>
            <a:pPr marL="1257300" lvl="2" indent="-342900" algn="l" rtl="0" eaLnBrk="1" fontAlgn="base" hangingPunct="1">
              <a:lnSpc>
                <a:spcPct val="120000"/>
              </a:lnSpc>
              <a:spcBef>
                <a:spcPct val="30000"/>
              </a:spcBef>
              <a:spcAft>
                <a:spcPct val="0"/>
              </a:spcAft>
              <a:buClr>
                <a:schemeClr val="accent2"/>
              </a:buClr>
              <a:buFont typeface="Wingdings" panose="05000000000000000000" pitchFamily="2" charset="2"/>
              <a:buNone/>
            </a:pPr>
            <a:r>
              <a:rPr lang="zh-CN" altLang="en-US" sz="2400" b="1" dirty="0">
                <a:solidFill>
                  <a:schemeClr val="tx1"/>
                </a:solidFill>
                <a:latin typeface="Arial" panose="020B0604020202090204" pitchFamily="34" charset="0"/>
                <a:ea typeface="宋体" pitchFamily="2" charset="-122"/>
              </a:rPr>
              <a:t>                                  说与诗人仔细吟</a:t>
            </a:r>
            <a:endParaRPr lang="zh-CN" altLang="en-US" sz="2400" b="1" dirty="0">
              <a:solidFill>
                <a:schemeClr val="tx1"/>
              </a:solidFill>
              <a:latin typeface="Arial" panose="020B0604020202090204" pitchFamily="34" charset="0"/>
              <a:ea typeface="宋体" pitchFamily="2" charset="-122"/>
            </a:endParaRPr>
          </a:p>
          <a:p>
            <a:pPr marL="1257300" lvl="2" indent="-342900" algn="l" rtl="0" eaLnBrk="1" fontAlgn="base" hangingPunct="1">
              <a:lnSpc>
                <a:spcPct val="120000"/>
              </a:lnSpc>
              <a:spcBef>
                <a:spcPct val="30000"/>
              </a:spcBef>
              <a:spcAft>
                <a:spcPct val="0"/>
              </a:spcAft>
              <a:buClr>
                <a:schemeClr val="accent2"/>
              </a:buClr>
              <a:buFont typeface="Wingdings" panose="05000000000000000000" pitchFamily="2" charset="2"/>
              <a:buNone/>
            </a:pPr>
            <a:r>
              <a:rPr lang="zh-CN" altLang="en-US" sz="2400" b="1" dirty="0">
                <a:solidFill>
                  <a:schemeClr val="tx1"/>
                </a:solidFill>
                <a:latin typeface="Arial" panose="020B0604020202090204" pitchFamily="34" charset="0"/>
                <a:ea typeface="宋体" pitchFamily="2" charset="-122"/>
              </a:rPr>
              <a:t>后来，王安石将苏轼贬到</a:t>
            </a:r>
            <a:r>
              <a:rPr lang="zh-CN" altLang="en-US" sz="2400" b="1" dirty="0">
                <a:solidFill>
                  <a:srgbClr val="0000CC"/>
                </a:solidFill>
                <a:latin typeface="Arial" panose="020B0604020202090204" pitchFamily="34" charset="0"/>
                <a:ea typeface="宋体" pitchFamily="2" charset="-122"/>
              </a:rPr>
              <a:t>黄州</a:t>
            </a:r>
            <a:r>
              <a:rPr lang="zh-CN" altLang="en-US" sz="2400" b="1" dirty="0">
                <a:solidFill>
                  <a:schemeClr val="tx1"/>
                </a:solidFill>
                <a:latin typeface="Arial" panose="020B0604020202090204" pitchFamily="34" charset="0"/>
                <a:ea typeface="宋体" pitchFamily="2" charset="-122"/>
              </a:rPr>
              <a:t>任团练使，见到了落花的菊花。</a:t>
            </a:r>
            <a:endParaRPr lang="zh-CN" altLang="en-US" sz="2400" b="1" dirty="0">
              <a:solidFill>
                <a:schemeClr val="tx1"/>
              </a:solidFill>
              <a:latin typeface="Arial" panose="020B0604020202090204" pitchFamily="34"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ppt_x</p:attrName>
                                        </p:attrNameLst>
                                      </p:cBhvr>
                                      <p:tavLst>
                                        <p:tav tm="0">
                                          <p:val>
                                            <p:strVal val="#ppt_x-#ppt_w/2"/>
                                          </p:val>
                                        </p:tav>
                                        <p:tav tm="100000">
                                          <p:val>
                                            <p:strVal val="#ppt_x"/>
                                          </p:val>
                                        </p:tav>
                                      </p:tavLst>
                                    </p:anim>
                                    <p:anim calcmode="lin" valueType="num">
                                      <p:cBhvr>
                                        <p:cTn id="8" dur="500" fill="hold"/>
                                        <p:tgtEl>
                                          <p:spTgt spid="11"/>
                                        </p:tgtEl>
                                        <p:attrNameLst>
                                          <p:attrName>ppt_y</p:attrName>
                                        </p:attrNameLst>
                                      </p:cBhvr>
                                      <p:tavLst>
                                        <p:tav tm="0">
                                          <p:val>
                                            <p:strVal val="#ppt_y"/>
                                          </p:val>
                                        </p:tav>
                                        <p:tav tm="100000">
                                          <p:val>
                                            <p:strVal val="#ppt_y"/>
                                          </p:val>
                                        </p:tav>
                                      </p:tavLst>
                                    </p:anim>
                                    <p:anim calcmode="lin" valueType="num">
                                      <p:cBhvr>
                                        <p:cTn id="9" dur="500" fill="hold"/>
                                        <p:tgtEl>
                                          <p:spTgt spid="11"/>
                                        </p:tgtEl>
                                        <p:attrNameLst>
                                          <p:attrName>ppt_w</p:attrName>
                                        </p:attrNameLst>
                                      </p:cBhvr>
                                      <p:tavLst>
                                        <p:tav tm="0">
                                          <p:val>
                                            <p:fltVal val="0.000000"/>
                                          </p:val>
                                        </p:tav>
                                        <p:tav tm="100000">
                                          <p:val>
                                            <p:strVal val="#ppt_w"/>
                                          </p:val>
                                        </p:tav>
                                      </p:tavLst>
                                    </p:anim>
                                    <p:anim calcmode="lin" valueType="num">
                                      <p:cBhvr>
                                        <p:cTn id="10" dur="500" fill="hold"/>
                                        <p:tgtEl>
                                          <p:spTgt spid="11"/>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7" presetClass="entr" presetSubtype="1"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p:cTn id="15" dur="500" fill="hold"/>
                                        <p:tgtEl>
                                          <p:spTgt spid="12"/>
                                        </p:tgtEl>
                                        <p:attrNameLst>
                                          <p:attrName>ppt_x</p:attrName>
                                        </p:attrNameLst>
                                      </p:cBhvr>
                                      <p:tavLst>
                                        <p:tav tm="0">
                                          <p:val>
                                            <p:strVal val="#ppt_x"/>
                                          </p:val>
                                        </p:tav>
                                        <p:tav tm="100000">
                                          <p:val>
                                            <p:strVal val="#ppt_x"/>
                                          </p:val>
                                        </p:tav>
                                      </p:tavLst>
                                    </p:anim>
                                    <p:anim calcmode="lin" valueType="num">
                                      <p:cBhvr>
                                        <p:cTn id="16" dur="500" fill="hold"/>
                                        <p:tgtEl>
                                          <p:spTgt spid="12"/>
                                        </p:tgtEl>
                                        <p:attrNameLst>
                                          <p:attrName>ppt_y</p:attrName>
                                        </p:attrNameLst>
                                      </p:cBhvr>
                                      <p:tavLst>
                                        <p:tav tm="0">
                                          <p:val>
                                            <p:strVal val="#ppt_y-#ppt_h/2"/>
                                          </p:val>
                                        </p:tav>
                                        <p:tav tm="100000">
                                          <p:val>
                                            <p:strVal val="#ppt_y"/>
                                          </p:val>
                                        </p:tav>
                                      </p:tavLst>
                                    </p:anim>
                                    <p:anim calcmode="lin" valueType="num">
                                      <p:cBhvr>
                                        <p:cTn id="17" dur="500" fill="hold"/>
                                        <p:tgtEl>
                                          <p:spTgt spid="12"/>
                                        </p:tgtEl>
                                        <p:attrNameLst>
                                          <p:attrName>ppt_w</p:attrName>
                                        </p:attrNameLst>
                                      </p:cBhvr>
                                      <p:tavLst>
                                        <p:tav tm="0">
                                          <p:val>
                                            <p:strVal val="#ppt_w"/>
                                          </p:val>
                                        </p:tav>
                                        <p:tav tm="100000">
                                          <p:val>
                                            <p:strVal val="#ppt_w"/>
                                          </p:val>
                                        </p:tav>
                                      </p:tavLst>
                                    </p:anim>
                                    <p:anim calcmode="lin" valueType="num">
                                      <p:cBhvr>
                                        <p:cTn id="18" dur="500" fill="hold"/>
                                        <p:tgtEl>
                                          <p:spTgt spid="1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灯片编号占位符 1"/>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1266" name="Rectangle 4"/>
          <p:cNvSpPr/>
          <p:nvPr/>
        </p:nvSpPr>
        <p:spPr>
          <a:xfrm>
            <a:off x="0" y="0"/>
            <a:ext cx="9144000" cy="765175"/>
          </a:xfrm>
          <a:prstGeom prst="rect">
            <a:avLst/>
          </a:prstGeom>
          <a:solidFill>
            <a:srgbClr val="A50021"/>
          </a:solidFill>
          <a:ln w="9525">
            <a:noFill/>
          </a:ln>
        </p:spPr>
        <p:txBody>
          <a:bodyPr anchor="b" anchorCtr="0"/>
          <a:p>
            <a:pPr indent="176530">
              <a:buClrTx/>
              <a:buFontTx/>
              <a:buNone/>
            </a:pPr>
            <a:r>
              <a:rPr lang="en-US" altLang="zh-CN" sz="3600" dirty="0">
                <a:solidFill>
                  <a:schemeClr val="bg1"/>
                </a:solidFill>
                <a:latin typeface="Times New Roman" panose="02020503050405090304" pitchFamily="18" charset="0"/>
                <a:ea typeface="黑体" panose="02010609060101010101" pitchFamily="49" charset="-122"/>
              </a:rPr>
              <a:t>2.1.2 </a:t>
            </a:r>
            <a:r>
              <a:rPr lang="zh-CN" altLang="en-US" sz="3600" dirty="0">
                <a:solidFill>
                  <a:schemeClr val="bg1"/>
                </a:solidFill>
                <a:latin typeface="Times New Roman" panose="02020503050405090304" pitchFamily="18" charset="0"/>
                <a:ea typeface="黑体" panose="02010609060101010101" pitchFamily="49" charset="-122"/>
              </a:rPr>
              <a:t>知识的特性</a:t>
            </a:r>
            <a:endParaRPr lang="zh-CN" altLang="en-US" sz="3600" dirty="0">
              <a:solidFill>
                <a:schemeClr val="bg1"/>
              </a:solidFill>
              <a:latin typeface="Times New Roman" panose="02020503050405090304" pitchFamily="18" charset="0"/>
              <a:ea typeface="黑体" panose="02010609060101010101" pitchFamily="49" charset="-122"/>
            </a:endParaRPr>
          </a:p>
        </p:txBody>
      </p:sp>
      <p:sp>
        <p:nvSpPr>
          <p:cNvPr id="156677" name="Rectangle 5"/>
          <p:cNvSpPr/>
          <p:nvPr/>
        </p:nvSpPr>
        <p:spPr>
          <a:xfrm>
            <a:off x="381000" y="1093153"/>
            <a:ext cx="8458200" cy="590550"/>
          </a:xfrm>
          <a:prstGeom prst="rect">
            <a:avLst/>
          </a:prstGeom>
          <a:noFill/>
          <a:ln w="9525">
            <a:noFill/>
          </a:ln>
        </p:spPr>
        <p:txBody>
          <a:bodyPr anchor="t" anchorCtr="0">
            <a:spAutoFit/>
          </a:bodyPr>
          <a:p>
            <a:pPr marL="342900" indent="-342900">
              <a:lnSpc>
                <a:spcPct val="120000"/>
              </a:lnSpc>
              <a:spcBef>
                <a:spcPct val="50000"/>
              </a:spcBef>
              <a:buClr>
                <a:schemeClr val="tx1"/>
              </a:buClr>
              <a:buFont typeface="Wingdings" panose="05000000000000000000" pitchFamily="2" charset="2"/>
              <a:buAutoNum type="arabicPeriod" startAt="2"/>
            </a:pPr>
            <a:r>
              <a:rPr lang="en-US" altLang="zh-CN" sz="3000" b="1" dirty="0">
                <a:solidFill>
                  <a:srgbClr val="0000FF"/>
                </a:solidFill>
                <a:latin typeface="Arial" panose="020B0604020202090204" pitchFamily="34" charset="0"/>
                <a:ea typeface="宋体" pitchFamily="2" charset="-122"/>
              </a:rPr>
              <a:t>  </a:t>
            </a:r>
            <a:r>
              <a:rPr lang="zh-CN" altLang="en-US" sz="3000" b="1" dirty="0">
                <a:solidFill>
                  <a:srgbClr val="0000FF"/>
                </a:solidFill>
                <a:latin typeface="Arial" panose="020B0604020202090204" pitchFamily="34" charset="0"/>
                <a:ea typeface="宋体" pitchFamily="2" charset="-122"/>
              </a:rPr>
              <a:t>不确定性</a:t>
            </a:r>
            <a:endParaRPr lang="zh-CN" altLang="en-US" sz="2600" b="1" dirty="0">
              <a:solidFill>
                <a:srgbClr val="0000FF"/>
              </a:solidFill>
              <a:latin typeface="Arial" panose="020B0604020202090204" pitchFamily="34" charset="0"/>
              <a:ea typeface="宋体" pitchFamily="2" charset="-122"/>
            </a:endParaRPr>
          </a:p>
        </p:txBody>
      </p:sp>
      <p:sp>
        <p:nvSpPr>
          <p:cNvPr id="156678" name="Rectangle 6"/>
          <p:cNvSpPr/>
          <p:nvPr/>
        </p:nvSpPr>
        <p:spPr>
          <a:xfrm>
            <a:off x="0" y="1778953"/>
            <a:ext cx="5486400" cy="2592387"/>
          </a:xfrm>
          <a:prstGeom prst="rect">
            <a:avLst/>
          </a:prstGeom>
          <a:noFill/>
          <a:ln w="9525">
            <a:noFill/>
          </a:ln>
        </p:spPr>
        <p:txBody>
          <a:bodyPr anchor="t" anchorCtr="0">
            <a:spAutoFit/>
          </a:bodyPr>
          <a:p>
            <a:pPr marL="1257300" lvl="2" indent="-342900" algn="l" rtl="0" eaLnBrk="1" fontAlgn="base" hangingPunct="1">
              <a:lnSpc>
                <a:spcPct val="120000"/>
              </a:lnSpc>
              <a:spcBef>
                <a:spcPct val="50000"/>
              </a:spcBef>
              <a:spcAft>
                <a:spcPct val="0"/>
              </a:spcAft>
              <a:buClr>
                <a:schemeClr val="accent2"/>
              </a:buClr>
              <a:buFont typeface="Wingdings" panose="05000000000000000000" pitchFamily="2" charset="2"/>
              <a:buAutoNum type="circleNumDbPlain"/>
            </a:pPr>
            <a:r>
              <a:rPr lang="en-US" altLang="zh-CN" sz="2600" b="1" dirty="0">
                <a:solidFill>
                  <a:schemeClr val="tx1"/>
                </a:solidFill>
                <a:latin typeface="Arial" panose="020B0604020202090204" pitchFamily="34" charset="0"/>
                <a:ea typeface="宋体" pitchFamily="2" charset="-122"/>
              </a:rPr>
              <a:t> </a:t>
            </a:r>
            <a:r>
              <a:rPr lang="zh-CN" altLang="en-US" sz="2600" b="1" dirty="0">
                <a:solidFill>
                  <a:schemeClr val="tx1"/>
                </a:solidFill>
                <a:latin typeface="Arial" panose="020B0604020202090204" pitchFamily="34" charset="0"/>
                <a:ea typeface="宋体" pitchFamily="2" charset="-122"/>
              </a:rPr>
              <a:t>随机性引起的不确定性 </a:t>
            </a:r>
            <a:endParaRPr lang="zh-CN" altLang="en-US" sz="2600" b="1" dirty="0">
              <a:solidFill>
                <a:schemeClr val="tx1"/>
              </a:solidFill>
              <a:latin typeface="Arial" panose="020B0604020202090204" pitchFamily="34" charset="0"/>
              <a:ea typeface="宋体" pitchFamily="2" charset="-122"/>
            </a:endParaRPr>
          </a:p>
          <a:p>
            <a:pPr marL="1257300" lvl="2" indent="-342900" algn="l" rtl="0" eaLnBrk="1" fontAlgn="base" hangingPunct="1">
              <a:lnSpc>
                <a:spcPct val="120000"/>
              </a:lnSpc>
              <a:spcBef>
                <a:spcPct val="50000"/>
              </a:spcBef>
              <a:spcAft>
                <a:spcPct val="0"/>
              </a:spcAft>
              <a:buClr>
                <a:schemeClr val="accent2"/>
              </a:buClr>
              <a:buFont typeface="Wingdings" panose="05000000000000000000" pitchFamily="2" charset="2"/>
              <a:buAutoNum type="circleNumDbPlain"/>
            </a:pPr>
            <a:r>
              <a:rPr lang="zh-CN" altLang="en-US" sz="2600" b="1" dirty="0">
                <a:solidFill>
                  <a:schemeClr val="tx1"/>
                </a:solidFill>
                <a:latin typeface="Arial" panose="020B0604020202090204" pitchFamily="34" charset="0"/>
                <a:ea typeface="宋体" pitchFamily="2" charset="-122"/>
              </a:rPr>
              <a:t> 模糊性引起的不确定性 </a:t>
            </a:r>
            <a:endParaRPr lang="zh-CN" altLang="en-US" sz="2600" b="1" dirty="0">
              <a:solidFill>
                <a:schemeClr val="tx1"/>
              </a:solidFill>
              <a:latin typeface="Arial" panose="020B0604020202090204" pitchFamily="34" charset="0"/>
              <a:ea typeface="宋体" pitchFamily="2" charset="-122"/>
            </a:endParaRPr>
          </a:p>
          <a:p>
            <a:pPr marL="1257300" lvl="2" indent="-342900" algn="l" rtl="0" eaLnBrk="1" fontAlgn="base" hangingPunct="1">
              <a:lnSpc>
                <a:spcPct val="120000"/>
              </a:lnSpc>
              <a:spcBef>
                <a:spcPct val="50000"/>
              </a:spcBef>
              <a:spcAft>
                <a:spcPct val="0"/>
              </a:spcAft>
              <a:buClr>
                <a:schemeClr val="accent2"/>
              </a:buClr>
              <a:buFont typeface="Wingdings" panose="05000000000000000000" pitchFamily="2" charset="2"/>
              <a:buAutoNum type="circleNumDbPlain"/>
            </a:pPr>
            <a:r>
              <a:rPr lang="zh-CN" altLang="en-US" sz="2600" b="1" dirty="0">
                <a:solidFill>
                  <a:schemeClr val="tx1"/>
                </a:solidFill>
                <a:latin typeface="Arial" panose="020B0604020202090204" pitchFamily="34" charset="0"/>
                <a:ea typeface="宋体" pitchFamily="2" charset="-122"/>
              </a:rPr>
              <a:t> 经验引起的不确定性</a:t>
            </a:r>
            <a:endParaRPr lang="zh-CN" altLang="en-US" sz="2600" b="1" dirty="0">
              <a:solidFill>
                <a:schemeClr val="tx1"/>
              </a:solidFill>
              <a:latin typeface="Arial" panose="020B0604020202090204" pitchFamily="34" charset="0"/>
              <a:ea typeface="宋体" pitchFamily="2" charset="-122"/>
            </a:endParaRPr>
          </a:p>
          <a:p>
            <a:pPr marL="1257300" lvl="2" indent="-342900" algn="l" rtl="0" eaLnBrk="1" fontAlgn="base" hangingPunct="1">
              <a:lnSpc>
                <a:spcPct val="120000"/>
              </a:lnSpc>
              <a:spcBef>
                <a:spcPct val="50000"/>
              </a:spcBef>
              <a:spcAft>
                <a:spcPct val="0"/>
              </a:spcAft>
              <a:buClr>
                <a:schemeClr val="accent2"/>
              </a:buClr>
              <a:buFont typeface="Wingdings" panose="05000000000000000000" pitchFamily="2" charset="2"/>
              <a:buAutoNum type="circleNumDbPlain"/>
            </a:pPr>
            <a:r>
              <a:rPr lang="zh-CN" altLang="en-US" sz="2600" b="1" dirty="0">
                <a:solidFill>
                  <a:schemeClr val="tx1"/>
                </a:solidFill>
                <a:latin typeface="Arial" panose="020B0604020202090204" pitchFamily="34" charset="0"/>
                <a:ea typeface="宋体" pitchFamily="2" charset="-122"/>
              </a:rPr>
              <a:t> 不完全性引起的不确定性</a:t>
            </a:r>
            <a:endParaRPr lang="zh-CN" altLang="en-US" sz="2600" b="1" dirty="0">
              <a:solidFill>
                <a:schemeClr val="tx1"/>
              </a:solidFill>
              <a:latin typeface="Arial" panose="020B0604020202090204" pitchFamily="34"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6677"/>
                                        </p:tgtEl>
                                        <p:attrNameLst>
                                          <p:attrName>style.visibility</p:attrName>
                                        </p:attrNameLst>
                                      </p:cBhvr>
                                      <p:to>
                                        <p:strVal val="visible"/>
                                      </p:to>
                                    </p:set>
                                    <p:anim calcmode="lin" valueType="num">
                                      <p:cBhvr additive="base">
                                        <p:cTn id="7" dur="500" fill="hold"/>
                                        <p:tgtEl>
                                          <p:spTgt spid="156677"/>
                                        </p:tgtEl>
                                        <p:attrNameLst>
                                          <p:attrName>ppt_x</p:attrName>
                                        </p:attrNameLst>
                                      </p:cBhvr>
                                      <p:tavLst>
                                        <p:tav tm="0">
                                          <p:val>
                                            <p:strVal val="0-#ppt_w/2"/>
                                          </p:val>
                                        </p:tav>
                                        <p:tav tm="100000">
                                          <p:val>
                                            <p:strVal val="#ppt_x"/>
                                          </p:val>
                                        </p:tav>
                                      </p:tavLst>
                                    </p:anim>
                                    <p:anim calcmode="lin" valueType="num">
                                      <p:cBhvr additive="base">
                                        <p:cTn id="8" dur="500" fill="hold"/>
                                        <p:tgtEl>
                                          <p:spTgt spid="15667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 fill="hold" grpId="0" nodeType="clickEffect">
                                  <p:stCondLst>
                                    <p:cond delay="0"/>
                                  </p:stCondLst>
                                  <p:childTnLst>
                                    <p:set>
                                      <p:cBhvr>
                                        <p:cTn id="12" dur="1" fill="hold">
                                          <p:stCondLst>
                                            <p:cond delay="0"/>
                                          </p:stCondLst>
                                        </p:cTn>
                                        <p:tgtEl>
                                          <p:spTgt spid="156678"/>
                                        </p:tgtEl>
                                        <p:attrNameLst>
                                          <p:attrName>style.visibility</p:attrName>
                                        </p:attrNameLst>
                                      </p:cBhvr>
                                      <p:to>
                                        <p:strVal val="visible"/>
                                      </p:to>
                                    </p:set>
                                    <p:anim calcmode="lin" valueType="num">
                                      <p:cBhvr>
                                        <p:cTn id="13" dur="500" fill="hold"/>
                                        <p:tgtEl>
                                          <p:spTgt spid="156678"/>
                                        </p:tgtEl>
                                        <p:attrNameLst>
                                          <p:attrName>ppt_x</p:attrName>
                                        </p:attrNameLst>
                                      </p:cBhvr>
                                      <p:tavLst>
                                        <p:tav tm="0">
                                          <p:val>
                                            <p:strVal val="#ppt_x"/>
                                          </p:val>
                                        </p:tav>
                                        <p:tav tm="100000">
                                          <p:val>
                                            <p:strVal val="#ppt_x"/>
                                          </p:val>
                                        </p:tav>
                                      </p:tavLst>
                                    </p:anim>
                                    <p:anim calcmode="lin" valueType="num">
                                      <p:cBhvr>
                                        <p:cTn id="14" dur="500" fill="hold"/>
                                        <p:tgtEl>
                                          <p:spTgt spid="156678"/>
                                        </p:tgtEl>
                                        <p:attrNameLst>
                                          <p:attrName>ppt_y</p:attrName>
                                        </p:attrNameLst>
                                      </p:cBhvr>
                                      <p:tavLst>
                                        <p:tav tm="0">
                                          <p:val>
                                            <p:strVal val="#ppt_y-#ppt_h/2"/>
                                          </p:val>
                                        </p:tav>
                                        <p:tav tm="100000">
                                          <p:val>
                                            <p:strVal val="#ppt_y"/>
                                          </p:val>
                                        </p:tav>
                                      </p:tavLst>
                                    </p:anim>
                                    <p:anim calcmode="lin" valueType="num">
                                      <p:cBhvr>
                                        <p:cTn id="15" dur="500" fill="hold"/>
                                        <p:tgtEl>
                                          <p:spTgt spid="156678"/>
                                        </p:tgtEl>
                                        <p:attrNameLst>
                                          <p:attrName>ppt_w</p:attrName>
                                        </p:attrNameLst>
                                      </p:cBhvr>
                                      <p:tavLst>
                                        <p:tav tm="0">
                                          <p:val>
                                            <p:strVal val="#ppt_w"/>
                                          </p:val>
                                        </p:tav>
                                        <p:tav tm="100000">
                                          <p:val>
                                            <p:strVal val="#ppt_w"/>
                                          </p:val>
                                        </p:tav>
                                      </p:tavLst>
                                    </p:anim>
                                    <p:anim calcmode="lin" valueType="num">
                                      <p:cBhvr>
                                        <p:cTn id="16" dur="500" fill="hold"/>
                                        <p:tgtEl>
                                          <p:spTgt spid="156678"/>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7" grpId="0"/>
      <p:bldP spid="15667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灯片编号占位符 1"/>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2290" name="Rectangle 4"/>
          <p:cNvSpPr/>
          <p:nvPr/>
        </p:nvSpPr>
        <p:spPr>
          <a:xfrm>
            <a:off x="0" y="0"/>
            <a:ext cx="9144000" cy="765175"/>
          </a:xfrm>
          <a:prstGeom prst="rect">
            <a:avLst/>
          </a:prstGeom>
          <a:solidFill>
            <a:srgbClr val="A50021"/>
          </a:solidFill>
          <a:ln w="9525">
            <a:noFill/>
          </a:ln>
        </p:spPr>
        <p:txBody>
          <a:bodyPr anchor="b" anchorCtr="0"/>
          <a:p>
            <a:pPr indent="176530">
              <a:buClrTx/>
              <a:buFontTx/>
              <a:buNone/>
            </a:pPr>
            <a:r>
              <a:rPr lang="en-US" altLang="zh-CN" sz="3600" dirty="0">
                <a:solidFill>
                  <a:schemeClr val="bg1"/>
                </a:solidFill>
                <a:latin typeface="黑体" panose="02010609060101010101" pitchFamily="49" charset="-122"/>
                <a:ea typeface="黑体" panose="02010609060101010101" pitchFamily="49" charset="-122"/>
              </a:rPr>
              <a:t>2.1.2 </a:t>
            </a:r>
            <a:r>
              <a:rPr lang="zh-CN" altLang="en-US" sz="3600" dirty="0">
                <a:solidFill>
                  <a:schemeClr val="bg1"/>
                </a:solidFill>
                <a:latin typeface="黑体" panose="02010609060101010101" pitchFamily="49" charset="-122"/>
                <a:ea typeface="黑体" panose="02010609060101010101" pitchFamily="49" charset="-122"/>
              </a:rPr>
              <a:t>知识的特性</a:t>
            </a:r>
            <a:endParaRPr lang="zh-CN" altLang="en-US" sz="3600" dirty="0">
              <a:solidFill>
                <a:schemeClr val="bg1"/>
              </a:solidFill>
              <a:latin typeface="黑体" panose="02010609060101010101" pitchFamily="49" charset="-122"/>
              <a:ea typeface="黑体" panose="02010609060101010101" pitchFamily="49" charset="-122"/>
            </a:endParaRPr>
          </a:p>
        </p:txBody>
      </p:sp>
      <p:sp>
        <p:nvSpPr>
          <p:cNvPr id="7" name="Rectangle 5"/>
          <p:cNvSpPr/>
          <p:nvPr/>
        </p:nvSpPr>
        <p:spPr>
          <a:xfrm>
            <a:off x="381000" y="957263"/>
            <a:ext cx="8458200" cy="641350"/>
          </a:xfrm>
          <a:prstGeom prst="rect">
            <a:avLst/>
          </a:prstGeom>
          <a:noFill/>
          <a:ln w="9525">
            <a:noFill/>
          </a:ln>
        </p:spPr>
        <p:txBody>
          <a:bodyPr anchor="t" anchorCtr="0">
            <a:spAutoFit/>
          </a:bodyPr>
          <a:p>
            <a:pPr marL="342900" indent="-342900">
              <a:lnSpc>
                <a:spcPct val="120000"/>
              </a:lnSpc>
              <a:spcBef>
                <a:spcPct val="50000"/>
              </a:spcBef>
              <a:buClr>
                <a:schemeClr val="tx1"/>
              </a:buClr>
              <a:buFont typeface="Wingdings" panose="05000000000000000000" pitchFamily="2" charset="2"/>
              <a:buAutoNum type="arabicPeriod" startAt="2"/>
            </a:pPr>
            <a:r>
              <a:rPr lang="en-US" altLang="zh-CN" sz="3000" b="1" dirty="0">
                <a:latin typeface="Arial" panose="020B0604020202090204" pitchFamily="34" charset="0"/>
                <a:ea typeface="宋体" pitchFamily="2" charset="-122"/>
              </a:rPr>
              <a:t>  </a:t>
            </a:r>
            <a:r>
              <a:rPr lang="zh-CN" altLang="en-US" sz="3000" b="1" dirty="0">
                <a:latin typeface="Arial" panose="020B0604020202090204" pitchFamily="34" charset="0"/>
                <a:ea typeface="宋体" pitchFamily="2" charset="-122"/>
              </a:rPr>
              <a:t>不确定性</a:t>
            </a:r>
            <a:endParaRPr lang="zh-CN" altLang="en-US" sz="2600" b="1" dirty="0">
              <a:latin typeface="Arial" panose="020B0604020202090204" pitchFamily="34" charset="0"/>
              <a:ea typeface="宋体" pitchFamily="2" charset="-122"/>
            </a:endParaRPr>
          </a:p>
        </p:txBody>
      </p:sp>
      <p:sp>
        <p:nvSpPr>
          <p:cNvPr id="8" name="Rectangle 6"/>
          <p:cNvSpPr/>
          <p:nvPr/>
        </p:nvSpPr>
        <p:spPr>
          <a:xfrm>
            <a:off x="-660400" y="1643063"/>
            <a:ext cx="5232400" cy="525462"/>
          </a:xfrm>
          <a:prstGeom prst="rect">
            <a:avLst/>
          </a:prstGeom>
          <a:noFill/>
          <a:ln w="9525">
            <a:noFill/>
          </a:ln>
        </p:spPr>
        <p:txBody>
          <a:bodyPr anchor="t" anchorCtr="0">
            <a:spAutoFit/>
          </a:bodyPr>
          <a:p>
            <a:pPr marL="1257300" lvl="2" indent="-342900" algn="l" rtl="0" eaLnBrk="1" fontAlgn="base" hangingPunct="1">
              <a:lnSpc>
                <a:spcPct val="120000"/>
              </a:lnSpc>
              <a:spcBef>
                <a:spcPct val="50000"/>
              </a:spcBef>
              <a:spcAft>
                <a:spcPct val="0"/>
              </a:spcAft>
              <a:buClr>
                <a:schemeClr val="accent2"/>
              </a:buClr>
              <a:buFont typeface="Wingdings" panose="05000000000000000000" pitchFamily="2" charset="2"/>
              <a:buAutoNum type="circleNumDbPlain"/>
            </a:pPr>
            <a:r>
              <a:rPr lang="en-US" altLang="zh-CN" sz="2600" b="1" dirty="0">
                <a:solidFill>
                  <a:srgbClr val="0000FF"/>
                </a:solidFill>
                <a:latin typeface="Arial" panose="020B0604020202090204" pitchFamily="34" charset="0"/>
                <a:ea typeface="宋体" pitchFamily="2" charset="-122"/>
              </a:rPr>
              <a:t> </a:t>
            </a:r>
            <a:r>
              <a:rPr lang="zh-CN" altLang="en-US" sz="2600" b="1" dirty="0">
                <a:solidFill>
                  <a:srgbClr val="0000FF"/>
                </a:solidFill>
                <a:latin typeface="Arial" panose="020B0604020202090204" pitchFamily="34" charset="0"/>
                <a:ea typeface="宋体" pitchFamily="2" charset="-122"/>
              </a:rPr>
              <a:t>随机性引起的不确定性</a:t>
            </a:r>
            <a:endParaRPr lang="zh-CN" altLang="en-US" sz="2600" b="1" dirty="0">
              <a:solidFill>
                <a:srgbClr val="0000FF"/>
              </a:solidFill>
              <a:latin typeface="Arial" panose="020B0604020202090204" pitchFamily="34" charset="0"/>
              <a:ea typeface="宋体" pitchFamily="2" charset="-122"/>
            </a:endParaRPr>
          </a:p>
        </p:txBody>
      </p:sp>
      <p:sp>
        <p:nvSpPr>
          <p:cNvPr id="9" name="AutoShape 8"/>
          <p:cNvSpPr/>
          <p:nvPr/>
        </p:nvSpPr>
        <p:spPr>
          <a:xfrm>
            <a:off x="3581400" y="881063"/>
            <a:ext cx="5459413" cy="609600"/>
          </a:xfrm>
          <a:prstGeom prst="borderCallout2">
            <a:avLst>
              <a:gd name="adj1" fmla="val 18750"/>
              <a:gd name="adj2" fmla="val -1394"/>
              <a:gd name="adj3" fmla="val 18750"/>
              <a:gd name="adj4" fmla="val -6194"/>
              <a:gd name="adj5" fmla="val 149741"/>
              <a:gd name="adj6" fmla="val -11139"/>
            </a:avLst>
          </a:prstGeom>
          <a:solidFill>
            <a:schemeClr val="bg2"/>
          </a:solidFill>
          <a:ln w="9525" cap="flat" cmpd="sng">
            <a:solidFill>
              <a:schemeClr val="tx1"/>
            </a:solidFill>
            <a:prstDash val="solid"/>
            <a:miter/>
            <a:headEnd type="none" w="med" len="med"/>
            <a:tailEnd type="none" w="med" len="med"/>
          </a:ln>
        </p:spPr>
        <p:txBody>
          <a:bodyPr anchor="t" anchorCtr="0"/>
          <a:p>
            <a:pPr algn="ctr">
              <a:buClrTx/>
              <a:buFontTx/>
              <a:buNone/>
            </a:pPr>
            <a:r>
              <a:rPr lang="en-US" altLang="zh-CN" sz="2400" b="1" dirty="0">
                <a:latin typeface="Times New Roman" panose="02020503050405090304" pitchFamily="18" charset="0"/>
                <a:ea typeface="宋体" pitchFamily="2" charset="-122"/>
              </a:rPr>
              <a:t>“</a:t>
            </a:r>
            <a:r>
              <a:rPr lang="zh-CN" altLang="en-US" sz="2400" b="1" dirty="0">
                <a:latin typeface="宋体" pitchFamily="2" charset="-122"/>
                <a:ea typeface="宋体" pitchFamily="2" charset="-122"/>
              </a:rPr>
              <a:t>如果头痛且流涕，则</a:t>
            </a:r>
            <a:r>
              <a:rPr lang="zh-CN" altLang="en-US" sz="2400" b="1" dirty="0">
                <a:solidFill>
                  <a:schemeClr val="accent2"/>
                </a:solidFill>
                <a:latin typeface="宋体" pitchFamily="2" charset="-122"/>
                <a:ea typeface="宋体" pitchFamily="2" charset="-122"/>
              </a:rPr>
              <a:t>有可能</a:t>
            </a:r>
            <a:r>
              <a:rPr lang="zh-CN" altLang="en-US" sz="2400" b="1" dirty="0">
                <a:latin typeface="宋体" pitchFamily="2" charset="-122"/>
                <a:ea typeface="宋体" pitchFamily="2" charset="-122"/>
              </a:rPr>
              <a:t>患了感冒</a:t>
            </a:r>
            <a:r>
              <a:rPr lang="zh-CN" altLang="en-US" sz="2400" b="1" dirty="0">
                <a:latin typeface="Times New Roman" panose="02020503050405090304" pitchFamily="18" charset="0"/>
                <a:ea typeface="宋体" pitchFamily="2" charset="-122"/>
              </a:rPr>
              <a:t>”</a:t>
            </a:r>
            <a:r>
              <a:rPr lang="zh-CN" altLang="en-US" b="1" dirty="0">
                <a:latin typeface="Arial" panose="020B0604020202090204" pitchFamily="34" charset="0"/>
                <a:ea typeface="宋体" pitchFamily="2" charset="-122"/>
              </a:rPr>
              <a:t> </a:t>
            </a:r>
            <a:endParaRPr lang="zh-CN" altLang="en-US" b="1" dirty="0">
              <a:latin typeface="Arial" panose="020B0604020202090204" pitchFamily="34" charset="0"/>
              <a:ea typeface="宋体" pitchFamily="2" charset="-122"/>
            </a:endParaRPr>
          </a:p>
        </p:txBody>
      </p:sp>
      <p:sp>
        <p:nvSpPr>
          <p:cNvPr id="12294" name="Rectangle 5"/>
          <p:cNvSpPr/>
          <p:nvPr/>
        </p:nvSpPr>
        <p:spPr>
          <a:xfrm>
            <a:off x="220663" y="2359025"/>
            <a:ext cx="8820150" cy="2139950"/>
          </a:xfrm>
          <a:prstGeom prst="rect">
            <a:avLst/>
          </a:prstGeom>
          <a:noFill/>
          <a:ln w="9525">
            <a:noFill/>
          </a:ln>
        </p:spPr>
        <p:txBody>
          <a:bodyPr anchor="t" anchorCtr="0"/>
          <a:p>
            <a:pPr>
              <a:lnSpc>
                <a:spcPct val="120000"/>
              </a:lnSpc>
              <a:spcBef>
                <a:spcPct val="20000"/>
              </a:spcBef>
              <a:buClr>
                <a:schemeClr val="accent2"/>
              </a:buClr>
              <a:buFont typeface="Wingdings" panose="05000000000000000000" pitchFamily="2" charset="2"/>
              <a:buChar char="•"/>
            </a:pPr>
            <a:r>
              <a:rPr lang="en-US" altLang="zh-CN" sz="2800" dirty="0">
                <a:latin typeface="Arial" panose="020B0604020202090204" pitchFamily="34" charset="0"/>
                <a:ea typeface="宋体" pitchFamily="2" charset="-122"/>
              </a:rPr>
              <a:t> </a:t>
            </a:r>
            <a:r>
              <a:rPr lang="en-US" altLang="zh-CN" sz="2400" b="1" dirty="0">
                <a:latin typeface="Arial" panose="020B0604020202090204" pitchFamily="34" charset="0"/>
                <a:ea typeface="宋体" pitchFamily="2" charset="-122"/>
              </a:rPr>
              <a:t>《</a:t>
            </a:r>
            <a:r>
              <a:rPr lang="zh-CN" altLang="en-US" sz="2400" b="1" dirty="0">
                <a:latin typeface="Arial" panose="020B0604020202090204" pitchFamily="34" charset="0"/>
                <a:ea typeface="宋体" pitchFamily="2" charset="-122"/>
              </a:rPr>
              <a:t>三国演义</a:t>
            </a:r>
            <a:r>
              <a:rPr lang="en-US" altLang="zh-CN" sz="2400" b="1" dirty="0">
                <a:latin typeface="Arial" panose="020B0604020202090204" pitchFamily="34" charset="0"/>
                <a:ea typeface="宋体" pitchFamily="2" charset="-122"/>
              </a:rPr>
              <a:t>》</a:t>
            </a:r>
            <a:r>
              <a:rPr lang="zh-CN" altLang="en-US" sz="2400" b="1" dirty="0">
                <a:latin typeface="Arial" panose="020B0604020202090204" pitchFamily="34" charset="0"/>
                <a:ea typeface="宋体" pitchFamily="2" charset="-122"/>
              </a:rPr>
              <a:t>火烧赤壁：</a:t>
            </a:r>
            <a:endParaRPr lang="zh-CN" altLang="en-US" sz="2400" b="1" dirty="0">
              <a:latin typeface="Arial" panose="020B0604020202090204" pitchFamily="34" charset="0"/>
              <a:ea typeface="宋体" pitchFamily="2" charset="-122"/>
            </a:endParaRPr>
          </a:p>
          <a:p>
            <a:pPr>
              <a:lnSpc>
                <a:spcPct val="120000"/>
              </a:lnSpc>
              <a:spcBef>
                <a:spcPct val="20000"/>
              </a:spcBef>
              <a:buClr>
                <a:schemeClr val="accent2"/>
              </a:buClr>
              <a:buFont typeface="Wingdings" panose="05000000000000000000" pitchFamily="2" charset="2"/>
              <a:buChar char="•"/>
            </a:pPr>
            <a:r>
              <a:rPr lang="zh-CN" altLang="en-US" sz="2400" b="1" dirty="0">
                <a:solidFill>
                  <a:srgbClr val="0000FF"/>
                </a:solidFill>
                <a:latin typeface="Arial" panose="020B0604020202090204" pitchFamily="34" charset="0"/>
                <a:ea typeface="宋体" pitchFamily="2" charset="-122"/>
              </a:rPr>
              <a:t>操升帐谓众谋士曰：</a:t>
            </a:r>
            <a:r>
              <a:rPr lang="zh-CN" altLang="en-US" sz="2400" b="1" dirty="0">
                <a:latin typeface="Arial" panose="020B0604020202090204" pitchFamily="34" charset="0"/>
                <a:ea typeface="宋体" pitchFamily="2" charset="-122"/>
              </a:rPr>
              <a:t>若非天命助吾，安得凤雏妙计？铁索连舟，果然渡江如履平地。</a:t>
            </a:r>
            <a:endParaRPr lang="zh-CN" altLang="en-US" sz="2400" b="1" dirty="0">
              <a:latin typeface="Arial" panose="020B0604020202090204" pitchFamily="34" charset="0"/>
              <a:ea typeface="宋体" pitchFamily="2" charset="-122"/>
            </a:endParaRPr>
          </a:p>
          <a:p>
            <a:pPr>
              <a:lnSpc>
                <a:spcPct val="120000"/>
              </a:lnSpc>
              <a:spcBef>
                <a:spcPct val="20000"/>
              </a:spcBef>
              <a:buClr>
                <a:schemeClr val="accent2"/>
              </a:buClr>
              <a:buFont typeface="Wingdings" panose="05000000000000000000" pitchFamily="2" charset="2"/>
              <a:buChar char="•"/>
            </a:pPr>
            <a:r>
              <a:rPr lang="zh-CN" altLang="en-US" sz="2400" b="1" dirty="0">
                <a:solidFill>
                  <a:srgbClr val="0000FF"/>
                </a:solidFill>
                <a:latin typeface="Arial" panose="020B0604020202090204" pitchFamily="34" charset="0"/>
                <a:ea typeface="宋体" pitchFamily="2" charset="-122"/>
              </a:rPr>
              <a:t>程昱曰：</a:t>
            </a:r>
            <a:r>
              <a:rPr lang="zh-CN" altLang="en-US" sz="2400" b="1" dirty="0">
                <a:latin typeface="Arial" panose="020B0604020202090204" pitchFamily="34" charset="0"/>
                <a:ea typeface="宋体" pitchFamily="2" charset="-122"/>
              </a:rPr>
              <a:t>彼若用火攻，难以回避，不得不防。</a:t>
            </a:r>
            <a:endParaRPr lang="zh-CN" altLang="en-US" sz="2400" b="1" dirty="0">
              <a:latin typeface="Arial" panose="020B0604020202090204" pitchFamily="34" charset="0"/>
              <a:ea typeface="宋体" pitchFamily="2" charset="-122"/>
            </a:endParaRPr>
          </a:p>
          <a:p>
            <a:pPr>
              <a:lnSpc>
                <a:spcPct val="120000"/>
              </a:lnSpc>
              <a:spcBef>
                <a:spcPct val="20000"/>
              </a:spcBef>
              <a:buClr>
                <a:schemeClr val="accent2"/>
              </a:buClr>
              <a:buFont typeface="Wingdings" panose="05000000000000000000" pitchFamily="2" charset="2"/>
              <a:buChar char="•"/>
            </a:pPr>
            <a:r>
              <a:rPr lang="zh-CN" altLang="en-US" sz="2400" b="1" dirty="0">
                <a:solidFill>
                  <a:srgbClr val="0000FF"/>
                </a:solidFill>
                <a:latin typeface="Arial" panose="020B0604020202090204" pitchFamily="34" charset="0"/>
                <a:ea typeface="宋体" pitchFamily="2" charset="-122"/>
              </a:rPr>
              <a:t>操曰：</a:t>
            </a:r>
            <a:r>
              <a:rPr lang="zh-CN" altLang="en-US" sz="2400" b="1" dirty="0">
                <a:latin typeface="Arial" panose="020B0604020202090204" pitchFamily="34" charset="0"/>
                <a:ea typeface="宋体" pitchFamily="2" charset="-122"/>
              </a:rPr>
              <a:t>凡用火攻，必借风力。方今隆冬之际，但有西风北风，安有东风南风耶？吾居于西北之上，彼兵皆在南岸，彼若用火，是烧自己之兵也，吾何惧哉？</a:t>
            </a:r>
            <a:endParaRPr lang="zh-CN" altLang="en-US" sz="2400" b="1" dirty="0">
              <a:latin typeface="Arial" panose="020B0604020202090204" pitchFamily="34" charset="0"/>
              <a:ea typeface="宋体" pitchFamily="2" charset="-122"/>
            </a:endParaRPr>
          </a:p>
          <a:p>
            <a:pPr>
              <a:lnSpc>
                <a:spcPct val="120000"/>
              </a:lnSpc>
              <a:spcBef>
                <a:spcPct val="20000"/>
              </a:spcBef>
              <a:buClr>
                <a:schemeClr val="accent2"/>
              </a:buClr>
              <a:buFont typeface="Wingdings" panose="05000000000000000000" pitchFamily="2" charset="2"/>
              <a:buChar char="•"/>
            </a:pPr>
            <a:r>
              <a:rPr lang="zh-CN" altLang="en-US" sz="2400" b="1" dirty="0">
                <a:solidFill>
                  <a:srgbClr val="0000FF"/>
                </a:solidFill>
                <a:latin typeface="Arial" panose="020B0604020202090204" pitchFamily="34" charset="0"/>
                <a:ea typeface="宋体" pitchFamily="2" charset="-122"/>
              </a:rPr>
              <a:t>诸将皆拜服曰：</a:t>
            </a:r>
            <a:r>
              <a:rPr lang="zh-CN" altLang="en-US" sz="2400" b="1" dirty="0">
                <a:latin typeface="Arial" panose="020B0604020202090204" pitchFamily="34" charset="0"/>
                <a:ea typeface="宋体" pitchFamily="2" charset="-122"/>
              </a:rPr>
              <a:t>丞相高见，众人不及。</a:t>
            </a:r>
            <a:endParaRPr lang="zh-CN" altLang="en-US" sz="2400" b="1" dirty="0">
              <a:latin typeface="Times New Roman" panose="02020503050405090304" pitchFamily="18"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ppt_h/2"/>
                                          </p:val>
                                        </p:tav>
                                        <p:tav tm="100000">
                                          <p:val>
                                            <p:strVal val="#ppt_y"/>
                                          </p:val>
                                        </p:tav>
                                      </p:tavLst>
                                    </p:anim>
                                    <p:anim calcmode="lin" valueType="num">
                                      <p:cBhvr>
                                        <p:cTn id="15" dur="500" fill="hold"/>
                                        <p:tgtEl>
                                          <p:spTgt spid="8"/>
                                        </p:tgtEl>
                                        <p:attrNameLst>
                                          <p:attrName>ppt_w</p:attrName>
                                        </p:attrNameLst>
                                      </p:cBhvr>
                                      <p:tavLst>
                                        <p:tav tm="0">
                                          <p:val>
                                            <p:strVal val="#ppt_w"/>
                                          </p:val>
                                        </p:tav>
                                        <p:tav tm="100000">
                                          <p:val>
                                            <p:strVal val="#ppt_w"/>
                                          </p:val>
                                        </p:tav>
                                      </p:tavLst>
                                    </p:anim>
                                    <p:anim calcmode="lin" valueType="num">
                                      <p:cBhvr>
                                        <p:cTn id="16" dur="500" fill="hold"/>
                                        <p:tgtEl>
                                          <p:spTgt spid="8"/>
                                        </p:tgtEl>
                                        <p:attrNameLst>
                                          <p:attrName>ppt_h</p:attrName>
                                        </p:attrNameLst>
                                      </p:cBhvr>
                                      <p:tavLst>
                                        <p:tav tm="0">
                                          <p:val>
                                            <p:fltVal val="0.00000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7" presetClass="entr" presetSubtype="8"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ppt_x</p:attrName>
                                        </p:attrNameLst>
                                      </p:cBhvr>
                                      <p:tavLst>
                                        <p:tav tm="0">
                                          <p:val>
                                            <p:strVal val="#ppt_x-#ppt_w/2"/>
                                          </p:val>
                                        </p:tav>
                                        <p:tav tm="100000">
                                          <p:val>
                                            <p:strVal val="#ppt_x"/>
                                          </p:val>
                                        </p:tav>
                                      </p:tavLst>
                                    </p:anim>
                                    <p:anim calcmode="lin" valueType="num">
                                      <p:cBhvr>
                                        <p:cTn id="22" dur="500" fill="hold"/>
                                        <p:tgtEl>
                                          <p:spTgt spid="9"/>
                                        </p:tgtEl>
                                        <p:attrNameLst>
                                          <p:attrName>ppt_y</p:attrName>
                                        </p:attrNameLst>
                                      </p:cBhvr>
                                      <p:tavLst>
                                        <p:tav tm="0">
                                          <p:val>
                                            <p:strVal val="#ppt_y"/>
                                          </p:val>
                                        </p:tav>
                                        <p:tav tm="100000">
                                          <p:val>
                                            <p:strVal val="#ppt_y"/>
                                          </p:val>
                                        </p:tav>
                                      </p:tavLst>
                                    </p:anim>
                                    <p:anim calcmode="lin" valueType="num">
                                      <p:cBhvr>
                                        <p:cTn id="23" dur="500" fill="hold"/>
                                        <p:tgtEl>
                                          <p:spTgt spid="9"/>
                                        </p:tgtEl>
                                        <p:attrNameLst>
                                          <p:attrName>ppt_w</p:attrName>
                                        </p:attrNameLst>
                                      </p:cBhvr>
                                      <p:tavLst>
                                        <p:tav tm="0">
                                          <p:val>
                                            <p:fltVal val="0.000000"/>
                                          </p:val>
                                        </p:tav>
                                        <p:tav tm="100000">
                                          <p:val>
                                            <p:strVal val="#ppt_w"/>
                                          </p:val>
                                        </p:tav>
                                      </p:tavLst>
                                    </p:anim>
                                    <p:anim calcmode="lin" valueType="num">
                                      <p:cBhvr>
                                        <p:cTn id="24" dur="500" fill="hold"/>
                                        <p:tgtEl>
                                          <p:spTgt spid="9"/>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4"/>
          <p:cNvSpPr/>
          <p:nvPr/>
        </p:nvSpPr>
        <p:spPr>
          <a:xfrm>
            <a:off x="0" y="0"/>
            <a:ext cx="9144000" cy="765175"/>
          </a:xfrm>
          <a:prstGeom prst="rect">
            <a:avLst/>
          </a:prstGeom>
          <a:solidFill>
            <a:srgbClr val="A50021"/>
          </a:solidFill>
          <a:ln w="9525">
            <a:noFill/>
          </a:ln>
        </p:spPr>
        <p:txBody>
          <a:bodyPr anchor="b" anchorCtr="0"/>
          <a:p>
            <a:pPr indent="176530">
              <a:buClrTx/>
              <a:buFontTx/>
              <a:buNone/>
            </a:pPr>
            <a:r>
              <a:rPr lang="en-US" altLang="zh-CN" sz="3600" dirty="0">
                <a:solidFill>
                  <a:schemeClr val="bg1"/>
                </a:solidFill>
                <a:latin typeface="黑体" panose="02010609060101010101" pitchFamily="49" charset="-122"/>
                <a:ea typeface="黑体" panose="02010609060101010101" pitchFamily="49" charset="-122"/>
              </a:rPr>
              <a:t>2.1.2 </a:t>
            </a:r>
            <a:r>
              <a:rPr lang="zh-CN" altLang="en-US" sz="3600" dirty="0">
                <a:solidFill>
                  <a:schemeClr val="bg1"/>
                </a:solidFill>
                <a:latin typeface="黑体" panose="02010609060101010101" pitchFamily="49" charset="-122"/>
                <a:ea typeface="黑体" panose="02010609060101010101" pitchFamily="49" charset="-122"/>
              </a:rPr>
              <a:t>知识的特性</a:t>
            </a:r>
            <a:endParaRPr lang="zh-CN" altLang="en-US" sz="3600" dirty="0">
              <a:solidFill>
                <a:schemeClr val="bg1"/>
              </a:solidFill>
              <a:latin typeface="黑体" panose="02010609060101010101" pitchFamily="49" charset="-122"/>
              <a:ea typeface="黑体" panose="02010609060101010101" pitchFamily="49" charset="-122"/>
            </a:endParaRPr>
          </a:p>
        </p:txBody>
      </p:sp>
      <p:sp>
        <p:nvSpPr>
          <p:cNvPr id="13314" name="灯片编号占位符 1"/>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graphicFrame>
        <p:nvGraphicFramePr>
          <p:cNvPr id="13315" name="Object 2"/>
          <p:cNvGraphicFramePr>
            <a:graphicFrameLocks noChangeAspect="1"/>
          </p:cNvGraphicFramePr>
          <p:nvPr/>
        </p:nvGraphicFramePr>
        <p:xfrm>
          <a:off x="1454150" y="2365375"/>
          <a:ext cx="6610350" cy="4313238"/>
        </p:xfrm>
        <a:graphic>
          <a:graphicData uri="http://schemas.openxmlformats.org/presentationml/2006/ole">
            <mc:AlternateContent xmlns:mc="http://schemas.openxmlformats.org/markup-compatibility/2006">
              <mc:Choice xmlns:v="urn:schemas-microsoft-com:vml" Requires="v">
                <p:oleObj spid="_x0000_s3076" name="" r:id="rId1" imgW="6867525" imgH="4333875" progId="Paint.Picture">
                  <p:embed/>
                </p:oleObj>
              </mc:Choice>
              <mc:Fallback>
                <p:oleObj name="" r:id="rId1" imgW="6867525" imgH="4333875" progId="Paint.Picture">
                  <p:embed/>
                  <p:pic>
                    <p:nvPicPr>
                      <p:cNvPr id="0" name="图片 3075"/>
                      <p:cNvPicPr/>
                      <p:nvPr/>
                    </p:nvPicPr>
                    <p:blipFill>
                      <a:blip r:embed="rId2"/>
                      <a:stretch>
                        <a:fillRect/>
                      </a:stretch>
                    </p:blipFill>
                    <p:spPr>
                      <a:xfrm>
                        <a:off x="1454150" y="2365375"/>
                        <a:ext cx="6610350" cy="4313238"/>
                      </a:xfrm>
                      <a:prstGeom prst="rect">
                        <a:avLst/>
                      </a:prstGeom>
                      <a:noFill/>
                      <a:ln w="38100">
                        <a:noFill/>
                        <a:miter/>
                      </a:ln>
                    </p:spPr>
                  </p:pic>
                </p:oleObj>
              </mc:Fallback>
            </mc:AlternateContent>
          </a:graphicData>
        </a:graphic>
      </p:graphicFrame>
      <p:sp>
        <p:nvSpPr>
          <p:cNvPr id="13316" name="Rectangle 5"/>
          <p:cNvSpPr/>
          <p:nvPr/>
        </p:nvSpPr>
        <p:spPr>
          <a:xfrm>
            <a:off x="1736725" y="1555750"/>
            <a:ext cx="2653665" cy="581025"/>
          </a:xfrm>
          <a:prstGeom prst="rect">
            <a:avLst/>
          </a:prstGeom>
          <a:noFill/>
          <a:ln w="9525">
            <a:noFill/>
          </a:ln>
        </p:spPr>
        <p:txBody>
          <a:bodyPr anchor="b" anchorCtr="0"/>
          <a:p>
            <a:pPr indent="176530">
              <a:buClrTx/>
              <a:buFontTx/>
              <a:buNone/>
            </a:pPr>
            <a:r>
              <a:rPr lang="zh-CN" altLang="en-US" sz="2800" b="1" dirty="0">
                <a:latin typeface="Times New Roman" panose="02020503050405090304" pitchFamily="18" charset="0"/>
                <a:ea typeface="黑体" panose="02010609060101010101" pitchFamily="49" charset="-122"/>
              </a:rPr>
              <a:t>模糊的概念</a:t>
            </a:r>
            <a:endParaRPr lang="zh-CN" altLang="en-US" sz="2800" b="1" dirty="0">
              <a:latin typeface="Times New Roman" panose="02020503050405090304" pitchFamily="18" charset="0"/>
              <a:ea typeface="黑体" panose="02010609060101010101" pitchFamily="49" charset="-122"/>
            </a:endParaRPr>
          </a:p>
        </p:txBody>
      </p:sp>
      <p:sp>
        <p:nvSpPr>
          <p:cNvPr id="9" name="Rectangle 6"/>
          <p:cNvSpPr/>
          <p:nvPr/>
        </p:nvSpPr>
        <p:spPr>
          <a:xfrm>
            <a:off x="-519112" y="892175"/>
            <a:ext cx="5237162" cy="525463"/>
          </a:xfrm>
          <a:prstGeom prst="rect">
            <a:avLst/>
          </a:prstGeom>
          <a:noFill/>
          <a:ln w="9525">
            <a:noFill/>
          </a:ln>
        </p:spPr>
        <p:txBody>
          <a:bodyPr anchor="t" anchorCtr="0">
            <a:spAutoFit/>
          </a:bodyPr>
          <a:p>
            <a:pPr marL="1257300" lvl="2" indent="-342900" algn="l" rtl="0" eaLnBrk="1" fontAlgn="base" hangingPunct="1">
              <a:lnSpc>
                <a:spcPct val="120000"/>
              </a:lnSpc>
              <a:spcBef>
                <a:spcPct val="50000"/>
              </a:spcBef>
              <a:spcAft>
                <a:spcPct val="0"/>
              </a:spcAft>
              <a:buClr>
                <a:schemeClr val="accent2"/>
              </a:buClr>
              <a:buFontTx/>
              <a:buNone/>
            </a:pPr>
            <a:r>
              <a:rPr lang="en-US" altLang="zh-CN" sz="2600" b="1" dirty="0">
                <a:solidFill>
                  <a:srgbClr val="FF0000"/>
                </a:solidFill>
                <a:latin typeface="宋体" pitchFamily="2" charset="-122"/>
                <a:ea typeface="宋体" pitchFamily="2" charset="-122"/>
              </a:rPr>
              <a:t>②</a:t>
            </a:r>
            <a:r>
              <a:rPr lang="zh-CN" altLang="en-US" sz="2600" b="1" dirty="0">
                <a:solidFill>
                  <a:srgbClr val="0000FF"/>
                </a:solidFill>
                <a:latin typeface="Arial" panose="020B0604020202090204" pitchFamily="34" charset="0"/>
                <a:ea typeface="宋体" pitchFamily="2" charset="-122"/>
              </a:rPr>
              <a:t>模糊性引起的不确定性</a:t>
            </a:r>
            <a:endParaRPr lang="zh-CN" altLang="en-US" sz="2600" b="1" dirty="0">
              <a:solidFill>
                <a:srgbClr val="0000FF"/>
              </a:solidFill>
              <a:latin typeface="Arial" panose="020B0604020202090204" pitchFamily="34"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ppt_x</p:attrName>
                                        </p:attrNameLst>
                                      </p:cBhvr>
                                      <p:tavLst>
                                        <p:tav tm="0">
                                          <p:val>
                                            <p:strVal val="#ppt_x"/>
                                          </p:val>
                                        </p:tav>
                                        <p:tav tm="100000">
                                          <p:val>
                                            <p:strVal val="#ppt_x"/>
                                          </p:val>
                                        </p:tav>
                                      </p:tavLst>
                                    </p:anim>
                                    <p:anim calcmode="lin" valueType="num">
                                      <p:cBhvr>
                                        <p:cTn id="8" dur="500" fill="hold"/>
                                        <p:tgtEl>
                                          <p:spTgt spid="9"/>
                                        </p:tgtEl>
                                        <p:attrNameLst>
                                          <p:attrName>ppt_y</p:attrName>
                                        </p:attrNameLst>
                                      </p:cBhvr>
                                      <p:tavLst>
                                        <p:tav tm="0">
                                          <p:val>
                                            <p:strVal val="#ppt_y-#ppt_h/2"/>
                                          </p:val>
                                        </p:tav>
                                        <p:tav tm="100000">
                                          <p:val>
                                            <p:strVal val="#ppt_y"/>
                                          </p:val>
                                        </p:tav>
                                      </p:tavLst>
                                    </p:anim>
                                    <p:anim calcmode="lin" valueType="num">
                                      <p:cBhvr>
                                        <p:cTn id="9" dur="500" fill="hold"/>
                                        <p:tgtEl>
                                          <p:spTgt spid="9"/>
                                        </p:tgtEl>
                                        <p:attrNameLst>
                                          <p:attrName>ppt_w</p:attrName>
                                        </p:attrNameLst>
                                      </p:cBhvr>
                                      <p:tavLst>
                                        <p:tav tm="0">
                                          <p:val>
                                            <p:strVal val="#ppt_w"/>
                                          </p:val>
                                        </p:tav>
                                        <p:tav tm="100000">
                                          <p:val>
                                            <p:strVal val="#ppt_w"/>
                                          </p:val>
                                        </p:tav>
                                      </p:tavLst>
                                    </p:anim>
                                    <p:anim calcmode="lin" valueType="num">
                                      <p:cBhvr>
                                        <p:cTn id="10" dur="500" fill="hold"/>
                                        <p:tgtEl>
                                          <p:spTgt spid="9"/>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4"/>
          <p:cNvSpPr/>
          <p:nvPr/>
        </p:nvSpPr>
        <p:spPr>
          <a:xfrm>
            <a:off x="0" y="0"/>
            <a:ext cx="9144000" cy="765175"/>
          </a:xfrm>
          <a:prstGeom prst="rect">
            <a:avLst/>
          </a:prstGeom>
          <a:solidFill>
            <a:srgbClr val="A50021"/>
          </a:solidFill>
          <a:ln w="9525">
            <a:noFill/>
          </a:ln>
        </p:spPr>
        <p:txBody>
          <a:bodyPr anchor="b" anchorCtr="0"/>
          <a:p>
            <a:pPr indent="176530">
              <a:buClrTx/>
              <a:buFontTx/>
              <a:buNone/>
            </a:pPr>
            <a:r>
              <a:rPr lang="en-US" altLang="zh-CN" sz="3600" dirty="0">
                <a:solidFill>
                  <a:schemeClr val="bg1"/>
                </a:solidFill>
                <a:latin typeface="黑体" panose="02010609060101010101" pitchFamily="49" charset="-122"/>
                <a:ea typeface="黑体" panose="02010609060101010101" pitchFamily="49" charset="-122"/>
              </a:rPr>
              <a:t>2.1.2 </a:t>
            </a:r>
            <a:r>
              <a:rPr lang="zh-CN" altLang="en-US" sz="3600" dirty="0">
                <a:solidFill>
                  <a:schemeClr val="bg1"/>
                </a:solidFill>
                <a:latin typeface="黑体" panose="02010609060101010101" pitchFamily="49" charset="-122"/>
                <a:ea typeface="黑体" panose="02010609060101010101" pitchFamily="49" charset="-122"/>
              </a:rPr>
              <a:t>知识的特性</a:t>
            </a:r>
            <a:endParaRPr lang="zh-CN" altLang="en-US" sz="3600" dirty="0">
              <a:solidFill>
                <a:schemeClr val="bg1"/>
              </a:solidFill>
              <a:latin typeface="黑体" panose="02010609060101010101" pitchFamily="49" charset="-122"/>
              <a:ea typeface="黑体" panose="02010609060101010101" pitchFamily="49" charset="-122"/>
            </a:endParaRPr>
          </a:p>
        </p:txBody>
      </p:sp>
      <p:sp>
        <p:nvSpPr>
          <p:cNvPr id="14338" name="灯片编号占位符 1"/>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4339" name="Rectangle 3"/>
          <p:cNvSpPr/>
          <p:nvPr/>
        </p:nvSpPr>
        <p:spPr>
          <a:xfrm>
            <a:off x="-566737" y="1020763"/>
            <a:ext cx="5616575" cy="573087"/>
          </a:xfrm>
          <a:prstGeom prst="rect">
            <a:avLst/>
          </a:prstGeom>
          <a:noFill/>
          <a:ln w="9525">
            <a:noFill/>
          </a:ln>
        </p:spPr>
        <p:txBody>
          <a:bodyPr anchor="t" anchorCtr="0">
            <a:spAutoFit/>
          </a:bodyPr>
          <a:p>
            <a:pPr marL="1257300" lvl="2" indent="-342900" algn="l" rtl="0" eaLnBrk="1" fontAlgn="base" hangingPunct="1">
              <a:lnSpc>
                <a:spcPct val="120000"/>
              </a:lnSpc>
              <a:spcBef>
                <a:spcPct val="50000"/>
              </a:spcBef>
              <a:spcAft>
                <a:spcPct val="0"/>
              </a:spcAft>
              <a:buClr>
                <a:schemeClr val="accent2"/>
              </a:buClr>
              <a:buFont typeface="Wingdings" panose="05000000000000000000" pitchFamily="2" charset="2"/>
              <a:buNone/>
            </a:pPr>
            <a:r>
              <a:rPr lang="zh-CN" altLang="en-US" sz="2600" b="1" dirty="0">
                <a:solidFill>
                  <a:srgbClr val="FF0000"/>
                </a:solidFill>
                <a:latin typeface="宋体" pitchFamily="2" charset="-122"/>
                <a:ea typeface="宋体" pitchFamily="2" charset="-122"/>
              </a:rPr>
              <a:t>③</a:t>
            </a:r>
            <a:r>
              <a:rPr lang="zh-CN" altLang="en-US" sz="2600" b="1" dirty="0">
                <a:solidFill>
                  <a:schemeClr val="tx1"/>
                </a:solidFill>
                <a:latin typeface="Arial" panose="020B0604020202090204" pitchFamily="34" charset="0"/>
                <a:ea typeface="宋体" pitchFamily="2" charset="-122"/>
              </a:rPr>
              <a:t>经验性引起的不确定性</a:t>
            </a:r>
            <a:endParaRPr lang="zh-CN" altLang="en-US" sz="2600" b="1" dirty="0">
              <a:solidFill>
                <a:schemeClr val="tx1"/>
              </a:solidFill>
              <a:latin typeface="Arial" panose="020B0604020202090204" pitchFamily="34" charset="0"/>
              <a:ea typeface="宋体" pitchFamily="2" charset="-122"/>
            </a:endParaRPr>
          </a:p>
        </p:txBody>
      </p:sp>
      <p:sp>
        <p:nvSpPr>
          <p:cNvPr id="14340" name="Rectangle 7"/>
          <p:cNvSpPr/>
          <p:nvPr/>
        </p:nvSpPr>
        <p:spPr>
          <a:xfrm>
            <a:off x="231775" y="1568450"/>
            <a:ext cx="5243513" cy="1201738"/>
          </a:xfrm>
          <a:prstGeom prst="rect">
            <a:avLst/>
          </a:prstGeom>
          <a:noFill/>
          <a:ln w="9525">
            <a:noFill/>
          </a:ln>
        </p:spPr>
        <p:txBody>
          <a:bodyPr anchor="t" anchorCtr="0">
            <a:spAutoFit/>
          </a:bodyPr>
          <a:p>
            <a:pPr>
              <a:buClrTx/>
              <a:buFontTx/>
              <a:buNone/>
            </a:pPr>
            <a:r>
              <a:rPr lang="zh-CN" altLang="en-US" sz="2400" b="1" dirty="0">
                <a:solidFill>
                  <a:srgbClr val="0000FF"/>
                </a:solidFill>
                <a:latin typeface="Arial" panose="020B0604020202090204" pitchFamily="34" charset="0"/>
                <a:ea typeface="宋体" pitchFamily="2" charset="-122"/>
              </a:rPr>
              <a:t>老马识途：</a:t>
            </a:r>
            <a:r>
              <a:rPr lang="zh-CN" altLang="en-US" sz="2400" dirty="0">
                <a:latin typeface="Arial" panose="020B0604020202090204" pitchFamily="34" charset="0"/>
                <a:ea typeface="宋体" pitchFamily="2" charset="-122"/>
              </a:rPr>
              <a:t>齐桓公应燕国的要求，出兵攻打入侵燕国的山戎，迷路了，放出老马，部队跟随老马找到了出路。</a:t>
            </a:r>
            <a:endParaRPr lang="zh-CN" altLang="en-US" sz="2400" b="1" dirty="0">
              <a:solidFill>
                <a:srgbClr val="0000FF"/>
              </a:solidFill>
              <a:latin typeface="Arial" panose="020B0604020202090204" pitchFamily="34" charset="0"/>
              <a:ea typeface="宋体" pitchFamily="2" charset="-122"/>
            </a:endParaRPr>
          </a:p>
        </p:txBody>
      </p:sp>
      <p:sp>
        <p:nvSpPr>
          <p:cNvPr id="14341" name="矩形 5"/>
          <p:cNvSpPr/>
          <p:nvPr/>
        </p:nvSpPr>
        <p:spPr>
          <a:xfrm>
            <a:off x="5429250" y="4578350"/>
            <a:ext cx="3471863" cy="2246313"/>
          </a:xfrm>
          <a:prstGeom prst="rect">
            <a:avLst/>
          </a:prstGeom>
          <a:noFill/>
          <a:ln w="9525">
            <a:noFill/>
          </a:ln>
        </p:spPr>
        <p:txBody>
          <a:bodyPr anchor="t" anchorCtr="0">
            <a:spAutoFit/>
          </a:bodyPr>
          <a:p>
            <a:pPr>
              <a:buClrTx/>
              <a:buFontTx/>
              <a:buNone/>
            </a:pPr>
            <a:r>
              <a:rPr lang="zh-CN" altLang="en-US" sz="2000" dirty="0">
                <a:latin typeface="Arial" panose="020B0604020202090204" pitchFamily="34" charset="0"/>
                <a:ea typeface="宋体" pitchFamily="2" charset="-122"/>
                <a:hlinkClick r:id="rId1"/>
              </a:rPr>
              <a:t>作者：韩非</a:t>
            </a:r>
            <a:r>
              <a:rPr lang="zh-CN" altLang="en-US" sz="2000" dirty="0">
                <a:latin typeface="Arial" panose="020B0604020202090204" pitchFamily="34" charset="0"/>
                <a:ea typeface="宋体" pitchFamily="2" charset="-122"/>
              </a:rPr>
              <a:t>（约前</a:t>
            </a:r>
            <a:r>
              <a:rPr lang="en-US" altLang="zh-CN" sz="2000" dirty="0">
                <a:latin typeface="Arial" panose="020B0604020202090204" pitchFamily="34" charset="0"/>
                <a:ea typeface="宋体" pitchFamily="2" charset="-122"/>
              </a:rPr>
              <a:t>281</a:t>
            </a:r>
            <a:r>
              <a:rPr lang="zh-CN" altLang="en-US" sz="2000" dirty="0">
                <a:latin typeface="Arial" panose="020B0604020202090204" pitchFamily="34" charset="0"/>
                <a:ea typeface="宋体" pitchFamily="2" charset="-122"/>
              </a:rPr>
              <a:t>年</a:t>
            </a:r>
            <a:r>
              <a:rPr lang="en-US" altLang="zh-CN" sz="2000" dirty="0">
                <a:latin typeface="Arial" panose="020B0604020202090204" pitchFamily="34" charset="0"/>
                <a:ea typeface="宋体" pitchFamily="2" charset="-122"/>
              </a:rPr>
              <a:t>-</a:t>
            </a:r>
            <a:r>
              <a:rPr lang="zh-CN" altLang="en-US" sz="2000" dirty="0">
                <a:latin typeface="Arial" panose="020B0604020202090204" pitchFamily="34" charset="0"/>
                <a:ea typeface="宋体" pitchFamily="2" charset="-122"/>
              </a:rPr>
              <a:t>前</a:t>
            </a:r>
            <a:r>
              <a:rPr lang="en-US" altLang="zh-CN" sz="2000" dirty="0">
                <a:latin typeface="Arial" panose="020B0604020202090204" pitchFamily="34" charset="0"/>
                <a:ea typeface="宋体" pitchFamily="2" charset="-122"/>
              </a:rPr>
              <a:t>233</a:t>
            </a:r>
            <a:r>
              <a:rPr lang="zh-CN" altLang="en-US" sz="2000" dirty="0">
                <a:latin typeface="Arial" panose="020B0604020202090204" pitchFamily="34" charset="0"/>
                <a:ea typeface="宋体" pitchFamily="2" charset="-122"/>
              </a:rPr>
              <a:t>年），是中国古代著名的哲学家、思想家，</a:t>
            </a:r>
            <a:r>
              <a:rPr lang="zh-CN" altLang="en-US" sz="2000" dirty="0">
                <a:latin typeface="Arial" panose="020B0604020202090204" pitchFamily="34" charset="0"/>
                <a:ea typeface="宋体" pitchFamily="2" charset="-122"/>
                <a:hlinkClick r:id="rId2"/>
              </a:rPr>
              <a:t>政论家</a:t>
            </a:r>
            <a:r>
              <a:rPr lang="zh-CN" altLang="en-US" sz="2000" dirty="0">
                <a:latin typeface="Arial" panose="020B0604020202090204" pitchFamily="34" charset="0"/>
                <a:ea typeface="宋体" pitchFamily="2" charset="-122"/>
              </a:rPr>
              <a:t>和</a:t>
            </a:r>
            <a:r>
              <a:rPr lang="zh-CN" altLang="en-US" sz="2000" dirty="0">
                <a:latin typeface="Arial" panose="020B0604020202090204" pitchFamily="34" charset="0"/>
                <a:ea typeface="宋体" pitchFamily="2" charset="-122"/>
                <a:hlinkClick r:id="rId3"/>
              </a:rPr>
              <a:t>散文家</a:t>
            </a:r>
            <a:r>
              <a:rPr lang="zh-CN" altLang="en-US" sz="2000" dirty="0">
                <a:latin typeface="Arial" panose="020B0604020202090204" pitchFamily="34" charset="0"/>
                <a:ea typeface="宋体" pitchFamily="2" charset="-122"/>
              </a:rPr>
              <a:t>，</a:t>
            </a:r>
            <a:r>
              <a:rPr lang="zh-CN" altLang="en-US" sz="2000" dirty="0">
                <a:latin typeface="Arial" panose="020B0604020202090204" pitchFamily="34" charset="0"/>
                <a:ea typeface="宋体" pitchFamily="2" charset="-122"/>
                <a:hlinkClick r:id="rId4"/>
              </a:rPr>
              <a:t>法家</a:t>
            </a:r>
            <a:r>
              <a:rPr lang="zh-CN" altLang="en-US" sz="2000" dirty="0">
                <a:latin typeface="Arial" panose="020B0604020202090204" pitchFamily="34" charset="0"/>
                <a:ea typeface="宋体" pitchFamily="2" charset="-122"/>
              </a:rPr>
              <a:t>思想的集大成者，后世称“韩子”或“</a:t>
            </a:r>
            <a:r>
              <a:rPr lang="zh-CN" altLang="en-US" sz="2000" dirty="0">
                <a:latin typeface="Arial" panose="020B0604020202090204" pitchFamily="34" charset="0"/>
                <a:ea typeface="宋体" pitchFamily="2" charset="-122"/>
                <a:hlinkClick r:id="rId5"/>
              </a:rPr>
              <a:t>韩非子</a:t>
            </a:r>
            <a:r>
              <a:rPr lang="zh-CN" altLang="en-US" sz="2000" dirty="0">
                <a:latin typeface="Arial" panose="020B0604020202090204" pitchFamily="34" charset="0"/>
                <a:ea typeface="宋体" pitchFamily="2" charset="-122"/>
              </a:rPr>
              <a:t>”，中国古代著名法家思想的代表人物。</a:t>
            </a:r>
            <a:endParaRPr lang="zh-CN" altLang="en-US" sz="2000" dirty="0">
              <a:latin typeface="Arial" panose="020B0604020202090204" pitchFamily="34" charset="0"/>
              <a:ea typeface="宋体" pitchFamily="2" charset="-122"/>
            </a:endParaRPr>
          </a:p>
        </p:txBody>
      </p:sp>
      <p:pic>
        <p:nvPicPr>
          <p:cNvPr id="14342" name="图片 6" descr="8cb1cb1349540923de54c83d9258d109b3de49b7.jpg"/>
          <p:cNvPicPr>
            <a:picLocks noChangeAspect="1"/>
          </p:cNvPicPr>
          <p:nvPr/>
        </p:nvPicPr>
        <p:blipFill>
          <a:blip r:embed="rId6"/>
          <a:stretch>
            <a:fillRect/>
          </a:stretch>
        </p:blipFill>
        <p:spPr>
          <a:xfrm>
            <a:off x="0" y="3197860"/>
            <a:ext cx="4799965" cy="3660140"/>
          </a:xfrm>
          <a:prstGeom prst="rect">
            <a:avLst/>
          </a:prstGeom>
          <a:noFill/>
          <a:ln w="9525">
            <a:noFill/>
          </a:ln>
        </p:spPr>
      </p:pic>
      <p:pic>
        <p:nvPicPr>
          <p:cNvPr id="14343" name="图片 7" descr="c2fdfc039245d688e5cd1ae7a4c27d1ed31b24a1.jpg"/>
          <p:cNvPicPr>
            <a:picLocks noChangeAspect="1"/>
          </p:cNvPicPr>
          <p:nvPr/>
        </p:nvPicPr>
        <p:blipFill>
          <a:blip r:embed="rId7"/>
          <a:stretch>
            <a:fillRect/>
          </a:stretch>
        </p:blipFill>
        <p:spPr>
          <a:xfrm>
            <a:off x="5926138" y="1001713"/>
            <a:ext cx="2789237" cy="3362325"/>
          </a:xfrm>
          <a:prstGeom prst="rect">
            <a:avLst/>
          </a:prstGeom>
          <a:noFill/>
          <a:ln w="9525">
            <a:noFill/>
          </a:ln>
        </p:spPr>
      </p:pic>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灯片编号占位符 1"/>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5362" name="Rectangle 2"/>
          <p:cNvSpPr/>
          <p:nvPr/>
        </p:nvSpPr>
        <p:spPr>
          <a:xfrm>
            <a:off x="0" y="0"/>
            <a:ext cx="9144000" cy="765175"/>
          </a:xfrm>
          <a:prstGeom prst="rect">
            <a:avLst/>
          </a:prstGeom>
          <a:solidFill>
            <a:srgbClr val="A50021"/>
          </a:solidFill>
          <a:ln w="9525">
            <a:noFill/>
          </a:ln>
        </p:spPr>
        <p:txBody>
          <a:bodyPr anchor="b" anchorCtr="0"/>
          <a:p>
            <a:pPr indent="176530">
              <a:buClrTx/>
              <a:buFontTx/>
              <a:buNone/>
            </a:pPr>
            <a:r>
              <a:rPr lang="en-US" altLang="zh-CN" sz="3600" dirty="0">
                <a:solidFill>
                  <a:schemeClr val="bg1"/>
                </a:solidFill>
                <a:latin typeface="黑体" panose="02010609060101010101" pitchFamily="49" charset="-122"/>
                <a:ea typeface="黑体" panose="02010609060101010101" pitchFamily="49" charset="-122"/>
              </a:rPr>
              <a:t>2.1.2 </a:t>
            </a:r>
            <a:r>
              <a:rPr lang="zh-CN" altLang="en-US" sz="3600" dirty="0">
                <a:solidFill>
                  <a:schemeClr val="bg1"/>
                </a:solidFill>
                <a:latin typeface="黑体" panose="02010609060101010101" pitchFamily="49" charset="-122"/>
                <a:ea typeface="黑体" panose="02010609060101010101" pitchFamily="49" charset="-122"/>
              </a:rPr>
              <a:t>知识的特性</a:t>
            </a:r>
            <a:endParaRPr lang="zh-CN" altLang="en-US" sz="3600" dirty="0">
              <a:solidFill>
                <a:schemeClr val="bg1"/>
              </a:solidFill>
              <a:latin typeface="黑体" panose="02010609060101010101" pitchFamily="49" charset="-122"/>
              <a:ea typeface="黑体" panose="02010609060101010101" pitchFamily="49" charset="-122"/>
            </a:endParaRPr>
          </a:p>
        </p:txBody>
      </p:sp>
      <p:sp>
        <p:nvSpPr>
          <p:cNvPr id="15363" name="Rectangle 3"/>
          <p:cNvSpPr/>
          <p:nvPr/>
        </p:nvSpPr>
        <p:spPr>
          <a:xfrm>
            <a:off x="-625475" y="943293"/>
            <a:ext cx="5618163" cy="573087"/>
          </a:xfrm>
          <a:prstGeom prst="rect">
            <a:avLst/>
          </a:prstGeom>
          <a:noFill/>
          <a:ln w="9525">
            <a:noFill/>
          </a:ln>
        </p:spPr>
        <p:txBody>
          <a:bodyPr anchor="t" anchorCtr="0">
            <a:spAutoFit/>
          </a:bodyPr>
          <a:p>
            <a:pPr marL="1257300" lvl="2" indent="-342900" algn="l" rtl="0" eaLnBrk="1" fontAlgn="base" hangingPunct="1">
              <a:lnSpc>
                <a:spcPct val="120000"/>
              </a:lnSpc>
              <a:spcBef>
                <a:spcPct val="50000"/>
              </a:spcBef>
              <a:spcAft>
                <a:spcPct val="0"/>
              </a:spcAft>
              <a:buClr>
                <a:schemeClr val="accent2"/>
              </a:buClr>
              <a:buFont typeface="Wingdings" panose="05000000000000000000" pitchFamily="2" charset="2"/>
              <a:buNone/>
            </a:pPr>
            <a:r>
              <a:rPr lang="zh-CN" altLang="en-US" sz="2600" b="1" dirty="0">
                <a:solidFill>
                  <a:srgbClr val="FF0000"/>
                </a:solidFill>
                <a:latin typeface="宋体" pitchFamily="2" charset="-122"/>
                <a:ea typeface="宋体" pitchFamily="2" charset="-122"/>
              </a:rPr>
              <a:t>④</a:t>
            </a:r>
            <a:r>
              <a:rPr lang="zh-CN" altLang="en-US" sz="2600" b="1" dirty="0">
                <a:solidFill>
                  <a:schemeClr val="tx1"/>
                </a:solidFill>
                <a:latin typeface="Arial" panose="020B0604020202090204" pitchFamily="34" charset="0"/>
                <a:ea typeface="宋体" pitchFamily="2" charset="-122"/>
              </a:rPr>
              <a:t>不完全性引起的不确定性</a:t>
            </a:r>
            <a:endParaRPr lang="zh-CN" altLang="en-US" sz="2600" b="1" dirty="0">
              <a:solidFill>
                <a:schemeClr val="tx1"/>
              </a:solidFill>
              <a:latin typeface="Arial" panose="020B0604020202090204" pitchFamily="34" charset="0"/>
              <a:ea typeface="宋体" pitchFamily="2" charset="-122"/>
            </a:endParaRPr>
          </a:p>
        </p:txBody>
      </p:sp>
      <p:pic>
        <p:nvPicPr>
          <p:cNvPr id="15364" name="Picture 4" descr="7c873ddb348805d64de231552e8af2d4"/>
          <p:cNvPicPr>
            <a:picLocks noChangeAspect="1"/>
          </p:cNvPicPr>
          <p:nvPr/>
        </p:nvPicPr>
        <p:blipFill>
          <a:blip r:embed="rId1"/>
          <a:stretch>
            <a:fillRect/>
          </a:stretch>
        </p:blipFill>
        <p:spPr>
          <a:xfrm>
            <a:off x="0" y="1584325"/>
            <a:ext cx="4707255" cy="2494280"/>
          </a:xfrm>
          <a:prstGeom prst="rect">
            <a:avLst/>
          </a:prstGeom>
          <a:noFill/>
          <a:ln w="9525">
            <a:noFill/>
          </a:ln>
        </p:spPr>
      </p:pic>
      <p:sp>
        <p:nvSpPr>
          <p:cNvPr id="15365" name="Rectangle 7"/>
          <p:cNvSpPr/>
          <p:nvPr/>
        </p:nvSpPr>
        <p:spPr>
          <a:xfrm>
            <a:off x="4993005" y="1001395"/>
            <a:ext cx="3554413" cy="457200"/>
          </a:xfrm>
          <a:prstGeom prst="rect">
            <a:avLst/>
          </a:prstGeom>
          <a:noFill/>
          <a:ln w="9525">
            <a:noFill/>
          </a:ln>
        </p:spPr>
        <p:txBody>
          <a:bodyPr wrap="none" anchor="t" anchorCtr="0">
            <a:spAutoFit/>
          </a:bodyPr>
          <a:p>
            <a:pPr>
              <a:buClrTx/>
              <a:buFontTx/>
              <a:buNone/>
            </a:pPr>
            <a:r>
              <a:rPr lang="zh-CN" altLang="en-US" sz="2400" b="1" dirty="0">
                <a:solidFill>
                  <a:srgbClr val="0000FF"/>
                </a:solidFill>
                <a:latin typeface="Arial" panose="020B0604020202090204" pitchFamily="34" charset="0"/>
                <a:ea typeface="宋体" pitchFamily="2" charset="-122"/>
              </a:rPr>
              <a:t>火星上可能有水、生命？</a:t>
            </a:r>
            <a:endParaRPr lang="zh-CN" altLang="en-US" sz="2400" b="1" dirty="0">
              <a:solidFill>
                <a:srgbClr val="0000FF"/>
              </a:solidFill>
              <a:latin typeface="Arial" panose="020B0604020202090204" pitchFamily="34" charset="0"/>
              <a:ea typeface="宋体" pitchFamily="2" charset="-122"/>
            </a:endParaRPr>
          </a:p>
        </p:txBody>
      </p:sp>
      <p:pic>
        <p:nvPicPr>
          <p:cNvPr id="15366" name="Picture 6" descr="5a0be517c4fa0b2faf20b8b1d2910de3"/>
          <p:cNvPicPr>
            <a:picLocks noChangeAspect="1"/>
          </p:cNvPicPr>
          <p:nvPr/>
        </p:nvPicPr>
        <p:blipFill>
          <a:blip r:embed="rId2"/>
          <a:stretch>
            <a:fillRect/>
          </a:stretch>
        </p:blipFill>
        <p:spPr>
          <a:xfrm>
            <a:off x="4824730" y="1583690"/>
            <a:ext cx="4319270" cy="5274310"/>
          </a:xfrm>
          <a:prstGeom prst="rect">
            <a:avLst/>
          </a:prstGeom>
          <a:noFill/>
          <a:ln w="9525">
            <a:noFill/>
          </a:ln>
        </p:spPr>
      </p:pic>
      <p:pic>
        <p:nvPicPr>
          <p:cNvPr id="15367" name="Picture 5" descr="bdbcee7e57b934b2ba7256db2aa069f4"/>
          <p:cNvPicPr>
            <a:picLocks noChangeAspect="1"/>
          </p:cNvPicPr>
          <p:nvPr/>
        </p:nvPicPr>
        <p:blipFill>
          <a:blip r:embed="rId3"/>
          <a:stretch>
            <a:fillRect/>
          </a:stretch>
        </p:blipFill>
        <p:spPr>
          <a:xfrm>
            <a:off x="0" y="4097338"/>
            <a:ext cx="4748213" cy="2760662"/>
          </a:xfrm>
          <a:prstGeom prst="rect">
            <a:avLst/>
          </a:prstGeom>
          <a:noFill/>
          <a:ln w="9525">
            <a:noFill/>
          </a:ln>
        </p:spPr>
      </p:pic>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6386"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2.1.2  </a:t>
            </a:r>
            <a:r>
              <a:rPr lang="zh-CN" altLang="en-US" dirty="0">
                <a:latin typeface="Times New Roman" panose="02020503050405090304" pitchFamily="18" charset="0"/>
              </a:rPr>
              <a:t>知识的特性</a:t>
            </a:r>
            <a:endParaRPr lang="zh-CN" altLang="en-US" dirty="0">
              <a:latin typeface="Times New Roman" panose="02020503050405090304" pitchFamily="18" charset="0"/>
            </a:endParaRPr>
          </a:p>
        </p:txBody>
      </p:sp>
      <p:sp>
        <p:nvSpPr>
          <p:cNvPr id="16387" name="Rectangle 3"/>
          <p:cNvSpPr>
            <a:spLocks noGrp="1"/>
          </p:cNvSpPr>
          <p:nvPr>
            <p:ph idx="1"/>
          </p:nvPr>
        </p:nvSpPr>
        <p:spPr>
          <a:xfrm>
            <a:off x="496888" y="1082675"/>
            <a:ext cx="8191500" cy="4340225"/>
          </a:xfrm>
        </p:spPr>
        <p:txBody>
          <a:bodyPr vert="horz" wrap="square" lIns="91440" tIns="45720" rIns="91440" bIns="45720" anchor="t" anchorCtr="0"/>
          <a:p>
            <a:pPr marL="193675" indent="-193675" eaLnBrk="1" hangingPunct="1">
              <a:buClr>
                <a:schemeClr val="tx1"/>
              </a:buClr>
              <a:buFont typeface="Wingdings" panose="05000000000000000000" pitchFamily="2" charset="2"/>
              <a:buAutoNum type="arabicPeriod" startAt="3"/>
            </a:pPr>
            <a:r>
              <a:rPr lang="en-US" altLang="zh-CN" b="1" dirty="0">
                <a:latin typeface="Times New Roman" panose="02020503050405090304" pitchFamily="18" charset="0"/>
              </a:rPr>
              <a:t>  </a:t>
            </a:r>
            <a:r>
              <a:rPr lang="zh-CN" altLang="en-US" b="1" dirty="0">
                <a:latin typeface="Times New Roman" panose="02020503050405090304" pitchFamily="18" charset="0"/>
              </a:rPr>
              <a:t>可表示性与可利用性</a:t>
            </a:r>
            <a:endParaRPr lang="zh-CN" altLang="en-US" b="1" dirty="0">
              <a:latin typeface="Times New Roman" panose="02020503050405090304" pitchFamily="18" charset="0"/>
            </a:endParaRPr>
          </a:p>
          <a:p>
            <a:pPr marL="193675" indent="-193675" algn="just" eaLnBrk="1" hangingPunct="1">
              <a:spcBef>
                <a:spcPct val="50000"/>
              </a:spcBef>
              <a:buFont typeface="Wingdings" panose="05000000000000000000" pitchFamily="2" charset="2"/>
              <a:buChar char="§"/>
            </a:pPr>
            <a:r>
              <a:rPr lang="zh-CN" altLang="en-US" sz="2600" b="1" dirty="0">
                <a:solidFill>
                  <a:schemeClr val="accent2"/>
                </a:solidFill>
              </a:rPr>
              <a:t> 知识的可表示性</a:t>
            </a:r>
            <a:r>
              <a:rPr lang="en-US" altLang="zh-CN" sz="2600" b="1" dirty="0">
                <a:solidFill>
                  <a:schemeClr val="accent2"/>
                </a:solidFill>
              </a:rPr>
              <a:t>:</a:t>
            </a:r>
            <a:r>
              <a:rPr lang="en-US" altLang="zh-CN" sz="2600" b="1" dirty="0"/>
              <a:t> </a:t>
            </a:r>
            <a:r>
              <a:rPr lang="zh-CN" altLang="en-US" sz="2600" b="1" dirty="0"/>
              <a:t>知识可以用适当形式表示出来，如用语言、文字、图形、神经网络等。</a:t>
            </a:r>
            <a:endParaRPr lang="zh-CN" altLang="en-US" sz="2600" b="1" dirty="0"/>
          </a:p>
          <a:p>
            <a:pPr marL="193675" indent="-193675" algn="just" eaLnBrk="1" hangingPunct="1">
              <a:spcBef>
                <a:spcPct val="50000"/>
              </a:spcBef>
              <a:buFont typeface="Wingdings" panose="05000000000000000000" pitchFamily="2" charset="2"/>
              <a:buChar char="§"/>
            </a:pPr>
            <a:r>
              <a:rPr lang="zh-CN" altLang="en-US" sz="2600" b="1" dirty="0">
                <a:solidFill>
                  <a:schemeClr val="accent2"/>
                </a:solidFill>
              </a:rPr>
              <a:t> 知识的可利用性</a:t>
            </a:r>
            <a:r>
              <a:rPr lang="en-US" altLang="zh-CN" sz="2600" b="1" dirty="0">
                <a:solidFill>
                  <a:schemeClr val="accent2"/>
                </a:solidFill>
              </a:rPr>
              <a:t>:</a:t>
            </a:r>
            <a:r>
              <a:rPr lang="en-US" altLang="zh-CN" sz="2600" b="1" dirty="0"/>
              <a:t> </a:t>
            </a:r>
            <a:r>
              <a:rPr lang="zh-CN" altLang="en-US" sz="2600" b="1" dirty="0"/>
              <a:t>知识可以被利用。</a:t>
            </a:r>
            <a:r>
              <a:rPr lang="zh-CN" altLang="en-US" b="1" dirty="0"/>
              <a:t> </a:t>
            </a:r>
            <a:endParaRPr lang="zh-CN" altLang="en-US" b="1" dirty="0"/>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7410"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2.1.3  </a:t>
            </a:r>
            <a:r>
              <a:rPr lang="zh-CN" altLang="en-US" dirty="0">
                <a:latin typeface="Times New Roman" panose="02020503050405090304" pitchFamily="18" charset="0"/>
              </a:rPr>
              <a:t>知识的表示</a:t>
            </a:r>
            <a:endParaRPr lang="zh-CN" altLang="en-US" dirty="0">
              <a:latin typeface="Times New Roman" panose="02020503050405090304" pitchFamily="18" charset="0"/>
            </a:endParaRPr>
          </a:p>
        </p:txBody>
      </p:sp>
      <p:sp>
        <p:nvSpPr>
          <p:cNvPr id="17411" name="Rectangle 3"/>
          <p:cNvSpPr>
            <a:spLocks noGrp="1"/>
          </p:cNvSpPr>
          <p:nvPr>
            <p:ph idx="1"/>
          </p:nvPr>
        </p:nvSpPr>
        <p:spPr>
          <a:xfrm>
            <a:off x="250825" y="908050"/>
            <a:ext cx="8642350" cy="2520950"/>
          </a:xfrm>
        </p:spPr>
        <p:txBody>
          <a:bodyPr vert="horz" wrap="square" lIns="91440" tIns="45720" rIns="91440" bIns="45720" anchor="t" anchorCtr="0"/>
          <a:p>
            <a:pPr marL="0" indent="0" eaLnBrk="1" hangingPunct="1">
              <a:lnSpc>
                <a:spcPct val="110000"/>
              </a:lnSpc>
            </a:pPr>
            <a:r>
              <a:rPr lang="en-US" altLang="zh-CN" sz="2600" b="1" dirty="0"/>
              <a:t>  </a:t>
            </a:r>
            <a:r>
              <a:rPr lang="zh-CN" altLang="en-US" sz="2600" b="1" dirty="0">
                <a:solidFill>
                  <a:srgbClr val="0000FF"/>
                </a:solidFill>
              </a:rPr>
              <a:t>知识表示</a:t>
            </a:r>
            <a:r>
              <a:rPr lang="zh-CN" altLang="en-US" sz="2600" b="1" dirty="0">
                <a:solidFill>
                  <a:srgbClr val="0000FF"/>
                </a:solidFill>
                <a:latin typeface="Times New Roman" panose="02020503050405090304" pitchFamily="18" charset="0"/>
              </a:rPr>
              <a:t>（</a:t>
            </a:r>
            <a:r>
              <a:rPr lang="en-US" altLang="zh-CN" sz="2600" b="1" dirty="0">
                <a:solidFill>
                  <a:srgbClr val="0000FF"/>
                </a:solidFill>
                <a:latin typeface="Times New Roman" panose="02020503050405090304" pitchFamily="18" charset="0"/>
              </a:rPr>
              <a:t>knowledge representation</a:t>
            </a:r>
            <a:r>
              <a:rPr lang="zh-CN" altLang="en-US" sz="2600" b="1" dirty="0">
                <a:solidFill>
                  <a:srgbClr val="0000FF"/>
                </a:solidFill>
                <a:latin typeface="Times New Roman" panose="02020503050405090304" pitchFamily="18" charset="0"/>
              </a:rPr>
              <a:t>）：将人类知识形式化或者模型化。</a:t>
            </a:r>
            <a:endParaRPr lang="zh-CN" altLang="en-US" sz="2600" b="1" dirty="0">
              <a:solidFill>
                <a:srgbClr val="0000FF"/>
              </a:solidFill>
              <a:latin typeface="Times New Roman" panose="02020503050405090304" pitchFamily="18" charset="0"/>
            </a:endParaRPr>
          </a:p>
          <a:p>
            <a:pPr marL="0" indent="0" algn="just" eaLnBrk="1" hangingPunct="1">
              <a:lnSpc>
                <a:spcPct val="110000"/>
              </a:lnSpc>
            </a:pPr>
            <a:r>
              <a:rPr lang="zh-CN" altLang="en-US" sz="2600" dirty="0"/>
              <a:t>  知识表示是</a:t>
            </a:r>
            <a:r>
              <a:rPr lang="zh-CN" altLang="en-US" sz="2600" dirty="0">
                <a:latin typeface="宋体" pitchFamily="2" charset="-122"/>
              </a:rPr>
              <a:t>对知识的一种描述，或者说是一组约定，一种计算机可以接受的用于描述知识的数据结构。</a:t>
            </a:r>
            <a:endParaRPr lang="zh-CN" altLang="en-US" sz="2600" dirty="0">
              <a:latin typeface="Times New Roman" panose="02020503050405090304" pitchFamily="18" charset="0"/>
            </a:endParaRPr>
          </a:p>
          <a:p>
            <a:pPr marL="0" indent="0" eaLnBrk="1" hangingPunct="1">
              <a:lnSpc>
                <a:spcPct val="110000"/>
              </a:lnSpc>
            </a:pPr>
            <a:r>
              <a:rPr lang="zh-CN" altLang="en-US" sz="2600" dirty="0"/>
              <a:t>  选择知识表示方法的原则： </a:t>
            </a:r>
            <a:endParaRPr lang="zh-CN" altLang="en-US" sz="2600" dirty="0"/>
          </a:p>
        </p:txBody>
      </p:sp>
      <p:sp>
        <p:nvSpPr>
          <p:cNvPr id="17412" name="Text Box 4"/>
          <p:cNvSpPr txBox="1"/>
          <p:nvPr/>
        </p:nvSpPr>
        <p:spPr>
          <a:xfrm>
            <a:off x="569913" y="3700463"/>
            <a:ext cx="7646987" cy="1927225"/>
          </a:xfrm>
          <a:prstGeom prst="rect">
            <a:avLst/>
          </a:prstGeom>
          <a:gradFill rotWithShape="0">
            <a:gsLst>
              <a:gs pos="0">
                <a:srgbClr val="CCFFCC"/>
              </a:gs>
              <a:gs pos="100000">
                <a:schemeClr val="bg1"/>
              </a:gs>
            </a:gsLst>
            <a:path path="rect">
              <a:fillToRect l="100000" t="100000"/>
            </a:path>
            <a:tileRect/>
          </a:gradFill>
          <a:ln w="9525" cap="flat" cmpd="sng">
            <a:solidFill>
              <a:srgbClr val="808080"/>
            </a:solidFill>
            <a:prstDash val="solid"/>
            <a:miter/>
            <a:headEnd type="none" w="med" len="med"/>
            <a:tailEnd type="none" w="med" len="med"/>
          </a:ln>
        </p:spPr>
        <p:txBody>
          <a:bodyPr anchor="t" anchorCtr="0">
            <a:spAutoFit/>
          </a:bodyPr>
          <a:p>
            <a:pPr marL="190500" lvl="1" indent="0" algn="l" rtl="0" eaLnBrk="1" fontAlgn="base" hangingPunct="1">
              <a:spcBef>
                <a:spcPct val="20000"/>
              </a:spcBef>
              <a:spcAft>
                <a:spcPct val="0"/>
              </a:spcAft>
              <a:buClr>
                <a:schemeClr val="accent2"/>
              </a:buClr>
              <a:buFont typeface="Wingdings" panose="05000000000000000000" pitchFamily="2" charset="2"/>
              <a:buNone/>
            </a:pPr>
            <a:r>
              <a:rPr lang="zh-CN" altLang="en-US" sz="2600" dirty="0">
                <a:solidFill>
                  <a:schemeClr val="tx1"/>
                </a:solidFill>
                <a:latin typeface="Times New Roman" panose="02020503050405090304" pitchFamily="18" charset="0"/>
                <a:ea typeface="宋体" pitchFamily="2" charset="-122"/>
              </a:rPr>
              <a:t>（</a:t>
            </a:r>
            <a:r>
              <a:rPr lang="en-US" altLang="zh-CN" sz="2600" dirty="0">
                <a:solidFill>
                  <a:schemeClr val="tx1"/>
                </a:solidFill>
                <a:latin typeface="Times New Roman" panose="02020503050405090304" pitchFamily="18" charset="0"/>
                <a:ea typeface="宋体" pitchFamily="2" charset="-122"/>
              </a:rPr>
              <a:t>1</a:t>
            </a:r>
            <a:r>
              <a:rPr lang="zh-CN" altLang="en-US" sz="2600" dirty="0">
                <a:solidFill>
                  <a:schemeClr val="tx1"/>
                </a:solidFill>
                <a:latin typeface="Times New Roman" panose="02020503050405090304" pitchFamily="18" charset="0"/>
                <a:ea typeface="宋体" pitchFamily="2" charset="-122"/>
              </a:rPr>
              <a:t>）充分表示领域知识。 </a:t>
            </a:r>
            <a:endParaRPr lang="zh-CN" altLang="en-US" sz="2600" dirty="0">
              <a:solidFill>
                <a:schemeClr val="tx1"/>
              </a:solidFill>
              <a:latin typeface="Times New Roman" panose="02020503050405090304" pitchFamily="18" charset="0"/>
              <a:ea typeface="宋体" pitchFamily="2" charset="-122"/>
            </a:endParaRPr>
          </a:p>
          <a:p>
            <a:pPr marL="190500" lvl="1" indent="0" algn="l" rtl="0" eaLnBrk="1" fontAlgn="base" hangingPunct="1">
              <a:spcBef>
                <a:spcPct val="20000"/>
              </a:spcBef>
              <a:spcAft>
                <a:spcPct val="0"/>
              </a:spcAft>
              <a:buClr>
                <a:schemeClr val="accent2"/>
              </a:buClr>
              <a:buFont typeface="Wingdings" panose="05000000000000000000" pitchFamily="2" charset="2"/>
              <a:buNone/>
            </a:pPr>
            <a:r>
              <a:rPr lang="zh-CN" altLang="en-US" sz="2600" dirty="0">
                <a:solidFill>
                  <a:schemeClr val="tx1"/>
                </a:solidFill>
                <a:latin typeface="Times New Roman" panose="02020503050405090304" pitchFamily="18" charset="0"/>
                <a:ea typeface="宋体" pitchFamily="2" charset="-122"/>
              </a:rPr>
              <a:t>（</a:t>
            </a:r>
            <a:r>
              <a:rPr lang="en-US" altLang="zh-CN" sz="2600" dirty="0">
                <a:solidFill>
                  <a:schemeClr val="tx1"/>
                </a:solidFill>
                <a:latin typeface="Times New Roman" panose="02020503050405090304" pitchFamily="18" charset="0"/>
                <a:ea typeface="宋体" pitchFamily="2" charset="-122"/>
              </a:rPr>
              <a:t>2</a:t>
            </a:r>
            <a:r>
              <a:rPr lang="zh-CN" altLang="en-US" sz="2600" dirty="0">
                <a:solidFill>
                  <a:schemeClr val="tx1"/>
                </a:solidFill>
                <a:latin typeface="Times New Roman" panose="02020503050405090304" pitchFamily="18" charset="0"/>
                <a:ea typeface="宋体" pitchFamily="2" charset="-122"/>
              </a:rPr>
              <a:t>）有利于对知识的利用。</a:t>
            </a:r>
            <a:endParaRPr lang="zh-CN" altLang="en-US" sz="2600" dirty="0">
              <a:solidFill>
                <a:schemeClr val="tx1"/>
              </a:solidFill>
              <a:latin typeface="Times New Roman" panose="02020503050405090304" pitchFamily="18" charset="0"/>
              <a:ea typeface="宋体" pitchFamily="2" charset="-122"/>
            </a:endParaRPr>
          </a:p>
          <a:p>
            <a:pPr marL="190500" lvl="1" indent="0" algn="l" rtl="0" eaLnBrk="1" fontAlgn="base" hangingPunct="1">
              <a:spcBef>
                <a:spcPct val="20000"/>
              </a:spcBef>
              <a:spcAft>
                <a:spcPct val="0"/>
              </a:spcAft>
              <a:buClr>
                <a:schemeClr val="accent2"/>
              </a:buClr>
              <a:buFont typeface="Wingdings" panose="05000000000000000000" pitchFamily="2" charset="2"/>
              <a:buNone/>
            </a:pPr>
            <a:r>
              <a:rPr lang="zh-CN" altLang="en-US" sz="2600" dirty="0">
                <a:solidFill>
                  <a:schemeClr val="tx1"/>
                </a:solidFill>
                <a:latin typeface="Times New Roman" panose="02020503050405090304" pitchFamily="18" charset="0"/>
                <a:ea typeface="宋体" pitchFamily="2" charset="-122"/>
              </a:rPr>
              <a:t>（</a:t>
            </a:r>
            <a:r>
              <a:rPr lang="en-US" altLang="zh-CN" sz="2600" dirty="0">
                <a:solidFill>
                  <a:schemeClr val="tx1"/>
                </a:solidFill>
                <a:latin typeface="Times New Roman" panose="02020503050405090304" pitchFamily="18" charset="0"/>
                <a:ea typeface="宋体" pitchFamily="2" charset="-122"/>
              </a:rPr>
              <a:t>3</a:t>
            </a:r>
            <a:r>
              <a:rPr lang="zh-CN" altLang="en-US" sz="2600" dirty="0">
                <a:solidFill>
                  <a:schemeClr val="tx1"/>
                </a:solidFill>
                <a:latin typeface="Times New Roman" panose="02020503050405090304" pitchFamily="18" charset="0"/>
                <a:ea typeface="宋体" pitchFamily="2" charset="-122"/>
              </a:rPr>
              <a:t>）便于对知识的组织、维护与管理。 </a:t>
            </a:r>
            <a:endParaRPr lang="zh-CN" altLang="en-US" sz="2600" dirty="0">
              <a:solidFill>
                <a:schemeClr val="tx1"/>
              </a:solidFill>
              <a:latin typeface="Times New Roman" panose="02020503050405090304" pitchFamily="18" charset="0"/>
              <a:ea typeface="宋体" pitchFamily="2" charset="-122"/>
            </a:endParaRPr>
          </a:p>
          <a:p>
            <a:pPr marL="190500" lvl="1" indent="0" algn="l" rtl="0" eaLnBrk="1" fontAlgn="base" hangingPunct="1">
              <a:spcBef>
                <a:spcPct val="20000"/>
              </a:spcBef>
              <a:spcAft>
                <a:spcPct val="0"/>
              </a:spcAft>
              <a:buClr>
                <a:schemeClr val="accent2"/>
              </a:buClr>
              <a:buFont typeface="Wingdings" panose="05000000000000000000" pitchFamily="2" charset="2"/>
              <a:buNone/>
            </a:pPr>
            <a:r>
              <a:rPr lang="zh-CN" altLang="en-US" sz="2600" dirty="0">
                <a:solidFill>
                  <a:schemeClr val="tx1"/>
                </a:solidFill>
                <a:latin typeface="Times New Roman" panose="02020503050405090304" pitchFamily="18" charset="0"/>
                <a:ea typeface="宋体" pitchFamily="2" charset="-122"/>
              </a:rPr>
              <a:t>（</a:t>
            </a:r>
            <a:r>
              <a:rPr lang="en-US" altLang="zh-CN" sz="2600" dirty="0">
                <a:solidFill>
                  <a:schemeClr val="tx1"/>
                </a:solidFill>
                <a:latin typeface="Times New Roman" panose="02020503050405090304" pitchFamily="18" charset="0"/>
                <a:ea typeface="宋体" pitchFamily="2" charset="-122"/>
              </a:rPr>
              <a:t>4</a:t>
            </a:r>
            <a:r>
              <a:rPr lang="zh-CN" altLang="en-US" sz="2600" dirty="0">
                <a:solidFill>
                  <a:schemeClr val="tx1"/>
                </a:solidFill>
                <a:latin typeface="Times New Roman" panose="02020503050405090304" pitchFamily="18" charset="0"/>
                <a:ea typeface="宋体" pitchFamily="2" charset="-122"/>
              </a:rPr>
              <a:t>）便于理解与实现。</a:t>
            </a:r>
            <a:endParaRPr lang="zh-CN" altLang="en-US" sz="1800" dirty="0">
              <a:solidFill>
                <a:schemeClr val="tx1"/>
              </a:solidFill>
              <a:latin typeface="Times New Roman" panose="02020503050405090304" pitchFamily="18" charset="0"/>
              <a:ea typeface="宋体" pitchFamily="2" charset="-122"/>
            </a:endParaRPr>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8434" name="Rectangle 2"/>
          <p:cNvSpPr>
            <a:spLocks noGrp="1"/>
          </p:cNvSpPr>
          <p:nvPr>
            <p:ph type="title"/>
          </p:nvPr>
        </p:nvSpPr>
        <p:spPr/>
        <p:txBody>
          <a:bodyPr vert="horz" wrap="square" lIns="91440" tIns="45720" rIns="91440" bIns="45720" anchor="b" anchorCtr="0"/>
          <a:p>
            <a:pPr eaLnBrk="1" hangingPunct="1"/>
            <a:r>
              <a:rPr lang="zh-CN" altLang="en-US" dirty="0">
                <a:latin typeface="Times New Roman" panose="02020503050405090304" pitchFamily="18" charset="0"/>
              </a:rPr>
              <a:t>第</a:t>
            </a:r>
            <a:r>
              <a:rPr lang="en-US" altLang="zh-CN" dirty="0">
                <a:latin typeface="Times New Roman" panose="02020503050405090304" pitchFamily="18" charset="0"/>
              </a:rPr>
              <a:t>2</a:t>
            </a:r>
            <a:r>
              <a:rPr lang="zh-CN" altLang="en-US" dirty="0">
                <a:latin typeface="Times New Roman" panose="02020503050405090304" pitchFamily="18" charset="0"/>
              </a:rPr>
              <a:t>章  知识表示与知识图谱</a:t>
            </a:r>
            <a:endParaRPr lang="zh-CN" altLang="en-US" dirty="0">
              <a:latin typeface="Times New Roman" panose="02020503050405090304" pitchFamily="18" charset="0"/>
            </a:endParaRPr>
          </a:p>
        </p:txBody>
      </p:sp>
      <p:sp>
        <p:nvSpPr>
          <p:cNvPr id="18435" name="Rectangle 3"/>
          <p:cNvSpPr>
            <a:spLocks noGrp="1"/>
          </p:cNvSpPr>
          <p:nvPr>
            <p:ph idx="1"/>
          </p:nvPr>
        </p:nvSpPr>
        <p:spPr>
          <a:xfrm>
            <a:off x="512763" y="908050"/>
            <a:ext cx="8380412" cy="5400675"/>
          </a:xfrm>
        </p:spPr>
        <p:txBody>
          <a:bodyPr vert="horz" wrap="square" lIns="91440" tIns="45720" rIns="91440" bIns="45720" anchor="t" anchorCtr="0"/>
          <a:p>
            <a:pPr eaLnBrk="1" hangingPunct="1">
              <a:lnSpc>
                <a:spcPct val="160000"/>
              </a:lnSpc>
            </a:pPr>
            <a:r>
              <a:rPr lang="en-US" altLang="zh-CN" b="1" dirty="0">
                <a:latin typeface="Times New Roman" panose="02020503050405090304" pitchFamily="18" charset="0"/>
              </a:rPr>
              <a:t>2.1  </a:t>
            </a:r>
            <a:r>
              <a:rPr lang="zh-CN" altLang="en-US" b="1" dirty="0">
                <a:latin typeface="Times New Roman" panose="02020503050405090304" pitchFamily="18" charset="0"/>
              </a:rPr>
              <a:t>知识与知识表示的概念 </a:t>
            </a:r>
            <a:endParaRPr lang="zh-CN" altLang="en-US" b="1" dirty="0">
              <a:latin typeface="Times New Roman" panose="02020503050405090304" pitchFamily="18" charset="0"/>
            </a:endParaRPr>
          </a:p>
          <a:p>
            <a:pPr eaLnBrk="1" hangingPunct="1">
              <a:lnSpc>
                <a:spcPct val="160000"/>
              </a:lnSpc>
              <a:buClr>
                <a:srgbClr val="0000FF"/>
              </a:buClr>
              <a:buSzPct val="150000"/>
              <a:buFont typeface="Wingdings" panose="05000000000000000000" pitchFamily="2" charset="2"/>
              <a:buChar char="ü"/>
            </a:pPr>
            <a:r>
              <a:rPr lang="en-US" altLang="zh-CN" b="1" dirty="0">
                <a:solidFill>
                  <a:srgbClr val="0000FF"/>
                </a:solidFill>
                <a:latin typeface="Times New Roman" panose="02020503050405090304" pitchFamily="18" charset="0"/>
              </a:rPr>
              <a:t>2.2  </a:t>
            </a:r>
            <a:r>
              <a:rPr lang="zh-CN" altLang="en-US" b="1" dirty="0">
                <a:solidFill>
                  <a:srgbClr val="0000FF"/>
                </a:solidFill>
                <a:latin typeface="Times New Roman" panose="02020503050405090304" pitchFamily="18" charset="0"/>
              </a:rPr>
              <a:t>一阶谓词逻辑表示法</a:t>
            </a:r>
            <a:r>
              <a:rPr lang="zh-CN" altLang="en-US" b="1" dirty="0">
                <a:latin typeface="Times New Roman" panose="02020503050405090304" pitchFamily="18" charset="0"/>
              </a:rPr>
              <a:t> </a:t>
            </a:r>
            <a:endParaRPr lang="zh-CN" altLang="en-US" b="1" dirty="0">
              <a:latin typeface="Times New Roman" panose="02020503050405090304" pitchFamily="18" charset="0"/>
            </a:endParaRPr>
          </a:p>
          <a:p>
            <a:pPr eaLnBrk="1" hangingPunct="1">
              <a:lnSpc>
                <a:spcPct val="160000"/>
              </a:lnSpc>
            </a:pPr>
            <a:r>
              <a:rPr lang="en-US" altLang="zh-CN" b="1" dirty="0">
                <a:latin typeface="Times New Roman" panose="02020503050405090304" pitchFamily="18" charset="0"/>
              </a:rPr>
              <a:t>2.3  </a:t>
            </a:r>
            <a:r>
              <a:rPr lang="zh-CN" altLang="en-US" b="1" dirty="0">
                <a:latin typeface="Times New Roman" panose="02020503050405090304" pitchFamily="18" charset="0"/>
              </a:rPr>
              <a:t>产生式表示法 </a:t>
            </a:r>
            <a:endParaRPr lang="zh-CN" altLang="en-US" b="1" dirty="0">
              <a:latin typeface="Times New Roman" panose="02020503050405090304" pitchFamily="18" charset="0"/>
            </a:endParaRPr>
          </a:p>
          <a:p>
            <a:pPr eaLnBrk="1" hangingPunct="1">
              <a:lnSpc>
                <a:spcPct val="160000"/>
              </a:lnSpc>
            </a:pPr>
            <a:r>
              <a:rPr lang="en-US" altLang="zh-CN" b="1" dirty="0">
                <a:latin typeface="Times New Roman" panose="02020503050405090304" pitchFamily="18" charset="0"/>
              </a:rPr>
              <a:t>2.4  </a:t>
            </a:r>
            <a:r>
              <a:rPr lang="zh-CN" altLang="en-US" b="1" dirty="0">
                <a:latin typeface="Times New Roman" panose="02020503050405090304" pitchFamily="18" charset="0"/>
              </a:rPr>
              <a:t>框架表示法 </a:t>
            </a:r>
            <a:endParaRPr lang="en-US" altLang="zh-CN" b="1" dirty="0">
              <a:latin typeface="Times New Roman" panose="02020503050405090304" pitchFamily="18" charset="0"/>
            </a:endParaRPr>
          </a:p>
          <a:p>
            <a:pPr eaLnBrk="1" hangingPunct="1">
              <a:lnSpc>
                <a:spcPct val="160000"/>
              </a:lnSpc>
            </a:pPr>
            <a:r>
              <a:rPr lang="en-US" altLang="zh-CN" b="1" dirty="0">
                <a:latin typeface="Times New Roman" panose="02020503050405090304" pitchFamily="18" charset="0"/>
              </a:rPr>
              <a:t>2.5  </a:t>
            </a:r>
            <a:r>
              <a:rPr lang="zh-CN" altLang="en-US" b="1" dirty="0">
                <a:latin typeface="Times New Roman" panose="02020503050405090304" pitchFamily="18" charset="0"/>
              </a:rPr>
              <a:t>知识图谱</a:t>
            </a:r>
            <a:endParaRPr lang="zh-CN" altLang="en-US" b="1" dirty="0">
              <a:latin typeface="Times New Roman" panose="02020503050405090304" pitchFamily="18"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灯片编号占位符 1"/>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9458" name="Rectangle 2"/>
          <p:cNvSpPr/>
          <p:nvPr/>
        </p:nvSpPr>
        <p:spPr>
          <a:xfrm>
            <a:off x="0" y="0"/>
            <a:ext cx="9144000" cy="765175"/>
          </a:xfrm>
          <a:prstGeom prst="rect">
            <a:avLst/>
          </a:prstGeom>
          <a:solidFill>
            <a:srgbClr val="A50021"/>
          </a:solidFill>
          <a:ln w="9525">
            <a:noFill/>
          </a:ln>
        </p:spPr>
        <p:txBody>
          <a:bodyPr anchor="b" anchorCtr="0"/>
          <a:p>
            <a:pPr indent="176530">
              <a:buClrTx/>
              <a:buFontTx/>
              <a:buNone/>
            </a:pPr>
            <a:r>
              <a:rPr lang="en-US" altLang="zh-CN" sz="3600" dirty="0">
                <a:solidFill>
                  <a:schemeClr val="bg1"/>
                </a:solidFill>
                <a:latin typeface="Times New Roman" panose="02020503050405090304" pitchFamily="18" charset="0"/>
                <a:ea typeface="黑体" panose="02010609060101010101" pitchFamily="49" charset="-122"/>
              </a:rPr>
              <a:t> 2.2  </a:t>
            </a:r>
            <a:r>
              <a:rPr lang="zh-CN" altLang="en-US" sz="3600" dirty="0">
                <a:solidFill>
                  <a:schemeClr val="bg1"/>
                </a:solidFill>
                <a:latin typeface="Times New Roman" panose="02020503050405090304" pitchFamily="18" charset="0"/>
                <a:ea typeface="黑体" panose="02010609060101010101" pitchFamily="49" charset="-122"/>
              </a:rPr>
              <a:t>一阶谓词逻辑表示法</a:t>
            </a:r>
            <a:endParaRPr lang="zh-CN" altLang="en-US" sz="3600" dirty="0">
              <a:solidFill>
                <a:schemeClr val="bg1"/>
              </a:solidFill>
              <a:latin typeface="Times New Roman" panose="02020503050405090304" pitchFamily="18" charset="0"/>
              <a:ea typeface="黑体" panose="02010609060101010101" pitchFamily="49" charset="-122"/>
            </a:endParaRPr>
          </a:p>
        </p:txBody>
      </p:sp>
      <p:graphicFrame>
        <p:nvGraphicFramePr>
          <p:cNvPr id="19459" name="Object 3"/>
          <p:cNvGraphicFramePr>
            <a:graphicFrameLocks noChangeAspect="1"/>
          </p:cNvGraphicFramePr>
          <p:nvPr/>
        </p:nvGraphicFramePr>
        <p:xfrm>
          <a:off x="203200" y="1117600"/>
          <a:ext cx="8650288" cy="5287963"/>
        </p:xfrm>
        <a:graphic>
          <a:graphicData uri="http://schemas.openxmlformats.org/presentationml/2006/ole">
            <mc:AlternateContent xmlns:mc="http://schemas.openxmlformats.org/markup-compatibility/2006">
              <mc:Choice xmlns:v="urn:schemas-microsoft-com:vml" Requires="v">
                <p:oleObj spid="_x0000_s3101" name="" r:id="rId1" imgW="5295900" imgH="4619625" progId="Paint.Picture">
                  <p:embed/>
                </p:oleObj>
              </mc:Choice>
              <mc:Fallback>
                <p:oleObj name="" r:id="rId1" imgW="5295900" imgH="4619625" progId="Paint.Picture">
                  <p:embed/>
                  <p:pic>
                    <p:nvPicPr>
                      <p:cNvPr id="0" name="图片 3100"/>
                      <p:cNvPicPr/>
                      <p:nvPr/>
                    </p:nvPicPr>
                    <p:blipFill>
                      <a:blip r:embed="rId2"/>
                      <a:stretch>
                        <a:fillRect/>
                      </a:stretch>
                    </p:blipFill>
                    <p:spPr>
                      <a:xfrm>
                        <a:off x="203200" y="1117600"/>
                        <a:ext cx="8650288" cy="5287963"/>
                      </a:xfrm>
                      <a:prstGeom prst="rect">
                        <a:avLst/>
                      </a:prstGeom>
                      <a:noFill/>
                      <a:ln w="38100">
                        <a:noFill/>
                        <a:miter/>
                      </a:ln>
                    </p:spPr>
                  </p:pic>
                </p:oleObj>
              </mc:Fallback>
            </mc:AlternateContent>
          </a:graphicData>
        </a:graphic>
      </p:graphicFrame>
      <p:sp>
        <p:nvSpPr>
          <p:cNvPr id="148484" name="Rectangle 4"/>
          <p:cNvSpPr/>
          <p:nvPr/>
        </p:nvSpPr>
        <p:spPr>
          <a:xfrm>
            <a:off x="6261100" y="2322513"/>
            <a:ext cx="2205038" cy="609600"/>
          </a:xfrm>
          <a:prstGeom prst="rect">
            <a:avLst/>
          </a:prstGeom>
          <a:noFill/>
          <a:ln w="38100" cap="flat" cmpd="sng">
            <a:solidFill>
              <a:schemeClr val="accent2"/>
            </a:solidFill>
            <a:prstDash val="solid"/>
            <a:miter/>
            <a:headEnd type="none" w="med" len="med"/>
            <a:tailEnd type="none" w="med" len="med"/>
          </a:ln>
        </p:spPr>
        <p:txBody>
          <a:bodyPr wrap="none" anchor="ctr" anchorCtr="0"/>
          <a:p>
            <a:pPr>
              <a:buClrTx/>
              <a:buFontTx/>
              <a:buNone/>
            </a:pPr>
            <a:endParaRPr lang="zh-CN" altLang="en-US" dirty="0">
              <a:latin typeface="Arial" panose="020B0604020202090204" pitchFamily="34"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84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0482"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 2.2  </a:t>
            </a:r>
            <a:r>
              <a:rPr lang="zh-CN" altLang="en-US" dirty="0">
                <a:latin typeface="Times New Roman" panose="02020503050405090304" pitchFamily="18" charset="0"/>
              </a:rPr>
              <a:t>一阶谓词逻辑表示法</a:t>
            </a:r>
            <a:endParaRPr lang="zh-CN" altLang="en-US" dirty="0">
              <a:latin typeface="Times New Roman" panose="02020503050405090304" pitchFamily="18" charset="0"/>
            </a:endParaRPr>
          </a:p>
        </p:txBody>
      </p:sp>
      <p:sp>
        <p:nvSpPr>
          <p:cNvPr id="20483" name="Rectangle 3"/>
          <p:cNvSpPr>
            <a:spLocks noGrp="1"/>
          </p:cNvSpPr>
          <p:nvPr>
            <p:ph idx="1"/>
          </p:nvPr>
        </p:nvSpPr>
        <p:spPr>
          <a:xfrm>
            <a:off x="598488" y="979488"/>
            <a:ext cx="8294687" cy="5400675"/>
          </a:xfrm>
        </p:spPr>
        <p:txBody>
          <a:bodyPr vert="horz" wrap="square" lIns="91440" tIns="45720" rIns="91440" bIns="45720" anchor="t" anchorCtr="0"/>
          <a:p>
            <a:pPr marL="0" indent="449580" defTabSz="914400" eaLnBrk="1" hangingPunct="1">
              <a:lnSpc>
                <a:spcPct val="140000"/>
              </a:lnSpc>
              <a:buBlip>
                <a:blip r:embed="rId1"/>
              </a:buBlip>
              <a:tabLst>
                <a:tab pos="1438275" algn="l"/>
                <a:tab pos="1529080" algn="l"/>
              </a:tabLst>
            </a:pPr>
            <a:r>
              <a:rPr lang="en-US" altLang="zh-CN" b="1" dirty="0">
                <a:latin typeface="Times New Roman" panose="02020503050405090304" pitchFamily="18" charset="0"/>
              </a:rPr>
              <a:t>2.2.1  </a:t>
            </a:r>
            <a:r>
              <a:rPr lang="zh-CN" altLang="en-US" b="1" dirty="0">
                <a:latin typeface="Times New Roman" panose="02020503050405090304" pitchFamily="18" charset="0"/>
              </a:rPr>
              <a:t>命题</a:t>
            </a:r>
            <a:endParaRPr lang="zh-CN" altLang="en-US" b="1" dirty="0">
              <a:latin typeface="Times New Roman" panose="02020503050405090304" pitchFamily="18" charset="0"/>
            </a:endParaRPr>
          </a:p>
          <a:p>
            <a:pPr marL="0" indent="449580" defTabSz="914400" eaLnBrk="1" hangingPunct="1">
              <a:lnSpc>
                <a:spcPct val="140000"/>
              </a:lnSpc>
              <a:buBlip>
                <a:blip r:embed="rId1"/>
              </a:buBlip>
              <a:tabLst>
                <a:tab pos="1438275" algn="l"/>
                <a:tab pos="1529080" algn="l"/>
              </a:tabLst>
            </a:pPr>
            <a:r>
              <a:rPr lang="en-US" altLang="zh-CN" b="1" dirty="0">
                <a:latin typeface="Times New Roman" panose="02020503050405090304" pitchFamily="18" charset="0"/>
              </a:rPr>
              <a:t>2.2.2  </a:t>
            </a:r>
            <a:r>
              <a:rPr lang="zh-CN" altLang="en-US" b="1" dirty="0">
                <a:latin typeface="Times New Roman" panose="02020503050405090304" pitchFamily="18" charset="0"/>
              </a:rPr>
              <a:t>谓词</a:t>
            </a:r>
            <a:endParaRPr lang="zh-CN" altLang="en-US" b="1" dirty="0">
              <a:latin typeface="Times New Roman" panose="02020503050405090304" pitchFamily="18" charset="0"/>
            </a:endParaRPr>
          </a:p>
          <a:p>
            <a:pPr marL="0" indent="449580" defTabSz="914400" eaLnBrk="1" hangingPunct="1">
              <a:lnSpc>
                <a:spcPct val="140000"/>
              </a:lnSpc>
              <a:buBlip>
                <a:blip r:embed="rId1"/>
              </a:buBlip>
              <a:tabLst>
                <a:tab pos="1438275" algn="l"/>
                <a:tab pos="1529080" algn="l"/>
              </a:tabLst>
            </a:pPr>
            <a:r>
              <a:rPr lang="en-US" altLang="zh-CN" b="1" dirty="0">
                <a:latin typeface="Times New Roman" panose="02020503050405090304" pitchFamily="18" charset="0"/>
              </a:rPr>
              <a:t>2.2.3  </a:t>
            </a:r>
            <a:r>
              <a:rPr lang="zh-CN" altLang="en-US" b="1" dirty="0">
                <a:latin typeface="Times New Roman" panose="02020503050405090304" pitchFamily="18" charset="0"/>
              </a:rPr>
              <a:t>谓词公式</a:t>
            </a:r>
            <a:endParaRPr lang="zh-CN" altLang="en-US" b="1" dirty="0">
              <a:latin typeface="Times New Roman" panose="02020503050405090304" pitchFamily="18" charset="0"/>
            </a:endParaRPr>
          </a:p>
          <a:p>
            <a:pPr marL="0" indent="449580" defTabSz="914400" eaLnBrk="1" hangingPunct="1">
              <a:lnSpc>
                <a:spcPct val="140000"/>
              </a:lnSpc>
              <a:buBlip>
                <a:blip r:embed="rId1"/>
              </a:buBlip>
              <a:tabLst>
                <a:tab pos="1438275" algn="l"/>
                <a:tab pos="1529080" algn="l"/>
              </a:tabLst>
            </a:pPr>
            <a:r>
              <a:rPr lang="en-US" altLang="zh-CN" b="1" dirty="0">
                <a:latin typeface="Times New Roman" panose="02020503050405090304" pitchFamily="18" charset="0"/>
              </a:rPr>
              <a:t>2.2.4  </a:t>
            </a:r>
            <a:r>
              <a:rPr lang="zh-CN" altLang="en-US" b="1" dirty="0">
                <a:latin typeface="Times New Roman" panose="02020503050405090304" pitchFamily="18" charset="0"/>
              </a:rPr>
              <a:t>谓词公式的性质</a:t>
            </a:r>
            <a:endParaRPr lang="zh-CN" altLang="en-US" b="1" dirty="0">
              <a:latin typeface="Times New Roman" panose="02020503050405090304" pitchFamily="18" charset="0"/>
            </a:endParaRPr>
          </a:p>
          <a:p>
            <a:pPr marL="0" indent="449580" defTabSz="914400" eaLnBrk="1" hangingPunct="1">
              <a:lnSpc>
                <a:spcPct val="140000"/>
              </a:lnSpc>
              <a:buBlip>
                <a:blip r:embed="rId1"/>
              </a:buBlip>
              <a:tabLst>
                <a:tab pos="1438275" algn="l"/>
                <a:tab pos="1529080" algn="l"/>
              </a:tabLst>
            </a:pPr>
            <a:r>
              <a:rPr lang="en-US" altLang="zh-CN" b="1" dirty="0">
                <a:latin typeface="Times New Roman" panose="02020503050405090304" pitchFamily="18" charset="0"/>
              </a:rPr>
              <a:t>2.2.5  </a:t>
            </a:r>
            <a:r>
              <a:rPr lang="zh-CN" altLang="en-US" b="1" dirty="0">
                <a:latin typeface="Times New Roman" panose="02020503050405090304" pitchFamily="18" charset="0"/>
              </a:rPr>
              <a:t>一阶谓词逻辑知识表示方法</a:t>
            </a:r>
            <a:endParaRPr lang="zh-CN" altLang="en-US" b="1" dirty="0">
              <a:latin typeface="Times New Roman" panose="02020503050405090304" pitchFamily="18" charset="0"/>
            </a:endParaRPr>
          </a:p>
          <a:p>
            <a:pPr marL="0" indent="449580" defTabSz="914400" eaLnBrk="1" hangingPunct="1">
              <a:lnSpc>
                <a:spcPct val="140000"/>
              </a:lnSpc>
              <a:buBlip>
                <a:blip r:embed="rId1"/>
              </a:buBlip>
              <a:tabLst>
                <a:tab pos="1438275" algn="l"/>
                <a:tab pos="1529080" algn="l"/>
              </a:tabLst>
            </a:pPr>
            <a:r>
              <a:rPr lang="en-US" altLang="zh-CN" b="1" dirty="0">
                <a:latin typeface="Times New Roman" panose="02020503050405090304" pitchFamily="18" charset="0"/>
              </a:rPr>
              <a:t>2.2.6  </a:t>
            </a:r>
            <a:r>
              <a:rPr lang="zh-CN" altLang="en-US" b="1" dirty="0">
                <a:latin typeface="Times New Roman" panose="02020503050405090304" pitchFamily="18" charset="0"/>
              </a:rPr>
              <a:t>一阶谓词逻辑表示法的特点</a:t>
            </a:r>
            <a:endParaRPr lang="zh-CN" altLang="en-US" b="1" dirty="0">
              <a:latin typeface="Times New Roman" panose="02020503050405090304" pitchFamily="18" charset="0"/>
            </a:endParaRPr>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0494" name="Rectangle 14"/>
          <p:cNvSpPr/>
          <p:nvPr/>
        </p:nvSpPr>
        <p:spPr>
          <a:xfrm>
            <a:off x="198438" y="3878263"/>
            <a:ext cx="8770937" cy="1728787"/>
          </a:xfrm>
          <a:prstGeom prst="rect">
            <a:avLst/>
          </a:prstGeom>
          <a:gradFill rotWithShape="0">
            <a:gsLst>
              <a:gs pos="0">
                <a:srgbClr val="CCFFFF"/>
              </a:gs>
              <a:gs pos="100000">
                <a:srgbClr val="FFFFFF"/>
              </a:gs>
            </a:gsLst>
            <a:path path="rect">
              <a:fillToRect l="100000" b="100000"/>
            </a:path>
            <a:tileRect/>
          </a:gradFill>
          <a:ln w="9525" cap="flat" cmpd="sng">
            <a:solidFill>
              <a:srgbClr val="008080"/>
            </a:solidFill>
            <a:prstDash val="solid"/>
            <a:miter/>
            <a:headEnd type="none" w="med" len="med"/>
            <a:tailEnd type="none" w="med" len="med"/>
          </a:ln>
        </p:spPr>
        <p:txBody>
          <a:bodyPr anchor="t" anchorCtr="0">
            <a:spAutoFit/>
          </a:bodyPr>
          <a:p>
            <a:pPr>
              <a:lnSpc>
                <a:spcPct val="120000"/>
              </a:lnSpc>
              <a:spcBef>
                <a:spcPct val="50000"/>
              </a:spcBef>
              <a:buClr>
                <a:schemeClr val="accent2"/>
              </a:buClr>
              <a:buFont typeface="Wingdings" panose="05000000000000000000" pitchFamily="2" charset="2"/>
              <a:buChar char="•"/>
            </a:pPr>
            <a:r>
              <a:rPr lang="en-US" altLang="zh-CN" sz="2600" dirty="0">
                <a:latin typeface="Times New Roman" panose="02020503050405090304" pitchFamily="18" charset="0"/>
                <a:ea typeface="宋体" pitchFamily="2" charset="-122"/>
              </a:rPr>
              <a:t> </a:t>
            </a:r>
            <a:r>
              <a:rPr lang="zh-CN" altLang="en-US" sz="2600" b="1" dirty="0">
                <a:latin typeface="Times New Roman" panose="02020503050405090304" pitchFamily="18" charset="0"/>
                <a:ea typeface="宋体" pitchFamily="2" charset="-122"/>
              </a:rPr>
              <a:t>命题逻辑</a:t>
            </a:r>
            <a:r>
              <a:rPr lang="zh-CN" altLang="en-US" sz="2600" dirty="0">
                <a:latin typeface="Times New Roman" panose="02020503050405090304" pitchFamily="18" charset="0"/>
                <a:ea typeface="宋体" pitchFamily="2" charset="-122"/>
              </a:rPr>
              <a:t>：研究命题及命题之间关系的符号逻辑系统。</a:t>
            </a:r>
            <a:endParaRPr lang="zh-CN" altLang="en-US" sz="2600" dirty="0">
              <a:latin typeface="Times New Roman" panose="02020503050405090304" pitchFamily="18" charset="0"/>
              <a:ea typeface="宋体" pitchFamily="2" charset="-122"/>
            </a:endParaRPr>
          </a:p>
          <a:p>
            <a:pPr>
              <a:lnSpc>
                <a:spcPct val="120000"/>
              </a:lnSpc>
              <a:spcBef>
                <a:spcPct val="50000"/>
              </a:spcBef>
              <a:buClr>
                <a:schemeClr val="accent2"/>
              </a:buClr>
              <a:buFont typeface="Wingdings" panose="05000000000000000000" pitchFamily="2" charset="2"/>
              <a:buChar char="•"/>
            </a:pPr>
            <a:r>
              <a:rPr lang="zh-CN" altLang="en-US" sz="2600" dirty="0">
                <a:latin typeface="Times New Roman" panose="02020503050405090304" pitchFamily="18" charset="0"/>
                <a:ea typeface="宋体" pitchFamily="2" charset="-122"/>
              </a:rPr>
              <a:t> </a:t>
            </a:r>
            <a:r>
              <a:rPr lang="zh-CN" altLang="en-US" sz="2600" b="1" dirty="0">
                <a:latin typeface="Times New Roman" panose="02020503050405090304" pitchFamily="18" charset="0"/>
                <a:ea typeface="宋体" pitchFamily="2" charset="-122"/>
              </a:rPr>
              <a:t>命题逻辑表示法</a:t>
            </a:r>
            <a:r>
              <a:rPr lang="zh-CN" altLang="en-US" sz="2600" dirty="0">
                <a:latin typeface="Times New Roman" panose="02020503050405090304" pitchFamily="18" charset="0"/>
                <a:ea typeface="宋体" pitchFamily="2" charset="-122"/>
              </a:rPr>
              <a:t>：无法把它所描述的事物的结构及逻辑特征反映出来，也不能把不同事物间的共同特征表述出来。</a:t>
            </a:r>
            <a:endParaRPr lang="zh-CN" altLang="en-US" sz="2600" dirty="0">
              <a:latin typeface="Times New Roman" panose="02020503050405090304" pitchFamily="18" charset="0"/>
              <a:ea typeface="宋体" pitchFamily="2" charset="-122"/>
            </a:endParaRPr>
          </a:p>
        </p:txBody>
      </p:sp>
      <p:sp>
        <p:nvSpPr>
          <p:cNvPr id="21507" name="Rectangle 15"/>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2.2.1  </a:t>
            </a:r>
            <a:r>
              <a:rPr lang="zh-CN" altLang="en-US" dirty="0">
                <a:latin typeface="Times New Roman" panose="02020503050405090304" pitchFamily="18" charset="0"/>
              </a:rPr>
              <a:t>命题</a:t>
            </a:r>
            <a:endParaRPr lang="zh-CN" altLang="en-US" dirty="0">
              <a:latin typeface="Times New Roman" panose="02020503050405090304" pitchFamily="18" charset="0"/>
            </a:endParaRPr>
          </a:p>
        </p:txBody>
      </p:sp>
      <p:sp>
        <p:nvSpPr>
          <p:cNvPr id="21508" name="Rectangle 16"/>
          <p:cNvSpPr>
            <a:spLocks noGrp="1"/>
          </p:cNvSpPr>
          <p:nvPr>
            <p:ph idx="1"/>
          </p:nvPr>
        </p:nvSpPr>
        <p:spPr>
          <a:xfrm>
            <a:off x="250825" y="908050"/>
            <a:ext cx="8670925" cy="2613025"/>
          </a:xfrm>
          <a:solidFill>
            <a:srgbClr val="FFFFFF"/>
          </a:solidFill>
          <a:ln>
            <a:solidFill>
              <a:srgbClr val="808080"/>
            </a:solidFill>
            <a:miter/>
          </a:ln>
        </p:spPr>
        <p:txBody>
          <a:bodyPr vert="horz" wrap="square" lIns="91440" tIns="45720" rIns="91440" bIns="45720" anchor="t" anchorCtr="0"/>
          <a:p>
            <a:pPr marL="97155" indent="-97155" eaLnBrk="1" hangingPunct="1">
              <a:lnSpc>
                <a:spcPct val="110000"/>
              </a:lnSpc>
              <a:spcBef>
                <a:spcPct val="40000"/>
              </a:spcBef>
            </a:pPr>
            <a:r>
              <a:rPr lang="en-US" altLang="zh-CN" sz="3200" dirty="0">
                <a:latin typeface="Times New Roman" panose="02020503050405090304" pitchFamily="18" charset="0"/>
              </a:rPr>
              <a:t> </a:t>
            </a:r>
            <a:r>
              <a:rPr lang="zh-CN" altLang="en-US" sz="2600" b="1" dirty="0">
                <a:latin typeface="Times New Roman" panose="02020503050405090304" pitchFamily="18" charset="0"/>
              </a:rPr>
              <a:t>命题（</a:t>
            </a:r>
            <a:r>
              <a:rPr lang="en-US" altLang="zh-CN" sz="2600" b="1" dirty="0">
                <a:latin typeface="Times New Roman" panose="02020503050405090304" pitchFamily="18" charset="0"/>
              </a:rPr>
              <a:t>proposition</a:t>
            </a:r>
            <a:r>
              <a:rPr lang="zh-CN" altLang="en-US" sz="2600" b="1" dirty="0">
                <a:latin typeface="Times New Roman" panose="02020503050405090304" pitchFamily="18" charset="0"/>
              </a:rPr>
              <a:t>）</a:t>
            </a:r>
            <a:r>
              <a:rPr lang="zh-CN" altLang="en-US" sz="2600" dirty="0">
                <a:latin typeface="Times New Roman" panose="02020503050405090304" pitchFamily="18" charset="0"/>
              </a:rPr>
              <a:t>：一个非真即假的陈述句。</a:t>
            </a:r>
            <a:endParaRPr lang="zh-CN" altLang="en-US" sz="2600" dirty="0">
              <a:latin typeface="Times New Roman" panose="02020503050405090304" pitchFamily="18" charset="0"/>
            </a:endParaRPr>
          </a:p>
          <a:p>
            <a:pPr marL="97155" indent="-97155" eaLnBrk="1" hangingPunct="1">
              <a:lnSpc>
                <a:spcPct val="110000"/>
              </a:lnSpc>
              <a:spcBef>
                <a:spcPct val="40000"/>
              </a:spcBef>
              <a:buClr>
                <a:srgbClr val="0000FF"/>
              </a:buClr>
              <a:buFont typeface="Wingdings" panose="05000000000000000000" pitchFamily="2" charset="2"/>
              <a:buChar char="§"/>
            </a:pPr>
            <a:r>
              <a:rPr lang="zh-CN" altLang="en-US" sz="2600" dirty="0">
                <a:latin typeface="Times New Roman" panose="02020503050405090304" pitchFamily="18" charset="0"/>
              </a:rPr>
              <a:t> 若</a:t>
            </a:r>
            <a:r>
              <a:rPr lang="zh-CN" altLang="en-US" sz="2600" b="1" dirty="0">
                <a:latin typeface="Times New Roman" panose="02020503050405090304" pitchFamily="18" charset="0"/>
              </a:rPr>
              <a:t>命题的意义为真</a:t>
            </a:r>
            <a:r>
              <a:rPr lang="zh-CN" altLang="en-US" sz="2600" dirty="0">
                <a:latin typeface="Times New Roman" panose="02020503050405090304" pitchFamily="18" charset="0"/>
              </a:rPr>
              <a:t>，称它的真值为真，记为 </a:t>
            </a:r>
            <a:r>
              <a:rPr lang="en-US" altLang="zh-CN" sz="2600" i="1" dirty="0">
                <a:latin typeface="Times New Roman" panose="02020503050405090304" pitchFamily="18" charset="0"/>
              </a:rPr>
              <a:t>T</a:t>
            </a:r>
            <a:r>
              <a:rPr lang="zh-CN" altLang="en-US" sz="2600" dirty="0">
                <a:latin typeface="Times New Roman" panose="02020503050405090304" pitchFamily="18" charset="0"/>
              </a:rPr>
              <a:t>。</a:t>
            </a:r>
            <a:endParaRPr lang="zh-CN" altLang="en-US" sz="2600" dirty="0">
              <a:latin typeface="Times New Roman" panose="02020503050405090304" pitchFamily="18" charset="0"/>
            </a:endParaRPr>
          </a:p>
          <a:p>
            <a:pPr marL="97155" indent="-97155" eaLnBrk="1" hangingPunct="1">
              <a:lnSpc>
                <a:spcPct val="110000"/>
              </a:lnSpc>
              <a:spcBef>
                <a:spcPct val="40000"/>
              </a:spcBef>
              <a:buClr>
                <a:srgbClr val="0000FF"/>
              </a:buClr>
              <a:buFont typeface="Wingdings" panose="05000000000000000000" pitchFamily="2" charset="2"/>
              <a:buChar char="§"/>
            </a:pPr>
            <a:r>
              <a:rPr lang="zh-CN" altLang="en-US" sz="2600" dirty="0">
                <a:latin typeface="Times New Roman" panose="02020503050405090304" pitchFamily="18" charset="0"/>
              </a:rPr>
              <a:t> 若</a:t>
            </a:r>
            <a:r>
              <a:rPr lang="zh-CN" altLang="en-US" sz="2600" b="1" dirty="0">
                <a:latin typeface="Times New Roman" panose="02020503050405090304" pitchFamily="18" charset="0"/>
              </a:rPr>
              <a:t>命题的意义为假</a:t>
            </a:r>
            <a:r>
              <a:rPr lang="zh-CN" altLang="en-US" sz="2600" dirty="0">
                <a:latin typeface="Times New Roman" panose="02020503050405090304" pitchFamily="18" charset="0"/>
              </a:rPr>
              <a:t>，称它的真值为假，记为 </a:t>
            </a:r>
            <a:r>
              <a:rPr lang="en-US" altLang="zh-CN" sz="2600" i="1" dirty="0">
                <a:latin typeface="Times New Roman" panose="02020503050405090304" pitchFamily="18" charset="0"/>
              </a:rPr>
              <a:t>F</a:t>
            </a:r>
            <a:r>
              <a:rPr lang="zh-CN" altLang="en-US" sz="2600" dirty="0">
                <a:latin typeface="Times New Roman" panose="02020503050405090304" pitchFamily="18" charset="0"/>
              </a:rPr>
              <a:t>。</a:t>
            </a:r>
            <a:endParaRPr lang="zh-CN" altLang="en-US" sz="2600" dirty="0">
              <a:latin typeface="Times New Roman" panose="02020503050405090304" pitchFamily="18" charset="0"/>
            </a:endParaRPr>
          </a:p>
          <a:p>
            <a:pPr marL="97155" indent="-97155" eaLnBrk="1" hangingPunct="1">
              <a:lnSpc>
                <a:spcPct val="110000"/>
              </a:lnSpc>
              <a:spcBef>
                <a:spcPct val="40000"/>
              </a:spcBef>
              <a:buClr>
                <a:srgbClr val="0000FF"/>
              </a:buClr>
              <a:buFont typeface="Wingdings" panose="05000000000000000000" pitchFamily="2" charset="2"/>
              <a:buChar char="§"/>
            </a:pPr>
            <a:r>
              <a:rPr lang="zh-CN" altLang="en-US" sz="2600" dirty="0">
                <a:latin typeface="Times New Roman" panose="02020503050405090304" pitchFamily="18" charset="0"/>
              </a:rPr>
              <a:t> 一个</a:t>
            </a:r>
            <a:r>
              <a:rPr lang="zh-CN" altLang="en-US" sz="2600" b="1" dirty="0">
                <a:latin typeface="Times New Roman" panose="02020503050405090304" pitchFamily="18" charset="0"/>
              </a:rPr>
              <a:t>命题可在一种条件下为真，在另一种条件下为假</a:t>
            </a:r>
            <a:r>
              <a:rPr lang="zh-CN" altLang="en-US" sz="3000" dirty="0">
                <a:latin typeface="Times New Roman" panose="02020503050405090304" pitchFamily="18" charset="0"/>
              </a:rPr>
              <a:t>。</a:t>
            </a:r>
            <a:endParaRPr lang="zh-CN" altLang="en-US" sz="3000" dirty="0">
              <a:latin typeface="Times New Roman" panose="02020503050405090304" pitchFamily="18" charset="0"/>
            </a:endParaRPr>
          </a:p>
        </p:txBody>
      </p:sp>
      <p:sp>
        <p:nvSpPr>
          <p:cNvPr id="20497" name="AutoShape 17"/>
          <p:cNvSpPr/>
          <p:nvPr/>
        </p:nvSpPr>
        <p:spPr>
          <a:xfrm>
            <a:off x="2894013" y="952500"/>
            <a:ext cx="1881187" cy="508000"/>
          </a:xfrm>
          <a:prstGeom prst="accentBorderCallout1">
            <a:avLst>
              <a:gd name="adj1" fmla="val 22500"/>
              <a:gd name="adj2" fmla="val -4051"/>
              <a:gd name="adj3" fmla="val 160625"/>
              <a:gd name="adj4" fmla="val -64218"/>
            </a:avLst>
          </a:prstGeom>
          <a:solidFill>
            <a:srgbClr val="FFFFFF"/>
          </a:solidFill>
          <a:ln w="25400" cap="flat" cmpd="sng">
            <a:solidFill>
              <a:srgbClr val="0000FF"/>
            </a:solidFill>
            <a:prstDash val="solid"/>
            <a:miter/>
            <a:headEnd type="none" w="med" len="med"/>
            <a:tailEnd type="none" w="med" len="med"/>
          </a:ln>
        </p:spPr>
        <p:txBody>
          <a:bodyPr anchor="t" anchorCtr="0"/>
          <a:p>
            <a:pPr>
              <a:buClrTx/>
              <a:buFontTx/>
              <a:buNone/>
            </a:pPr>
            <a:r>
              <a:rPr lang="zh-CN" altLang="en-US" sz="2600" b="1" dirty="0">
                <a:latin typeface="Arial" panose="020B0604020202090204" pitchFamily="34" charset="0"/>
                <a:ea typeface="宋体" pitchFamily="2" charset="-122"/>
              </a:rPr>
              <a:t>例如：</a:t>
            </a:r>
            <a:r>
              <a:rPr lang="en-US" altLang="zh-CN" sz="2600" b="1" dirty="0">
                <a:latin typeface="Times New Roman" panose="02020503050405090304" pitchFamily="18" charset="0"/>
                <a:ea typeface="宋体" pitchFamily="2" charset="-122"/>
              </a:rPr>
              <a:t>3&lt;5</a:t>
            </a:r>
            <a:r>
              <a:rPr lang="en-US" altLang="zh-CN" sz="2600" b="1" dirty="0">
                <a:latin typeface="Arial" panose="020B0604020202090204" pitchFamily="34" charset="0"/>
                <a:ea typeface="宋体" pitchFamily="2" charset="-122"/>
              </a:rPr>
              <a:t>   </a:t>
            </a:r>
            <a:endParaRPr lang="en-US" altLang="zh-CN" sz="2600" b="1" dirty="0">
              <a:latin typeface="Arial" panose="020B0604020202090204" pitchFamily="34" charset="0"/>
              <a:ea typeface="宋体" pitchFamily="2" charset="-122"/>
            </a:endParaRPr>
          </a:p>
        </p:txBody>
      </p:sp>
      <p:sp>
        <p:nvSpPr>
          <p:cNvPr id="20498" name="AutoShape 18"/>
          <p:cNvSpPr/>
          <p:nvPr/>
        </p:nvSpPr>
        <p:spPr>
          <a:xfrm>
            <a:off x="2914650" y="2790825"/>
            <a:ext cx="3692525" cy="581025"/>
          </a:xfrm>
          <a:prstGeom prst="accentBorderCallout1">
            <a:avLst>
              <a:gd name="adj1" fmla="val 19671"/>
              <a:gd name="adj2" fmla="val -2065"/>
              <a:gd name="adj3" fmla="val -21310"/>
              <a:gd name="adj4" fmla="val -34394"/>
            </a:avLst>
          </a:prstGeom>
          <a:solidFill>
            <a:srgbClr val="FFFFFF"/>
          </a:solidFill>
          <a:ln w="25400" cap="flat" cmpd="sng">
            <a:solidFill>
              <a:srgbClr val="0000FF"/>
            </a:solidFill>
            <a:prstDash val="solid"/>
            <a:miter/>
            <a:headEnd type="none" w="med" len="med"/>
            <a:tailEnd type="none" w="med" len="med"/>
          </a:ln>
        </p:spPr>
        <p:txBody>
          <a:bodyPr anchor="t" anchorCtr="0"/>
          <a:p>
            <a:pPr>
              <a:buClrTx/>
              <a:buFontTx/>
              <a:buNone/>
            </a:pPr>
            <a:r>
              <a:rPr lang="zh-CN" altLang="en-US" sz="2600" b="1" dirty="0">
                <a:latin typeface="Arial" panose="020B0604020202090204" pitchFamily="34" charset="0"/>
                <a:ea typeface="宋体" pitchFamily="2" charset="-122"/>
              </a:rPr>
              <a:t>例如：太阳从西边升起</a:t>
            </a:r>
            <a:endParaRPr lang="zh-CN" altLang="en-US" sz="2600" b="1" dirty="0">
              <a:latin typeface="Arial" panose="020B0604020202090204" pitchFamily="34" charset="0"/>
              <a:ea typeface="宋体" pitchFamily="2" charset="-122"/>
            </a:endParaRPr>
          </a:p>
          <a:p>
            <a:pPr>
              <a:buClrTx/>
              <a:buFontTx/>
              <a:buNone/>
            </a:pPr>
            <a:r>
              <a:rPr lang="zh-CN" altLang="en-US" sz="2600" b="1" dirty="0">
                <a:latin typeface="Arial" panose="020B0604020202090204" pitchFamily="34" charset="0"/>
                <a:ea typeface="宋体" pitchFamily="2" charset="-122"/>
              </a:rPr>
              <a:t>       </a:t>
            </a:r>
            <a:endParaRPr lang="zh-CN" altLang="en-US" sz="2600" b="1" dirty="0">
              <a:latin typeface="Arial" panose="020B0604020202090204" pitchFamily="34" charset="0"/>
              <a:ea typeface="宋体" pitchFamily="2" charset="-122"/>
            </a:endParaRPr>
          </a:p>
        </p:txBody>
      </p:sp>
      <p:sp>
        <p:nvSpPr>
          <p:cNvPr id="20499" name="AutoShape 19"/>
          <p:cNvSpPr/>
          <p:nvPr/>
        </p:nvSpPr>
        <p:spPr>
          <a:xfrm>
            <a:off x="2909888" y="3382963"/>
            <a:ext cx="2268537" cy="555625"/>
          </a:xfrm>
          <a:prstGeom prst="accentBorderCallout1">
            <a:avLst>
              <a:gd name="adj1" fmla="val 20569"/>
              <a:gd name="adj2" fmla="val -3361"/>
              <a:gd name="adj3" fmla="val -12856"/>
              <a:gd name="adj4" fmla="val -53046"/>
            </a:avLst>
          </a:prstGeom>
          <a:solidFill>
            <a:srgbClr val="FFFFFF"/>
          </a:solidFill>
          <a:ln w="25400" cap="flat" cmpd="sng">
            <a:solidFill>
              <a:srgbClr val="0000FF"/>
            </a:solidFill>
            <a:prstDash val="solid"/>
            <a:miter/>
            <a:headEnd type="none" w="med" len="med"/>
            <a:tailEnd type="none" w="med" len="med"/>
          </a:ln>
        </p:spPr>
        <p:txBody>
          <a:bodyPr anchor="t" anchorCtr="0"/>
          <a:p>
            <a:pPr>
              <a:buClrTx/>
              <a:buFontTx/>
              <a:buNone/>
            </a:pPr>
            <a:r>
              <a:rPr lang="zh-CN" altLang="en-US" sz="2600" b="1" dirty="0">
                <a:latin typeface="Arial" panose="020B0604020202090204" pitchFamily="34" charset="0"/>
                <a:ea typeface="宋体" pitchFamily="2" charset="-122"/>
              </a:rPr>
              <a:t>例</a:t>
            </a:r>
            <a:r>
              <a:rPr lang="en-US" altLang="zh-CN" sz="2600" b="1" dirty="0">
                <a:latin typeface="Arial" panose="020B0604020202090204" pitchFamily="34" charset="0"/>
                <a:ea typeface="宋体" pitchFamily="2" charset="-122"/>
              </a:rPr>
              <a:t>: 1</a:t>
            </a:r>
            <a:r>
              <a:rPr lang="zh-CN" altLang="en-US" sz="2600" b="1" dirty="0">
                <a:latin typeface="Arial" panose="020B0604020202090204" pitchFamily="34" charset="0"/>
                <a:ea typeface="宋体" pitchFamily="2" charset="-122"/>
              </a:rPr>
              <a:t>＋</a:t>
            </a:r>
            <a:r>
              <a:rPr lang="en-US" altLang="zh-CN" sz="2600" b="1" dirty="0">
                <a:latin typeface="Arial" panose="020B0604020202090204" pitchFamily="34" charset="0"/>
                <a:ea typeface="宋体" pitchFamily="2" charset="-122"/>
              </a:rPr>
              <a:t>1</a:t>
            </a:r>
            <a:r>
              <a:rPr lang="zh-CN" altLang="en-US" sz="2600" b="1" dirty="0">
                <a:latin typeface="Arial" panose="020B0604020202090204" pitchFamily="34" charset="0"/>
                <a:ea typeface="宋体" pitchFamily="2" charset="-122"/>
              </a:rPr>
              <a:t>＝</a:t>
            </a:r>
            <a:r>
              <a:rPr lang="en-US" altLang="zh-CN" sz="2600" b="1" dirty="0">
                <a:latin typeface="Arial" panose="020B0604020202090204" pitchFamily="34" charset="0"/>
                <a:ea typeface="宋体" pitchFamily="2" charset="-122"/>
              </a:rPr>
              <a:t>10</a:t>
            </a:r>
            <a:endParaRPr lang="en-US" altLang="zh-CN" sz="2600" b="1" dirty="0">
              <a:latin typeface="Arial" panose="020B0604020202090204" pitchFamily="34" charset="0"/>
              <a:ea typeface="宋体" pitchFamily="2" charset="-122"/>
            </a:endParaRPr>
          </a:p>
        </p:txBody>
      </p:sp>
      <p:sp>
        <p:nvSpPr>
          <p:cNvPr id="20500" name="AutoShape 20"/>
          <p:cNvSpPr/>
          <p:nvPr/>
        </p:nvSpPr>
        <p:spPr>
          <a:xfrm>
            <a:off x="284163" y="5715000"/>
            <a:ext cx="3597275" cy="539750"/>
          </a:xfrm>
          <a:prstGeom prst="accentBorderCallout1">
            <a:avLst>
              <a:gd name="adj1" fmla="val 21176"/>
              <a:gd name="adj2" fmla="val 102120"/>
              <a:gd name="adj3" fmla="val -130588"/>
              <a:gd name="adj4" fmla="val 184069"/>
            </a:avLst>
          </a:prstGeom>
          <a:solidFill>
            <a:srgbClr val="FFFFFF"/>
          </a:solidFill>
          <a:ln w="25400" cap="flat" cmpd="sng">
            <a:solidFill>
              <a:schemeClr val="accent2"/>
            </a:solidFill>
            <a:prstDash val="solid"/>
            <a:miter/>
            <a:headEnd type="none" w="med" len="med"/>
            <a:tailEnd type="none" w="med" len="med"/>
          </a:ln>
        </p:spPr>
        <p:txBody>
          <a:bodyPr anchor="t" anchorCtr="0"/>
          <a:p>
            <a:pPr>
              <a:buClrTx/>
              <a:buFontTx/>
              <a:buNone/>
            </a:pPr>
            <a:r>
              <a:rPr lang="en-US" altLang="zh-CN" sz="2600" b="1" i="1" dirty="0">
                <a:latin typeface="Times New Roman" panose="02020503050405090304" pitchFamily="18" charset="0"/>
                <a:ea typeface="宋体" pitchFamily="2" charset="-122"/>
              </a:rPr>
              <a:t>P</a:t>
            </a:r>
            <a:r>
              <a:rPr lang="zh-CN" altLang="en-US" sz="2600" b="1" dirty="0">
                <a:latin typeface="Arial" panose="020B0604020202090204" pitchFamily="34" charset="0"/>
                <a:ea typeface="宋体" pitchFamily="2" charset="-122"/>
              </a:rPr>
              <a:t>：老李是小李的父亲</a:t>
            </a:r>
            <a:endParaRPr lang="zh-CN" altLang="en-US" sz="2600" b="1" dirty="0">
              <a:latin typeface="Arial" panose="020B0604020202090204" pitchFamily="34" charset="0"/>
              <a:ea typeface="宋体" pitchFamily="2" charset="-122"/>
            </a:endParaRPr>
          </a:p>
        </p:txBody>
      </p:sp>
      <p:sp>
        <p:nvSpPr>
          <p:cNvPr id="20501" name="AutoShape 21"/>
          <p:cNvSpPr/>
          <p:nvPr/>
        </p:nvSpPr>
        <p:spPr>
          <a:xfrm>
            <a:off x="2762250" y="3394075"/>
            <a:ext cx="5135563" cy="560388"/>
          </a:xfrm>
          <a:prstGeom prst="accentBorderCallout1">
            <a:avLst>
              <a:gd name="adj1" fmla="val 20398"/>
              <a:gd name="adj2" fmla="val -1481"/>
              <a:gd name="adj3" fmla="val 118699"/>
              <a:gd name="adj4" fmla="val -27417"/>
            </a:avLst>
          </a:prstGeom>
          <a:solidFill>
            <a:srgbClr val="FFFFFF"/>
          </a:solidFill>
          <a:ln w="25400" cap="flat" cmpd="sng">
            <a:solidFill>
              <a:schemeClr val="accent2"/>
            </a:solidFill>
            <a:prstDash val="solid"/>
            <a:miter/>
            <a:headEnd type="none" w="med" len="med"/>
            <a:tailEnd type="none" w="med" len="med"/>
          </a:ln>
        </p:spPr>
        <p:txBody>
          <a:bodyPr anchor="t" anchorCtr="0"/>
          <a:p>
            <a:pPr>
              <a:buClrTx/>
              <a:buFontTx/>
              <a:buNone/>
            </a:pPr>
            <a:r>
              <a:rPr lang="en-US" altLang="zh-CN" sz="2600" b="1" i="1" dirty="0">
                <a:latin typeface="Times New Roman" panose="02020503050405090304" pitchFamily="18" charset="0"/>
                <a:ea typeface="宋体" pitchFamily="2" charset="-122"/>
              </a:rPr>
              <a:t>P</a:t>
            </a:r>
            <a:r>
              <a:rPr lang="zh-CN" altLang="en-US" sz="2600" b="1" dirty="0">
                <a:latin typeface="Arial" panose="020B0604020202090204" pitchFamily="34" charset="0"/>
                <a:ea typeface="宋体" pitchFamily="2" charset="-122"/>
              </a:rPr>
              <a:t>：北京是中华人民共和国的首都</a:t>
            </a:r>
            <a:endParaRPr lang="zh-CN" altLang="en-US" sz="2600" b="1" dirty="0">
              <a:latin typeface="Arial" panose="020B0604020202090204" pitchFamily="34" charset="0"/>
              <a:ea typeface="宋体" pitchFamily="2" charset="-122"/>
            </a:endParaRPr>
          </a:p>
        </p:txBody>
      </p:sp>
      <p:sp>
        <p:nvSpPr>
          <p:cNvPr id="20502" name="AutoShape 22"/>
          <p:cNvSpPr/>
          <p:nvPr/>
        </p:nvSpPr>
        <p:spPr>
          <a:xfrm>
            <a:off x="5262563" y="5651500"/>
            <a:ext cx="2857500" cy="881063"/>
          </a:xfrm>
          <a:prstGeom prst="accentBorderCallout1">
            <a:avLst>
              <a:gd name="adj1" fmla="val 12972"/>
              <a:gd name="adj2" fmla="val -2667"/>
              <a:gd name="adj3" fmla="val -15676"/>
              <a:gd name="adj4" fmla="val -42222"/>
            </a:avLst>
          </a:prstGeom>
          <a:solidFill>
            <a:srgbClr val="FFFFFF"/>
          </a:solidFill>
          <a:ln w="25400" cap="flat" cmpd="sng">
            <a:solidFill>
              <a:schemeClr val="accent2"/>
            </a:solidFill>
            <a:prstDash val="solid"/>
            <a:miter/>
            <a:headEnd type="none" w="med" len="med"/>
            <a:tailEnd type="none" w="med" len="med"/>
          </a:ln>
        </p:spPr>
        <p:txBody>
          <a:bodyPr anchor="t" anchorCtr="0"/>
          <a:p>
            <a:pPr>
              <a:buClrTx/>
              <a:buFontTx/>
              <a:buNone/>
            </a:pPr>
            <a:r>
              <a:rPr lang="en-US" altLang="zh-CN" sz="2600" b="1" i="1" dirty="0">
                <a:latin typeface="Times New Roman" panose="02020503050405090304" pitchFamily="18" charset="0"/>
                <a:ea typeface="宋体" pitchFamily="2" charset="-122"/>
              </a:rPr>
              <a:t>P</a:t>
            </a:r>
            <a:r>
              <a:rPr lang="zh-CN" altLang="en-US" sz="2600" b="1" dirty="0">
                <a:latin typeface="Arial" panose="020B0604020202090204" pitchFamily="34" charset="0"/>
                <a:ea typeface="宋体" pitchFamily="2" charset="-122"/>
              </a:rPr>
              <a:t>：李白是诗人</a:t>
            </a:r>
            <a:endParaRPr lang="zh-CN" altLang="en-US" sz="2600" b="1" dirty="0">
              <a:latin typeface="Arial" panose="020B0604020202090204" pitchFamily="34" charset="0"/>
              <a:ea typeface="宋体" pitchFamily="2" charset="-122"/>
            </a:endParaRPr>
          </a:p>
          <a:p>
            <a:pPr>
              <a:buClrTx/>
              <a:buFontTx/>
              <a:buNone/>
            </a:pPr>
            <a:r>
              <a:rPr lang="en-US" altLang="zh-CN" sz="2600" b="1" i="1" dirty="0">
                <a:latin typeface="Times New Roman" panose="02020503050405090304" pitchFamily="18" charset="0"/>
                <a:ea typeface="宋体" pitchFamily="2" charset="-122"/>
              </a:rPr>
              <a:t>Q</a:t>
            </a:r>
            <a:r>
              <a:rPr lang="zh-CN" altLang="en-US" sz="2600" b="1" dirty="0">
                <a:latin typeface="Arial" panose="020B0604020202090204" pitchFamily="34" charset="0"/>
                <a:ea typeface="宋体" pitchFamily="2" charset="-122"/>
              </a:rPr>
              <a:t>：杜甫也是诗人</a:t>
            </a:r>
            <a:endParaRPr lang="zh-CN" altLang="en-US" sz="2600" b="1" dirty="0">
              <a:latin typeface="Arial" panose="020B0604020202090204" pitchFamily="34"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497"/>
                                        </p:tgtEl>
                                        <p:attrNameLst>
                                          <p:attrName>style.visibility</p:attrName>
                                        </p:attrNameLst>
                                      </p:cBhvr>
                                      <p:to>
                                        <p:strVal val="visible"/>
                                      </p:to>
                                    </p:set>
                                  </p:childTnLst>
                                  <p:subTnLst>
                                    <p:set>
                                      <p:cBhvr override="childStyle">
                                        <p:cTn dur="1" fill="hold" display="0" masterRel="nextClick" afterEffect="1"/>
                                        <p:tgtEl>
                                          <p:spTgt spid="20497"/>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20498"/>
                                        </p:tgtEl>
                                        <p:attrNameLst>
                                          <p:attrName>style.visibility</p:attrName>
                                        </p:attrNameLst>
                                      </p:cBhvr>
                                      <p:to>
                                        <p:strVal val="visible"/>
                                      </p:to>
                                    </p:set>
                                    <p:animEffect transition="in" filter="box(in)">
                                      <p:cBhvr>
                                        <p:cTn id="11" dur="500"/>
                                        <p:tgtEl>
                                          <p:spTgt spid="20498"/>
                                        </p:tgtEl>
                                      </p:cBhvr>
                                    </p:animEffect>
                                  </p:childTnLst>
                                  <p:subTnLst>
                                    <p:set>
                                      <p:cBhvr override="childStyle">
                                        <p:cTn dur="1" fill="hold" display="0" masterRel="nextClick" afterEffect="1"/>
                                        <p:tgtEl>
                                          <p:spTgt spid="20498"/>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20499"/>
                                        </p:tgtEl>
                                        <p:attrNameLst>
                                          <p:attrName>style.visibility</p:attrName>
                                        </p:attrNameLst>
                                      </p:cBhvr>
                                      <p:to>
                                        <p:strVal val="visible"/>
                                      </p:to>
                                    </p:set>
                                    <p:animEffect transition="in" filter="box(in)">
                                      <p:cBhvr>
                                        <p:cTn id="16" dur="500"/>
                                        <p:tgtEl>
                                          <p:spTgt spid="20499"/>
                                        </p:tgtEl>
                                      </p:cBhvr>
                                    </p:animEffect>
                                  </p:childTnLst>
                                  <p:subTnLst>
                                    <p:set>
                                      <p:cBhvr override="childStyle">
                                        <p:cTn dur="1" fill="hold" display="0" masterRel="nextClick" afterEffect="1"/>
                                        <p:tgtEl>
                                          <p:spTgt spid="20499"/>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0494"/>
                                        </p:tgtEl>
                                        <p:attrNameLst>
                                          <p:attrName>style.visibility</p:attrName>
                                        </p:attrNameLst>
                                      </p:cBhvr>
                                      <p:to>
                                        <p:strVal val="visible"/>
                                      </p:to>
                                    </p:set>
                                    <p:anim calcmode="lin" valueType="num">
                                      <p:cBhvr additive="base">
                                        <p:cTn id="21" dur="500" fill="hold"/>
                                        <p:tgtEl>
                                          <p:spTgt spid="20494"/>
                                        </p:tgtEl>
                                        <p:attrNameLst>
                                          <p:attrName>ppt_x</p:attrName>
                                        </p:attrNameLst>
                                      </p:cBhvr>
                                      <p:tavLst>
                                        <p:tav tm="0">
                                          <p:val>
                                            <p:strVal val="0-#ppt_w/2"/>
                                          </p:val>
                                        </p:tav>
                                        <p:tav tm="100000">
                                          <p:val>
                                            <p:strVal val="#ppt_x"/>
                                          </p:val>
                                        </p:tav>
                                      </p:tavLst>
                                    </p:anim>
                                    <p:anim calcmode="lin" valueType="num">
                                      <p:cBhvr additive="base">
                                        <p:cTn id="22" dur="500" fill="hold"/>
                                        <p:tgtEl>
                                          <p:spTgt spid="20494"/>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0501"/>
                                        </p:tgtEl>
                                        <p:attrNameLst>
                                          <p:attrName>style.visibility</p:attrName>
                                        </p:attrNameLst>
                                      </p:cBhvr>
                                      <p:to>
                                        <p:strVal val="visible"/>
                                      </p:to>
                                    </p:set>
                                    <p:animEffect transition="in" filter="box(in)">
                                      <p:cBhvr>
                                        <p:cTn id="27" dur="500"/>
                                        <p:tgtEl>
                                          <p:spTgt spid="20501"/>
                                        </p:tgtEl>
                                      </p:cBhvr>
                                    </p:animEffect>
                                  </p:childTnLst>
                                  <p:subTnLst>
                                    <p:set>
                                      <p:cBhvr override="childStyle">
                                        <p:cTn dur="1" fill="hold" display="0" masterRel="nextClick" afterEffect="1"/>
                                        <p:tgtEl>
                                          <p:spTgt spid="20501"/>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0500"/>
                                        </p:tgtEl>
                                        <p:attrNameLst>
                                          <p:attrName>style.visibility</p:attrName>
                                        </p:attrNameLst>
                                      </p:cBhvr>
                                      <p:to>
                                        <p:strVal val="visible"/>
                                      </p:to>
                                    </p:set>
                                    <p:animEffect transition="in" filter="box(in)">
                                      <p:cBhvr>
                                        <p:cTn id="32" dur="500"/>
                                        <p:tgtEl>
                                          <p:spTgt spid="20500"/>
                                        </p:tgtEl>
                                      </p:cBhvr>
                                    </p:animEffect>
                                  </p:childTnLst>
                                  <p:subTnLst>
                                    <p:set>
                                      <p:cBhvr override="childStyle">
                                        <p:cTn dur="1" fill="hold" display="0" masterRel="nextClick" afterEffect="1"/>
                                        <p:tgtEl>
                                          <p:spTgt spid="20500"/>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20502"/>
                                        </p:tgtEl>
                                        <p:attrNameLst>
                                          <p:attrName>style.visibility</p:attrName>
                                        </p:attrNameLst>
                                      </p:cBhvr>
                                      <p:to>
                                        <p:strVal val="visible"/>
                                      </p:to>
                                    </p:set>
                                    <p:animEffect transition="in" filter="box(in)">
                                      <p:cBhvr>
                                        <p:cTn id="37" dur="500"/>
                                        <p:tgtEl>
                                          <p:spTgt spid="20502"/>
                                        </p:tgtEl>
                                      </p:cBhvr>
                                    </p:animEffect>
                                  </p:childTnLst>
                                  <p:subTnLst>
                                    <p:set>
                                      <p:cBhvr override="childStyle">
                                        <p:cTn dur="1" fill="hold" display="0" masterRel="nextClick" afterEffect="1"/>
                                        <p:tgtEl>
                                          <p:spTgt spid="2050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4" grpId="0" animBg="1"/>
      <p:bldP spid="20497" grpId="0" animBg="1"/>
      <p:bldP spid="20498" grpId="0" animBg="1"/>
      <p:bldP spid="20499" grpId="0" animBg="1"/>
      <p:bldP spid="20500" grpId="0" animBg="1"/>
      <p:bldP spid="20501" grpId="0" animBg="1"/>
      <p:bldP spid="2050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2530"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 2.2.2  </a:t>
            </a:r>
            <a:r>
              <a:rPr lang="zh-CN" altLang="en-US" dirty="0">
                <a:latin typeface="Times New Roman" panose="02020503050405090304" pitchFamily="18" charset="0"/>
              </a:rPr>
              <a:t>谓词</a:t>
            </a:r>
            <a:endParaRPr lang="zh-CN" altLang="en-US" dirty="0">
              <a:latin typeface="Times New Roman" panose="02020503050405090304" pitchFamily="18" charset="0"/>
            </a:endParaRPr>
          </a:p>
        </p:txBody>
      </p:sp>
      <p:sp>
        <p:nvSpPr>
          <p:cNvPr id="22531" name="Rectangle 5"/>
          <p:cNvSpPr/>
          <p:nvPr/>
        </p:nvSpPr>
        <p:spPr>
          <a:xfrm>
            <a:off x="0" y="0"/>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22532" name="Rectangle 7"/>
          <p:cNvSpPr/>
          <p:nvPr/>
        </p:nvSpPr>
        <p:spPr>
          <a:xfrm>
            <a:off x="0" y="0"/>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22533" name="Rectangle 10"/>
          <p:cNvSpPr>
            <a:spLocks noGrp="1"/>
          </p:cNvSpPr>
          <p:nvPr>
            <p:ph idx="1"/>
          </p:nvPr>
        </p:nvSpPr>
        <p:spPr>
          <a:xfrm>
            <a:off x="250825" y="908050"/>
            <a:ext cx="8642350" cy="2586038"/>
          </a:xfrm>
        </p:spPr>
        <p:txBody>
          <a:bodyPr vert="horz" wrap="square" lIns="91440" tIns="45720" rIns="91440" bIns="45720" anchor="t" anchorCtr="0"/>
          <a:p>
            <a:pPr marL="533400" indent="-533400" eaLnBrk="1" hangingPunct="1">
              <a:spcBef>
                <a:spcPct val="40000"/>
              </a:spcBef>
            </a:pPr>
            <a:r>
              <a:rPr lang="zh-CN" altLang="en-US" b="1" dirty="0">
                <a:latin typeface="Times New Roman" panose="02020503050405090304" pitchFamily="18" charset="0"/>
              </a:rPr>
              <a:t>谓词的一般形式：   </a:t>
            </a:r>
            <a:r>
              <a:rPr lang="en-US" altLang="zh-CN" b="1" i="1" dirty="0">
                <a:latin typeface="Times New Roman" panose="02020503050405090304" pitchFamily="18" charset="0"/>
              </a:rPr>
              <a:t>P </a:t>
            </a:r>
            <a:r>
              <a:rPr lang="en-US" altLang="zh-CN" b="1" dirty="0">
                <a:latin typeface="Times New Roman" panose="02020503050405090304" pitchFamily="18" charset="0"/>
              </a:rPr>
              <a:t>(</a:t>
            </a:r>
            <a:r>
              <a:rPr lang="en-US" altLang="zh-CN" b="1" i="1" dirty="0">
                <a:latin typeface="Times New Roman" panose="02020503050405090304" pitchFamily="18" charset="0"/>
              </a:rPr>
              <a:t>x</a:t>
            </a:r>
            <a:r>
              <a:rPr lang="en-US" altLang="zh-CN" b="1" baseline="-25000" dirty="0">
                <a:latin typeface="Times New Roman" panose="02020503050405090304" pitchFamily="18" charset="0"/>
              </a:rPr>
              <a:t>1</a:t>
            </a:r>
            <a:r>
              <a:rPr lang="en-US" altLang="zh-CN" b="1" dirty="0">
                <a:latin typeface="Times New Roman" panose="02020503050405090304" pitchFamily="18" charset="0"/>
              </a:rPr>
              <a:t>, </a:t>
            </a:r>
            <a:r>
              <a:rPr lang="en-US" altLang="zh-CN" b="1" i="1" dirty="0">
                <a:latin typeface="Times New Roman" panose="02020503050405090304" pitchFamily="18" charset="0"/>
              </a:rPr>
              <a:t>x</a:t>
            </a:r>
            <a:r>
              <a:rPr lang="en-US" altLang="zh-CN" b="1" baseline="-25000" dirty="0">
                <a:latin typeface="Times New Roman" panose="02020503050405090304" pitchFamily="18" charset="0"/>
              </a:rPr>
              <a:t>2</a:t>
            </a:r>
            <a:r>
              <a:rPr lang="en-US" altLang="zh-CN" b="1" dirty="0">
                <a:latin typeface="Times New Roman" panose="02020503050405090304" pitchFamily="18" charset="0"/>
              </a:rPr>
              <a:t>,</a:t>
            </a:r>
            <a:r>
              <a:rPr lang="en-US" altLang="zh-CN" sz="4400" b="1" baseline="9000" dirty="0">
                <a:latin typeface="Times New Roman" panose="02020503050405090304" pitchFamily="18" charset="0"/>
              </a:rPr>
              <a:t>…</a:t>
            </a:r>
            <a:r>
              <a:rPr lang="en-US" altLang="zh-CN" b="1" dirty="0">
                <a:latin typeface="Times New Roman" panose="02020503050405090304" pitchFamily="18" charset="0"/>
              </a:rPr>
              <a:t>, </a:t>
            </a:r>
            <a:r>
              <a:rPr lang="en-US" altLang="zh-CN" b="1" i="1" dirty="0">
                <a:latin typeface="Times New Roman" panose="02020503050405090304" pitchFamily="18" charset="0"/>
              </a:rPr>
              <a:t>x</a:t>
            </a:r>
            <a:r>
              <a:rPr lang="en-US" altLang="zh-CN" b="1" i="1" baseline="-25000" dirty="0">
                <a:latin typeface="Times New Roman" panose="02020503050405090304" pitchFamily="18" charset="0"/>
              </a:rPr>
              <a:t>n</a:t>
            </a:r>
            <a:r>
              <a:rPr lang="en-US" altLang="zh-CN" b="1" dirty="0">
                <a:latin typeface="Times New Roman" panose="02020503050405090304" pitchFamily="18" charset="0"/>
              </a:rPr>
              <a:t>)</a:t>
            </a:r>
            <a:endParaRPr lang="en-US" altLang="zh-CN" b="1" dirty="0">
              <a:latin typeface="Times New Roman" panose="02020503050405090304" pitchFamily="18" charset="0"/>
            </a:endParaRPr>
          </a:p>
          <a:p>
            <a:pPr marL="533400" indent="-533400" eaLnBrk="1" hangingPunct="1">
              <a:spcBef>
                <a:spcPct val="40000"/>
              </a:spcBef>
              <a:buFont typeface="Wingdings" panose="05000000000000000000" pitchFamily="2" charset="2"/>
              <a:buChar char="§"/>
            </a:pPr>
            <a:r>
              <a:rPr lang="zh-CN" altLang="en-US" sz="2600" b="1" dirty="0">
                <a:latin typeface="Times New Roman" panose="02020503050405090304" pitchFamily="18" charset="0"/>
              </a:rPr>
              <a:t>个体 </a:t>
            </a:r>
            <a:r>
              <a:rPr lang="en-US" altLang="zh-CN" sz="2600" b="1" i="1" dirty="0">
                <a:latin typeface="Times New Roman" panose="02020503050405090304" pitchFamily="18" charset="0"/>
              </a:rPr>
              <a:t>x</a:t>
            </a:r>
            <a:r>
              <a:rPr lang="en-US" altLang="zh-CN" sz="2600" b="1" baseline="-25000" dirty="0">
                <a:latin typeface="Times New Roman" panose="02020503050405090304" pitchFamily="18" charset="0"/>
              </a:rPr>
              <a:t>1</a:t>
            </a:r>
            <a:r>
              <a:rPr lang="en-US" altLang="zh-CN" sz="2600" b="1" dirty="0">
                <a:latin typeface="Times New Roman" panose="02020503050405090304" pitchFamily="18" charset="0"/>
              </a:rPr>
              <a:t>, </a:t>
            </a:r>
            <a:r>
              <a:rPr lang="en-US" altLang="zh-CN" sz="2600" b="1" i="1" dirty="0">
                <a:latin typeface="Times New Roman" panose="02020503050405090304" pitchFamily="18" charset="0"/>
              </a:rPr>
              <a:t>x</a:t>
            </a:r>
            <a:r>
              <a:rPr lang="en-US" altLang="zh-CN" sz="2600" b="1" baseline="-25000" dirty="0">
                <a:latin typeface="Times New Roman" panose="02020503050405090304" pitchFamily="18" charset="0"/>
              </a:rPr>
              <a:t>2</a:t>
            </a:r>
            <a:r>
              <a:rPr lang="en-US" altLang="zh-CN" sz="2600" b="1" dirty="0">
                <a:latin typeface="Times New Roman" panose="02020503050405090304" pitchFamily="18" charset="0"/>
              </a:rPr>
              <a:t>,</a:t>
            </a:r>
            <a:r>
              <a:rPr lang="en-US" altLang="zh-CN" sz="4000" b="1" baseline="10000" dirty="0">
                <a:latin typeface="Times New Roman" panose="02020503050405090304" pitchFamily="18" charset="0"/>
              </a:rPr>
              <a:t>…</a:t>
            </a:r>
            <a:r>
              <a:rPr lang="en-US" altLang="zh-CN" sz="2600" b="1" dirty="0">
                <a:latin typeface="Times New Roman" panose="02020503050405090304" pitchFamily="18" charset="0"/>
              </a:rPr>
              <a:t>, </a:t>
            </a:r>
            <a:r>
              <a:rPr lang="en-US" altLang="zh-CN" sz="2600" b="1" i="1" dirty="0">
                <a:latin typeface="Times New Roman" panose="02020503050405090304" pitchFamily="18" charset="0"/>
              </a:rPr>
              <a:t>x</a:t>
            </a:r>
            <a:r>
              <a:rPr lang="en-US" altLang="zh-CN" sz="2600" b="1" baseline="-25000" dirty="0">
                <a:latin typeface="Times New Roman" panose="02020503050405090304" pitchFamily="18" charset="0"/>
              </a:rPr>
              <a:t>n</a:t>
            </a:r>
            <a:r>
              <a:rPr lang="en-US" altLang="zh-CN" sz="2600" b="1" i="1" baseline="-25000" dirty="0">
                <a:latin typeface="Times New Roman" panose="02020503050405090304" pitchFamily="18" charset="0"/>
              </a:rPr>
              <a:t> </a:t>
            </a:r>
            <a:r>
              <a:rPr lang="zh-CN" altLang="en-US" sz="2600" dirty="0">
                <a:latin typeface="Times New Roman" panose="02020503050405090304" pitchFamily="18" charset="0"/>
              </a:rPr>
              <a:t>：某个独立存在的事物或者某个抽象的概念；</a:t>
            </a:r>
            <a:endParaRPr lang="zh-CN" altLang="en-US" sz="2600" dirty="0">
              <a:latin typeface="Times New Roman" panose="02020503050405090304" pitchFamily="18" charset="0"/>
            </a:endParaRPr>
          </a:p>
          <a:p>
            <a:pPr marL="533400" indent="-533400" eaLnBrk="1" hangingPunct="1">
              <a:spcBef>
                <a:spcPct val="40000"/>
              </a:spcBef>
              <a:buFont typeface="Wingdings" panose="05000000000000000000" pitchFamily="2" charset="2"/>
              <a:buChar char="§"/>
            </a:pPr>
            <a:r>
              <a:rPr lang="zh-CN" altLang="en-US" sz="2600" b="1" dirty="0">
                <a:latin typeface="Times New Roman" panose="02020503050405090304" pitchFamily="18" charset="0"/>
              </a:rPr>
              <a:t>谓词名 </a:t>
            </a:r>
            <a:r>
              <a:rPr lang="en-US" altLang="zh-CN" sz="2600" b="1" i="1" dirty="0">
                <a:latin typeface="Times New Roman" panose="02020503050405090304" pitchFamily="18" charset="0"/>
              </a:rPr>
              <a:t>P</a:t>
            </a:r>
            <a:r>
              <a:rPr lang="zh-CN" altLang="en-US" sz="2600" dirty="0">
                <a:latin typeface="Times New Roman" panose="02020503050405090304" pitchFamily="18" charset="0"/>
              </a:rPr>
              <a:t>：刻画个体的性质、状态或个体间的关系。</a:t>
            </a:r>
            <a:endParaRPr lang="zh-CN" altLang="en-US" sz="2600" dirty="0">
              <a:latin typeface="Times New Roman" panose="02020503050405090304" pitchFamily="18" charset="0"/>
            </a:endParaRPr>
          </a:p>
          <a:p>
            <a:pPr marL="533400" indent="-533400" eaLnBrk="1" hangingPunct="1">
              <a:spcBef>
                <a:spcPct val="40000"/>
              </a:spcBef>
              <a:buClr>
                <a:srgbClr val="0000FF"/>
              </a:buClr>
              <a:buFont typeface="Wingdings" panose="05000000000000000000" pitchFamily="2" charset="2"/>
              <a:buChar char="•"/>
            </a:pPr>
            <a:endParaRPr lang="en-US" altLang="zh-CN" b="1" dirty="0">
              <a:latin typeface="Times New Roman" panose="02020503050405090304" pitchFamily="18" charset="0"/>
            </a:endParaRPr>
          </a:p>
        </p:txBody>
      </p:sp>
      <p:sp>
        <p:nvSpPr>
          <p:cNvPr id="21515" name="AutoShape 11"/>
          <p:cNvSpPr/>
          <p:nvPr/>
        </p:nvSpPr>
        <p:spPr>
          <a:xfrm>
            <a:off x="1697038" y="4329113"/>
            <a:ext cx="7269162" cy="2114550"/>
          </a:xfrm>
          <a:prstGeom prst="accentBorderCallout1">
            <a:avLst>
              <a:gd name="adj1" fmla="val 5407"/>
              <a:gd name="adj2" fmla="val -1046"/>
              <a:gd name="adj3" fmla="val -15764"/>
              <a:gd name="adj4" fmla="val -4435"/>
            </a:avLst>
          </a:prstGeom>
          <a:gradFill rotWithShape="0">
            <a:gsLst>
              <a:gs pos="0">
                <a:schemeClr val="accent1"/>
              </a:gs>
              <a:gs pos="100000">
                <a:schemeClr val="bg1"/>
              </a:gs>
            </a:gsLst>
            <a:path path="rect">
              <a:fillToRect l="100000" b="100000"/>
            </a:path>
            <a:tileRect/>
          </a:gradFill>
          <a:ln w="9525" cap="flat" cmpd="sng">
            <a:solidFill>
              <a:schemeClr val="tx1"/>
            </a:solidFill>
            <a:prstDash val="solid"/>
            <a:miter/>
            <a:headEnd type="none" w="med" len="med"/>
            <a:tailEnd type="none" w="med" len="med"/>
          </a:ln>
        </p:spPr>
        <p:txBody>
          <a:bodyPr anchor="t" anchorCtr="0"/>
          <a:p>
            <a:pPr>
              <a:spcBef>
                <a:spcPct val="40000"/>
              </a:spcBef>
              <a:buClr>
                <a:schemeClr val="accent2"/>
              </a:buClr>
              <a:buFont typeface="Wingdings" panose="05000000000000000000" pitchFamily="2" charset="2"/>
              <a:buChar char="§"/>
            </a:pPr>
            <a:r>
              <a:rPr lang="en-US" altLang="zh-CN" sz="2600" b="1" dirty="0">
                <a:latin typeface="Times New Roman" panose="02020503050405090304" pitchFamily="18" charset="0"/>
                <a:ea typeface="宋体" pitchFamily="2" charset="-122"/>
              </a:rPr>
              <a:t> “</a:t>
            </a:r>
            <a:r>
              <a:rPr lang="zh-CN" altLang="en-US" sz="2600" b="1" dirty="0">
                <a:solidFill>
                  <a:schemeClr val="accent2"/>
                </a:solidFill>
                <a:latin typeface="Times New Roman" panose="02020503050405090304" pitchFamily="18" charset="0"/>
                <a:ea typeface="宋体" pitchFamily="2" charset="-122"/>
              </a:rPr>
              <a:t>老张是一个教师</a:t>
            </a:r>
            <a:r>
              <a:rPr lang="zh-CN" altLang="en-US" sz="2600" b="1" dirty="0">
                <a:latin typeface="Times New Roman" panose="02020503050405090304" pitchFamily="18" charset="0"/>
                <a:ea typeface="宋体" pitchFamily="2" charset="-122"/>
              </a:rPr>
              <a:t>”：一元谓词 </a:t>
            </a:r>
            <a:r>
              <a:rPr lang="en-US" altLang="zh-CN" sz="2600" b="1" i="1" dirty="0">
                <a:latin typeface="Times New Roman" panose="02020503050405090304" pitchFamily="18" charset="0"/>
                <a:ea typeface="宋体" pitchFamily="2" charset="-122"/>
              </a:rPr>
              <a:t>Teacher </a:t>
            </a:r>
            <a:r>
              <a:rPr lang="en-US" altLang="zh-CN"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Zhang</a:t>
            </a:r>
            <a:r>
              <a:rPr lang="en-US" altLang="zh-CN" sz="2600" b="1" dirty="0">
                <a:latin typeface="Times New Roman" panose="02020503050405090304" pitchFamily="18" charset="0"/>
                <a:ea typeface="宋体" pitchFamily="2" charset="-122"/>
              </a:rPr>
              <a:t>)</a:t>
            </a:r>
            <a:endParaRPr lang="en-US" altLang="zh-CN" sz="2600" b="1" dirty="0">
              <a:latin typeface="Times New Roman" panose="02020503050405090304" pitchFamily="18" charset="0"/>
              <a:ea typeface="宋体" pitchFamily="2" charset="-122"/>
            </a:endParaRPr>
          </a:p>
          <a:p>
            <a:pPr>
              <a:spcBef>
                <a:spcPct val="40000"/>
              </a:spcBef>
              <a:buClr>
                <a:schemeClr val="accent2"/>
              </a:buClr>
              <a:buFont typeface="Wingdings" panose="05000000000000000000" pitchFamily="2" charset="2"/>
              <a:buChar char="§"/>
            </a:pPr>
            <a:r>
              <a:rPr lang="en-US" altLang="zh-CN" sz="2600" b="1" dirty="0">
                <a:latin typeface="Times New Roman" panose="02020503050405090304" pitchFamily="18" charset="0"/>
                <a:ea typeface="宋体" pitchFamily="2" charset="-122"/>
              </a:rPr>
              <a:t> “</a:t>
            </a:r>
            <a:r>
              <a:rPr lang="en-US" altLang="zh-CN" sz="2600" b="1" dirty="0">
                <a:solidFill>
                  <a:schemeClr val="accent2"/>
                </a:solidFill>
                <a:latin typeface="Times New Roman" panose="02020503050405090304" pitchFamily="18" charset="0"/>
                <a:ea typeface="宋体" pitchFamily="2" charset="-122"/>
              </a:rPr>
              <a:t>5&gt;3</a:t>
            </a:r>
            <a:r>
              <a:rPr lang="en-US" altLang="zh-CN" sz="2600" b="1" dirty="0">
                <a:latin typeface="Times New Roman" panose="02020503050405090304" pitchFamily="18" charset="0"/>
                <a:ea typeface="宋体" pitchFamily="2" charset="-122"/>
              </a:rPr>
              <a:t>” </a:t>
            </a:r>
            <a:r>
              <a:rPr lang="zh-CN" altLang="en-US" sz="2600" b="1" dirty="0">
                <a:latin typeface="Times New Roman" panose="02020503050405090304" pitchFamily="18" charset="0"/>
                <a:ea typeface="宋体" pitchFamily="2" charset="-122"/>
              </a:rPr>
              <a:t>：</a:t>
            </a:r>
            <a:r>
              <a:rPr lang="zh-CN" altLang="en-US" sz="2600" dirty="0">
                <a:latin typeface="Times New Roman" panose="02020503050405090304" pitchFamily="18" charset="0"/>
                <a:ea typeface="宋体" pitchFamily="2" charset="-122"/>
              </a:rPr>
              <a:t>二元谓词</a:t>
            </a:r>
            <a:r>
              <a:rPr lang="zh-CN" altLang="en-US"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Greater </a:t>
            </a:r>
            <a:r>
              <a:rPr lang="en-US" altLang="zh-CN" sz="2600" b="1" dirty="0">
                <a:latin typeface="Times New Roman" panose="02020503050405090304" pitchFamily="18" charset="0"/>
                <a:ea typeface="宋体" pitchFamily="2" charset="-122"/>
              </a:rPr>
              <a:t>(5, 3)</a:t>
            </a:r>
            <a:endParaRPr lang="en-US" altLang="zh-CN" sz="2600" b="1" dirty="0">
              <a:latin typeface="Times New Roman" panose="02020503050405090304" pitchFamily="18" charset="0"/>
              <a:ea typeface="宋体" pitchFamily="2" charset="-122"/>
            </a:endParaRPr>
          </a:p>
          <a:p>
            <a:pPr>
              <a:spcBef>
                <a:spcPct val="40000"/>
              </a:spcBef>
              <a:buClr>
                <a:schemeClr val="accent2"/>
              </a:buClr>
              <a:buFont typeface="Wingdings" panose="05000000000000000000" pitchFamily="2" charset="2"/>
              <a:buChar char="§"/>
            </a:pPr>
            <a:r>
              <a:rPr lang="en-US" altLang="zh-CN" sz="2600" b="1" dirty="0">
                <a:latin typeface="Times New Roman" panose="02020503050405090304" pitchFamily="18" charset="0"/>
                <a:ea typeface="宋体" pitchFamily="2" charset="-122"/>
              </a:rPr>
              <a:t> “</a:t>
            </a:r>
            <a:r>
              <a:rPr lang="en-US" altLang="zh-CN" sz="2600" b="1" dirty="0">
                <a:solidFill>
                  <a:schemeClr val="accent2"/>
                </a:solidFill>
                <a:latin typeface="Times New Roman" panose="02020503050405090304" pitchFamily="18" charset="0"/>
                <a:ea typeface="宋体" pitchFamily="2" charset="-122"/>
              </a:rPr>
              <a:t>Smith</a:t>
            </a:r>
            <a:r>
              <a:rPr lang="zh-CN" altLang="en-US" sz="2600" b="1" dirty="0">
                <a:solidFill>
                  <a:schemeClr val="accent2"/>
                </a:solidFill>
                <a:latin typeface="Times New Roman" panose="02020503050405090304" pitchFamily="18" charset="0"/>
                <a:ea typeface="宋体" pitchFamily="2" charset="-122"/>
              </a:rPr>
              <a:t>作为一个工程师为</a:t>
            </a:r>
            <a:r>
              <a:rPr lang="en-US" altLang="zh-CN" sz="2600" b="1" dirty="0">
                <a:solidFill>
                  <a:schemeClr val="accent2"/>
                </a:solidFill>
                <a:latin typeface="Times New Roman" panose="02020503050405090304" pitchFamily="18" charset="0"/>
                <a:ea typeface="宋体" pitchFamily="2" charset="-122"/>
              </a:rPr>
              <a:t>IBM</a:t>
            </a:r>
            <a:r>
              <a:rPr lang="zh-CN" altLang="en-US" sz="2600" b="1" dirty="0">
                <a:solidFill>
                  <a:schemeClr val="accent2"/>
                </a:solidFill>
                <a:latin typeface="Times New Roman" panose="02020503050405090304" pitchFamily="18" charset="0"/>
                <a:ea typeface="宋体" pitchFamily="2" charset="-122"/>
              </a:rPr>
              <a:t>工作</a:t>
            </a:r>
            <a:r>
              <a:rPr lang="zh-CN" altLang="en-US" sz="2600" b="1" dirty="0">
                <a:latin typeface="Times New Roman" panose="02020503050405090304" pitchFamily="18" charset="0"/>
                <a:ea typeface="宋体" pitchFamily="2" charset="-122"/>
              </a:rPr>
              <a:t>”： </a:t>
            </a:r>
            <a:endParaRPr lang="zh-CN" altLang="en-US" sz="2600" b="1" dirty="0">
              <a:latin typeface="Times New Roman" panose="02020503050405090304" pitchFamily="18" charset="0"/>
              <a:ea typeface="宋体" pitchFamily="2" charset="-122"/>
            </a:endParaRPr>
          </a:p>
          <a:p>
            <a:pPr algn="ctr">
              <a:spcBef>
                <a:spcPct val="40000"/>
              </a:spcBef>
              <a:buClr>
                <a:srgbClr val="0000FF"/>
              </a:buClr>
              <a:buFontTx/>
              <a:buNone/>
            </a:pPr>
            <a:r>
              <a:rPr lang="zh-CN" altLang="en-US" sz="2600" dirty="0">
                <a:latin typeface="Times New Roman" panose="02020503050405090304" pitchFamily="18" charset="0"/>
                <a:ea typeface="宋体" pitchFamily="2" charset="-122"/>
              </a:rPr>
              <a:t>三元谓词</a:t>
            </a:r>
            <a:r>
              <a:rPr lang="zh-CN" altLang="en-US"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Works </a:t>
            </a:r>
            <a:r>
              <a:rPr lang="en-US" altLang="zh-CN"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Smith</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IBM</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engineer</a:t>
            </a:r>
            <a:r>
              <a:rPr lang="en-US" altLang="zh-CN" sz="2600" b="1" dirty="0">
                <a:latin typeface="Times New Roman" panose="02020503050405090304" pitchFamily="18" charset="0"/>
                <a:ea typeface="宋体" pitchFamily="2" charset="-122"/>
              </a:rPr>
              <a:t>)</a:t>
            </a:r>
            <a:endParaRPr lang="en-US" altLang="zh-CN" sz="2600" b="1" dirty="0">
              <a:latin typeface="Times New Roman" panose="02020503050405090304" pitchFamily="18" charset="0"/>
              <a:ea typeface="宋体" pitchFamily="2" charset="-122"/>
            </a:endParaRPr>
          </a:p>
        </p:txBody>
      </p:sp>
      <p:sp>
        <p:nvSpPr>
          <p:cNvPr id="22535" name="Rectangle 12"/>
          <p:cNvSpPr/>
          <p:nvPr/>
        </p:nvSpPr>
        <p:spPr>
          <a:xfrm>
            <a:off x="311150" y="3519488"/>
            <a:ext cx="8359775" cy="519112"/>
          </a:xfrm>
          <a:prstGeom prst="rect">
            <a:avLst/>
          </a:prstGeom>
          <a:noFill/>
          <a:ln w="9525">
            <a:noFill/>
          </a:ln>
        </p:spPr>
        <p:txBody>
          <a:bodyPr anchor="t" anchorCtr="0">
            <a:spAutoFit/>
          </a:bodyPr>
          <a:p>
            <a:pPr>
              <a:buClrTx/>
              <a:buFontTx/>
              <a:buNone/>
            </a:pPr>
            <a:r>
              <a:rPr lang="zh-CN" altLang="en-US" sz="2800" b="1" dirty="0">
                <a:solidFill>
                  <a:srgbClr val="0000FF"/>
                </a:solidFill>
                <a:latin typeface="Times New Roman" panose="02020503050405090304" pitchFamily="18" charset="0"/>
                <a:ea typeface="宋体" pitchFamily="2" charset="-122"/>
              </a:rPr>
              <a:t>（</a:t>
            </a:r>
            <a:r>
              <a:rPr lang="en-US" altLang="zh-CN" sz="2800" b="1" dirty="0">
                <a:solidFill>
                  <a:srgbClr val="0000FF"/>
                </a:solidFill>
                <a:latin typeface="Times New Roman" panose="02020503050405090304" pitchFamily="18" charset="0"/>
                <a:ea typeface="宋体" pitchFamily="2" charset="-122"/>
              </a:rPr>
              <a:t>1</a:t>
            </a:r>
            <a:r>
              <a:rPr lang="zh-CN" altLang="en-US" sz="2800" b="1" dirty="0">
                <a:solidFill>
                  <a:srgbClr val="0000FF"/>
                </a:solidFill>
                <a:latin typeface="Times New Roman" panose="02020503050405090304" pitchFamily="18" charset="0"/>
                <a:ea typeface="宋体" pitchFamily="2" charset="-122"/>
              </a:rPr>
              <a:t>）</a:t>
            </a:r>
            <a:r>
              <a:rPr lang="zh-CN" altLang="en-US" sz="2800" b="1" dirty="0">
                <a:latin typeface="Times New Roman" panose="02020503050405090304" pitchFamily="18" charset="0"/>
                <a:ea typeface="宋体" pitchFamily="2" charset="-122"/>
              </a:rPr>
              <a:t>个体是常量：一个或者一组指定的个体。</a:t>
            </a:r>
            <a:endParaRPr lang="zh-CN" altLang="en-US" sz="2800" b="1" dirty="0">
              <a:latin typeface="Times New Roman" panose="02020503050405090304" pitchFamily="18"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1515"/>
                                        </p:tgtEl>
                                        <p:attrNameLst>
                                          <p:attrName>style.visibility</p:attrName>
                                        </p:attrNameLst>
                                      </p:cBhvr>
                                      <p:to>
                                        <p:strVal val="visible"/>
                                      </p:to>
                                    </p:set>
                                    <p:animEffect transition="in" filter="slide(fromBottom)">
                                      <p:cBhvr>
                                        <p:cTn id="7" dur="500"/>
                                        <p:tgtEl>
                                          <p:spTgt spid="21515"/>
                                        </p:tgtEl>
                                      </p:cBhvr>
                                    </p:animEffect>
                                  </p:childTnLst>
                                  <p:subTnLst>
                                    <p:set>
                                      <p:cBhvr override="childStyle">
                                        <p:cTn dur="1" fill="hold" display="0" masterRel="nextClick" afterEffect="1"/>
                                        <p:tgtEl>
                                          <p:spTgt spid="2151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3554"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 2.2.2  </a:t>
            </a:r>
            <a:r>
              <a:rPr lang="zh-CN" altLang="en-US" dirty="0">
                <a:latin typeface="Times New Roman" panose="02020503050405090304" pitchFamily="18" charset="0"/>
              </a:rPr>
              <a:t>谓词</a:t>
            </a:r>
            <a:endParaRPr lang="zh-CN" altLang="en-US" dirty="0">
              <a:latin typeface="Times New Roman" panose="02020503050405090304" pitchFamily="18" charset="0"/>
            </a:endParaRPr>
          </a:p>
        </p:txBody>
      </p:sp>
      <p:sp>
        <p:nvSpPr>
          <p:cNvPr id="23555" name="Rectangle 4"/>
          <p:cNvSpPr/>
          <p:nvPr/>
        </p:nvSpPr>
        <p:spPr>
          <a:xfrm>
            <a:off x="0" y="0"/>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23556" name="Rectangle 5"/>
          <p:cNvSpPr/>
          <p:nvPr/>
        </p:nvSpPr>
        <p:spPr>
          <a:xfrm>
            <a:off x="0" y="0"/>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23557" name="Rectangle 12"/>
          <p:cNvSpPr>
            <a:spLocks noGrp="1"/>
          </p:cNvSpPr>
          <p:nvPr>
            <p:ph idx="1"/>
          </p:nvPr>
        </p:nvSpPr>
        <p:spPr>
          <a:xfrm>
            <a:off x="22225" y="908050"/>
            <a:ext cx="8936038" cy="1597025"/>
          </a:xfrm>
        </p:spPr>
        <p:txBody>
          <a:bodyPr vert="horz" wrap="square" lIns="91440" tIns="45720" rIns="91440" bIns="45720" anchor="t" anchorCtr="0"/>
          <a:p>
            <a:pPr marL="533400" indent="-533400" eaLnBrk="1" hangingPunct="1">
              <a:spcBef>
                <a:spcPct val="40000"/>
              </a:spcBef>
              <a:buClr>
                <a:srgbClr val="0000FF"/>
              </a:buClr>
              <a:buNone/>
            </a:pPr>
            <a:r>
              <a:rPr lang="zh-CN" altLang="en-US" b="1" dirty="0">
                <a:solidFill>
                  <a:srgbClr val="0000FF"/>
                </a:solidFill>
                <a:latin typeface="Times New Roman" panose="02020503050405090304" pitchFamily="18" charset="0"/>
              </a:rPr>
              <a:t>（</a:t>
            </a:r>
            <a:r>
              <a:rPr lang="en-US" altLang="zh-CN" b="1" dirty="0">
                <a:solidFill>
                  <a:srgbClr val="0000FF"/>
                </a:solidFill>
                <a:latin typeface="Times New Roman" panose="02020503050405090304" pitchFamily="18" charset="0"/>
              </a:rPr>
              <a:t>2</a:t>
            </a:r>
            <a:r>
              <a:rPr lang="zh-CN" altLang="en-US" b="1" dirty="0">
                <a:solidFill>
                  <a:srgbClr val="0000FF"/>
                </a:solidFill>
                <a:latin typeface="Times New Roman" panose="02020503050405090304" pitchFamily="18" charset="0"/>
              </a:rPr>
              <a:t>）</a:t>
            </a:r>
            <a:r>
              <a:rPr lang="zh-CN" altLang="en-US" b="1" dirty="0">
                <a:latin typeface="Times New Roman" panose="02020503050405090304" pitchFamily="18" charset="0"/>
              </a:rPr>
              <a:t>个体是变元（变量）：</a:t>
            </a:r>
            <a:r>
              <a:rPr lang="zh-CN" altLang="en-US" sz="2600" dirty="0">
                <a:latin typeface="Times New Roman" panose="02020503050405090304" pitchFamily="18" charset="0"/>
              </a:rPr>
              <a:t>没有指定的一个或者一组个体。</a:t>
            </a:r>
            <a:endParaRPr lang="zh-CN" altLang="en-US" b="1" dirty="0">
              <a:latin typeface="Times New Roman" panose="02020503050405090304" pitchFamily="18" charset="0"/>
            </a:endParaRPr>
          </a:p>
        </p:txBody>
      </p:sp>
      <p:sp>
        <p:nvSpPr>
          <p:cNvPr id="23558" name="AutoShape 13"/>
          <p:cNvSpPr/>
          <p:nvPr/>
        </p:nvSpPr>
        <p:spPr>
          <a:xfrm>
            <a:off x="1746250" y="3217863"/>
            <a:ext cx="7385050" cy="677862"/>
          </a:xfrm>
          <a:prstGeom prst="accentBorderCallout1">
            <a:avLst>
              <a:gd name="adj1" fmla="val 16861"/>
              <a:gd name="adj2" fmla="val -1032"/>
              <a:gd name="adj3" fmla="val -34190"/>
              <a:gd name="adj4" fmla="val -3764"/>
            </a:avLst>
          </a:prstGeom>
          <a:solidFill>
            <a:srgbClr val="FFFFFF"/>
          </a:solidFill>
          <a:ln w="9525" cap="flat" cmpd="sng">
            <a:solidFill>
              <a:schemeClr val="tx1"/>
            </a:solidFill>
            <a:prstDash val="solid"/>
            <a:miter/>
            <a:headEnd type="none" w="med" len="med"/>
            <a:tailEnd type="none" w="med" len="med"/>
          </a:ln>
        </p:spPr>
        <p:txBody>
          <a:bodyPr anchor="t" anchorCtr="0"/>
          <a:p>
            <a:pPr>
              <a:lnSpc>
                <a:spcPct val="120000"/>
              </a:lnSpc>
              <a:spcBef>
                <a:spcPct val="20000"/>
              </a:spcBef>
              <a:buClr>
                <a:schemeClr val="accent2"/>
              </a:buClr>
              <a:buFont typeface="Wingdings" panose="05000000000000000000" pitchFamily="2" charset="2"/>
              <a:buChar char="§"/>
            </a:pPr>
            <a:r>
              <a:rPr lang="en-US" altLang="zh-CN" sz="2800" b="1" dirty="0">
                <a:latin typeface="Times New Roman" panose="02020503050405090304" pitchFamily="18" charset="0"/>
                <a:ea typeface="宋体" pitchFamily="2" charset="-122"/>
              </a:rPr>
              <a:t> “</a:t>
            </a:r>
            <a:r>
              <a:rPr lang="zh-CN" altLang="en-US" sz="2800" b="1" dirty="0">
                <a:solidFill>
                  <a:schemeClr val="accent2"/>
                </a:solidFill>
                <a:latin typeface="Times New Roman" panose="02020503050405090304" pitchFamily="18" charset="0"/>
                <a:ea typeface="宋体" pitchFamily="2" charset="-122"/>
              </a:rPr>
              <a:t>小李的父亲是教师</a:t>
            </a:r>
            <a:r>
              <a:rPr lang="zh-CN" altLang="en-US" sz="2800" b="1" dirty="0">
                <a:latin typeface="Times New Roman" panose="02020503050405090304" pitchFamily="18" charset="0"/>
                <a:ea typeface="宋体" pitchFamily="2" charset="-122"/>
              </a:rPr>
              <a:t>”：</a:t>
            </a:r>
            <a:r>
              <a:rPr lang="en-US" altLang="zh-CN" sz="2800" b="1" i="1" dirty="0">
                <a:latin typeface="Times New Roman" panose="02020503050405090304" pitchFamily="18" charset="0"/>
                <a:ea typeface="宋体" pitchFamily="2" charset="-122"/>
              </a:rPr>
              <a:t>Teacher</a:t>
            </a:r>
            <a:r>
              <a:rPr lang="en-US" altLang="zh-CN" sz="2800" b="1" dirty="0">
                <a:latin typeface="Times New Roman" panose="02020503050405090304" pitchFamily="18" charset="0"/>
                <a:ea typeface="宋体" pitchFamily="2" charset="-122"/>
              </a:rPr>
              <a:t> (</a:t>
            </a:r>
            <a:r>
              <a:rPr lang="en-US" altLang="zh-CN" sz="2800" b="1" i="1" dirty="0">
                <a:solidFill>
                  <a:srgbClr val="0000FF"/>
                </a:solidFill>
                <a:latin typeface="Times New Roman" panose="02020503050405090304" pitchFamily="18" charset="0"/>
                <a:ea typeface="宋体" pitchFamily="2" charset="-122"/>
              </a:rPr>
              <a:t>father</a:t>
            </a:r>
            <a:r>
              <a:rPr lang="en-US" altLang="zh-CN" sz="2800" b="1" dirty="0">
                <a:solidFill>
                  <a:srgbClr val="0000FF"/>
                </a:solidFill>
                <a:latin typeface="Times New Roman" panose="02020503050405090304" pitchFamily="18" charset="0"/>
                <a:ea typeface="宋体" pitchFamily="2" charset="-122"/>
              </a:rPr>
              <a:t> (</a:t>
            </a:r>
            <a:r>
              <a:rPr lang="en-US" altLang="zh-CN" sz="2800" b="1" i="1" dirty="0">
                <a:solidFill>
                  <a:srgbClr val="0000FF"/>
                </a:solidFill>
                <a:latin typeface="Times New Roman" panose="02020503050405090304" pitchFamily="18" charset="0"/>
                <a:ea typeface="宋体" pitchFamily="2" charset="-122"/>
              </a:rPr>
              <a:t>Li</a:t>
            </a:r>
            <a:r>
              <a:rPr lang="en-US" altLang="zh-CN" sz="2800" b="1" dirty="0">
                <a:solidFill>
                  <a:srgbClr val="0000FF"/>
                </a:solidFill>
                <a:latin typeface="Times New Roman" panose="02020503050405090304" pitchFamily="18" charset="0"/>
                <a:ea typeface="宋体" pitchFamily="2" charset="-122"/>
              </a:rPr>
              <a:t>) )</a:t>
            </a:r>
            <a:endParaRPr lang="en-US" altLang="zh-CN" sz="2800" b="1" dirty="0">
              <a:latin typeface="Arial" panose="020B0604020202090204" pitchFamily="34" charset="0"/>
              <a:ea typeface="宋体" pitchFamily="2" charset="-122"/>
            </a:endParaRPr>
          </a:p>
        </p:txBody>
      </p:sp>
      <p:sp>
        <p:nvSpPr>
          <p:cNvPr id="23559" name="Rectangle 14"/>
          <p:cNvSpPr/>
          <p:nvPr/>
        </p:nvSpPr>
        <p:spPr>
          <a:xfrm>
            <a:off x="57150" y="2554288"/>
            <a:ext cx="8197850" cy="519112"/>
          </a:xfrm>
          <a:prstGeom prst="rect">
            <a:avLst/>
          </a:prstGeom>
          <a:noFill/>
          <a:ln w="9525">
            <a:noFill/>
          </a:ln>
        </p:spPr>
        <p:txBody>
          <a:bodyPr wrap="none" anchor="t" anchorCtr="0">
            <a:spAutoFit/>
          </a:bodyPr>
          <a:p>
            <a:pPr>
              <a:buClrTx/>
              <a:buFontTx/>
              <a:buNone/>
            </a:pPr>
            <a:r>
              <a:rPr lang="zh-CN" altLang="en-US" sz="2800" b="1" dirty="0">
                <a:solidFill>
                  <a:srgbClr val="0000FF"/>
                </a:solidFill>
                <a:latin typeface="Times New Roman" panose="02020503050405090304" pitchFamily="18" charset="0"/>
                <a:ea typeface="宋体" pitchFamily="2" charset="-122"/>
              </a:rPr>
              <a:t>（</a:t>
            </a:r>
            <a:r>
              <a:rPr lang="en-US" altLang="zh-CN" sz="2800" b="1" dirty="0">
                <a:solidFill>
                  <a:srgbClr val="0000FF"/>
                </a:solidFill>
                <a:latin typeface="Times New Roman" panose="02020503050405090304" pitchFamily="18" charset="0"/>
                <a:ea typeface="宋体" pitchFamily="2" charset="-122"/>
              </a:rPr>
              <a:t>3</a:t>
            </a:r>
            <a:r>
              <a:rPr lang="zh-CN" altLang="en-US" sz="2800" b="1" dirty="0">
                <a:solidFill>
                  <a:srgbClr val="0000FF"/>
                </a:solidFill>
                <a:latin typeface="Times New Roman" panose="02020503050405090304" pitchFamily="18" charset="0"/>
                <a:ea typeface="宋体" pitchFamily="2" charset="-122"/>
              </a:rPr>
              <a:t>）</a:t>
            </a:r>
            <a:r>
              <a:rPr lang="zh-CN" altLang="en-US" sz="2800" b="1" dirty="0">
                <a:latin typeface="宋体" pitchFamily="2" charset="-122"/>
                <a:ea typeface="宋体" pitchFamily="2" charset="-122"/>
              </a:rPr>
              <a:t>个体是</a:t>
            </a:r>
            <a:r>
              <a:rPr lang="zh-CN" altLang="en-US" sz="2800" b="1" dirty="0">
                <a:solidFill>
                  <a:srgbClr val="0000FF"/>
                </a:solidFill>
                <a:latin typeface="宋体" pitchFamily="2" charset="-122"/>
                <a:ea typeface="宋体" pitchFamily="2" charset="-122"/>
              </a:rPr>
              <a:t>函数</a:t>
            </a:r>
            <a:r>
              <a:rPr lang="zh-CN" altLang="en-US" sz="2800" b="1" dirty="0">
                <a:latin typeface="宋体" pitchFamily="2" charset="-122"/>
                <a:ea typeface="宋体" pitchFamily="2" charset="-122"/>
              </a:rPr>
              <a:t>：</a:t>
            </a:r>
            <a:r>
              <a:rPr lang="zh-CN" altLang="en-US" sz="2800" dirty="0">
                <a:latin typeface="宋体" pitchFamily="2" charset="-122"/>
                <a:ea typeface="宋体" pitchFamily="2" charset="-122"/>
              </a:rPr>
              <a:t>一个个体到另一个个体的映射。</a:t>
            </a:r>
            <a:endParaRPr lang="zh-CN" altLang="en-US" sz="2800" dirty="0">
              <a:latin typeface="宋体" pitchFamily="2" charset="-122"/>
              <a:ea typeface="宋体" pitchFamily="2" charset="-122"/>
            </a:endParaRPr>
          </a:p>
        </p:txBody>
      </p:sp>
      <p:sp>
        <p:nvSpPr>
          <p:cNvPr id="23560" name="AutoShape 15"/>
          <p:cNvSpPr/>
          <p:nvPr/>
        </p:nvSpPr>
        <p:spPr>
          <a:xfrm>
            <a:off x="3084513" y="1709738"/>
            <a:ext cx="2974975" cy="549275"/>
          </a:xfrm>
          <a:prstGeom prst="accentBorderCallout1">
            <a:avLst>
              <a:gd name="adj1" fmla="val 20810"/>
              <a:gd name="adj2" fmla="val -2560"/>
              <a:gd name="adj3" fmla="val -45088"/>
              <a:gd name="adj4" fmla="val -23907"/>
            </a:avLst>
          </a:prstGeom>
          <a:solidFill>
            <a:srgbClr val="FFFFFF"/>
          </a:solidFill>
          <a:ln w="9525" cap="flat" cmpd="sng">
            <a:solidFill>
              <a:schemeClr val="tx1"/>
            </a:solidFill>
            <a:prstDash val="solid"/>
            <a:miter/>
            <a:headEnd type="none" w="med" len="med"/>
            <a:tailEnd type="none" w="med" len="med"/>
          </a:ln>
        </p:spPr>
        <p:txBody>
          <a:bodyPr anchor="t" anchorCtr="0"/>
          <a:p>
            <a:pPr>
              <a:buClrTx/>
              <a:buFontTx/>
              <a:buNone/>
            </a:pPr>
            <a:r>
              <a:rPr lang="en-US" altLang="zh-CN" sz="2600" b="1" dirty="0">
                <a:latin typeface="Times New Roman" panose="02020503050405090304" pitchFamily="18" charset="0"/>
                <a:ea typeface="宋体" pitchFamily="2" charset="-122"/>
              </a:rPr>
              <a:t>“</a:t>
            </a:r>
            <a:r>
              <a:rPr lang="en-US" altLang="zh-CN" sz="2600" b="1" i="1" dirty="0">
                <a:solidFill>
                  <a:schemeClr val="accent2"/>
                </a:solidFill>
                <a:latin typeface="Times New Roman" panose="02020503050405090304" pitchFamily="18" charset="0"/>
                <a:ea typeface="宋体" pitchFamily="2" charset="-122"/>
              </a:rPr>
              <a:t>x</a:t>
            </a:r>
            <a:r>
              <a:rPr lang="en-US" altLang="zh-CN" sz="2600" b="1" dirty="0">
                <a:solidFill>
                  <a:schemeClr val="accent2"/>
                </a:solidFill>
                <a:latin typeface="Times New Roman" panose="02020503050405090304" pitchFamily="18" charset="0"/>
                <a:ea typeface="宋体" pitchFamily="2" charset="-122"/>
              </a:rPr>
              <a:t>&lt;5</a:t>
            </a:r>
            <a:r>
              <a:rPr lang="en-US" altLang="zh-CN" sz="2600" b="1" dirty="0">
                <a:latin typeface="Times New Roman" panose="02020503050405090304" pitchFamily="18" charset="0"/>
                <a:ea typeface="宋体" pitchFamily="2" charset="-122"/>
              </a:rPr>
              <a:t>” </a:t>
            </a:r>
            <a:r>
              <a:rPr lang="zh-CN" altLang="en-US" sz="2600" b="1" dirty="0">
                <a:latin typeface="宋体" pitchFamily="2" charset="-122"/>
                <a:ea typeface="宋体" pitchFamily="2" charset="-122"/>
              </a:rPr>
              <a:t>：</a:t>
            </a:r>
            <a:r>
              <a:rPr lang="en-US" altLang="zh-CN" sz="2600" b="1" i="1" dirty="0">
                <a:latin typeface="Times New Roman" panose="02020503050405090304" pitchFamily="18" charset="0"/>
                <a:ea typeface="宋体" pitchFamily="2" charset="-122"/>
              </a:rPr>
              <a:t>Less</a:t>
            </a:r>
            <a:r>
              <a:rPr lang="en-US" altLang="zh-CN"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x</a:t>
            </a:r>
            <a:r>
              <a:rPr lang="en-US" altLang="zh-CN" sz="2600" b="1" dirty="0">
                <a:latin typeface="Times New Roman" panose="02020503050405090304" pitchFamily="18" charset="0"/>
                <a:ea typeface="宋体" pitchFamily="2" charset="-122"/>
              </a:rPr>
              <a:t>, 5)</a:t>
            </a:r>
            <a:r>
              <a:rPr lang="en-US" altLang="zh-CN" sz="2600" b="1" dirty="0">
                <a:latin typeface="Arial" panose="020B0604020202090204" pitchFamily="34" charset="0"/>
                <a:ea typeface="宋体" pitchFamily="2" charset="-122"/>
              </a:rPr>
              <a:t> </a:t>
            </a:r>
            <a:endParaRPr lang="en-US" altLang="zh-CN" sz="2600" b="1" dirty="0">
              <a:latin typeface="Arial" panose="020B0604020202090204" pitchFamily="34" charset="0"/>
              <a:ea typeface="宋体" pitchFamily="2" charset="-122"/>
            </a:endParaRPr>
          </a:p>
        </p:txBody>
      </p:sp>
      <p:sp>
        <p:nvSpPr>
          <p:cNvPr id="23561" name="Rectangle 16"/>
          <p:cNvSpPr/>
          <p:nvPr/>
        </p:nvSpPr>
        <p:spPr>
          <a:xfrm>
            <a:off x="109538" y="4217988"/>
            <a:ext cx="3122612" cy="519112"/>
          </a:xfrm>
          <a:prstGeom prst="rect">
            <a:avLst/>
          </a:prstGeom>
          <a:noFill/>
          <a:ln w="9525">
            <a:noFill/>
          </a:ln>
        </p:spPr>
        <p:txBody>
          <a:bodyPr anchor="t" anchorCtr="0">
            <a:spAutoFit/>
          </a:bodyPr>
          <a:p>
            <a:pPr>
              <a:buClrTx/>
              <a:buFontTx/>
              <a:buNone/>
            </a:pPr>
            <a:r>
              <a:rPr lang="zh-CN" altLang="en-US" sz="2800" b="1" dirty="0">
                <a:solidFill>
                  <a:srgbClr val="0000FF"/>
                </a:solidFill>
                <a:latin typeface="Times New Roman" panose="02020503050405090304" pitchFamily="18" charset="0"/>
                <a:ea typeface="宋体" pitchFamily="2" charset="-122"/>
              </a:rPr>
              <a:t>（</a:t>
            </a:r>
            <a:r>
              <a:rPr lang="en-US" altLang="zh-CN" sz="2800" b="1" dirty="0">
                <a:solidFill>
                  <a:srgbClr val="0000FF"/>
                </a:solidFill>
                <a:latin typeface="Times New Roman" panose="02020503050405090304" pitchFamily="18" charset="0"/>
                <a:ea typeface="宋体" pitchFamily="2" charset="-122"/>
              </a:rPr>
              <a:t>4</a:t>
            </a:r>
            <a:r>
              <a:rPr lang="zh-CN" altLang="en-US" sz="2800" b="1" dirty="0">
                <a:solidFill>
                  <a:srgbClr val="0000FF"/>
                </a:solidFill>
                <a:latin typeface="Times New Roman" panose="02020503050405090304" pitchFamily="18" charset="0"/>
                <a:ea typeface="宋体" pitchFamily="2" charset="-122"/>
              </a:rPr>
              <a:t>）</a:t>
            </a:r>
            <a:r>
              <a:rPr lang="zh-CN" altLang="en-US" sz="2800" b="1" dirty="0">
                <a:latin typeface="宋体" pitchFamily="2" charset="-122"/>
                <a:ea typeface="宋体" pitchFamily="2" charset="-122"/>
              </a:rPr>
              <a:t>个体是</a:t>
            </a:r>
            <a:r>
              <a:rPr lang="zh-CN" altLang="en-US" sz="2800" b="1" dirty="0">
                <a:solidFill>
                  <a:srgbClr val="0000FF"/>
                </a:solidFill>
                <a:latin typeface="宋体" pitchFamily="2" charset="-122"/>
                <a:ea typeface="宋体" pitchFamily="2" charset="-122"/>
              </a:rPr>
              <a:t>谓词</a:t>
            </a:r>
            <a:endParaRPr lang="zh-CN" altLang="en-US" sz="2800" dirty="0">
              <a:latin typeface="宋体" pitchFamily="2" charset="-122"/>
              <a:ea typeface="宋体" pitchFamily="2" charset="-122"/>
            </a:endParaRPr>
          </a:p>
        </p:txBody>
      </p:sp>
      <p:sp>
        <p:nvSpPr>
          <p:cNvPr id="23562" name="AutoShape 17"/>
          <p:cNvSpPr/>
          <p:nvPr/>
        </p:nvSpPr>
        <p:spPr>
          <a:xfrm>
            <a:off x="2287588" y="4908550"/>
            <a:ext cx="6630987" cy="1316038"/>
          </a:xfrm>
          <a:prstGeom prst="accentBorderCallout1">
            <a:avLst>
              <a:gd name="adj1" fmla="val 8685"/>
              <a:gd name="adj2" fmla="val -1148"/>
              <a:gd name="adj3" fmla="val -17611"/>
              <a:gd name="adj4" fmla="val -8787"/>
            </a:avLst>
          </a:prstGeom>
          <a:solidFill>
            <a:srgbClr val="FFFFFF"/>
          </a:solidFill>
          <a:ln w="9525" cap="flat" cmpd="sng">
            <a:solidFill>
              <a:schemeClr val="tx1"/>
            </a:solidFill>
            <a:prstDash val="solid"/>
            <a:miter/>
            <a:headEnd type="none" w="med" len="med"/>
            <a:tailEnd type="none" w="med" len="med"/>
          </a:ln>
        </p:spPr>
        <p:txBody>
          <a:bodyPr anchor="t" anchorCtr="0"/>
          <a:p>
            <a:pPr>
              <a:lnSpc>
                <a:spcPct val="120000"/>
              </a:lnSpc>
              <a:spcBef>
                <a:spcPct val="20000"/>
              </a:spcBef>
              <a:buClr>
                <a:schemeClr val="accent2"/>
              </a:buClr>
              <a:buFont typeface="Wingdings" panose="05000000000000000000" pitchFamily="2" charset="2"/>
              <a:buChar char="§"/>
            </a:pPr>
            <a:r>
              <a:rPr lang="en-US" altLang="zh-CN" sz="2800" b="1" dirty="0">
                <a:latin typeface="Times New Roman" panose="02020503050405090304" pitchFamily="18" charset="0"/>
                <a:ea typeface="宋体" pitchFamily="2" charset="-122"/>
              </a:rPr>
              <a:t> </a:t>
            </a:r>
            <a:r>
              <a:rPr lang="en-US" altLang="zh-CN" sz="2600" b="1" dirty="0">
                <a:latin typeface="Arial" panose="020B0604020202090204" pitchFamily="34" charset="0"/>
                <a:ea typeface="宋体" pitchFamily="2" charset="-122"/>
              </a:rPr>
              <a:t>“</a:t>
            </a:r>
            <a:r>
              <a:rPr lang="en-US" altLang="zh-CN" sz="2600" b="1" dirty="0">
                <a:solidFill>
                  <a:schemeClr val="accent2"/>
                </a:solidFill>
                <a:latin typeface="Arial" panose="020B0604020202090204" pitchFamily="34" charset="0"/>
                <a:ea typeface="宋体" pitchFamily="2" charset="-122"/>
              </a:rPr>
              <a:t>Smith</a:t>
            </a:r>
            <a:r>
              <a:rPr lang="zh-CN" altLang="en-US" sz="2600" b="1" dirty="0">
                <a:solidFill>
                  <a:schemeClr val="accent2"/>
                </a:solidFill>
                <a:latin typeface="Arial" panose="020B0604020202090204" pitchFamily="34" charset="0"/>
                <a:ea typeface="宋体" pitchFamily="2" charset="-122"/>
              </a:rPr>
              <a:t>作为一个工程师为</a:t>
            </a:r>
            <a:r>
              <a:rPr lang="en-US" altLang="zh-CN" sz="2600" b="1" dirty="0">
                <a:solidFill>
                  <a:schemeClr val="accent2"/>
                </a:solidFill>
                <a:latin typeface="Arial" panose="020B0604020202090204" pitchFamily="34" charset="0"/>
                <a:ea typeface="宋体" pitchFamily="2" charset="-122"/>
              </a:rPr>
              <a:t>IBM</a:t>
            </a:r>
            <a:r>
              <a:rPr lang="zh-CN" altLang="en-US" sz="2600" b="1" dirty="0">
                <a:solidFill>
                  <a:schemeClr val="accent2"/>
                </a:solidFill>
                <a:latin typeface="Arial" panose="020B0604020202090204" pitchFamily="34" charset="0"/>
                <a:ea typeface="宋体" pitchFamily="2" charset="-122"/>
              </a:rPr>
              <a:t>工作</a:t>
            </a:r>
            <a:r>
              <a:rPr lang="zh-CN" altLang="en-US" sz="2600" b="1" dirty="0">
                <a:latin typeface="Arial" panose="020B0604020202090204" pitchFamily="34" charset="0"/>
                <a:ea typeface="宋体" pitchFamily="2" charset="-122"/>
              </a:rPr>
              <a:t>”：</a:t>
            </a:r>
            <a:endParaRPr lang="zh-CN" altLang="en-US" sz="2600" b="1" dirty="0">
              <a:latin typeface="Arial" panose="020B0604020202090204" pitchFamily="34" charset="0"/>
              <a:ea typeface="宋体" pitchFamily="2" charset="-122"/>
            </a:endParaRPr>
          </a:p>
          <a:p>
            <a:pPr algn="ctr">
              <a:spcBef>
                <a:spcPct val="40000"/>
              </a:spcBef>
              <a:buClr>
                <a:srgbClr val="0000FF"/>
              </a:buClr>
              <a:buFontTx/>
              <a:buNone/>
            </a:pPr>
            <a:r>
              <a:rPr lang="zh-CN" altLang="en-US" sz="2600" b="1" dirty="0">
                <a:latin typeface="Arial" panose="020B0604020202090204" pitchFamily="34" charset="0"/>
                <a:ea typeface="宋体" pitchFamily="2" charset="-122"/>
              </a:rPr>
              <a:t>二阶</a:t>
            </a:r>
            <a:r>
              <a:rPr lang="zh-CN" altLang="en-US" sz="2600" b="1" dirty="0">
                <a:latin typeface="Times New Roman" panose="02020503050405090304" pitchFamily="18" charset="0"/>
                <a:ea typeface="宋体" pitchFamily="2" charset="-122"/>
              </a:rPr>
              <a:t>谓词  </a:t>
            </a:r>
            <a:r>
              <a:rPr lang="en-US" altLang="zh-CN" sz="2600" b="1" i="1" dirty="0">
                <a:latin typeface="Times New Roman" panose="02020503050405090304" pitchFamily="18" charset="0"/>
                <a:ea typeface="宋体" pitchFamily="2" charset="-122"/>
              </a:rPr>
              <a:t>Works </a:t>
            </a:r>
            <a:r>
              <a:rPr lang="en-US" altLang="zh-CN" sz="2600" b="1" dirty="0">
                <a:latin typeface="Times New Roman" panose="02020503050405090304" pitchFamily="18" charset="0"/>
                <a:ea typeface="宋体" pitchFamily="2" charset="-122"/>
              </a:rPr>
              <a:t>(</a:t>
            </a:r>
            <a:r>
              <a:rPr lang="en-US" altLang="zh-CN" sz="2600" b="1" i="1" dirty="0">
                <a:solidFill>
                  <a:srgbClr val="0000FF"/>
                </a:solidFill>
                <a:latin typeface="Times New Roman" panose="02020503050405090304" pitchFamily="18" charset="0"/>
                <a:ea typeface="宋体" pitchFamily="2" charset="-122"/>
              </a:rPr>
              <a:t>engineer</a:t>
            </a:r>
            <a:r>
              <a:rPr lang="en-US" altLang="zh-CN" sz="2600" b="1" dirty="0">
                <a:solidFill>
                  <a:srgbClr val="0000FF"/>
                </a:solidFill>
                <a:latin typeface="Times New Roman" panose="02020503050405090304" pitchFamily="18" charset="0"/>
                <a:ea typeface="宋体" pitchFamily="2" charset="-122"/>
              </a:rPr>
              <a:t> (</a:t>
            </a:r>
            <a:r>
              <a:rPr lang="en-US" altLang="zh-CN" sz="2600" b="1" i="1" dirty="0">
                <a:solidFill>
                  <a:srgbClr val="0000FF"/>
                </a:solidFill>
                <a:latin typeface="Times New Roman" panose="02020503050405090304" pitchFamily="18" charset="0"/>
                <a:ea typeface="宋体" pitchFamily="2" charset="-122"/>
              </a:rPr>
              <a:t>Smith</a:t>
            </a:r>
            <a:r>
              <a:rPr lang="en-US" altLang="zh-CN" sz="2600" b="1" dirty="0">
                <a:solidFill>
                  <a:srgbClr val="0000FF"/>
                </a:solidFill>
                <a:latin typeface="Times New Roman" panose="02020503050405090304" pitchFamily="18" charset="0"/>
                <a:ea typeface="宋体" pitchFamily="2" charset="-122"/>
              </a:rPr>
              <a:t>)</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IBM</a:t>
            </a:r>
            <a:r>
              <a:rPr lang="en-US" altLang="zh-CN" sz="2600" b="1" dirty="0">
                <a:latin typeface="Times New Roman" panose="02020503050405090304" pitchFamily="18" charset="0"/>
                <a:ea typeface="宋体" pitchFamily="2" charset="-122"/>
              </a:rPr>
              <a:t>)</a:t>
            </a:r>
            <a:endParaRPr lang="en-US" altLang="zh-CN" sz="2600" b="1" dirty="0">
              <a:latin typeface="Times New Roman" panose="02020503050405090304" pitchFamily="18" charset="0"/>
              <a:ea typeface="宋体" pitchFamily="2" charset="-122"/>
            </a:endParaRPr>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4578"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2.2.3  </a:t>
            </a:r>
            <a:r>
              <a:rPr lang="zh-CN" altLang="en-US" dirty="0">
                <a:latin typeface="Times New Roman" panose="02020503050405090304" pitchFamily="18" charset="0"/>
              </a:rPr>
              <a:t>谓词公式</a:t>
            </a:r>
            <a:endParaRPr lang="zh-CN" altLang="en-US" dirty="0">
              <a:latin typeface="Times New Roman" panose="02020503050405090304" pitchFamily="18" charset="0"/>
            </a:endParaRPr>
          </a:p>
        </p:txBody>
      </p:sp>
      <p:sp>
        <p:nvSpPr>
          <p:cNvPr id="24579" name="Rectangle 5"/>
          <p:cNvSpPr/>
          <p:nvPr/>
        </p:nvSpPr>
        <p:spPr>
          <a:xfrm>
            <a:off x="0" y="3357563"/>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24580" name="Rectangle 10"/>
          <p:cNvSpPr>
            <a:spLocks noGrp="1"/>
          </p:cNvSpPr>
          <p:nvPr>
            <p:ph idx="1"/>
          </p:nvPr>
        </p:nvSpPr>
        <p:spPr/>
        <p:txBody>
          <a:bodyPr vert="horz" wrap="square" lIns="91440" tIns="45720" rIns="91440" bIns="45720" anchor="t" anchorCtr="0"/>
          <a:p>
            <a:pPr marL="374650" indent="-374650" defTabSz="914400" eaLnBrk="1" hangingPunct="1">
              <a:spcBef>
                <a:spcPct val="50000"/>
              </a:spcBef>
              <a:buNone/>
              <a:tabLst>
                <a:tab pos="476250" algn="l"/>
              </a:tabLst>
            </a:pPr>
            <a:r>
              <a:rPr lang="en-US" altLang="zh-CN" b="1" dirty="0">
                <a:latin typeface="Times New Roman" panose="02020503050405090304" pitchFamily="18" charset="0"/>
              </a:rPr>
              <a:t>1.  </a:t>
            </a:r>
            <a:r>
              <a:rPr lang="zh-CN" altLang="en-US" b="1" dirty="0">
                <a:latin typeface="Times New Roman" panose="02020503050405090304" pitchFamily="18" charset="0"/>
              </a:rPr>
              <a:t>连接词（连词）</a:t>
            </a:r>
            <a:endParaRPr lang="zh-CN" altLang="en-US" b="1" dirty="0">
              <a:latin typeface="Times New Roman" panose="02020503050405090304" pitchFamily="18" charset="0"/>
            </a:endParaRPr>
          </a:p>
          <a:p>
            <a:pPr marL="374650" indent="-374650" defTabSz="914400" eaLnBrk="1" hangingPunct="1">
              <a:spcBef>
                <a:spcPct val="90000"/>
              </a:spcBef>
              <a:buNone/>
              <a:tabLst>
                <a:tab pos="476250" algn="l"/>
              </a:tabLst>
            </a:pPr>
            <a:r>
              <a:rPr lang="zh-CN" altLang="en-US" b="1" dirty="0">
                <a:latin typeface="Times New Roman" panose="02020503050405090304" pitchFamily="18" charset="0"/>
              </a:rPr>
              <a:t>（</a:t>
            </a:r>
            <a:r>
              <a:rPr lang="en-US" altLang="zh-CN" b="1" dirty="0">
                <a:latin typeface="Times New Roman" panose="02020503050405090304" pitchFamily="18" charset="0"/>
              </a:rPr>
              <a:t>1</a:t>
            </a:r>
            <a:r>
              <a:rPr lang="zh-CN" altLang="en-US" b="1" dirty="0">
                <a:latin typeface="Times New Roman" panose="02020503050405090304" pitchFamily="18" charset="0"/>
              </a:rPr>
              <a:t>）</a:t>
            </a:r>
            <a:r>
              <a:rPr lang="en-US" altLang="zh-CN" b="1" dirty="0">
                <a:solidFill>
                  <a:srgbClr val="0000FF"/>
                </a:solidFill>
                <a:latin typeface="Times New Roman" panose="02020503050405090304" pitchFamily="18" charset="0"/>
              </a:rPr>
              <a:t>﹁</a:t>
            </a:r>
            <a:r>
              <a:rPr lang="zh-CN" altLang="en-US" b="1" dirty="0">
                <a:latin typeface="Times New Roman" panose="02020503050405090304" pitchFamily="18" charset="0"/>
              </a:rPr>
              <a:t>： “否定” （ </a:t>
            </a:r>
            <a:r>
              <a:rPr lang="en-US" altLang="zh-CN" b="1" dirty="0">
                <a:latin typeface="Times New Roman" panose="02020503050405090304" pitchFamily="18" charset="0"/>
              </a:rPr>
              <a:t>negation </a:t>
            </a:r>
            <a:r>
              <a:rPr lang="zh-CN" altLang="en-US" b="1" dirty="0">
                <a:latin typeface="Times New Roman" panose="02020503050405090304" pitchFamily="18" charset="0"/>
              </a:rPr>
              <a:t>）或 “非”。</a:t>
            </a:r>
            <a:endParaRPr lang="zh-CN" altLang="en-US" b="1" dirty="0">
              <a:latin typeface="Times New Roman" panose="02020503050405090304" pitchFamily="18" charset="0"/>
            </a:endParaRPr>
          </a:p>
          <a:p>
            <a:pPr marL="374650" indent="-374650" defTabSz="914400" eaLnBrk="1" hangingPunct="1">
              <a:spcBef>
                <a:spcPct val="90000"/>
              </a:spcBef>
              <a:buNone/>
              <a:tabLst>
                <a:tab pos="476250" algn="l"/>
              </a:tabLst>
            </a:pPr>
            <a:r>
              <a:rPr lang="zh-CN" altLang="en-US" b="1" dirty="0">
                <a:latin typeface="Times New Roman" panose="02020503050405090304" pitchFamily="18" charset="0"/>
              </a:rPr>
              <a:t>（</a:t>
            </a:r>
            <a:r>
              <a:rPr lang="en-US" altLang="zh-CN" b="1" dirty="0">
                <a:latin typeface="Times New Roman" panose="02020503050405090304" pitchFamily="18" charset="0"/>
              </a:rPr>
              <a:t>2</a:t>
            </a:r>
            <a:r>
              <a:rPr lang="zh-CN" altLang="en-US" b="1" dirty="0">
                <a:latin typeface="Times New Roman" panose="02020503050405090304" pitchFamily="18" charset="0"/>
              </a:rPr>
              <a:t>）</a:t>
            </a:r>
            <a:r>
              <a:rPr lang="zh-CN" altLang="en-US" b="1" dirty="0">
                <a:solidFill>
                  <a:srgbClr val="0000FF"/>
                </a:solidFill>
                <a:latin typeface="Times New Roman" panose="02020503050405090304" pitchFamily="18" charset="0"/>
              </a:rPr>
              <a:t>∨</a:t>
            </a:r>
            <a:r>
              <a:rPr lang="zh-CN" altLang="en-US" b="1" dirty="0">
                <a:latin typeface="Times New Roman" panose="02020503050405090304" pitchFamily="18" charset="0"/>
              </a:rPr>
              <a:t>： “析取”（</a:t>
            </a:r>
            <a:r>
              <a:rPr lang="en-US" altLang="zh-CN" b="1" dirty="0">
                <a:latin typeface="Times New Roman" panose="02020503050405090304" pitchFamily="18" charset="0"/>
              </a:rPr>
              <a:t>disjunction</a:t>
            </a:r>
            <a:r>
              <a:rPr lang="zh-CN" altLang="en-US" b="1" dirty="0">
                <a:latin typeface="Times New Roman" panose="02020503050405090304" pitchFamily="18" charset="0"/>
              </a:rPr>
              <a:t>）</a:t>
            </a:r>
            <a:r>
              <a:rPr lang="en-US" altLang="zh-CN" b="1" dirty="0">
                <a:latin typeface="Times New Roman" panose="02020503050405090304" pitchFamily="18" charset="0"/>
              </a:rPr>
              <a:t>——</a:t>
            </a:r>
            <a:r>
              <a:rPr lang="zh-CN" altLang="en-US" b="1" dirty="0">
                <a:latin typeface="Times New Roman" panose="02020503050405090304" pitchFamily="18" charset="0"/>
              </a:rPr>
              <a:t>或。</a:t>
            </a:r>
            <a:endParaRPr lang="zh-CN" altLang="en-US" b="1" dirty="0">
              <a:latin typeface="Times New Roman" panose="02020503050405090304" pitchFamily="18" charset="0"/>
            </a:endParaRPr>
          </a:p>
          <a:p>
            <a:pPr marL="374650" indent="-374650" defTabSz="914400" eaLnBrk="1" hangingPunct="1">
              <a:spcBef>
                <a:spcPct val="90000"/>
              </a:spcBef>
              <a:buNone/>
              <a:tabLst>
                <a:tab pos="476250" algn="l"/>
              </a:tabLst>
            </a:pPr>
            <a:r>
              <a:rPr lang="zh-CN" altLang="en-US" b="1" dirty="0">
                <a:latin typeface="Times New Roman" panose="02020503050405090304" pitchFamily="18" charset="0"/>
              </a:rPr>
              <a:t>（</a:t>
            </a:r>
            <a:r>
              <a:rPr lang="en-US" altLang="zh-CN" b="1" dirty="0">
                <a:latin typeface="Times New Roman" panose="02020503050405090304" pitchFamily="18" charset="0"/>
              </a:rPr>
              <a:t>3</a:t>
            </a:r>
            <a:r>
              <a:rPr lang="zh-CN" altLang="en-US" b="1" dirty="0">
                <a:latin typeface="Times New Roman" panose="02020503050405090304" pitchFamily="18" charset="0"/>
              </a:rPr>
              <a:t>）</a:t>
            </a:r>
            <a:r>
              <a:rPr lang="zh-CN" altLang="en-US" b="1" dirty="0">
                <a:solidFill>
                  <a:srgbClr val="0000FF"/>
                </a:solidFill>
                <a:latin typeface="Times New Roman" panose="02020503050405090304" pitchFamily="18" charset="0"/>
              </a:rPr>
              <a:t>∧</a:t>
            </a:r>
            <a:r>
              <a:rPr lang="zh-CN" altLang="en-US" b="1" dirty="0">
                <a:latin typeface="Times New Roman" panose="02020503050405090304" pitchFamily="18" charset="0"/>
              </a:rPr>
              <a:t>： “合取”（</a:t>
            </a:r>
            <a:r>
              <a:rPr lang="en-US" altLang="zh-CN" b="1" dirty="0">
                <a:latin typeface="Times New Roman" panose="02020503050405090304" pitchFamily="18" charset="0"/>
              </a:rPr>
              <a:t>conjunction</a:t>
            </a:r>
            <a:r>
              <a:rPr lang="zh-CN" altLang="en-US" b="1" dirty="0">
                <a:latin typeface="Times New Roman" panose="02020503050405090304" pitchFamily="18" charset="0"/>
              </a:rPr>
              <a:t>）</a:t>
            </a:r>
            <a:r>
              <a:rPr lang="en-US" altLang="zh-CN" b="1" dirty="0">
                <a:latin typeface="Times New Roman" panose="02020503050405090304" pitchFamily="18" charset="0"/>
              </a:rPr>
              <a:t>——</a:t>
            </a:r>
            <a:r>
              <a:rPr lang="zh-CN" altLang="en-US" b="1" dirty="0">
                <a:latin typeface="Times New Roman" panose="02020503050405090304" pitchFamily="18" charset="0"/>
              </a:rPr>
              <a:t>与。</a:t>
            </a:r>
            <a:endParaRPr lang="zh-CN" altLang="en-US" b="1" dirty="0">
              <a:latin typeface="Times New Roman" panose="02020503050405090304" pitchFamily="18" charset="0"/>
            </a:endParaRPr>
          </a:p>
        </p:txBody>
      </p:sp>
      <p:sp>
        <p:nvSpPr>
          <p:cNvPr id="22539" name="AutoShape 11"/>
          <p:cNvSpPr/>
          <p:nvPr/>
        </p:nvSpPr>
        <p:spPr>
          <a:xfrm>
            <a:off x="2159000" y="1389063"/>
            <a:ext cx="6781800" cy="539750"/>
          </a:xfrm>
          <a:prstGeom prst="accentBorderCallout1">
            <a:avLst>
              <a:gd name="adj1" fmla="val 21176"/>
              <a:gd name="adj2" fmla="val -1125"/>
              <a:gd name="adj3" fmla="val 118236"/>
              <a:gd name="adj4" fmla="val -8917"/>
            </a:avLst>
          </a:prstGeom>
          <a:gradFill rotWithShape="0">
            <a:gsLst>
              <a:gs pos="0">
                <a:schemeClr val="accent1"/>
              </a:gs>
              <a:gs pos="100000">
                <a:schemeClr val="bg1"/>
              </a:gs>
            </a:gsLst>
            <a:path path="rect">
              <a:fillToRect l="100000" t="100000"/>
            </a:path>
            <a:tileRect/>
          </a:gradFill>
          <a:ln w="9525" cap="flat" cmpd="sng">
            <a:solidFill>
              <a:schemeClr val="hlink"/>
            </a:solidFill>
            <a:prstDash val="solid"/>
            <a:miter/>
            <a:headEnd type="none" w="med" len="med"/>
            <a:tailEnd type="none" w="med" len="med"/>
          </a:ln>
        </p:spPr>
        <p:txBody>
          <a:bodyPr anchor="t" anchorCtr="0"/>
          <a:p>
            <a:pPr>
              <a:buClrTx/>
              <a:buFontTx/>
              <a:buNone/>
            </a:pPr>
            <a:r>
              <a:rPr lang="en-US" altLang="zh-CN" sz="2600" b="1" dirty="0">
                <a:latin typeface="Times New Roman" panose="02020503050405090304" pitchFamily="18" charset="0"/>
                <a:ea typeface="宋体" pitchFamily="2" charset="-122"/>
              </a:rPr>
              <a:t>“</a:t>
            </a:r>
            <a:r>
              <a:rPr lang="zh-CN" altLang="en-US" sz="2600" b="1" dirty="0">
                <a:solidFill>
                  <a:schemeClr val="accent2"/>
                </a:solidFill>
                <a:latin typeface="Times New Roman" panose="02020503050405090304" pitchFamily="18" charset="0"/>
                <a:ea typeface="宋体" pitchFamily="2" charset="-122"/>
              </a:rPr>
              <a:t>机器人不在</a:t>
            </a:r>
            <a:r>
              <a:rPr lang="en-US" altLang="zh-CN" sz="2600" b="1" dirty="0">
                <a:solidFill>
                  <a:schemeClr val="accent2"/>
                </a:solidFill>
                <a:latin typeface="Times New Roman" panose="02020503050405090304" pitchFamily="18" charset="0"/>
                <a:ea typeface="宋体" pitchFamily="2" charset="-122"/>
              </a:rPr>
              <a:t>2</a:t>
            </a:r>
            <a:r>
              <a:rPr lang="zh-CN" altLang="en-US" sz="2600" b="1" dirty="0">
                <a:solidFill>
                  <a:schemeClr val="accent2"/>
                </a:solidFill>
                <a:latin typeface="Times New Roman" panose="02020503050405090304" pitchFamily="18" charset="0"/>
                <a:ea typeface="宋体" pitchFamily="2" charset="-122"/>
              </a:rPr>
              <a:t>号房间</a:t>
            </a:r>
            <a:r>
              <a:rPr lang="zh-CN" altLang="en-US" sz="2600" b="1" dirty="0">
                <a:latin typeface="Times New Roman" panose="02020503050405090304" pitchFamily="18" charset="0"/>
                <a:ea typeface="宋体" pitchFamily="2" charset="-122"/>
              </a:rPr>
              <a:t>”：</a:t>
            </a:r>
            <a:r>
              <a:rPr lang="en-US" altLang="zh-CN" sz="2600" b="1" dirty="0">
                <a:solidFill>
                  <a:srgbClr val="0000FF"/>
                </a:solidFill>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Inroom</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robot</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r</a:t>
            </a:r>
            <a:r>
              <a:rPr lang="en-US" altLang="zh-CN" sz="2600" b="1" dirty="0">
                <a:latin typeface="Times New Roman" panose="02020503050405090304" pitchFamily="18" charset="0"/>
                <a:ea typeface="宋体" pitchFamily="2" charset="-122"/>
              </a:rPr>
              <a:t>2)</a:t>
            </a:r>
            <a:endParaRPr lang="en-US" altLang="zh-CN" sz="2600" b="1" dirty="0">
              <a:latin typeface="Times New Roman" panose="02020503050405090304" pitchFamily="18" charset="0"/>
              <a:ea typeface="宋体" pitchFamily="2" charset="-122"/>
            </a:endParaRPr>
          </a:p>
        </p:txBody>
      </p:sp>
      <p:sp>
        <p:nvSpPr>
          <p:cNvPr id="22540" name="AutoShape 12"/>
          <p:cNvSpPr/>
          <p:nvPr/>
        </p:nvSpPr>
        <p:spPr>
          <a:xfrm>
            <a:off x="2046288" y="1735138"/>
            <a:ext cx="6918325" cy="1050925"/>
          </a:xfrm>
          <a:prstGeom prst="accentBorderCallout1">
            <a:avLst>
              <a:gd name="adj1" fmla="val 10875"/>
              <a:gd name="adj2" fmla="val -1102"/>
              <a:gd name="adj3" fmla="val 105440"/>
              <a:gd name="adj4" fmla="val -8352"/>
            </a:avLst>
          </a:prstGeom>
          <a:gradFill rotWithShape="0">
            <a:gsLst>
              <a:gs pos="0">
                <a:schemeClr val="accent1"/>
              </a:gs>
              <a:gs pos="100000">
                <a:schemeClr val="bg1"/>
              </a:gs>
            </a:gsLst>
            <a:path path="rect">
              <a:fillToRect l="100000" b="100000"/>
            </a:path>
            <a:tileRect/>
          </a:gradFill>
          <a:ln w="9525" cap="flat" cmpd="sng">
            <a:solidFill>
              <a:schemeClr val="hlink"/>
            </a:solidFill>
            <a:prstDash val="solid"/>
            <a:miter/>
            <a:headEnd type="none" w="med" len="med"/>
            <a:tailEnd type="none" w="med" len="med"/>
          </a:ln>
        </p:spPr>
        <p:txBody>
          <a:bodyPr anchor="t" anchorCtr="0"/>
          <a:p>
            <a:pPr>
              <a:lnSpc>
                <a:spcPct val="120000"/>
              </a:lnSpc>
              <a:buClrTx/>
              <a:buFontTx/>
              <a:buNone/>
            </a:pPr>
            <a:r>
              <a:rPr lang="en-US" altLang="zh-CN" sz="2600" b="1" dirty="0">
                <a:latin typeface="Times New Roman" panose="02020503050405090304" pitchFamily="18" charset="0"/>
                <a:ea typeface="宋体" pitchFamily="2" charset="-122"/>
              </a:rPr>
              <a:t>“</a:t>
            </a:r>
            <a:r>
              <a:rPr lang="zh-CN" altLang="en-US" sz="2600" b="1" dirty="0">
                <a:solidFill>
                  <a:schemeClr val="accent2"/>
                </a:solidFill>
                <a:latin typeface="Times New Roman" panose="02020503050405090304" pitchFamily="18" charset="0"/>
                <a:ea typeface="宋体" pitchFamily="2" charset="-122"/>
              </a:rPr>
              <a:t>李明打篮球或踢足球</a:t>
            </a:r>
            <a:r>
              <a:rPr lang="zh-CN" altLang="en-US" sz="2600" b="1" dirty="0">
                <a:latin typeface="Times New Roman" panose="02020503050405090304" pitchFamily="18" charset="0"/>
                <a:ea typeface="宋体" pitchFamily="2" charset="-122"/>
              </a:rPr>
              <a:t>”：</a:t>
            </a:r>
            <a:endParaRPr lang="zh-CN" altLang="en-US" sz="2600" b="1" dirty="0">
              <a:latin typeface="Times New Roman" panose="02020503050405090304" pitchFamily="18" charset="0"/>
              <a:ea typeface="宋体" pitchFamily="2" charset="-122"/>
            </a:endParaRPr>
          </a:p>
          <a:p>
            <a:pPr>
              <a:lnSpc>
                <a:spcPct val="120000"/>
              </a:lnSpc>
              <a:buClrTx/>
              <a:buFontTx/>
              <a:buNone/>
            </a:pPr>
            <a:r>
              <a:rPr lang="en-US" altLang="zh-CN" sz="2400" b="1" i="1" dirty="0">
                <a:latin typeface="Times New Roman" panose="02020503050405090304" pitchFamily="18" charset="0"/>
                <a:ea typeface="宋体" pitchFamily="2" charset="-122"/>
              </a:rPr>
              <a:t>Plays </a:t>
            </a:r>
            <a:r>
              <a:rPr lang="en-US" altLang="zh-CN" sz="2400" b="1" dirty="0">
                <a:latin typeface="Times New Roman" panose="02020503050405090304" pitchFamily="18" charset="0"/>
                <a:ea typeface="宋体" pitchFamily="2" charset="-122"/>
              </a:rPr>
              <a:t>(</a:t>
            </a:r>
            <a:r>
              <a:rPr lang="en-US" altLang="zh-CN" sz="2400" b="1" i="1" dirty="0">
                <a:latin typeface="Times New Roman" panose="02020503050405090304" pitchFamily="18" charset="0"/>
                <a:ea typeface="宋体" pitchFamily="2" charset="-122"/>
              </a:rPr>
              <a:t>Liming</a:t>
            </a:r>
            <a:r>
              <a:rPr lang="en-US" altLang="zh-CN" sz="2400" b="1" dirty="0">
                <a:latin typeface="Times New Roman" panose="02020503050405090304" pitchFamily="18" charset="0"/>
                <a:ea typeface="宋体" pitchFamily="2" charset="-122"/>
              </a:rPr>
              <a:t>, </a:t>
            </a:r>
            <a:r>
              <a:rPr lang="en-US" altLang="zh-CN" sz="2400" b="1" i="1" dirty="0">
                <a:latin typeface="Times New Roman" panose="02020503050405090304" pitchFamily="18" charset="0"/>
                <a:ea typeface="宋体" pitchFamily="2" charset="-122"/>
              </a:rPr>
              <a:t>basketball</a:t>
            </a:r>
            <a:r>
              <a:rPr lang="en-US" altLang="zh-CN" sz="2400" b="1" dirty="0">
                <a:latin typeface="Times New Roman" panose="02020503050405090304" pitchFamily="18" charset="0"/>
                <a:ea typeface="宋体" pitchFamily="2" charset="-122"/>
              </a:rPr>
              <a:t>) </a:t>
            </a:r>
            <a:r>
              <a:rPr lang="en-US" altLang="zh-CN" b="1" dirty="0">
                <a:solidFill>
                  <a:srgbClr val="0000FF"/>
                </a:solidFill>
                <a:latin typeface="Times New Roman" panose="02020503050405090304" pitchFamily="18" charset="0"/>
                <a:ea typeface="宋体" pitchFamily="2" charset="-122"/>
              </a:rPr>
              <a:t>∨</a:t>
            </a:r>
            <a:r>
              <a:rPr lang="en-US" altLang="zh-CN" sz="2400" b="1" dirty="0">
                <a:solidFill>
                  <a:srgbClr val="0000FF"/>
                </a:solidFill>
                <a:latin typeface="Times New Roman" panose="02020503050405090304" pitchFamily="18" charset="0"/>
                <a:ea typeface="宋体" pitchFamily="2" charset="-122"/>
              </a:rPr>
              <a:t> </a:t>
            </a:r>
            <a:r>
              <a:rPr lang="en-US" altLang="zh-CN" sz="2400" b="1" i="1" dirty="0">
                <a:latin typeface="Times New Roman" panose="02020503050405090304" pitchFamily="18" charset="0"/>
                <a:ea typeface="宋体" pitchFamily="2" charset="-122"/>
              </a:rPr>
              <a:t>Plays </a:t>
            </a:r>
            <a:r>
              <a:rPr lang="en-US" altLang="zh-CN" sz="2400" b="1" dirty="0">
                <a:latin typeface="Times New Roman" panose="02020503050405090304" pitchFamily="18" charset="0"/>
                <a:ea typeface="宋体" pitchFamily="2" charset="-122"/>
              </a:rPr>
              <a:t>(</a:t>
            </a:r>
            <a:r>
              <a:rPr lang="en-US" altLang="zh-CN" sz="2400" b="1" i="1" dirty="0">
                <a:latin typeface="Times New Roman" panose="02020503050405090304" pitchFamily="18" charset="0"/>
                <a:ea typeface="宋体" pitchFamily="2" charset="-122"/>
              </a:rPr>
              <a:t>Liming</a:t>
            </a:r>
            <a:r>
              <a:rPr lang="en-US" altLang="zh-CN" sz="2400" b="1" dirty="0">
                <a:latin typeface="Times New Roman" panose="02020503050405090304" pitchFamily="18" charset="0"/>
                <a:ea typeface="宋体" pitchFamily="2" charset="-122"/>
              </a:rPr>
              <a:t>, </a:t>
            </a:r>
            <a:r>
              <a:rPr lang="en-US" altLang="zh-CN" sz="2400" b="1" i="1" dirty="0">
                <a:latin typeface="Times New Roman" panose="02020503050405090304" pitchFamily="18" charset="0"/>
                <a:ea typeface="宋体" pitchFamily="2" charset="-122"/>
              </a:rPr>
              <a:t>football</a:t>
            </a:r>
            <a:r>
              <a:rPr lang="en-US" altLang="zh-CN" sz="2400" b="1" dirty="0">
                <a:latin typeface="Times New Roman" panose="02020503050405090304" pitchFamily="18" charset="0"/>
                <a:ea typeface="宋体" pitchFamily="2" charset="-122"/>
              </a:rPr>
              <a:t>)</a:t>
            </a:r>
            <a:endParaRPr lang="en-US" altLang="zh-CN" sz="2400" b="1" dirty="0">
              <a:latin typeface="Times New Roman" panose="02020503050405090304" pitchFamily="18" charset="0"/>
              <a:ea typeface="宋体" pitchFamily="2" charset="-122"/>
            </a:endParaRPr>
          </a:p>
        </p:txBody>
      </p:sp>
      <p:sp>
        <p:nvSpPr>
          <p:cNvPr id="22541" name="AutoShape 13"/>
          <p:cNvSpPr/>
          <p:nvPr/>
        </p:nvSpPr>
        <p:spPr bwMode="auto">
          <a:xfrm>
            <a:off x="2343150" y="4702175"/>
            <a:ext cx="5924550" cy="939800"/>
          </a:xfrm>
          <a:prstGeom prst="accentBorderCallout1">
            <a:avLst>
              <a:gd name="adj1" fmla="val 12162"/>
              <a:gd name="adj2" fmla="val -1287"/>
              <a:gd name="adj3" fmla="val -62333"/>
              <a:gd name="adj4" fmla="val -14227"/>
            </a:avLst>
          </a:prstGeom>
          <a:gradFill rotWithShape="0">
            <a:gsLst>
              <a:gs pos="0">
                <a:schemeClr val="accent1"/>
              </a:gs>
              <a:gs pos="50000">
                <a:schemeClr val="bg1"/>
              </a:gs>
              <a:gs pos="100000">
                <a:schemeClr val="accent1"/>
              </a:gs>
            </a:gsLst>
            <a:lin ang="18900000" scaled="1"/>
          </a:gradFill>
          <a:ln w="9525">
            <a:solidFill>
              <a:schemeClr val="hlink"/>
            </a:solidFill>
            <a:miter lim="800000"/>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6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r>
            <a:r>
              <a:rPr kumimoji="0" lang="zh-CN" altLang="en-US" sz="2600" b="1" i="0" u="none" strike="noStrike" kern="1200" cap="none" spc="0" normalizeH="0" baseline="0" noProof="0">
                <a:ln>
                  <a:noFill/>
                </a:ln>
                <a:solidFill>
                  <a:schemeClr val="accent2"/>
                </a:solidFill>
                <a:effectLst/>
                <a:uLnTx/>
                <a:uFillTx/>
                <a:latin typeface="Arial" panose="020B0604020202090204" pitchFamily="34" charset="0"/>
                <a:ea typeface="宋体" pitchFamily="2" charset="-122"/>
                <a:cs typeface="+mn-cs"/>
              </a:rPr>
              <a:t>我喜欢音乐和绘画</a:t>
            </a:r>
            <a:r>
              <a:rPr kumimoji="0" lang="zh-CN" altLang="en-US" sz="26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r>
            <a:endParaRPr kumimoji="0" lang="zh-CN" altLang="en-US" sz="26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00" b="1"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t>            </a:t>
            </a:r>
            <a:r>
              <a:rPr kumimoji="0" lang="en-US" altLang="zh-CN" sz="2600" b="1" i="1"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t>Like </a:t>
            </a:r>
            <a:r>
              <a:rPr kumimoji="0" lang="en-US" altLang="zh-CN" sz="2600" b="1"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t>(</a:t>
            </a:r>
            <a:r>
              <a:rPr kumimoji="0" lang="en-US" altLang="zh-CN" sz="2600" b="1" i="1"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t>I</a:t>
            </a:r>
            <a:r>
              <a:rPr kumimoji="0" lang="en-US" altLang="zh-CN" sz="2600" b="1"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t>, </a:t>
            </a:r>
            <a:r>
              <a:rPr kumimoji="0" lang="en-US" altLang="zh-CN" sz="2600" b="1" i="1"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t>music</a:t>
            </a:r>
            <a:r>
              <a:rPr kumimoji="0" lang="en-US" altLang="zh-CN" sz="2600" b="1"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t>) </a:t>
            </a:r>
            <a:r>
              <a:rPr kumimoji="0" lang="el-GR" altLang="zh-CN" sz="1800" b="1" i="0" u="none" strike="noStrike" kern="1200" cap="none" spc="0" normalizeH="0" baseline="0" noProof="0">
                <a:ln>
                  <a:noFill/>
                </a:ln>
                <a:solidFill>
                  <a:srgbClr val="0000FF"/>
                </a:solidFill>
                <a:effectLst/>
                <a:uLnTx/>
                <a:uFillTx/>
                <a:latin typeface="Times New Roman" panose="02020503050405090304" pitchFamily="18" charset="0"/>
                <a:ea typeface="宋体" pitchFamily="2" charset="-122"/>
                <a:cs typeface="+mn-cs"/>
              </a:rPr>
              <a:t>∧</a:t>
            </a:r>
            <a:r>
              <a:rPr kumimoji="0" lang="en-US" altLang="zh-CN" sz="2600" b="1"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t> </a:t>
            </a:r>
            <a:r>
              <a:rPr kumimoji="0" lang="en-US" altLang="zh-CN" sz="2600" b="1" i="1"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t>Like </a:t>
            </a:r>
            <a:r>
              <a:rPr kumimoji="0" lang="en-US" altLang="zh-CN" sz="2600" b="1"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t>(</a:t>
            </a:r>
            <a:r>
              <a:rPr kumimoji="0" lang="en-US" altLang="zh-CN" sz="2600" b="1" i="1"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t>I</a:t>
            </a:r>
            <a:r>
              <a:rPr kumimoji="0" lang="en-US" altLang="zh-CN" sz="2600" b="1"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t>, </a:t>
            </a:r>
            <a:r>
              <a:rPr kumimoji="0" lang="en-US" altLang="zh-CN" sz="2600" b="1" i="1"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t>painting</a:t>
            </a:r>
            <a:r>
              <a:rPr kumimoji="0" lang="en-US" altLang="zh-CN" sz="2600" b="1"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t>)</a:t>
            </a:r>
            <a:endParaRPr kumimoji="0" lang="en-US" altLang="zh-CN" sz="2600" b="1"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9"/>
                                        </p:tgtEl>
                                        <p:attrNameLst>
                                          <p:attrName>style.visibility</p:attrName>
                                        </p:attrNameLst>
                                      </p:cBhvr>
                                      <p:to>
                                        <p:strVal val="visible"/>
                                      </p:to>
                                    </p:set>
                                    <p:animEffect transition="in" filter="blinds(horizontal)">
                                      <p:cBhvr>
                                        <p:cTn id="7" dur="500"/>
                                        <p:tgtEl>
                                          <p:spTgt spid="22539"/>
                                        </p:tgtEl>
                                      </p:cBhvr>
                                    </p:animEffect>
                                  </p:childTnLst>
                                  <p:subTnLst>
                                    <p:set>
                                      <p:cBhvr override="childStyle">
                                        <p:cTn dur="1" fill="hold" display="0" masterRel="nextClick" afterEffect="1"/>
                                        <p:tgtEl>
                                          <p:spTgt spid="22539"/>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540"/>
                                        </p:tgtEl>
                                        <p:attrNameLst>
                                          <p:attrName>style.visibility</p:attrName>
                                        </p:attrNameLst>
                                      </p:cBhvr>
                                      <p:to>
                                        <p:strVal val="visible"/>
                                      </p:to>
                                    </p:set>
                                    <p:animEffect transition="in" filter="blinds(horizontal)">
                                      <p:cBhvr>
                                        <p:cTn id="12" dur="500"/>
                                        <p:tgtEl>
                                          <p:spTgt spid="22540"/>
                                        </p:tgtEl>
                                      </p:cBhvr>
                                    </p:animEffect>
                                  </p:childTnLst>
                                  <p:subTnLst>
                                    <p:set>
                                      <p:cBhvr override="childStyle">
                                        <p:cTn dur="1" fill="hold" display="0" masterRel="nextClick" afterEffect="1"/>
                                        <p:tgtEl>
                                          <p:spTgt spid="22540"/>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541"/>
                                        </p:tgtEl>
                                        <p:attrNameLst>
                                          <p:attrName>style.visibility</p:attrName>
                                        </p:attrNameLst>
                                      </p:cBhvr>
                                      <p:to>
                                        <p:strVal val="visible"/>
                                      </p:to>
                                    </p:set>
                                    <p:animEffect transition="in" filter="blinds(horizontal)">
                                      <p:cBhvr>
                                        <p:cTn id="17" dur="500"/>
                                        <p:tgtEl>
                                          <p:spTgt spid="22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9" grpId="0" animBg="1"/>
      <p:bldP spid="22540" grpId="0" animBg="1"/>
      <p:bldP spid="2254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5602"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2.2.3  </a:t>
            </a:r>
            <a:r>
              <a:rPr lang="zh-CN" altLang="en-US" dirty="0">
                <a:latin typeface="Times New Roman" panose="02020503050405090304" pitchFamily="18" charset="0"/>
              </a:rPr>
              <a:t>谓词公式</a:t>
            </a:r>
            <a:endParaRPr lang="zh-CN" altLang="en-US" dirty="0">
              <a:latin typeface="Times New Roman" panose="02020503050405090304" pitchFamily="18" charset="0"/>
            </a:endParaRPr>
          </a:p>
        </p:txBody>
      </p:sp>
      <p:sp>
        <p:nvSpPr>
          <p:cNvPr id="132099" name="Rectangle 3"/>
          <p:cNvSpPr>
            <a:spLocks noGrp="1"/>
          </p:cNvSpPr>
          <p:nvPr>
            <p:ph idx="1"/>
          </p:nvPr>
        </p:nvSpPr>
        <p:spPr>
          <a:xfrm>
            <a:off x="-9525" y="922338"/>
            <a:ext cx="8867775" cy="5400675"/>
          </a:xfrm>
        </p:spPr>
        <p:txBody>
          <a:bodyPr vert="horz" wrap="square" lIns="91440" tIns="45720" rIns="91440" bIns="45720" anchor="t" anchorCtr="0"/>
          <a:p>
            <a:pPr marL="374650" indent="-374650" defTabSz="914400" eaLnBrk="1" hangingPunct="1">
              <a:spcBef>
                <a:spcPct val="50000"/>
              </a:spcBef>
              <a:buNone/>
              <a:tabLst>
                <a:tab pos="476250" algn="l"/>
              </a:tabLst>
            </a:pPr>
            <a:r>
              <a:rPr lang="en-US" altLang="zh-CN" b="1" dirty="0">
                <a:latin typeface="Times New Roman" panose="02020503050405090304" pitchFamily="18" charset="0"/>
              </a:rPr>
              <a:t>  1.  </a:t>
            </a:r>
            <a:r>
              <a:rPr lang="zh-CN" altLang="en-US" b="1" dirty="0">
                <a:latin typeface="Times New Roman" panose="02020503050405090304" pitchFamily="18" charset="0"/>
              </a:rPr>
              <a:t>连接词（连词）</a:t>
            </a:r>
            <a:endParaRPr lang="zh-CN" altLang="en-US" b="1" dirty="0">
              <a:latin typeface="Times New Roman" panose="02020503050405090304" pitchFamily="18" charset="0"/>
            </a:endParaRPr>
          </a:p>
          <a:p>
            <a:pPr marL="374650" indent="-374650" defTabSz="914400" eaLnBrk="1" hangingPunct="1">
              <a:spcBef>
                <a:spcPct val="50000"/>
              </a:spcBef>
              <a:buNone/>
              <a:tabLst>
                <a:tab pos="476250" algn="l"/>
              </a:tabLst>
            </a:pPr>
            <a:r>
              <a:rPr lang="zh-CN" altLang="en-US" b="1" dirty="0">
                <a:latin typeface="Times New Roman" panose="02020503050405090304" pitchFamily="18" charset="0"/>
              </a:rPr>
              <a:t>（</a:t>
            </a:r>
            <a:r>
              <a:rPr lang="en-US" altLang="zh-CN" b="1" dirty="0">
                <a:latin typeface="Times New Roman" panose="02020503050405090304" pitchFamily="18" charset="0"/>
              </a:rPr>
              <a:t>4</a:t>
            </a:r>
            <a:r>
              <a:rPr lang="zh-CN" altLang="en-US" b="1" dirty="0">
                <a:latin typeface="Times New Roman" panose="02020503050405090304" pitchFamily="18" charset="0"/>
              </a:rPr>
              <a:t>）</a:t>
            </a:r>
            <a:r>
              <a:rPr lang="en-US" altLang="en-US" b="1" dirty="0"/>
              <a:t>→</a:t>
            </a:r>
            <a:r>
              <a:rPr lang="zh-CN" altLang="en-US" b="1" dirty="0">
                <a:latin typeface="宋体" pitchFamily="2" charset="-122"/>
              </a:rPr>
              <a:t>：</a:t>
            </a:r>
            <a:r>
              <a:rPr lang="zh-CN" altLang="en-US" b="1" dirty="0">
                <a:latin typeface="Times New Roman" panose="02020503050405090304" pitchFamily="18" charset="0"/>
              </a:rPr>
              <a:t>“</a:t>
            </a:r>
            <a:r>
              <a:rPr lang="zh-CN" altLang="en-US" b="1" dirty="0">
                <a:latin typeface="宋体" pitchFamily="2" charset="-122"/>
              </a:rPr>
              <a:t>蕴含</a:t>
            </a:r>
            <a:r>
              <a:rPr lang="zh-CN" altLang="en-US" b="1" dirty="0">
                <a:latin typeface="Times New Roman" panose="02020503050405090304" pitchFamily="18" charset="0"/>
              </a:rPr>
              <a:t>”</a:t>
            </a:r>
            <a:r>
              <a:rPr lang="en-US" altLang="zh-CN" b="1" dirty="0">
                <a:latin typeface="宋体" pitchFamily="2" charset="-122"/>
              </a:rPr>
              <a:t>(</a:t>
            </a:r>
            <a:r>
              <a:rPr lang="en-US" altLang="zh-CN" b="1" dirty="0">
                <a:latin typeface="Times New Roman" panose="02020503050405090304" pitchFamily="18" charset="0"/>
              </a:rPr>
              <a:t>implication</a:t>
            </a:r>
            <a:r>
              <a:rPr lang="en-US" altLang="zh-CN" b="1" dirty="0">
                <a:latin typeface="宋体" pitchFamily="2" charset="-122"/>
              </a:rPr>
              <a:t>)</a:t>
            </a:r>
            <a:r>
              <a:rPr lang="zh-CN" altLang="en-US" b="1" dirty="0">
                <a:latin typeface="宋体" pitchFamily="2" charset="-122"/>
              </a:rPr>
              <a:t>或 </a:t>
            </a:r>
            <a:r>
              <a:rPr lang="zh-CN" altLang="en-US" b="1" dirty="0">
                <a:latin typeface="Times New Roman" panose="02020503050405090304" pitchFamily="18" charset="0"/>
              </a:rPr>
              <a:t>“</a:t>
            </a:r>
            <a:r>
              <a:rPr lang="zh-CN" altLang="en-US" b="1" dirty="0">
                <a:latin typeface="宋体" pitchFamily="2" charset="-122"/>
              </a:rPr>
              <a:t>条件</a:t>
            </a:r>
            <a:r>
              <a:rPr lang="zh-CN" altLang="en-US" b="1" dirty="0">
                <a:latin typeface="Times New Roman" panose="02020503050405090304" pitchFamily="18" charset="0"/>
              </a:rPr>
              <a:t>”</a:t>
            </a:r>
            <a:r>
              <a:rPr lang="en-US" altLang="zh-CN" b="1" dirty="0">
                <a:latin typeface="宋体" pitchFamily="2" charset="-122"/>
              </a:rPr>
              <a:t>(</a:t>
            </a:r>
            <a:r>
              <a:rPr lang="en-US" altLang="zh-CN" b="1" dirty="0">
                <a:latin typeface="Times New Roman" panose="02020503050405090304" pitchFamily="18" charset="0"/>
              </a:rPr>
              <a:t>condition</a:t>
            </a:r>
            <a:r>
              <a:rPr lang="en-US" altLang="zh-CN" b="1" dirty="0">
                <a:latin typeface="宋体" pitchFamily="2" charset="-122"/>
              </a:rPr>
              <a:t>)</a:t>
            </a:r>
            <a:r>
              <a:rPr lang="zh-CN" altLang="en-US" b="1" dirty="0">
                <a:latin typeface="宋体" pitchFamily="2" charset="-122"/>
              </a:rPr>
              <a:t>。</a:t>
            </a:r>
            <a:endParaRPr lang="zh-CN" altLang="en-US" b="1" dirty="0"/>
          </a:p>
          <a:p>
            <a:pPr marL="374650" indent="-374650" defTabSz="914400" eaLnBrk="1" hangingPunct="1">
              <a:spcBef>
                <a:spcPct val="50000"/>
              </a:spcBef>
              <a:buNone/>
              <a:tabLst>
                <a:tab pos="476250" algn="l"/>
              </a:tabLst>
            </a:pPr>
            <a:endParaRPr lang="en-US" altLang="zh-CN" b="1" dirty="0"/>
          </a:p>
        </p:txBody>
      </p:sp>
      <p:sp>
        <p:nvSpPr>
          <p:cNvPr id="25604" name="Rectangle 4"/>
          <p:cNvSpPr/>
          <p:nvPr/>
        </p:nvSpPr>
        <p:spPr>
          <a:xfrm>
            <a:off x="0" y="3357563"/>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132101" name="AutoShape 5"/>
          <p:cNvSpPr/>
          <p:nvPr/>
        </p:nvSpPr>
        <p:spPr>
          <a:xfrm>
            <a:off x="1082675" y="2338388"/>
            <a:ext cx="7986713" cy="1160462"/>
          </a:xfrm>
          <a:prstGeom prst="accentBorderCallout1">
            <a:avLst>
              <a:gd name="adj1" fmla="val 9847"/>
              <a:gd name="adj2" fmla="val -954"/>
              <a:gd name="adj3" fmla="val -27634"/>
              <a:gd name="adj4" fmla="val -954"/>
            </a:avLst>
          </a:prstGeom>
          <a:gradFill rotWithShape="0">
            <a:gsLst>
              <a:gs pos="0">
                <a:schemeClr val="accent1"/>
              </a:gs>
              <a:gs pos="100000">
                <a:schemeClr val="bg1"/>
              </a:gs>
            </a:gsLst>
            <a:path path="rect">
              <a:fillToRect l="100000" t="100000"/>
            </a:path>
            <a:tileRect/>
          </a:gradFill>
          <a:ln w="9525" cap="flat" cmpd="sng">
            <a:solidFill>
              <a:schemeClr val="tx1"/>
            </a:solidFill>
            <a:prstDash val="solid"/>
            <a:miter/>
            <a:headEnd type="none" w="med" len="med"/>
            <a:tailEnd type="none" w="med" len="med"/>
          </a:ln>
        </p:spPr>
        <p:txBody>
          <a:bodyPr anchor="t" anchorCtr="0"/>
          <a:p>
            <a:pPr algn="just">
              <a:lnSpc>
                <a:spcPct val="120000"/>
              </a:lnSpc>
              <a:buClrTx/>
              <a:buFontTx/>
              <a:buNone/>
            </a:pPr>
            <a:r>
              <a:rPr lang="en-US" altLang="zh-CN" sz="2600" b="1" dirty="0">
                <a:latin typeface="Times New Roman" panose="02020503050405090304" pitchFamily="18" charset="0"/>
                <a:ea typeface="宋体" pitchFamily="2" charset="-122"/>
              </a:rPr>
              <a:t>“</a:t>
            </a:r>
            <a:r>
              <a:rPr lang="zh-CN" altLang="en-US" sz="2600" b="1" dirty="0">
                <a:latin typeface="Times New Roman" panose="02020503050405090304" pitchFamily="18" charset="0"/>
                <a:ea typeface="宋体" pitchFamily="2" charset="-122"/>
              </a:rPr>
              <a:t>如果刘华跑得最快，那么他取得冠军。” ：</a:t>
            </a:r>
            <a:endParaRPr lang="zh-CN" altLang="en-US" sz="2600" b="1" dirty="0">
              <a:latin typeface="Times New Roman" panose="02020503050405090304" pitchFamily="18" charset="0"/>
              <a:ea typeface="宋体" pitchFamily="2" charset="-122"/>
            </a:endParaRPr>
          </a:p>
          <a:p>
            <a:pPr algn="just">
              <a:lnSpc>
                <a:spcPct val="120000"/>
              </a:lnSpc>
              <a:buClrTx/>
              <a:buFontTx/>
              <a:buNone/>
            </a:pPr>
            <a:r>
              <a:rPr lang="zh-CN" altLang="en-US"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RUNS </a:t>
            </a:r>
            <a:r>
              <a:rPr lang="en-US" altLang="zh-CN"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Liuhua</a:t>
            </a:r>
            <a:r>
              <a:rPr lang="zh-CN" altLang="en-US"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faster</a:t>
            </a:r>
            <a:r>
              <a:rPr lang="en-US" altLang="zh-CN" sz="2600" b="1" dirty="0">
                <a:latin typeface="Times New Roman" panose="02020503050405090304" pitchFamily="18" charset="0"/>
                <a:ea typeface="宋体" pitchFamily="2" charset="-122"/>
              </a:rPr>
              <a:t>)</a:t>
            </a:r>
            <a:r>
              <a:rPr lang="en-US" altLang="zh-CN" b="1" dirty="0">
                <a:latin typeface="Arial" panose="020B0604020202090204" pitchFamily="34" charset="0"/>
                <a:ea typeface="宋体" pitchFamily="2" charset="-122"/>
              </a:rPr>
              <a:t>→</a:t>
            </a:r>
            <a:r>
              <a:rPr lang="en-US" altLang="zh-CN" sz="2600" b="1" i="1" dirty="0">
                <a:latin typeface="Times New Roman" panose="02020503050405090304" pitchFamily="18" charset="0"/>
                <a:ea typeface="宋体" pitchFamily="2" charset="-122"/>
              </a:rPr>
              <a:t>WINS </a:t>
            </a:r>
            <a:r>
              <a:rPr lang="en-US" altLang="zh-CN"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Liuhua </a:t>
            </a:r>
            <a:r>
              <a:rPr lang="zh-CN" altLang="en-US" sz="2600" b="1" dirty="0">
                <a:latin typeface="Times New Roman" panose="02020503050405090304" pitchFamily="18" charset="0"/>
                <a:ea typeface="宋体" pitchFamily="2" charset="-122"/>
              </a:rPr>
              <a:t>，</a:t>
            </a:r>
            <a:r>
              <a:rPr lang="en-US" altLang="zh-CN" sz="2600" b="1" dirty="0">
                <a:latin typeface="Times New Roman" panose="02020503050405090304" pitchFamily="18" charset="0"/>
                <a:ea typeface="宋体" pitchFamily="2" charset="-122"/>
              </a:rPr>
              <a:t>champion)</a:t>
            </a:r>
            <a:endParaRPr lang="en-US" altLang="zh-CN" sz="2600" b="1" dirty="0">
              <a:latin typeface="Times New Roman" panose="02020503050405090304" pitchFamily="18" charset="0"/>
              <a:ea typeface="宋体" pitchFamily="2" charset="-122"/>
            </a:endParaRPr>
          </a:p>
        </p:txBody>
      </p:sp>
      <p:sp>
        <p:nvSpPr>
          <p:cNvPr id="132104" name="Rectangle 8"/>
          <p:cNvSpPr/>
          <p:nvPr/>
        </p:nvSpPr>
        <p:spPr>
          <a:xfrm>
            <a:off x="28575" y="3800475"/>
            <a:ext cx="9129713" cy="2084388"/>
          </a:xfrm>
          <a:prstGeom prst="rect">
            <a:avLst/>
          </a:prstGeom>
          <a:noFill/>
          <a:ln w="9525">
            <a:noFill/>
          </a:ln>
        </p:spPr>
        <p:txBody>
          <a:bodyPr anchor="t" anchorCtr="0">
            <a:spAutoFit/>
          </a:bodyPr>
          <a:p>
            <a:pPr>
              <a:lnSpc>
                <a:spcPct val="120000"/>
              </a:lnSpc>
              <a:spcBef>
                <a:spcPct val="50000"/>
              </a:spcBef>
              <a:buClr>
                <a:schemeClr val="accent2"/>
              </a:buClr>
              <a:buFont typeface="Wingdings" panose="05000000000000000000" pitchFamily="2" charset="2"/>
              <a:buNone/>
            </a:pPr>
            <a:r>
              <a:rPr lang="zh-CN" altLang="en-US" sz="2800" b="1" dirty="0">
                <a:latin typeface="Times New Roman" panose="02020503050405090304" pitchFamily="18" charset="0"/>
                <a:ea typeface="宋体" pitchFamily="2" charset="-122"/>
              </a:rPr>
              <a:t>（</a:t>
            </a:r>
            <a:r>
              <a:rPr lang="en-US" altLang="zh-CN" sz="2800" b="1" dirty="0">
                <a:latin typeface="Times New Roman" panose="02020503050405090304" pitchFamily="18" charset="0"/>
                <a:ea typeface="宋体" pitchFamily="2" charset="-122"/>
              </a:rPr>
              <a:t>5</a:t>
            </a:r>
            <a:r>
              <a:rPr lang="zh-CN" altLang="en-US" sz="2800" b="1" dirty="0">
                <a:latin typeface="Times New Roman" panose="02020503050405090304" pitchFamily="18" charset="0"/>
                <a:ea typeface="宋体" pitchFamily="2" charset="-122"/>
              </a:rPr>
              <a:t>）</a:t>
            </a:r>
            <a:r>
              <a:rPr lang="zh-CN" altLang="en-US" sz="3200" b="1" dirty="0">
                <a:latin typeface="Times New Roman" panose="02020503050405090304" pitchFamily="18" charset="0"/>
                <a:ea typeface="宋体" pitchFamily="2" charset="-122"/>
                <a:sym typeface="Wingdings 3" panose="05040102010807070707" pitchFamily="18" charset="2"/>
              </a:rPr>
              <a:t>  </a:t>
            </a:r>
            <a:r>
              <a:rPr lang="zh-CN" altLang="en-US" sz="2800" b="1" dirty="0">
                <a:latin typeface="宋体" pitchFamily="2" charset="-122"/>
                <a:ea typeface="宋体" pitchFamily="2" charset="-122"/>
              </a:rPr>
              <a:t>：</a:t>
            </a:r>
            <a:r>
              <a:rPr lang="zh-CN" altLang="en-US" sz="2800" b="1" dirty="0">
                <a:latin typeface="Times New Roman" panose="02020503050405090304" pitchFamily="18" charset="0"/>
                <a:ea typeface="宋体" pitchFamily="2" charset="-122"/>
              </a:rPr>
              <a:t>“</a:t>
            </a:r>
            <a:r>
              <a:rPr lang="zh-CN" altLang="en-US" sz="2800" b="1" dirty="0">
                <a:latin typeface="宋体" pitchFamily="2" charset="-122"/>
                <a:ea typeface="宋体" pitchFamily="2" charset="-122"/>
              </a:rPr>
              <a:t>等价</a:t>
            </a:r>
            <a:r>
              <a:rPr lang="zh-CN" altLang="en-US" sz="2800" b="1" dirty="0">
                <a:latin typeface="Times New Roman" panose="02020503050405090304" pitchFamily="18" charset="0"/>
                <a:ea typeface="宋体" pitchFamily="2" charset="-122"/>
              </a:rPr>
              <a:t>”</a:t>
            </a:r>
            <a:r>
              <a:rPr lang="zh-CN" altLang="en-US" sz="2800" b="1" dirty="0">
                <a:latin typeface="宋体" pitchFamily="2" charset="-122"/>
                <a:ea typeface="宋体" pitchFamily="2" charset="-122"/>
              </a:rPr>
              <a:t>（</a:t>
            </a:r>
            <a:r>
              <a:rPr lang="en-US" altLang="zh-CN" sz="2800" b="1" dirty="0">
                <a:latin typeface="Times New Roman" panose="02020503050405090304" pitchFamily="18" charset="0"/>
                <a:ea typeface="宋体" pitchFamily="2" charset="-122"/>
              </a:rPr>
              <a:t>equivalence</a:t>
            </a:r>
            <a:r>
              <a:rPr lang="zh-CN" altLang="en-US" sz="2800" b="1" dirty="0">
                <a:latin typeface="宋体" pitchFamily="2" charset="-122"/>
                <a:ea typeface="宋体" pitchFamily="2" charset="-122"/>
              </a:rPr>
              <a:t>）或</a:t>
            </a:r>
            <a:r>
              <a:rPr lang="zh-CN" altLang="en-US" sz="2800" b="1" dirty="0">
                <a:latin typeface="Times New Roman" panose="02020503050405090304" pitchFamily="18" charset="0"/>
                <a:ea typeface="宋体" pitchFamily="2" charset="-122"/>
              </a:rPr>
              <a:t>“</a:t>
            </a:r>
            <a:r>
              <a:rPr lang="zh-CN" altLang="en-US" sz="2800" b="1" dirty="0">
                <a:latin typeface="宋体" pitchFamily="2" charset="-122"/>
                <a:ea typeface="宋体" pitchFamily="2" charset="-122"/>
              </a:rPr>
              <a:t>双条件</a:t>
            </a:r>
            <a:r>
              <a:rPr lang="zh-CN" altLang="en-US" sz="2800" b="1" dirty="0">
                <a:latin typeface="Times New Roman" panose="02020503050405090304" pitchFamily="18" charset="0"/>
                <a:ea typeface="宋体" pitchFamily="2" charset="-122"/>
              </a:rPr>
              <a:t>”</a:t>
            </a:r>
            <a:endParaRPr lang="zh-CN" altLang="en-US" sz="2800" b="1" dirty="0">
              <a:latin typeface="宋体" pitchFamily="2" charset="-122"/>
              <a:ea typeface="宋体" pitchFamily="2" charset="-122"/>
            </a:endParaRPr>
          </a:p>
          <a:p>
            <a:pPr>
              <a:lnSpc>
                <a:spcPct val="120000"/>
              </a:lnSpc>
              <a:spcBef>
                <a:spcPct val="50000"/>
              </a:spcBef>
              <a:buClr>
                <a:schemeClr val="accent2"/>
              </a:buClr>
              <a:buFont typeface="Wingdings" panose="05000000000000000000" pitchFamily="2" charset="2"/>
              <a:buNone/>
            </a:pPr>
            <a:r>
              <a:rPr lang="zh-CN" altLang="en-US" sz="2800" b="1" dirty="0">
                <a:latin typeface="宋体" pitchFamily="2" charset="-122"/>
                <a:ea typeface="宋体" pitchFamily="2" charset="-122"/>
              </a:rPr>
              <a:t>         （</a:t>
            </a:r>
            <a:r>
              <a:rPr lang="en-US" altLang="zh-CN" sz="2800" b="1" dirty="0">
                <a:latin typeface="Times New Roman" panose="02020503050405090304" pitchFamily="18" charset="0"/>
                <a:ea typeface="宋体" pitchFamily="2" charset="-122"/>
              </a:rPr>
              <a:t>bicondition</a:t>
            </a:r>
            <a:r>
              <a:rPr lang="zh-CN" altLang="en-US" sz="2800" b="1" dirty="0">
                <a:latin typeface="宋体" pitchFamily="2" charset="-122"/>
                <a:ea typeface="宋体" pitchFamily="2" charset="-122"/>
              </a:rPr>
              <a:t>）。</a:t>
            </a:r>
            <a:endParaRPr lang="zh-CN" altLang="en-US" sz="2800" b="1" dirty="0">
              <a:latin typeface="宋体" pitchFamily="2" charset="-122"/>
              <a:ea typeface="宋体" pitchFamily="2" charset="-122"/>
            </a:endParaRPr>
          </a:p>
          <a:p>
            <a:pPr>
              <a:lnSpc>
                <a:spcPct val="120000"/>
              </a:lnSpc>
              <a:spcBef>
                <a:spcPct val="20000"/>
              </a:spcBef>
              <a:buClr>
                <a:schemeClr val="accent2"/>
              </a:buClr>
              <a:buFont typeface="Wingdings" panose="05000000000000000000" pitchFamily="2" charset="2"/>
              <a:buNone/>
            </a:pPr>
            <a:r>
              <a:rPr lang="zh-CN" altLang="en-US" sz="2800" b="1" dirty="0">
                <a:latin typeface="宋体" pitchFamily="2" charset="-122"/>
                <a:ea typeface="宋体" pitchFamily="2" charset="-122"/>
              </a:rPr>
              <a:t>             </a:t>
            </a:r>
            <a:r>
              <a:rPr lang="en-US" altLang="zh-CN" sz="2800" b="1" i="1" dirty="0">
                <a:latin typeface="Times New Roman" panose="02020503050405090304" pitchFamily="18" charset="0"/>
                <a:ea typeface="宋体" pitchFamily="2" charset="-122"/>
              </a:rPr>
              <a:t>P</a:t>
            </a:r>
            <a:r>
              <a:rPr lang="en-US" altLang="zh-CN" sz="2800" b="1" dirty="0">
                <a:latin typeface="Times New Roman" panose="02020503050405090304" pitchFamily="18" charset="0"/>
                <a:ea typeface="宋体" pitchFamily="2" charset="-122"/>
              </a:rPr>
              <a:t> </a:t>
            </a:r>
            <a:r>
              <a:rPr lang="en-US" altLang="zh-CN" sz="3200" b="1" dirty="0">
                <a:latin typeface="Times New Roman" panose="02020503050405090304" pitchFamily="18" charset="0"/>
                <a:ea typeface="宋体" pitchFamily="2" charset="-122"/>
                <a:sym typeface="Wingdings 3" panose="05040102010807070707" pitchFamily="18" charset="2"/>
              </a:rPr>
              <a:t> </a:t>
            </a:r>
            <a:r>
              <a:rPr lang="en-US" altLang="zh-CN" sz="2800" b="1" i="1" dirty="0">
                <a:latin typeface="Times New Roman" panose="02020503050405090304" pitchFamily="18" charset="0"/>
                <a:ea typeface="宋体" pitchFamily="2" charset="-122"/>
              </a:rPr>
              <a:t>Q</a:t>
            </a:r>
            <a:r>
              <a:rPr lang="en-US" altLang="zh-CN" sz="2800" b="1" dirty="0">
                <a:latin typeface="宋体" pitchFamily="2" charset="-122"/>
                <a:ea typeface="宋体" pitchFamily="2" charset="-122"/>
              </a:rPr>
              <a:t>: </a:t>
            </a:r>
            <a:r>
              <a:rPr lang="en-US" altLang="zh-CN" sz="2800" b="1" dirty="0">
                <a:latin typeface="Times New Roman" panose="02020503050405090304" pitchFamily="18" charset="0"/>
                <a:ea typeface="宋体" pitchFamily="2" charset="-122"/>
              </a:rPr>
              <a:t>“</a:t>
            </a:r>
            <a:r>
              <a:rPr lang="en-US" altLang="zh-CN" sz="2800" b="1" i="1" dirty="0">
                <a:latin typeface="Times New Roman" panose="02020503050405090304" pitchFamily="18" charset="0"/>
                <a:ea typeface="宋体" pitchFamily="2" charset="-122"/>
              </a:rPr>
              <a:t>P</a:t>
            </a:r>
            <a:r>
              <a:rPr lang="zh-CN" altLang="en-US" sz="2800" b="1" dirty="0">
                <a:latin typeface="宋体" pitchFamily="2" charset="-122"/>
                <a:ea typeface="宋体" pitchFamily="2" charset="-122"/>
              </a:rPr>
              <a:t>当且仅当</a:t>
            </a:r>
            <a:r>
              <a:rPr lang="en-US" altLang="zh-CN" sz="2800" b="1" i="1" dirty="0">
                <a:latin typeface="Times New Roman" panose="02020503050405090304" pitchFamily="18" charset="0"/>
                <a:ea typeface="宋体" pitchFamily="2" charset="-122"/>
              </a:rPr>
              <a:t>Q</a:t>
            </a:r>
            <a:r>
              <a:rPr lang="en-US" altLang="zh-CN" sz="2800" b="1" dirty="0">
                <a:latin typeface="Times New Roman" panose="02020503050405090304" pitchFamily="18" charset="0"/>
                <a:ea typeface="宋体" pitchFamily="2" charset="-122"/>
              </a:rPr>
              <a:t>”</a:t>
            </a:r>
            <a:r>
              <a:rPr lang="zh-CN" altLang="en-US" sz="2800" b="1" dirty="0">
                <a:latin typeface="宋体" pitchFamily="2" charset="-122"/>
                <a:ea typeface="宋体" pitchFamily="2" charset="-122"/>
              </a:rPr>
              <a:t>。</a:t>
            </a:r>
            <a:r>
              <a:rPr lang="zh-CN" altLang="en-US" sz="2800" b="1" dirty="0">
                <a:latin typeface="Arial" panose="020B0604020202090204" pitchFamily="34" charset="0"/>
                <a:ea typeface="宋体" pitchFamily="2" charset="-122"/>
              </a:rPr>
              <a:t> </a:t>
            </a:r>
            <a:endParaRPr lang="zh-CN" altLang="en-US" sz="2800" b="1" dirty="0">
              <a:latin typeface="Arial" panose="020B0604020202090204" pitchFamily="34"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2099"/>
                                        </p:tgtEl>
                                        <p:attrNameLst>
                                          <p:attrName>style.visibility</p:attrName>
                                        </p:attrNameLst>
                                      </p:cBhvr>
                                      <p:to>
                                        <p:strVal val="visible"/>
                                      </p:to>
                                    </p:set>
                                    <p:animEffect transition="in" filter="blinds(horizontal)">
                                      <p:cBhvr>
                                        <p:cTn id="7" dur="500"/>
                                        <p:tgtEl>
                                          <p:spTgt spid="13209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2101"/>
                                        </p:tgtEl>
                                        <p:attrNameLst>
                                          <p:attrName>style.visibility</p:attrName>
                                        </p:attrNameLst>
                                      </p:cBhvr>
                                      <p:to>
                                        <p:strVal val="visible"/>
                                      </p:to>
                                    </p:set>
                                  </p:childTnLst>
                                  <p:subTnLst>
                                    <p:set>
                                      <p:cBhvr override="childStyle">
                                        <p:cTn dur="1" fill="hold" display="0" masterRel="nextClick" afterEffect="1"/>
                                        <p:tgtEl>
                                          <p:spTgt spid="132101"/>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132104"/>
                                        </p:tgtEl>
                                        <p:attrNameLst>
                                          <p:attrName>style.visibility</p:attrName>
                                        </p:attrNameLst>
                                      </p:cBhvr>
                                      <p:to>
                                        <p:strVal val="visible"/>
                                      </p:to>
                                    </p:set>
                                    <p:anim calcmode="lin" valueType="num">
                                      <p:cBhvr additive="base">
                                        <p:cTn id="16" dur="500" fill="hold"/>
                                        <p:tgtEl>
                                          <p:spTgt spid="132104"/>
                                        </p:tgtEl>
                                        <p:attrNameLst>
                                          <p:attrName>ppt_x</p:attrName>
                                        </p:attrNameLst>
                                      </p:cBhvr>
                                      <p:tavLst>
                                        <p:tav tm="0">
                                          <p:val>
                                            <p:strVal val="0-#ppt_w/2"/>
                                          </p:val>
                                        </p:tav>
                                        <p:tav tm="100000">
                                          <p:val>
                                            <p:strVal val="#ppt_x"/>
                                          </p:val>
                                        </p:tav>
                                      </p:tavLst>
                                    </p:anim>
                                    <p:anim calcmode="lin" valueType="num">
                                      <p:cBhvr additive="base">
                                        <p:cTn id="17" dur="500" fill="hold"/>
                                        <p:tgtEl>
                                          <p:spTgt spid="1321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9" grpId="0"/>
      <p:bldP spid="132101" grpId="0" animBg="1"/>
      <p:bldP spid="13210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6626"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2.2.3  </a:t>
            </a:r>
            <a:r>
              <a:rPr lang="zh-CN" altLang="en-US" dirty="0">
                <a:latin typeface="Times New Roman" panose="02020503050405090304" pitchFamily="18" charset="0"/>
              </a:rPr>
              <a:t>谓词公式</a:t>
            </a:r>
            <a:endParaRPr lang="zh-CN" altLang="en-US" dirty="0">
              <a:latin typeface="Times New Roman" panose="02020503050405090304" pitchFamily="18" charset="0"/>
            </a:endParaRPr>
          </a:p>
        </p:txBody>
      </p:sp>
      <p:sp>
        <p:nvSpPr>
          <p:cNvPr id="26627" name="Rectangle 3"/>
          <p:cNvSpPr>
            <a:spLocks noGrp="1"/>
          </p:cNvSpPr>
          <p:nvPr>
            <p:ph idx="1"/>
          </p:nvPr>
        </p:nvSpPr>
        <p:spPr>
          <a:xfrm>
            <a:off x="250825" y="908050"/>
            <a:ext cx="8642350" cy="930275"/>
          </a:xfrm>
        </p:spPr>
        <p:txBody>
          <a:bodyPr vert="horz" wrap="square" lIns="91440" tIns="45720" rIns="91440" bIns="45720" anchor="t" anchorCtr="0"/>
          <a:p>
            <a:pPr marL="374650" indent="-374650" defTabSz="914400" eaLnBrk="1" hangingPunct="1">
              <a:spcBef>
                <a:spcPct val="50000"/>
              </a:spcBef>
              <a:buNone/>
              <a:tabLst>
                <a:tab pos="476250" algn="l"/>
              </a:tabLst>
            </a:pPr>
            <a:r>
              <a:rPr lang="en-US" altLang="zh-CN" b="1" dirty="0">
                <a:latin typeface="Times New Roman" panose="02020503050405090304" pitchFamily="18" charset="0"/>
              </a:rPr>
              <a:t>1.</a:t>
            </a:r>
            <a:r>
              <a:rPr lang="en-US" altLang="zh-CN" b="1" dirty="0"/>
              <a:t> </a:t>
            </a:r>
            <a:r>
              <a:rPr lang="zh-CN" altLang="en-US" b="1" dirty="0"/>
              <a:t>连接词（连词）</a:t>
            </a:r>
            <a:endParaRPr lang="zh-CN" altLang="en-US" b="1" dirty="0"/>
          </a:p>
          <a:p>
            <a:pPr marL="374650" indent="-374650" defTabSz="914400" eaLnBrk="1" hangingPunct="1">
              <a:spcBef>
                <a:spcPct val="50000"/>
              </a:spcBef>
              <a:buNone/>
              <a:tabLst>
                <a:tab pos="476250" algn="l"/>
              </a:tabLst>
            </a:pPr>
            <a:endParaRPr lang="zh-CN" altLang="en-US" b="1" dirty="0"/>
          </a:p>
          <a:p>
            <a:pPr marL="374650" indent="-374650" defTabSz="914400" eaLnBrk="1" hangingPunct="1">
              <a:spcBef>
                <a:spcPct val="50000"/>
              </a:spcBef>
              <a:buNone/>
              <a:tabLst>
                <a:tab pos="476250" algn="l"/>
              </a:tabLst>
            </a:pPr>
            <a:endParaRPr lang="en-US" altLang="zh-CN" b="1" dirty="0"/>
          </a:p>
        </p:txBody>
      </p:sp>
      <p:sp>
        <p:nvSpPr>
          <p:cNvPr id="26628" name="Rectangle 4"/>
          <p:cNvSpPr/>
          <p:nvPr/>
        </p:nvSpPr>
        <p:spPr>
          <a:xfrm>
            <a:off x="0" y="3357563"/>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graphicFrame>
        <p:nvGraphicFramePr>
          <p:cNvPr id="26629" name="Object 8"/>
          <p:cNvGraphicFramePr>
            <a:graphicFrameLocks noChangeAspect="1"/>
          </p:cNvGraphicFramePr>
          <p:nvPr/>
        </p:nvGraphicFramePr>
        <p:xfrm>
          <a:off x="304800" y="2603500"/>
          <a:ext cx="8559800" cy="3314700"/>
        </p:xfrm>
        <a:graphic>
          <a:graphicData uri="http://schemas.openxmlformats.org/presentationml/2006/ole">
            <mc:AlternateContent xmlns:mc="http://schemas.openxmlformats.org/markup-compatibility/2006">
              <mc:Choice xmlns:v="urn:schemas-microsoft-com:vml" Requires="v">
                <p:oleObj spid="_x0000_s3105" name="" r:id="rId1" imgW="4438650" imgH="1238250" progId="Paint.Picture">
                  <p:embed/>
                </p:oleObj>
              </mc:Choice>
              <mc:Fallback>
                <p:oleObj name="" r:id="rId1" imgW="4438650" imgH="1238250" progId="Paint.Picture">
                  <p:embed/>
                  <p:pic>
                    <p:nvPicPr>
                      <p:cNvPr id="0" name="图片 3104"/>
                      <p:cNvPicPr/>
                      <p:nvPr/>
                    </p:nvPicPr>
                    <p:blipFill>
                      <a:blip r:embed="rId2"/>
                      <a:stretch>
                        <a:fillRect/>
                      </a:stretch>
                    </p:blipFill>
                    <p:spPr>
                      <a:xfrm>
                        <a:off x="304800" y="2603500"/>
                        <a:ext cx="8559800" cy="3314700"/>
                      </a:xfrm>
                      <a:prstGeom prst="rect">
                        <a:avLst/>
                      </a:prstGeom>
                      <a:noFill/>
                      <a:ln w="38100">
                        <a:noFill/>
                        <a:miter/>
                      </a:ln>
                    </p:spPr>
                  </p:pic>
                </p:oleObj>
              </mc:Fallback>
            </mc:AlternateContent>
          </a:graphicData>
        </a:graphic>
      </p:graphicFrame>
      <p:sp>
        <p:nvSpPr>
          <p:cNvPr id="26630" name="Text Box 10"/>
          <p:cNvSpPr txBox="1"/>
          <p:nvPr/>
        </p:nvSpPr>
        <p:spPr>
          <a:xfrm>
            <a:off x="1000125" y="1828800"/>
            <a:ext cx="6900863" cy="487363"/>
          </a:xfrm>
          <a:prstGeom prst="rect">
            <a:avLst/>
          </a:prstGeom>
          <a:noFill/>
          <a:ln w="9525">
            <a:noFill/>
          </a:ln>
        </p:spPr>
        <p:txBody>
          <a:bodyPr anchor="t" anchorCtr="0">
            <a:spAutoFit/>
          </a:bodyPr>
          <a:p>
            <a:pPr algn="ctr">
              <a:spcBef>
                <a:spcPct val="50000"/>
              </a:spcBef>
              <a:buClrTx/>
              <a:buFontTx/>
              <a:buNone/>
            </a:pPr>
            <a:r>
              <a:rPr lang="zh-CN" altLang="en-US" sz="2600" b="1" dirty="0">
                <a:latin typeface="宋体" pitchFamily="2" charset="-122"/>
                <a:ea typeface="宋体" pitchFamily="2" charset="-122"/>
              </a:rPr>
              <a:t>谓词逻辑真值表</a:t>
            </a:r>
            <a:r>
              <a:rPr lang="zh-CN" altLang="en-US" sz="2600" b="1" dirty="0">
                <a:latin typeface="Arial" panose="020B0604020202090204" pitchFamily="34" charset="0"/>
                <a:ea typeface="宋体" pitchFamily="2" charset="-122"/>
              </a:rPr>
              <a:t> </a:t>
            </a:r>
            <a:endParaRPr lang="zh-CN" altLang="en-US" sz="2600" b="1" dirty="0">
              <a:latin typeface="Arial" panose="020B0604020202090204" pitchFamily="34" charset="0"/>
              <a:ea typeface="宋体" pitchFamily="2" charset="-122"/>
            </a:endParaRPr>
          </a:p>
        </p:txBody>
      </p:sp>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7650"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2.2.3  </a:t>
            </a:r>
            <a:r>
              <a:rPr lang="zh-CN" altLang="en-US" dirty="0">
                <a:latin typeface="Times New Roman" panose="02020503050405090304" pitchFamily="18" charset="0"/>
              </a:rPr>
              <a:t>谓词公式</a:t>
            </a:r>
            <a:endParaRPr lang="zh-CN" altLang="en-US" dirty="0">
              <a:latin typeface="Times New Roman" panose="02020503050405090304" pitchFamily="18" charset="0"/>
            </a:endParaRPr>
          </a:p>
        </p:txBody>
      </p:sp>
      <p:sp>
        <p:nvSpPr>
          <p:cNvPr id="27651" name="Rectangle 3"/>
          <p:cNvSpPr>
            <a:spLocks noGrp="1"/>
          </p:cNvSpPr>
          <p:nvPr>
            <p:ph idx="1"/>
          </p:nvPr>
        </p:nvSpPr>
        <p:spPr>
          <a:xfrm>
            <a:off x="250825" y="908050"/>
            <a:ext cx="8642350" cy="1960563"/>
          </a:xfrm>
        </p:spPr>
        <p:txBody>
          <a:bodyPr vert="horz" wrap="square" lIns="91440" tIns="45720" rIns="91440" bIns="45720" anchor="t" anchorCtr="0"/>
          <a:p>
            <a:pPr eaLnBrk="1" hangingPunct="1">
              <a:buNone/>
            </a:pPr>
            <a:r>
              <a:rPr lang="en-US" altLang="zh-CN" b="1" dirty="0">
                <a:latin typeface="Times New Roman" panose="02020503050405090304" pitchFamily="18" charset="0"/>
              </a:rPr>
              <a:t>  2. </a:t>
            </a:r>
            <a:r>
              <a:rPr lang="zh-CN" altLang="en-US" b="1" dirty="0">
                <a:latin typeface="Times New Roman" panose="02020503050405090304" pitchFamily="18" charset="0"/>
              </a:rPr>
              <a:t>量词（</a:t>
            </a:r>
            <a:r>
              <a:rPr lang="en-US" altLang="zh-CN" b="1" dirty="0">
                <a:latin typeface="Times New Roman" panose="02020503050405090304" pitchFamily="18" charset="0"/>
              </a:rPr>
              <a:t>quantifier</a:t>
            </a:r>
            <a:r>
              <a:rPr lang="zh-CN" altLang="en-US" b="1" dirty="0">
                <a:latin typeface="Times New Roman" panose="02020503050405090304" pitchFamily="18" charset="0"/>
              </a:rPr>
              <a:t>）</a:t>
            </a:r>
            <a:endParaRPr lang="zh-CN" altLang="en-US" b="1" dirty="0">
              <a:latin typeface="Times New Roman" panose="02020503050405090304" pitchFamily="18" charset="0"/>
            </a:endParaRPr>
          </a:p>
          <a:p>
            <a:pPr eaLnBrk="1" hangingPunct="1">
              <a:buNone/>
            </a:pPr>
            <a:r>
              <a:rPr lang="zh-CN" altLang="en-US" sz="2600" b="1" dirty="0">
                <a:latin typeface="宋体" pitchFamily="2" charset="-122"/>
              </a:rPr>
              <a:t>（</a:t>
            </a:r>
            <a:r>
              <a:rPr lang="en-US" altLang="zh-CN" sz="2600" b="1" dirty="0">
                <a:latin typeface="Times New Roman" panose="02020503050405090304" pitchFamily="18" charset="0"/>
              </a:rPr>
              <a:t>1</a:t>
            </a:r>
            <a:r>
              <a:rPr lang="zh-CN" altLang="en-US" sz="2600" b="1" dirty="0">
                <a:latin typeface="宋体" pitchFamily="2" charset="-122"/>
              </a:rPr>
              <a:t>）全称量词（</a:t>
            </a:r>
            <a:r>
              <a:rPr lang="en-US" altLang="zh-CN" sz="2600" b="1" dirty="0">
                <a:latin typeface="Times New Roman" panose="02020503050405090304" pitchFamily="18" charset="0"/>
              </a:rPr>
              <a:t>universal quantifier</a:t>
            </a:r>
            <a:r>
              <a:rPr lang="zh-CN" altLang="en-US" sz="2600" b="1" dirty="0">
                <a:latin typeface="宋体" pitchFamily="2" charset="-122"/>
              </a:rPr>
              <a:t>）（  </a:t>
            </a:r>
            <a:r>
              <a:rPr lang="en-US" altLang="zh-CN" sz="2600" b="1" i="1" dirty="0">
                <a:latin typeface="Times New Roman" panose="02020503050405090304" pitchFamily="18" charset="0"/>
              </a:rPr>
              <a:t>x</a:t>
            </a:r>
            <a:r>
              <a:rPr lang="zh-CN" altLang="en-US" sz="2600" b="1" dirty="0">
                <a:latin typeface="宋体" pitchFamily="2" charset="-122"/>
              </a:rPr>
              <a:t>）：</a:t>
            </a:r>
            <a:r>
              <a:rPr lang="zh-CN" altLang="en-US" sz="2600" dirty="0">
                <a:latin typeface="Times New Roman" panose="02020503050405090304" pitchFamily="18" charset="0"/>
              </a:rPr>
              <a:t>“</a:t>
            </a:r>
            <a:r>
              <a:rPr lang="zh-CN" altLang="en-US" sz="2600" dirty="0">
                <a:latin typeface="宋体" pitchFamily="2" charset="-122"/>
              </a:rPr>
              <a:t>对个体域中的所有（或任一个）个体 </a:t>
            </a:r>
            <a:r>
              <a:rPr lang="en-US" altLang="zh-CN" sz="2600" i="1" dirty="0">
                <a:latin typeface="Times New Roman" panose="02020503050405090304" pitchFamily="18" charset="0"/>
              </a:rPr>
              <a:t>x </a:t>
            </a:r>
            <a:r>
              <a:rPr lang="en-US" altLang="zh-CN" sz="2600" dirty="0">
                <a:latin typeface="Times New Roman" panose="02020503050405090304" pitchFamily="18" charset="0"/>
              </a:rPr>
              <a:t>”</a:t>
            </a:r>
            <a:r>
              <a:rPr lang="zh-CN" altLang="en-US" sz="2600" dirty="0">
                <a:latin typeface="宋体" pitchFamily="2" charset="-122"/>
              </a:rPr>
              <a:t>。</a:t>
            </a:r>
            <a:r>
              <a:rPr lang="zh-CN" altLang="en-US" sz="2600" dirty="0"/>
              <a:t>  </a:t>
            </a:r>
            <a:endParaRPr lang="zh-CN" altLang="en-US" sz="2600" dirty="0"/>
          </a:p>
        </p:txBody>
      </p:sp>
      <p:graphicFrame>
        <p:nvGraphicFramePr>
          <p:cNvPr id="27652" name="Object 4"/>
          <p:cNvGraphicFramePr>
            <a:graphicFrameLocks noChangeAspect="1"/>
          </p:cNvGraphicFramePr>
          <p:nvPr/>
        </p:nvGraphicFramePr>
        <p:xfrm>
          <a:off x="6278563" y="1643063"/>
          <a:ext cx="500062" cy="381000"/>
        </p:xfrm>
        <a:graphic>
          <a:graphicData uri="http://schemas.openxmlformats.org/presentationml/2006/ole">
            <mc:AlternateContent xmlns:mc="http://schemas.openxmlformats.org/markup-compatibility/2006">
              <mc:Choice xmlns:v="urn:schemas-microsoft-com:vml" Requires="v">
                <p:oleObj spid="_x0000_s3103" name="" r:id="rId1" imgW="152400" imgH="165100" progId="Equation.3">
                  <p:embed/>
                </p:oleObj>
              </mc:Choice>
              <mc:Fallback>
                <p:oleObj name="" r:id="rId1" imgW="152400" imgH="165100" progId="Equation.3">
                  <p:embed/>
                  <p:pic>
                    <p:nvPicPr>
                      <p:cNvPr id="0" name="图片 3102"/>
                      <p:cNvPicPr/>
                      <p:nvPr/>
                    </p:nvPicPr>
                    <p:blipFill>
                      <a:blip r:embed="rId2"/>
                      <a:stretch>
                        <a:fillRect/>
                      </a:stretch>
                    </p:blipFill>
                    <p:spPr>
                      <a:xfrm>
                        <a:off x="6278563" y="1643063"/>
                        <a:ext cx="500062" cy="381000"/>
                      </a:xfrm>
                      <a:prstGeom prst="rect">
                        <a:avLst/>
                      </a:prstGeom>
                      <a:noFill/>
                      <a:ln w="38100">
                        <a:noFill/>
                        <a:miter/>
                      </a:ln>
                    </p:spPr>
                  </p:pic>
                </p:oleObj>
              </mc:Fallback>
            </mc:AlternateContent>
          </a:graphicData>
        </a:graphic>
      </p:graphicFrame>
      <p:sp>
        <p:nvSpPr>
          <p:cNvPr id="27653" name="Text Box 5"/>
          <p:cNvSpPr txBox="1"/>
          <p:nvPr/>
        </p:nvSpPr>
        <p:spPr>
          <a:xfrm>
            <a:off x="596900" y="2800350"/>
            <a:ext cx="8112125" cy="1093788"/>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a:spcBef>
                <a:spcPct val="50000"/>
              </a:spcBef>
              <a:buClrTx/>
              <a:buFontTx/>
              <a:buNone/>
            </a:pPr>
            <a:r>
              <a:rPr lang="en-US" altLang="zh-CN" sz="2600" dirty="0">
                <a:latin typeface="Times New Roman" panose="02020503050405090304" pitchFamily="18" charset="0"/>
                <a:ea typeface="宋体" pitchFamily="2" charset="-122"/>
              </a:rPr>
              <a:t>“</a:t>
            </a:r>
            <a:r>
              <a:rPr lang="zh-CN" altLang="en-US" sz="2600" dirty="0">
                <a:latin typeface="宋体" pitchFamily="2" charset="-122"/>
                <a:ea typeface="宋体" pitchFamily="2" charset="-122"/>
              </a:rPr>
              <a:t>所有的机器人都是灰色的</a:t>
            </a:r>
            <a:r>
              <a:rPr lang="zh-CN" altLang="en-US" sz="2600" dirty="0">
                <a:latin typeface="Times New Roman" panose="02020503050405090304" pitchFamily="18" charset="0"/>
                <a:ea typeface="宋体" pitchFamily="2" charset="-122"/>
              </a:rPr>
              <a:t>”</a:t>
            </a:r>
            <a:r>
              <a:rPr lang="zh-CN" altLang="en-US" sz="2600" dirty="0">
                <a:latin typeface="宋体" pitchFamily="2" charset="-122"/>
                <a:ea typeface="宋体" pitchFamily="2" charset="-122"/>
              </a:rPr>
              <a:t>：  </a:t>
            </a:r>
            <a:endParaRPr lang="zh-CN" altLang="en-US" sz="2600" dirty="0">
              <a:latin typeface="宋体" pitchFamily="2" charset="-122"/>
              <a:ea typeface="宋体" pitchFamily="2" charset="-122"/>
            </a:endParaRPr>
          </a:p>
          <a:p>
            <a:pPr algn="just">
              <a:spcBef>
                <a:spcPct val="50000"/>
              </a:spcBef>
              <a:buClrTx/>
              <a:buFontTx/>
              <a:buNone/>
            </a:pPr>
            <a:r>
              <a:rPr lang="zh-CN" altLang="en-US" sz="2600" dirty="0">
                <a:latin typeface="宋体" pitchFamily="2" charset="-122"/>
                <a:ea typeface="宋体" pitchFamily="2" charset="-122"/>
              </a:rPr>
              <a:t>           </a:t>
            </a:r>
            <a:r>
              <a:rPr lang="en-US" altLang="zh-CN" sz="2600" dirty="0">
                <a:latin typeface="Times New Roman" panose="02020503050405090304" pitchFamily="18" charset="0"/>
                <a:ea typeface="宋体" pitchFamily="2" charset="-122"/>
              </a:rPr>
              <a:t>(    </a:t>
            </a:r>
            <a:r>
              <a:rPr lang="en-US" altLang="zh-CN" sz="2600" i="1" dirty="0">
                <a:latin typeface="Times New Roman" panose="02020503050405090304" pitchFamily="18" charset="0"/>
                <a:ea typeface="宋体" pitchFamily="2" charset="-122"/>
              </a:rPr>
              <a:t>x</a:t>
            </a:r>
            <a:r>
              <a:rPr lang="en-US" altLang="zh-CN" sz="2600" dirty="0">
                <a:latin typeface="Times New Roman" panose="02020503050405090304" pitchFamily="18" charset="0"/>
                <a:ea typeface="宋体" pitchFamily="2" charset="-122"/>
              </a:rPr>
              <a:t>)[</a:t>
            </a:r>
            <a:r>
              <a:rPr lang="en-US" altLang="zh-CN" sz="2600" i="1" dirty="0">
                <a:latin typeface="Times New Roman" panose="02020503050405090304" pitchFamily="18" charset="0"/>
                <a:ea typeface="宋体" pitchFamily="2" charset="-122"/>
              </a:rPr>
              <a:t>ROBOT </a:t>
            </a:r>
            <a:r>
              <a:rPr lang="en-US" altLang="zh-CN" sz="2600" dirty="0">
                <a:latin typeface="Times New Roman" panose="02020503050405090304" pitchFamily="18" charset="0"/>
                <a:ea typeface="宋体" pitchFamily="2" charset="-122"/>
              </a:rPr>
              <a:t>(</a:t>
            </a:r>
            <a:r>
              <a:rPr lang="en-US" altLang="zh-CN" sz="2600" i="1" dirty="0">
                <a:latin typeface="Times New Roman" panose="02020503050405090304" pitchFamily="18" charset="0"/>
                <a:ea typeface="宋体" pitchFamily="2" charset="-122"/>
              </a:rPr>
              <a:t>x</a:t>
            </a:r>
            <a:r>
              <a:rPr lang="en-US" altLang="zh-CN" sz="2600" dirty="0">
                <a:latin typeface="Times New Roman" panose="02020503050405090304" pitchFamily="18" charset="0"/>
                <a:ea typeface="宋体" pitchFamily="2" charset="-122"/>
              </a:rPr>
              <a:t>) </a:t>
            </a:r>
            <a:r>
              <a:rPr lang="en-US" altLang="zh-CN" b="1" dirty="0">
                <a:latin typeface="Arial" panose="020B0604020202090204" pitchFamily="34" charset="0"/>
                <a:ea typeface="宋体" pitchFamily="2" charset="-122"/>
              </a:rPr>
              <a:t>→</a:t>
            </a:r>
            <a:r>
              <a:rPr lang="en-US" altLang="zh-CN" sz="2600" dirty="0">
                <a:latin typeface="Times New Roman" panose="02020503050405090304" pitchFamily="18" charset="0"/>
                <a:ea typeface="宋体" pitchFamily="2" charset="-122"/>
              </a:rPr>
              <a:t> </a:t>
            </a:r>
            <a:r>
              <a:rPr lang="en-US" altLang="zh-CN" sz="2600" i="1" dirty="0">
                <a:latin typeface="Times New Roman" panose="02020503050405090304" pitchFamily="18" charset="0"/>
                <a:ea typeface="宋体" pitchFamily="2" charset="-122"/>
              </a:rPr>
              <a:t>COLOR </a:t>
            </a:r>
            <a:r>
              <a:rPr lang="en-US" altLang="zh-CN" sz="2600" dirty="0">
                <a:latin typeface="Times New Roman" panose="02020503050405090304" pitchFamily="18" charset="0"/>
                <a:ea typeface="宋体" pitchFamily="2" charset="-122"/>
              </a:rPr>
              <a:t>(</a:t>
            </a:r>
            <a:r>
              <a:rPr lang="en-US" altLang="zh-CN" sz="2600" i="1" dirty="0">
                <a:latin typeface="Times New Roman" panose="02020503050405090304" pitchFamily="18" charset="0"/>
                <a:ea typeface="宋体" pitchFamily="2" charset="-122"/>
              </a:rPr>
              <a:t>x</a:t>
            </a:r>
            <a:r>
              <a:rPr lang="zh-CN" altLang="en-US" sz="2600" dirty="0">
                <a:latin typeface="宋体" pitchFamily="2" charset="-122"/>
                <a:ea typeface="宋体" pitchFamily="2" charset="-122"/>
              </a:rPr>
              <a:t>，</a:t>
            </a:r>
            <a:r>
              <a:rPr lang="en-US" altLang="zh-CN" sz="2600" i="1" dirty="0">
                <a:latin typeface="Times New Roman" panose="02020503050405090304" pitchFamily="18" charset="0"/>
                <a:ea typeface="宋体" pitchFamily="2" charset="-122"/>
              </a:rPr>
              <a:t>GRAY</a:t>
            </a:r>
            <a:r>
              <a:rPr lang="en-US" altLang="zh-CN" sz="2600" dirty="0">
                <a:latin typeface="Times New Roman" panose="02020503050405090304" pitchFamily="18" charset="0"/>
                <a:ea typeface="宋体" pitchFamily="2" charset="-122"/>
              </a:rPr>
              <a:t>)]</a:t>
            </a:r>
            <a:endParaRPr lang="en-US" altLang="zh-CN" sz="2600" dirty="0">
              <a:latin typeface="Times New Roman" panose="02020503050405090304" pitchFamily="18" charset="0"/>
              <a:ea typeface="Times New Roman" panose="02020503050405090304" pitchFamily="18" charset="0"/>
            </a:endParaRPr>
          </a:p>
        </p:txBody>
      </p:sp>
      <p:graphicFrame>
        <p:nvGraphicFramePr>
          <p:cNvPr id="27654" name="Object 6"/>
          <p:cNvGraphicFramePr>
            <a:graphicFrameLocks noChangeAspect="1"/>
          </p:cNvGraphicFramePr>
          <p:nvPr/>
        </p:nvGraphicFramePr>
        <p:xfrm>
          <a:off x="2625725" y="3500438"/>
          <a:ext cx="500063" cy="381000"/>
        </p:xfrm>
        <a:graphic>
          <a:graphicData uri="http://schemas.openxmlformats.org/presentationml/2006/ole">
            <mc:AlternateContent xmlns:mc="http://schemas.openxmlformats.org/markup-compatibility/2006">
              <mc:Choice xmlns:v="urn:schemas-microsoft-com:vml" Requires="v">
                <p:oleObj spid="_x0000_s3104" name="" r:id="rId3" imgW="152400" imgH="165100" progId="Equation.3">
                  <p:embed/>
                </p:oleObj>
              </mc:Choice>
              <mc:Fallback>
                <p:oleObj name="" r:id="rId3" imgW="152400" imgH="165100" progId="Equation.3">
                  <p:embed/>
                  <p:pic>
                    <p:nvPicPr>
                      <p:cNvPr id="0" name="图片 3103"/>
                      <p:cNvPicPr/>
                      <p:nvPr/>
                    </p:nvPicPr>
                    <p:blipFill>
                      <a:blip r:embed="rId4"/>
                      <a:stretch>
                        <a:fillRect/>
                      </a:stretch>
                    </p:blipFill>
                    <p:spPr>
                      <a:xfrm>
                        <a:off x="2625725" y="3500438"/>
                        <a:ext cx="500063" cy="381000"/>
                      </a:xfrm>
                      <a:prstGeom prst="rect">
                        <a:avLst/>
                      </a:prstGeom>
                      <a:noFill/>
                      <a:ln w="38100">
                        <a:noFill/>
                        <a:miter/>
                      </a:ln>
                    </p:spPr>
                  </p:pic>
                </p:oleObj>
              </mc:Fallback>
            </mc:AlternateContent>
          </a:graphicData>
        </a:graphic>
      </p:graphicFrame>
      <p:sp>
        <p:nvSpPr>
          <p:cNvPr id="27656" name="Text Box 7"/>
          <p:cNvSpPr txBox="1"/>
          <p:nvPr/>
        </p:nvSpPr>
        <p:spPr>
          <a:xfrm>
            <a:off x="479425" y="4110038"/>
            <a:ext cx="8288338" cy="885825"/>
          </a:xfrm>
          <a:prstGeom prst="rect">
            <a:avLst/>
          </a:prstGeom>
          <a:noFill/>
          <a:ln w="9525">
            <a:noFill/>
          </a:ln>
        </p:spPr>
        <p:txBody>
          <a:bodyPr anchor="t" anchorCtr="0">
            <a:spAutoFit/>
          </a:bodyPr>
          <a:p>
            <a:pPr>
              <a:spcBef>
                <a:spcPct val="50000"/>
              </a:spcBef>
              <a:buClrTx/>
              <a:buFontTx/>
              <a:buNone/>
            </a:pPr>
            <a:r>
              <a:rPr lang="zh-CN" altLang="en-US" sz="2600" b="1" dirty="0">
                <a:latin typeface="宋体" pitchFamily="2" charset="-122"/>
                <a:ea typeface="宋体" pitchFamily="2" charset="-122"/>
              </a:rPr>
              <a:t>（</a:t>
            </a:r>
            <a:r>
              <a:rPr lang="en-US" altLang="zh-CN" sz="2600" b="1" dirty="0">
                <a:latin typeface="Times New Roman" panose="02020503050405090304" pitchFamily="18" charset="0"/>
                <a:ea typeface="宋体" pitchFamily="2" charset="-122"/>
              </a:rPr>
              <a:t>2</a:t>
            </a:r>
            <a:r>
              <a:rPr lang="zh-CN" altLang="en-US" sz="2600" b="1" dirty="0">
                <a:latin typeface="宋体" pitchFamily="2" charset="-122"/>
                <a:ea typeface="宋体" pitchFamily="2" charset="-122"/>
              </a:rPr>
              <a:t>）存在量词（</a:t>
            </a:r>
            <a:r>
              <a:rPr lang="en-US" altLang="zh-CN" sz="2600" b="1" dirty="0">
                <a:latin typeface="Times New Roman" panose="02020503050405090304" pitchFamily="18" charset="0"/>
                <a:ea typeface="宋体" pitchFamily="2" charset="-122"/>
              </a:rPr>
              <a:t>existential quantifier</a:t>
            </a:r>
            <a:r>
              <a:rPr lang="zh-CN" altLang="en-US" sz="2600" b="1" dirty="0">
                <a:latin typeface="宋体" pitchFamily="2" charset="-122"/>
                <a:ea typeface="宋体" pitchFamily="2" charset="-122"/>
              </a:rPr>
              <a:t>）（  </a:t>
            </a:r>
            <a:r>
              <a:rPr lang="en-US" altLang="zh-CN" sz="2600" b="1" i="1" dirty="0">
                <a:latin typeface="Times New Roman" panose="02020503050405090304" pitchFamily="18" charset="0"/>
                <a:ea typeface="宋体" pitchFamily="2" charset="-122"/>
              </a:rPr>
              <a:t>x</a:t>
            </a:r>
            <a:r>
              <a:rPr lang="zh-CN" altLang="en-US" sz="2600" b="1" dirty="0">
                <a:latin typeface="宋体" pitchFamily="2" charset="-122"/>
                <a:ea typeface="宋体" pitchFamily="2" charset="-122"/>
              </a:rPr>
              <a:t>）：</a:t>
            </a:r>
            <a:r>
              <a:rPr lang="zh-CN" altLang="en-US" sz="2600" dirty="0">
                <a:latin typeface="Times New Roman" panose="02020503050405090304" pitchFamily="18" charset="0"/>
                <a:ea typeface="宋体" pitchFamily="2" charset="-122"/>
              </a:rPr>
              <a:t>“</a:t>
            </a:r>
            <a:r>
              <a:rPr lang="zh-CN" altLang="en-US" sz="2600" dirty="0">
                <a:latin typeface="宋体" pitchFamily="2" charset="-122"/>
                <a:ea typeface="宋体" pitchFamily="2" charset="-122"/>
              </a:rPr>
              <a:t>在个体域中存在个体</a:t>
            </a:r>
            <a:r>
              <a:rPr lang="zh-CN" altLang="en-US" sz="2600" b="1" dirty="0">
                <a:latin typeface="宋体" pitchFamily="2" charset="-122"/>
                <a:ea typeface="宋体" pitchFamily="2" charset="-122"/>
              </a:rPr>
              <a:t> </a:t>
            </a:r>
            <a:r>
              <a:rPr lang="en-US" altLang="zh-CN" sz="2600" b="1" i="1" dirty="0">
                <a:latin typeface="Times New Roman" panose="02020503050405090304" pitchFamily="18" charset="0"/>
                <a:ea typeface="宋体" pitchFamily="2" charset="-122"/>
              </a:rPr>
              <a:t>x</a:t>
            </a:r>
            <a:r>
              <a:rPr lang="en-US" altLang="zh-CN" sz="2600" b="1" dirty="0">
                <a:latin typeface="Times New Roman" panose="02020503050405090304" pitchFamily="18" charset="0"/>
                <a:ea typeface="宋体" pitchFamily="2" charset="-122"/>
              </a:rPr>
              <a:t> ”</a:t>
            </a:r>
            <a:r>
              <a:rPr lang="zh-CN" altLang="en-US" sz="2600" b="1" dirty="0">
                <a:latin typeface="宋体" pitchFamily="2" charset="-122"/>
                <a:ea typeface="宋体" pitchFamily="2" charset="-122"/>
              </a:rPr>
              <a:t>。</a:t>
            </a:r>
            <a:r>
              <a:rPr lang="zh-CN" altLang="en-US" sz="2600" b="1" dirty="0">
                <a:latin typeface="Arial" panose="020B0604020202090204" pitchFamily="34" charset="0"/>
                <a:ea typeface="宋体" pitchFamily="2" charset="-122"/>
              </a:rPr>
              <a:t> </a:t>
            </a:r>
            <a:endParaRPr lang="zh-CN" altLang="en-US" sz="2600" b="1" dirty="0">
              <a:latin typeface="Arial" panose="020B0604020202090204" pitchFamily="34" charset="0"/>
              <a:ea typeface="宋体" pitchFamily="2" charset="-122"/>
            </a:endParaRPr>
          </a:p>
        </p:txBody>
      </p:sp>
      <p:graphicFrame>
        <p:nvGraphicFramePr>
          <p:cNvPr id="27657" name="Object 8"/>
          <p:cNvGraphicFramePr>
            <a:graphicFrameLocks noChangeAspect="1"/>
          </p:cNvGraphicFramePr>
          <p:nvPr/>
        </p:nvGraphicFramePr>
        <p:xfrm>
          <a:off x="6681788" y="4225925"/>
          <a:ext cx="276225" cy="339725"/>
        </p:xfrm>
        <a:graphic>
          <a:graphicData uri="http://schemas.openxmlformats.org/presentationml/2006/ole">
            <mc:AlternateContent xmlns:mc="http://schemas.openxmlformats.org/markup-compatibility/2006">
              <mc:Choice xmlns:v="urn:schemas-microsoft-com:vml" Requires="v">
                <p:oleObj spid="_x0000_s3106" name="" r:id="rId5" imgW="127000" imgH="152400" progId="Equation.DSMT4">
                  <p:embed/>
                </p:oleObj>
              </mc:Choice>
              <mc:Fallback>
                <p:oleObj name="" r:id="rId5" imgW="127000" imgH="152400" progId="Equation.DSMT4">
                  <p:embed/>
                  <p:pic>
                    <p:nvPicPr>
                      <p:cNvPr id="0" name="图片 3105"/>
                      <p:cNvPicPr/>
                      <p:nvPr/>
                    </p:nvPicPr>
                    <p:blipFill>
                      <a:blip r:embed="rId6"/>
                      <a:stretch>
                        <a:fillRect/>
                      </a:stretch>
                    </p:blipFill>
                    <p:spPr>
                      <a:xfrm>
                        <a:off x="6681788" y="4225925"/>
                        <a:ext cx="276225" cy="339725"/>
                      </a:xfrm>
                      <a:prstGeom prst="rect">
                        <a:avLst/>
                      </a:prstGeom>
                      <a:noFill/>
                      <a:ln w="38100">
                        <a:noFill/>
                        <a:miter/>
                      </a:ln>
                    </p:spPr>
                  </p:pic>
                </p:oleObj>
              </mc:Fallback>
            </mc:AlternateContent>
          </a:graphicData>
        </a:graphic>
      </p:graphicFrame>
      <p:sp>
        <p:nvSpPr>
          <p:cNvPr id="27658" name="Text Box 10"/>
          <p:cNvSpPr txBox="1"/>
          <p:nvPr/>
        </p:nvSpPr>
        <p:spPr>
          <a:xfrm>
            <a:off x="573088" y="5175250"/>
            <a:ext cx="8112125" cy="1093788"/>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a:spcBef>
                <a:spcPct val="50000"/>
              </a:spcBef>
              <a:buClrTx/>
              <a:buFontTx/>
              <a:buNone/>
            </a:pPr>
            <a:r>
              <a:rPr lang="en-US" altLang="zh-CN" sz="2600" dirty="0">
                <a:latin typeface="Times New Roman" panose="02020503050405090304" pitchFamily="18" charset="0"/>
                <a:ea typeface="宋体" pitchFamily="2" charset="-122"/>
              </a:rPr>
              <a:t>“1</a:t>
            </a:r>
            <a:r>
              <a:rPr lang="zh-CN" altLang="en-US" sz="2600" dirty="0">
                <a:latin typeface="Times New Roman" panose="02020503050405090304" pitchFamily="18" charset="0"/>
                <a:ea typeface="宋体" pitchFamily="2" charset="-122"/>
              </a:rPr>
              <a:t>号房间有个物体”：</a:t>
            </a:r>
            <a:endParaRPr lang="zh-CN" altLang="en-US" sz="2600" dirty="0">
              <a:latin typeface="Times New Roman" panose="02020503050405090304" pitchFamily="18" charset="0"/>
              <a:ea typeface="宋体" pitchFamily="2" charset="-122"/>
            </a:endParaRPr>
          </a:p>
          <a:p>
            <a:pPr algn="ctr">
              <a:spcBef>
                <a:spcPct val="50000"/>
              </a:spcBef>
              <a:buClrTx/>
              <a:buFontTx/>
              <a:buNone/>
            </a:pPr>
            <a:r>
              <a:rPr lang="zh-CN" altLang="en-US" sz="2600" dirty="0">
                <a:latin typeface="Times New Roman" panose="02020503050405090304" pitchFamily="18" charset="0"/>
                <a:ea typeface="宋体" pitchFamily="2" charset="-122"/>
              </a:rPr>
              <a:t>   （   </a:t>
            </a:r>
            <a:r>
              <a:rPr lang="en-US" altLang="zh-CN" sz="2600" i="1" dirty="0">
                <a:latin typeface="Times New Roman" panose="02020503050405090304" pitchFamily="18" charset="0"/>
                <a:ea typeface="宋体" pitchFamily="2" charset="-122"/>
              </a:rPr>
              <a:t>x</a:t>
            </a:r>
            <a:r>
              <a:rPr lang="zh-CN" altLang="en-US" sz="2600" dirty="0">
                <a:latin typeface="Times New Roman" panose="02020503050405090304" pitchFamily="18" charset="0"/>
                <a:ea typeface="宋体" pitchFamily="2" charset="-122"/>
              </a:rPr>
              <a:t>）</a:t>
            </a:r>
            <a:r>
              <a:rPr lang="en-US" altLang="zh-CN" sz="2600" i="1" dirty="0">
                <a:latin typeface="Times New Roman" panose="02020503050405090304" pitchFamily="18" charset="0"/>
                <a:ea typeface="宋体" pitchFamily="2" charset="-122"/>
              </a:rPr>
              <a:t>INROOM</a:t>
            </a:r>
            <a:r>
              <a:rPr lang="zh-CN" altLang="en-US" sz="2600" dirty="0">
                <a:latin typeface="Times New Roman" panose="02020503050405090304" pitchFamily="18" charset="0"/>
                <a:ea typeface="宋体" pitchFamily="2" charset="-122"/>
              </a:rPr>
              <a:t>（</a:t>
            </a:r>
            <a:r>
              <a:rPr lang="en-US" altLang="zh-CN" sz="2600" i="1" dirty="0">
                <a:latin typeface="Times New Roman" panose="02020503050405090304" pitchFamily="18" charset="0"/>
                <a:ea typeface="宋体" pitchFamily="2" charset="-122"/>
              </a:rPr>
              <a:t>x</a:t>
            </a:r>
            <a:r>
              <a:rPr lang="zh-CN" altLang="en-US" sz="2600" dirty="0">
                <a:latin typeface="Times New Roman" panose="02020503050405090304" pitchFamily="18" charset="0"/>
                <a:ea typeface="宋体" pitchFamily="2" charset="-122"/>
              </a:rPr>
              <a:t>，</a:t>
            </a:r>
            <a:r>
              <a:rPr lang="en-US" altLang="zh-CN" sz="2600" i="1" dirty="0">
                <a:latin typeface="Times New Roman" panose="02020503050405090304" pitchFamily="18" charset="0"/>
                <a:ea typeface="宋体" pitchFamily="2" charset="-122"/>
              </a:rPr>
              <a:t>r</a:t>
            </a:r>
            <a:r>
              <a:rPr lang="en-US" altLang="zh-CN" sz="2600" dirty="0">
                <a:latin typeface="Times New Roman" panose="02020503050405090304" pitchFamily="18" charset="0"/>
                <a:ea typeface="宋体" pitchFamily="2" charset="-122"/>
              </a:rPr>
              <a:t>1</a:t>
            </a:r>
            <a:r>
              <a:rPr lang="zh-CN" altLang="en-US" sz="2600" dirty="0">
                <a:latin typeface="Times New Roman" panose="02020503050405090304" pitchFamily="18" charset="0"/>
                <a:ea typeface="宋体" pitchFamily="2" charset="-122"/>
              </a:rPr>
              <a:t>）</a:t>
            </a:r>
            <a:endParaRPr lang="zh-CN" altLang="en-US" sz="2600" dirty="0">
              <a:latin typeface="Times New Roman" panose="02020503050405090304" pitchFamily="18" charset="0"/>
              <a:ea typeface="宋体" pitchFamily="2" charset="-122"/>
            </a:endParaRPr>
          </a:p>
        </p:txBody>
      </p:sp>
      <p:graphicFrame>
        <p:nvGraphicFramePr>
          <p:cNvPr id="27659" name="Object 11"/>
          <p:cNvGraphicFramePr>
            <a:graphicFrameLocks noChangeAspect="1"/>
          </p:cNvGraphicFramePr>
          <p:nvPr/>
        </p:nvGraphicFramePr>
        <p:xfrm>
          <a:off x="3155950" y="5884863"/>
          <a:ext cx="276225" cy="339725"/>
        </p:xfrm>
        <a:graphic>
          <a:graphicData uri="http://schemas.openxmlformats.org/presentationml/2006/ole">
            <mc:AlternateContent xmlns:mc="http://schemas.openxmlformats.org/markup-compatibility/2006">
              <mc:Choice xmlns:v="urn:schemas-microsoft-com:vml" Requires="v">
                <p:oleObj spid="_x0000_s3102" name="" r:id="rId7" imgW="127000" imgH="152400" progId="Equation.DSMT4">
                  <p:embed/>
                </p:oleObj>
              </mc:Choice>
              <mc:Fallback>
                <p:oleObj name="" r:id="rId7" imgW="127000" imgH="152400" progId="Equation.DSMT4">
                  <p:embed/>
                  <p:pic>
                    <p:nvPicPr>
                      <p:cNvPr id="0" name="图片 3101"/>
                      <p:cNvPicPr/>
                      <p:nvPr/>
                    </p:nvPicPr>
                    <p:blipFill>
                      <a:blip r:embed="rId6"/>
                      <a:stretch>
                        <a:fillRect/>
                      </a:stretch>
                    </p:blipFill>
                    <p:spPr>
                      <a:xfrm>
                        <a:off x="3155950" y="5884863"/>
                        <a:ext cx="276225" cy="339725"/>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8674"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2.2.3  </a:t>
            </a:r>
            <a:r>
              <a:rPr lang="zh-CN" altLang="en-US" dirty="0">
                <a:latin typeface="Times New Roman" panose="02020503050405090304" pitchFamily="18" charset="0"/>
              </a:rPr>
              <a:t>谓词公式</a:t>
            </a:r>
            <a:endParaRPr lang="zh-CN" altLang="en-US" dirty="0">
              <a:latin typeface="Times New Roman" panose="02020503050405090304" pitchFamily="18" charset="0"/>
            </a:endParaRPr>
          </a:p>
        </p:txBody>
      </p:sp>
      <p:sp>
        <p:nvSpPr>
          <p:cNvPr id="28675" name="Rectangle 3"/>
          <p:cNvSpPr>
            <a:spLocks noGrp="1"/>
          </p:cNvSpPr>
          <p:nvPr>
            <p:ph idx="1"/>
          </p:nvPr>
        </p:nvSpPr>
        <p:spPr>
          <a:xfrm>
            <a:off x="250825" y="836613"/>
            <a:ext cx="8642350" cy="1960562"/>
          </a:xfrm>
        </p:spPr>
        <p:txBody>
          <a:bodyPr vert="horz" wrap="square" lIns="91440" tIns="45720" rIns="91440" bIns="45720" anchor="t" anchorCtr="0"/>
          <a:p>
            <a:pPr eaLnBrk="1" hangingPunct="1">
              <a:buNone/>
            </a:pPr>
            <a:r>
              <a:rPr lang="zh-CN" altLang="en-US" b="1" dirty="0">
                <a:latin typeface="宋体" pitchFamily="2" charset="-122"/>
              </a:rPr>
              <a:t>全称量词和存在量词举例：</a:t>
            </a:r>
            <a:endParaRPr lang="zh-CN" altLang="en-US" b="1" dirty="0">
              <a:latin typeface="宋体" pitchFamily="2" charset="-122"/>
            </a:endParaRPr>
          </a:p>
        </p:txBody>
      </p:sp>
      <p:sp>
        <p:nvSpPr>
          <p:cNvPr id="28677" name="Text Box 6"/>
          <p:cNvSpPr txBox="1"/>
          <p:nvPr/>
        </p:nvSpPr>
        <p:spPr>
          <a:xfrm>
            <a:off x="349250" y="1525588"/>
            <a:ext cx="8445500" cy="4619625"/>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a:spcBef>
                <a:spcPct val="50000"/>
              </a:spcBef>
              <a:buClrTx/>
              <a:buFontTx/>
              <a:buNone/>
            </a:pPr>
            <a:endParaRPr lang="en-US" altLang="zh-CN" sz="1000" dirty="0">
              <a:latin typeface="Times New Roman" panose="02020503050405090304" pitchFamily="18" charset="0"/>
              <a:ea typeface="宋体" pitchFamily="2" charset="-122"/>
            </a:endParaRPr>
          </a:p>
          <a:p>
            <a:pPr algn="just">
              <a:buClr>
                <a:schemeClr val="accent2"/>
              </a:buClr>
              <a:buFont typeface="Wingdings" panose="05000000000000000000" pitchFamily="2" charset="2"/>
              <a:buChar char="§"/>
            </a:pPr>
            <a:r>
              <a:rPr lang="en-US" altLang="zh-CN" sz="2600" b="1" dirty="0">
                <a:latin typeface="Times New Roman" panose="02020503050405090304" pitchFamily="18" charset="0"/>
                <a:ea typeface="宋体" pitchFamily="2" charset="-122"/>
              </a:rPr>
              <a:t> (   </a:t>
            </a:r>
            <a:r>
              <a:rPr lang="en-US" altLang="zh-CN" sz="2600" b="1" i="1" dirty="0">
                <a:latin typeface="Times New Roman" panose="02020503050405090304" pitchFamily="18" charset="0"/>
                <a:ea typeface="宋体" pitchFamily="2" charset="-122"/>
              </a:rPr>
              <a:t>x</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y</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F</a:t>
            </a:r>
            <a:r>
              <a:rPr lang="en-US" altLang="zh-CN"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x</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y</a:t>
            </a:r>
            <a:r>
              <a:rPr lang="en-US" altLang="zh-CN" sz="2600" b="1" dirty="0">
                <a:latin typeface="Times New Roman" panose="02020503050405090304" pitchFamily="18" charset="0"/>
                <a:ea typeface="宋体" pitchFamily="2" charset="-122"/>
              </a:rPr>
              <a:t>) </a:t>
            </a:r>
            <a:r>
              <a:rPr lang="zh-CN" altLang="en-US" sz="2600" b="1" dirty="0">
                <a:latin typeface="Times New Roman" panose="02020503050405090304" pitchFamily="18" charset="0"/>
                <a:ea typeface="宋体" pitchFamily="2" charset="-122"/>
              </a:rPr>
              <a:t>表示对于个体域中的任何个体</a:t>
            </a:r>
            <a:r>
              <a:rPr lang="en-US" altLang="zh-CN" sz="2600" b="1" i="1" dirty="0">
                <a:latin typeface="Times New Roman" panose="02020503050405090304" pitchFamily="18" charset="0"/>
                <a:ea typeface="宋体" pitchFamily="2" charset="-122"/>
              </a:rPr>
              <a:t>x</a:t>
            </a:r>
            <a:r>
              <a:rPr lang="zh-CN" altLang="en-US" sz="2600" b="1" dirty="0">
                <a:latin typeface="Times New Roman" panose="02020503050405090304" pitchFamily="18" charset="0"/>
                <a:ea typeface="宋体" pitchFamily="2" charset="-122"/>
              </a:rPr>
              <a:t>都存在个体</a:t>
            </a:r>
            <a:r>
              <a:rPr lang="en-US" altLang="zh-CN" sz="2600" b="1" i="1" dirty="0">
                <a:latin typeface="Times New Roman" panose="02020503050405090304" pitchFamily="18" charset="0"/>
                <a:ea typeface="宋体" pitchFamily="2" charset="-122"/>
              </a:rPr>
              <a:t>y</a:t>
            </a:r>
            <a:r>
              <a:rPr lang="zh-CN" altLang="en-US"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x</a:t>
            </a:r>
            <a:r>
              <a:rPr lang="zh-CN" altLang="en-US" sz="2600" b="1" dirty="0">
                <a:latin typeface="Times New Roman" panose="02020503050405090304" pitchFamily="18" charset="0"/>
                <a:ea typeface="宋体" pitchFamily="2" charset="-122"/>
              </a:rPr>
              <a:t>与</a:t>
            </a:r>
            <a:r>
              <a:rPr lang="en-US" altLang="zh-CN" sz="2600" b="1" i="1" dirty="0">
                <a:latin typeface="Times New Roman" panose="02020503050405090304" pitchFamily="18" charset="0"/>
                <a:ea typeface="宋体" pitchFamily="2" charset="-122"/>
              </a:rPr>
              <a:t>y</a:t>
            </a:r>
            <a:r>
              <a:rPr lang="zh-CN" altLang="en-US" sz="2600" b="1" dirty="0">
                <a:latin typeface="Times New Roman" panose="02020503050405090304" pitchFamily="18" charset="0"/>
                <a:ea typeface="宋体" pitchFamily="2" charset="-122"/>
              </a:rPr>
              <a:t>是朋友。</a:t>
            </a:r>
            <a:endParaRPr lang="zh-CN" altLang="en-US" sz="2600" b="1" dirty="0">
              <a:latin typeface="Times New Roman" panose="02020503050405090304" pitchFamily="18" charset="0"/>
              <a:ea typeface="宋体" pitchFamily="2" charset="-122"/>
            </a:endParaRPr>
          </a:p>
          <a:p>
            <a:pPr algn="just">
              <a:spcBef>
                <a:spcPct val="100000"/>
              </a:spcBef>
              <a:buClr>
                <a:schemeClr val="accent2"/>
              </a:buClr>
              <a:buFont typeface="Wingdings" panose="05000000000000000000" pitchFamily="2" charset="2"/>
              <a:buChar char="§"/>
            </a:pPr>
            <a:r>
              <a:rPr lang="zh-CN" altLang="en-US" sz="2600" b="1" dirty="0">
                <a:latin typeface="Times New Roman" panose="02020503050405090304" pitchFamily="18" charset="0"/>
                <a:ea typeface="宋体" pitchFamily="2" charset="-122"/>
              </a:rPr>
              <a:t> </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x</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y</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F</a:t>
            </a:r>
            <a:r>
              <a:rPr lang="en-US" altLang="zh-CN"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x</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y</a:t>
            </a:r>
            <a:r>
              <a:rPr lang="en-US" altLang="zh-CN" sz="2600" b="1" dirty="0">
                <a:latin typeface="Times New Roman" panose="02020503050405090304" pitchFamily="18" charset="0"/>
                <a:ea typeface="宋体" pitchFamily="2" charset="-122"/>
              </a:rPr>
              <a:t>) </a:t>
            </a:r>
            <a:r>
              <a:rPr lang="zh-CN" altLang="en-US" sz="2600" b="1" dirty="0">
                <a:latin typeface="Times New Roman" panose="02020503050405090304" pitchFamily="18" charset="0"/>
                <a:ea typeface="宋体" pitchFamily="2" charset="-122"/>
              </a:rPr>
              <a:t>表示在个体域中存在个体</a:t>
            </a:r>
            <a:r>
              <a:rPr lang="en-US" altLang="zh-CN" sz="2600" b="1" i="1" dirty="0">
                <a:latin typeface="Times New Roman" panose="02020503050405090304" pitchFamily="18" charset="0"/>
                <a:ea typeface="宋体" pitchFamily="2" charset="-122"/>
              </a:rPr>
              <a:t>x</a:t>
            </a:r>
            <a:r>
              <a:rPr lang="zh-CN" altLang="en-US" sz="2600" b="1" dirty="0">
                <a:latin typeface="Times New Roman" panose="02020503050405090304" pitchFamily="18" charset="0"/>
                <a:ea typeface="宋体" pitchFamily="2" charset="-122"/>
              </a:rPr>
              <a:t>，与个体域中的任何个体</a:t>
            </a:r>
            <a:r>
              <a:rPr lang="en-US" altLang="zh-CN" sz="2600" b="1" i="1" dirty="0">
                <a:latin typeface="Times New Roman" panose="02020503050405090304" pitchFamily="18" charset="0"/>
                <a:ea typeface="宋体" pitchFamily="2" charset="-122"/>
              </a:rPr>
              <a:t>y</a:t>
            </a:r>
            <a:r>
              <a:rPr lang="zh-CN" altLang="en-US" sz="2600" b="1" dirty="0">
                <a:latin typeface="Times New Roman" panose="02020503050405090304" pitchFamily="18" charset="0"/>
                <a:ea typeface="宋体" pitchFamily="2" charset="-122"/>
              </a:rPr>
              <a:t>都是朋友。</a:t>
            </a:r>
            <a:endParaRPr lang="zh-CN" altLang="en-US" sz="2600" b="1" dirty="0">
              <a:latin typeface="Times New Roman" panose="02020503050405090304" pitchFamily="18" charset="0"/>
              <a:ea typeface="宋体" pitchFamily="2" charset="-122"/>
            </a:endParaRPr>
          </a:p>
          <a:p>
            <a:pPr algn="just">
              <a:spcBef>
                <a:spcPct val="100000"/>
              </a:spcBef>
              <a:buClr>
                <a:schemeClr val="accent2"/>
              </a:buClr>
              <a:buFont typeface="Wingdings" panose="05000000000000000000" pitchFamily="2" charset="2"/>
              <a:buChar char="§"/>
            </a:pPr>
            <a:r>
              <a:rPr lang="zh-CN" altLang="en-US" sz="2600" b="1" dirty="0">
                <a:latin typeface="Times New Roman" panose="02020503050405090304" pitchFamily="18" charset="0"/>
                <a:ea typeface="宋体" pitchFamily="2" charset="-122"/>
              </a:rPr>
              <a:t> </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x</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y</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F</a:t>
            </a:r>
            <a:r>
              <a:rPr lang="en-US" altLang="zh-CN"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x</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y</a:t>
            </a:r>
            <a:r>
              <a:rPr lang="en-US" altLang="zh-CN" sz="2600" b="1" dirty="0">
                <a:latin typeface="Times New Roman" panose="02020503050405090304" pitchFamily="18" charset="0"/>
                <a:ea typeface="宋体" pitchFamily="2" charset="-122"/>
              </a:rPr>
              <a:t>) </a:t>
            </a:r>
            <a:r>
              <a:rPr lang="zh-CN" altLang="en-US" sz="2600" b="1" dirty="0">
                <a:latin typeface="Times New Roman" panose="02020503050405090304" pitchFamily="18" charset="0"/>
                <a:ea typeface="宋体" pitchFamily="2" charset="-122"/>
              </a:rPr>
              <a:t>表示在个体域中存在个体</a:t>
            </a:r>
            <a:r>
              <a:rPr lang="en-US" altLang="zh-CN" sz="2600" b="1" i="1" dirty="0">
                <a:latin typeface="Times New Roman" panose="02020503050405090304" pitchFamily="18" charset="0"/>
                <a:ea typeface="宋体" pitchFamily="2" charset="-122"/>
              </a:rPr>
              <a:t>x</a:t>
            </a:r>
            <a:r>
              <a:rPr lang="zh-CN" altLang="en-US" sz="2600" b="1" dirty="0">
                <a:latin typeface="Times New Roman" panose="02020503050405090304" pitchFamily="18" charset="0"/>
                <a:ea typeface="宋体" pitchFamily="2" charset="-122"/>
              </a:rPr>
              <a:t>与个体</a:t>
            </a:r>
            <a:r>
              <a:rPr lang="en-US" altLang="zh-CN" sz="2600" b="1" i="1" dirty="0">
                <a:latin typeface="Times New Roman" panose="02020503050405090304" pitchFamily="18" charset="0"/>
                <a:ea typeface="宋体" pitchFamily="2" charset="-122"/>
              </a:rPr>
              <a:t>y</a:t>
            </a:r>
            <a:r>
              <a:rPr lang="zh-CN" altLang="en-US"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x</a:t>
            </a:r>
            <a:r>
              <a:rPr lang="zh-CN" altLang="en-US" sz="2600" b="1" dirty="0">
                <a:latin typeface="Times New Roman" panose="02020503050405090304" pitchFamily="18" charset="0"/>
                <a:ea typeface="宋体" pitchFamily="2" charset="-122"/>
              </a:rPr>
              <a:t>与</a:t>
            </a:r>
            <a:r>
              <a:rPr lang="en-US" altLang="zh-CN" sz="2600" b="1" i="1" dirty="0">
                <a:latin typeface="Times New Roman" panose="02020503050405090304" pitchFamily="18" charset="0"/>
                <a:ea typeface="宋体" pitchFamily="2" charset="-122"/>
              </a:rPr>
              <a:t>y</a:t>
            </a:r>
            <a:r>
              <a:rPr lang="zh-CN" altLang="en-US" sz="2600" b="1" dirty="0">
                <a:latin typeface="Times New Roman" panose="02020503050405090304" pitchFamily="18" charset="0"/>
                <a:ea typeface="宋体" pitchFamily="2" charset="-122"/>
              </a:rPr>
              <a:t>是朋友。</a:t>
            </a:r>
            <a:endParaRPr lang="zh-CN" altLang="en-US" sz="2600" b="1" dirty="0">
              <a:latin typeface="Times New Roman" panose="02020503050405090304" pitchFamily="18" charset="0"/>
              <a:ea typeface="宋体" pitchFamily="2" charset="-122"/>
            </a:endParaRPr>
          </a:p>
          <a:p>
            <a:pPr algn="just">
              <a:spcBef>
                <a:spcPct val="100000"/>
              </a:spcBef>
              <a:buClr>
                <a:schemeClr val="accent2"/>
              </a:buClr>
              <a:buFont typeface="Wingdings" panose="05000000000000000000" pitchFamily="2" charset="2"/>
              <a:buChar char="§"/>
            </a:pPr>
            <a:r>
              <a:rPr lang="zh-CN" altLang="en-US" sz="2600" b="1" dirty="0">
                <a:latin typeface="Times New Roman" panose="02020503050405090304" pitchFamily="18" charset="0"/>
                <a:ea typeface="宋体" pitchFamily="2" charset="-122"/>
              </a:rPr>
              <a:t> </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x</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y</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F</a:t>
            </a:r>
            <a:r>
              <a:rPr lang="en-US" altLang="zh-CN"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x</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y</a:t>
            </a:r>
            <a:r>
              <a:rPr lang="en-US" altLang="zh-CN" sz="2600" b="1" dirty="0">
                <a:latin typeface="Times New Roman" panose="02020503050405090304" pitchFamily="18" charset="0"/>
                <a:ea typeface="宋体" pitchFamily="2" charset="-122"/>
              </a:rPr>
              <a:t>) </a:t>
            </a:r>
            <a:r>
              <a:rPr lang="zh-CN" altLang="en-US" sz="2600" b="1" dirty="0">
                <a:latin typeface="Times New Roman" panose="02020503050405090304" pitchFamily="18" charset="0"/>
                <a:ea typeface="宋体" pitchFamily="2" charset="-122"/>
              </a:rPr>
              <a:t>表示对于个体域中的任何两个个体</a:t>
            </a:r>
            <a:r>
              <a:rPr lang="en-US" altLang="zh-CN" sz="2600" b="1" i="1" dirty="0">
                <a:latin typeface="Times New Roman" panose="02020503050405090304" pitchFamily="18" charset="0"/>
                <a:ea typeface="宋体" pitchFamily="2" charset="-122"/>
              </a:rPr>
              <a:t>x</a:t>
            </a:r>
            <a:r>
              <a:rPr lang="zh-CN" altLang="en-US" sz="2600" b="1" dirty="0">
                <a:latin typeface="Times New Roman" panose="02020503050405090304" pitchFamily="18" charset="0"/>
                <a:ea typeface="宋体" pitchFamily="2" charset="-122"/>
              </a:rPr>
              <a:t>和</a:t>
            </a:r>
            <a:r>
              <a:rPr lang="en-US" altLang="zh-CN" sz="2600" b="1" i="1" dirty="0">
                <a:latin typeface="Times New Roman" panose="02020503050405090304" pitchFamily="18" charset="0"/>
                <a:ea typeface="宋体" pitchFamily="2" charset="-122"/>
              </a:rPr>
              <a:t>y</a:t>
            </a:r>
            <a:r>
              <a:rPr lang="zh-CN" altLang="en-US"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x</a:t>
            </a:r>
            <a:r>
              <a:rPr lang="zh-CN" altLang="en-US" sz="2600" b="1" dirty="0">
                <a:latin typeface="Times New Roman" panose="02020503050405090304" pitchFamily="18" charset="0"/>
                <a:ea typeface="宋体" pitchFamily="2" charset="-122"/>
              </a:rPr>
              <a:t>与</a:t>
            </a:r>
            <a:r>
              <a:rPr lang="en-US" altLang="zh-CN" sz="2600" b="1" i="1" dirty="0">
                <a:latin typeface="Times New Roman" panose="02020503050405090304" pitchFamily="18" charset="0"/>
                <a:ea typeface="宋体" pitchFamily="2" charset="-122"/>
              </a:rPr>
              <a:t>y</a:t>
            </a:r>
            <a:r>
              <a:rPr lang="zh-CN" altLang="en-US" sz="2600" b="1" dirty="0">
                <a:latin typeface="Times New Roman" panose="02020503050405090304" pitchFamily="18" charset="0"/>
                <a:ea typeface="宋体" pitchFamily="2" charset="-122"/>
              </a:rPr>
              <a:t>都是朋友。</a:t>
            </a:r>
            <a:r>
              <a:rPr lang="zh-CN" altLang="en-US" sz="2600" dirty="0">
                <a:latin typeface="Times New Roman" panose="02020503050405090304" pitchFamily="18" charset="0"/>
                <a:ea typeface="宋体" pitchFamily="2" charset="-122"/>
              </a:rPr>
              <a:t>      </a:t>
            </a:r>
            <a:endParaRPr lang="zh-CN" altLang="en-US" sz="2600" dirty="0">
              <a:latin typeface="Times New Roman" panose="02020503050405090304" pitchFamily="18" charset="0"/>
              <a:ea typeface="宋体" pitchFamily="2" charset="-122"/>
            </a:endParaRPr>
          </a:p>
        </p:txBody>
      </p:sp>
      <p:graphicFrame>
        <p:nvGraphicFramePr>
          <p:cNvPr id="28678" name="Object 4"/>
          <p:cNvGraphicFramePr>
            <a:graphicFrameLocks noChangeAspect="1"/>
          </p:cNvGraphicFramePr>
          <p:nvPr/>
        </p:nvGraphicFramePr>
        <p:xfrm>
          <a:off x="1517650" y="2967038"/>
          <a:ext cx="520700" cy="381000"/>
        </p:xfrm>
        <a:graphic>
          <a:graphicData uri="http://schemas.openxmlformats.org/presentationml/2006/ole">
            <mc:AlternateContent xmlns:mc="http://schemas.openxmlformats.org/markup-compatibility/2006">
              <mc:Choice xmlns:v="urn:schemas-microsoft-com:vml" Requires="v">
                <p:oleObj spid="_x0000_s3085" name="" r:id="rId1" imgW="152400" imgH="165100" progId="Equation.3">
                  <p:embed/>
                </p:oleObj>
              </mc:Choice>
              <mc:Fallback>
                <p:oleObj name="" r:id="rId1" imgW="152400" imgH="165100" progId="Equation.3">
                  <p:embed/>
                  <p:pic>
                    <p:nvPicPr>
                      <p:cNvPr id="0" name="图片 3084"/>
                      <p:cNvPicPr/>
                      <p:nvPr/>
                    </p:nvPicPr>
                    <p:blipFill>
                      <a:blip r:embed="rId2"/>
                      <a:stretch>
                        <a:fillRect/>
                      </a:stretch>
                    </p:blipFill>
                    <p:spPr>
                      <a:xfrm>
                        <a:off x="1517650" y="2967038"/>
                        <a:ext cx="520700" cy="381000"/>
                      </a:xfrm>
                      <a:prstGeom prst="rect">
                        <a:avLst/>
                      </a:prstGeom>
                      <a:noFill/>
                      <a:ln w="38100">
                        <a:noFill/>
                        <a:miter/>
                      </a:ln>
                    </p:spPr>
                  </p:pic>
                </p:oleObj>
              </mc:Fallback>
            </mc:AlternateContent>
          </a:graphicData>
        </a:graphic>
      </p:graphicFrame>
      <p:graphicFrame>
        <p:nvGraphicFramePr>
          <p:cNvPr id="28679" name="Object 7"/>
          <p:cNvGraphicFramePr>
            <a:graphicFrameLocks noChangeAspect="1"/>
          </p:cNvGraphicFramePr>
          <p:nvPr/>
        </p:nvGraphicFramePr>
        <p:xfrm>
          <a:off x="787400" y="1735138"/>
          <a:ext cx="504825" cy="398462"/>
        </p:xfrm>
        <a:graphic>
          <a:graphicData uri="http://schemas.openxmlformats.org/presentationml/2006/ole">
            <mc:AlternateContent xmlns:mc="http://schemas.openxmlformats.org/markup-compatibility/2006">
              <mc:Choice xmlns:v="urn:schemas-microsoft-com:vml" Requires="v">
                <p:oleObj spid="_x0000_s3093" name="" r:id="rId3" imgW="152400" imgH="165100" progId="Equation.3">
                  <p:embed/>
                </p:oleObj>
              </mc:Choice>
              <mc:Fallback>
                <p:oleObj name="" r:id="rId3" imgW="152400" imgH="165100" progId="Equation.3">
                  <p:embed/>
                  <p:pic>
                    <p:nvPicPr>
                      <p:cNvPr id="0" name="图片 3092"/>
                      <p:cNvPicPr/>
                      <p:nvPr/>
                    </p:nvPicPr>
                    <p:blipFill>
                      <a:blip r:embed="rId4"/>
                      <a:stretch>
                        <a:fillRect/>
                      </a:stretch>
                    </p:blipFill>
                    <p:spPr>
                      <a:xfrm>
                        <a:off x="787400" y="1735138"/>
                        <a:ext cx="504825" cy="398462"/>
                      </a:xfrm>
                      <a:prstGeom prst="rect">
                        <a:avLst/>
                      </a:prstGeom>
                      <a:noFill/>
                      <a:ln w="38100">
                        <a:noFill/>
                        <a:miter/>
                      </a:ln>
                    </p:spPr>
                  </p:pic>
                </p:oleObj>
              </mc:Fallback>
            </mc:AlternateContent>
          </a:graphicData>
        </a:graphic>
      </p:graphicFrame>
      <p:graphicFrame>
        <p:nvGraphicFramePr>
          <p:cNvPr id="28680" name="Object 15"/>
          <p:cNvGraphicFramePr>
            <a:graphicFrameLocks noChangeAspect="1"/>
          </p:cNvGraphicFramePr>
          <p:nvPr/>
        </p:nvGraphicFramePr>
        <p:xfrm>
          <a:off x="1535113" y="1809750"/>
          <a:ext cx="287337" cy="339725"/>
        </p:xfrm>
        <a:graphic>
          <a:graphicData uri="http://schemas.openxmlformats.org/presentationml/2006/ole">
            <mc:AlternateContent xmlns:mc="http://schemas.openxmlformats.org/markup-compatibility/2006">
              <mc:Choice xmlns:v="urn:schemas-microsoft-com:vml" Requires="v">
                <p:oleObj spid="_x0000_s3090" name="" r:id="rId5" imgW="127000" imgH="152400" progId="Equation.DSMT4">
                  <p:embed/>
                </p:oleObj>
              </mc:Choice>
              <mc:Fallback>
                <p:oleObj name="" r:id="rId5" imgW="127000" imgH="152400" progId="Equation.DSMT4">
                  <p:embed/>
                  <p:pic>
                    <p:nvPicPr>
                      <p:cNvPr id="0" name="图片 3089"/>
                      <p:cNvPicPr/>
                      <p:nvPr/>
                    </p:nvPicPr>
                    <p:blipFill>
                      <a:blip r:embed="rId6"/>
                      <a:stretch>
                        <a:fillRect/>
                      </a:stretch>
                    </p:blipFill>
                    <p:spPr>
                      <a:xfrm>
                        <a:off x="1535113" y="1809750"/>
                        <a:ext cx="287337" cy="339725"/>
                      </a:xfrm>
                      <a:prstGeom prst="rect">
                        <a:avLst/>
                      </a:prstGeom>
                      <a:noFill/>
                      <a:ln w="38100">
                        <a:noFill/>
                        <a:miter/>
                      </a:ln>
                    </p:spPr>
                  </p:pic>
                </p:oleObj>
              </mc:Fallback>
            </mc:AlternateContent>
          </a:graphicData>
        </a:graphic>
      </p:graphicFrame>
      <p:graphicFrame>
        <p:nvGraphicFramePr>
          <p:cNvPr id="28681" name="Object 17"/>
          <p:cNvGraphicFramePr>
            <a:graphicFrameLocks noChangeAspect="1"/>
          </p:cNvGraphicFramePr>
          <p:nvPr/>
        </p:nvGraphicFramePr>
        <p:xfrm>
          <a:off x="800100" y="2992438"/>
          <a:ext cx="287338" cy="339725"/>
        </p:xfrm>
        <a:graphic>
          <a:graphicData uri="http://schemas.openxmlformats.org/presentationml/2006/ole">
            <mc:AlternateContent xmlns:mc="http://schemas.openxmlformats.org/markup-compatibility/2006">
              <mc:Choice xmlns:v="urn:schemas-microsoft-com:vml" Requires="v">
                <p:oleObj spid="_x0000_s3082" name="" r:id="rId7" imgW="127000" imgH="152400" progId="Equation.DSMT4">
                  <p:embed/>
                </p:oleObj>
              </mc:Choice>
              <mc:Fallback>
                <p:oleObj name="" r:id="rId7" imgW="127000" imgH="152400" progId="Equation.DSMT4">
                  <p:embed/>
                  <p:pic>
                    <p:nvPicPr>
                      <p:cNvPr id="0" name="图片 3081"/>
                      <p:cNvPicPr/>
                      <p:nvPr/>
                    </p:nvPicPr>
                    <p:blipFill>
                      <a:blip r:embed="rId6"/>
                      <a:stretch>
                        <a:fillRect/>
                      </a:stretch>
                    </p:blipFill>
                    <p:spPr>
                      <a:xfrm>
                        <a:off x="800100" y="2992438"/>
                        <a:ext cx="287338" cy="339725"/>
                      </a:xfrm>
                      <a:prstGeom prst="rect">
                        <a:avLst/>
                      </a:prstGeom>
                      <a:noFill/>
                      <a:ln w="38100">
                        <a:noFill/>
                        <a:miter/>
                      </a:ln>
                    </p:spPr>
                  </p:pic>
                </p:oleObj>
              </mc:Fallback>
            </mc:AlternateContent>
          </a:graphicData>
        </a:graphic>
      </p:graphicFrame>
      <p:graphicFrame>
        <p:nvGraphicFramePr>
          <p:cNvPr id="28682" name="Object 18"/>
          <p:cNvGraphicFramePr>
            <a:graphicFrameLocks noChangeAspect="1"/>
          </p:cNvGraphicFramePr>
          <p:nvPr/>
        </p:nvGraphicFramePr>
        <p:xfrm>
          <a:off x="914400" y="4197350"/>
          <a:ext cx="287338" cy="339725"/>
        </p:xfrm>
        <a:graphic>
          <a:graphicData uri="http://schemas.openxmlformats.org/presentationml/2006/ole">
            <mc:AlternateContent xmlns:mc="http://schemas.openxmlformats.org/markup-compatibility/2006">
              <mc:Choice xmlns:v="urn:schemas-microsoft-com:vml" Requires="v">
                <p:oleObj spid="_x0000_s3094" name="" r:id="rId8" imgW="127000" imgH="152400" progId="Equation.DSMT4">
                  <p:embed/>
                </p:oleObj>
              </mc:Choice>
              <mc:Fallback>
                <p:oleObj name="" r:id="rId8" imgW="127000" imgH="152400" progId="Equation.DSMT4">
                  <p:embed/>
                  <p:pic>
                    <p:nvPicPr>
                      <p:cNvPr id="0" name="图片 3093"/>
                      <p:cNvPicPr/>
                      <p:nvPr/>
                    </p:nvPicPr>
                    <p:blipFill>
                      <a:blip r:embed="rId6"/>
                      <a:stretch>
                        <a:fillRect/>
                      </a:stretch>
                    </p:blipFill>
                    <p:spPr>
                      <a:xfrm>
                        <a:off x="914400" y="4197350"/>
                        <a:ext cx="287338" cy="339725"/>
                      </a:xfrm>
                      <a:prstGeom prst="rect">
                        <a:avLst/>
                      </a:prstGeom>
                      <a:noFill/>
                      <a:ln w="38100">
                        <a:noFill/>
                        <a:miter/>
                      </a:ln>
                    </p:spPr>
                  </p:pic>
                </p:oleObj>
              </mc:Fallback>
            </mc:AlternateContent>
          </a:graphicData>
        </a:graphic>
      </p:graphicFrame>
      <p:graphicFrame>
        <p:nvGraphicFramePr>
          <p:cNvPr id="28683" name="Object 19"/>
          <p:cNvGraphicFramePr>
            <a:graphicFrameLocks noChangeAspect="1"/>
          </p:cNvGraphicFramePr>
          <p:nvPr/>
        </p:nvGraphicFramePr>
        <p:xfrm>
          <a:off x="1700213" y="4195763"/>
          <a:ext cx="287337" cy="339725"/>
        </p:xfrm>
        <a:graphic>
          <a:graphicData uri="http://schemas.openxmlformats.org/presentationml/2006/ole">
            <mc:AlternateContent xmlns:mc="http://schemas.openxmlformats.org/markup-compatibility/2006">
              <mc:Choice xmlns:v="urn:schemas-microsoft-com:vml" Requires="v">
                <p:oleObj spid="_x0000_s3089" name="" r:id="rId9" imgW="127000" imgH="152400" progId="Equation.DSMT4">
                  <p:embed/>
                </p:oleObj>
              </mc:Choice>
              <mc:Fallback>
                <p:oleObj name="" r:id="rId9" imgW="127000" imgH="152400" progId="Equation.DSMT4">
                  <p:embed/>
                  <p:pic>
                    <p:nvPicPr>
                      <p:cNvPr id="0" name="图片 3088"/>
                      <p:cNvPicPr/>
                      <p:nvPr/>
                    </p:nvPicPr>
                    <p:blipFill>
                      <a:blip r:embed="rId6"/>
                      <a:stretch>
                        <a:fillRect/>
                      </a:stretch>
                    </p:blipFill>
                    <p:spPr>
                      <a:xfrm>
                        <a:off x="1700213" y="4195763"/>
                        <a:ext cx="287337" cy="339725"/>
                      </a:xfrm>
                      <a:prstGeom prst="rect">
                        <a:avLst/>
                      </a:prstGeom>
                      <a:noFill/>
                      <a:ln w="38100">
                        <a:noFill/>
                        <a:miter/>
                      </a:ln>
                    </p:spPr>
                  </p:pic>
                </p:oleObj>
              </mc:Fallback>
            </mc:AlternateContent>
          </a:graphicData>
        </a:graphic>
      </p:graphicFrame>
      <p:graphicFrame>
        <p:nvGraphicFramePr>
          <p:cNvPr id="28684" name="Object 20"/>
          <p:cNvGraphicFramePr>
            <a:graphicFrameLocks noChangeAspect="1"/>
          </p:cNvGraphicFramePr>
          <p:nvPr/>
        </p:nvGraphicFramePr>
        <p:xfrm>
          <a:off x="879475" y="5327650"/>
          <a:ext cx="504825" cy="398463"/>
        </p:xfrm>
        <a:graphic>
          <a:graphicData uri="http://schemas.openxmlformats.org/presentationml/2006/ole">
            <mc:AlternateContent xmlns:mc="http://schemas.openxmlformats.org/markup-compatibility/2006">
              <mc:Choice xmlns:v="urn:schemas-microsoft-com:vml" Requires="v">
                <p:oleObj spid="_x0000_s3087" name="" r:id="rId10" imgW="152400" imgH="165100" progId="Equation.3">
                  <p:embed/>
                </p:oleObj>
              </mc:Choice>
              <mc:Fallback>
                <p:oleObj name="" r:id="rId10" imgW="152400" imgH="165100" progId="Equation.3">
                  <p:embed/>
                  <p:pic>
                    <p:nvPicPr>
                      <p:cNvPr id="0" name="图片 3086"/>
                      <p:cNvPicPr/>
                      <p:nvPr/>
                    </p:nvPicPr>
                    <p:blipFill>
                      <a:blip r:embed="rId4"/>
                      <a:stretch>
                        <a:fillRect/>
                      </a:stretch>
                    </p:blipFill>
                    <p:spPr>
                      <a:xfrm>
                        <a:off x="879475" y="5327650"/>
                        <a:ext cx="504825" cy="398463"/>
                      </a:xfrm>
                      <a:prstGeom prst="rect">
                        <a:avLst/>
                      </a:prstGeom>
                      <a:noFill/>
                      <a:ln w="38100">
                        <a:noFill/>
                        <a:miter/>
                      </a:ln>
                    </p:spPr>
                  </p:pic>
                </p:oleObj>
              </mc:Fallback>
            </mc:AlternateContent>
          </a:graphicData>
        </a:graphic>
      </p:graphicFrame>
      <p:graphicFrame>
        <p:nvGraphicFramePr>
          <p:cNvPr id="28685" name="Object 21"/>
          <p:cNvGraphicFramePr>
            <a:graphicFrameLocks noChangeAspect="1"/>
          </p:cNvGraphicFramePr>
          <p:nvPr/>
        </p:nvGraphicFramePr>
        <p:xfrm>
          <a:off x="1749425" y="5341938"/>
          <a:ext cx="504825" cy="398462"/>
        </p:xfrm>
        <a:graphic>
          <a:graphicData uri="http://schemas.openxmlformats.org/presentationml/2006/ole">
            <mc:AlternateContent xmlns:mc="http://schemas.openxmlformats.org/markup-compatibility/2006">
              <mc:Choice xmlns:v="urn:schemas-microsoft-com:vml" Requires="v">
                <p:oleObj spid="_x0000_s3084" name="" r:id="rId11" imgW="152400" imgH="165100" progId="Equation.3">
                  <p:embed/>
                </p:oleObj>
              </mc:Choice>
              <mc:Fallback>
                <p:oleObj name="" r:id="rId11" imgW="152400" imgH="165100" progId="Equation.3">
                  <p:embed/>
                  <p:pic>
                    <p:nvPicPr>
                      <p:cNvPr id="0" name="图片 3083"/>
                      <p:cNvPicPr/>
                      <p:nvPr/>
                    </p:nvPicPr>
                    <p:blipFill>
                      <a:blip r:embed="rId4"/>
                      <a:stretch>
                        <a:fillRect/>
                      </a:stretch>
                    </p:blipFill>
                    <p:spPr>
                      <a:xfrm>
                        <a:off x="1749425" y="5341938"/>
                        <a:ext cx="504825" cy="398462"/>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灯片编号占位符 1"/>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9698" name="Rectangle 2"/>
          <p:cNvSpPr/>
          <p:nvPr/>
        </p:nvSpPr>
        <p:spPr>
          <a:xfrm>
            <a:off x="0" y="0"/>
            <a:ext cx="9144000" cy="765175"/>
          </a:xfrm>
          <a:prstGeom prst="rect">
            <a:avLst/>
          </a:prstGeom>
          <a:solidFill>
            <a:srgbClr val="A50021"/>
          </a:solidFill>
          <a:ln w="9525">
            <a:noFill/>
          </a:ln>
        </p:spPr>
        <p:txBody>
          <a:bodyPr anchor="b" anchorCtr="0"/>
          <a:p>
            <a:pPr indent="176530">
              <a:buClrTx/>
              <a:buFontTx/>
              <a:buNone/>
            </a:pPr>
            <a:r>
              <a:rPr lang="en-US" altLang="zh-CN" sz="3600" dirty="0">
                <a:solidFill>
                  <a:schemeClr val="bg1"/>
                </a:solidFill>
                <a:latin typeface="Times New Roman" panose="02020503050405090304" pitchFamily="18" charset="0"/>
                <a:ea typeface="黑体" panose="02010609060101010101" pitchFamily="49" charset="-122"/>
              </a:rPr>
              <a:t>2.2.3  </a:t>
            </a:r>
            <a:r>
              <a:rPr lang="zh-CN" altLang="en-US" sz="3600" dirty="0">
                <a:solidFill>
                  <a:schemeClr val="bg1"/>
                </a:solidFill>
                <a:latin typeface="Times New Roman" panose="02020503050405090304" pitchFamily="18" charset="0"/>
                <a:ea typeface="黑体" panose="02010609060101010101" pitchFamily="49" charset="-122"/>
              </a:rPr>
              <a:t>谓词公式</a:t>
            </a:r>
            <a:endParaRPr lang="zh-CN" altLang="en-US" sz="3600" dirty="0">
              <a:solidFill>
                <a:schemeClr val="bg1"/>
              </a:solidFill>
              <a:latin typeface="Times New Roman" panose="02020503050405090304" pitchFamily="18" charset="0"/>
              <a:ea typeface="黑体" panose="02010609060101010101" pitchFamily="49" charset="-122"/>
            </a:endParaRPr>
          </a:p>
        </p:txBody>
      </p:sp>
      <p:sp>
        <p:nvSpPr>
          <p:cNvPr id="29699" name="Rectangle 3"/>
          <p:cNvSpPr/>
          <p:nvPr/>
        </p:nvSpPr>
        <p:spPr>
          <a:xfrm>
            <a:off x="250825" y="908050"/>
            <a:ext cx="8642350" cy="1960563"/>
          </a:xfrm>
          <a:prstGeom prst="rect">
            <a:avLst/>
          </a:prstGeom>
          <a:noFill/>
          <a:ln w="9525">
            <a:noFill/>
          </a:ln>
        </p:spPr>
        <p:txBody>
          <a:bodyPr anchor="t" anchorCtr="0"/>
          <a:p>
            <a:pPr marL="469900" indent="-469900">
              <a:lnSpc>
                <a:spcPct val="120000"/>
              </a:lnSpc>
              <a:spcBef>
                <a:spcPct val="20000"/>
              </a:spcBef>
              <a:buClr>
                <a:schemeClr val="accent2"/>
              </a:buClr>
              <a:buFont typeface="Wingdings" panose="05000000000000000000" pitchFamily="2" charset="2"/>
              <a:buNone/>
            </a:pPr>
            <a:r>
              <a:rPr lang="zh-CN" altLang="en-US" sz="2800" b="1" dirty="0">
                <a:latin typeface="宋体" pitchFamily="2" charset="-122"/>
                <a:ea typeface="宋体" pitchFamily="2" charset="-122"/>
              </a:rPr>
              <a:t>全称量词和存在量词出现的次序将影响命题的意思。</a:t>
            </a:r>
            <a:endParaRPr lang="zh-CN" altLang="en-US" sz="2800" b="1" dirty="0">
              <a:latin typeface="宋体" pitchFamily="2" charset="-122"/>
              <a:ea typeface="宋体" pitchFamily="2" charset="-122"/>
            </a:endParaRPr>
          </a:p>
          <a:p>
            <a:pPr marL="469900" indent="-469900">
              <a:lnSpc>
                <a:spcPct val="120000"/>
              </a:lnSpc>
              <a:spcBef>
                <a:spcPct val="20000"/>
              </a:spcBef>
              <a:buClr>
                <a:schemeClr val="accent2"/>
              </a:buClr>
              <a:buFont typeface="Wingdings" panose="05000000000000000000" pitchFamily="2" charset="2"/>
              <a:buNone/>
            </a:pPr>
            <a:r>
              <a:rPr lang="zh-CN" altLang="en-US" sz="2800" b="1" dirty="0">
                <a:latin typeface="宋体" pitchFamily="2" charset="-122"/>
                <a:ea typeface="宋体" pitchFamily="2" charset="-122"/>
              </a:rPr>
              <a:t>例如：</a:t>
            </a:r>
            <a:endParaRPr lang="zh-CN" altLang="en-US" sz="2800" b="1" dirty="0">
              <a:latin typeface="宋体" pitchFamily="2" charset="-122"/>
              <a:ea typeface="宋体" pitchFamily="2" charset="-122"/>
            </a:endParaRPr>
          </a:p>
        </p:txBody>
      </p:sp>
      <p:sp>
        <p:nvSpPr>
          <p:cNvPr id="29700" name="Text Box 5"/>
          <p:cNvSpPr txBox="1"/>
          <p:nvPr/>
        </p:nvSpPr>
        <p:spPr>
          <a:xfrm>
            <a:off x="407988" y="2293938"/>
            <a:ext cx="8112125" cy="2284412"/>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a:spcBef>
                <a:spcPct val="50000"/>
              </a:spcBef>
              <a:buClr>
                <a:schemeClr val="accent2"/>
              </a:buClr>
              <a:buFont typeface="Wingdings" panose="05000000000000000000" pitchFamily="2" charset="2"/>
              <a:buChar char="§"/>
            </a:pPr>
            <a:r>
              <a:rPr lang="en-US" altLang="zh-CN" sz="2600" b="1" dirty="0">
                <a:latin typeface="Times New Roman" panose="02020503050405090304" pitchFamily="18" charset="0"/>
                <a:ea typeface="宋体" pitchFamily="2" charset="-122"/>
              </a:rPr>
              <a:t>  (     </a:t>
            </a:r>
            <a:r>
              <a:rPr lang="en-US" altLang="zh-CN" sz="2600" b="1" i="1" dirty="0">
                <a:latin typeface="Times New Roman" panose="02020503050405090304" pitchFamily="18" charset="0"/>
                <a:ea typeface="宋体" pitchFamily="2" charset="-122"/>
              </a:rPr>
              <a:t>x</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y</a:t>
            </a:r>
            <a:r>
              <a:rPr lang="en-US" altLang="zh-CN"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Employee</a:t>
            </a:r>
            <a:r>
              <a:rPr lang="en-US" altLang="zh-CN"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x</a:t>
            </a:r>
            <a:r>
              <a:rPr lang="en-US" altLang="zh-CN" sz="2600" b="1" dirty="0">
                <a:latin typeface="Times New Roman" panose="02020503050405090304" pitchFamily="18" charset="0"/>
                <a:ea typeface="宋体" pitchFamily="2" charset="-122"/>
              </a:rPr>
              <a:t>) </a:t>
            </a:r>
            <a:r>
              <a:rPr lang="en-US" altLang="zh-CN" b="1" dirty="0">
                <a:latin typeface="Arial" panose="020B0604020202090204" pitchFamily="34" charset="0"/>
                <a:ea typeface="宋体" pitchFamily="2" charset="-122"/>
              </a:rPr>
              <a:t>→</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Manage</a:t>
            </a:r>
            <a:r>
              <a:rPr lang="en-US" altLang="zh-CN" sz="2600" b="1" dirty="0">
                <a:latin typeface="Times New Roman" panose="02020503050405090304" pitchFamily="18" charset="0"/>
                <a:ea typeface="宋体" pitchFamily="2" charset="-122"/>
              </a:rPr>
              <a:t>r(</a:t>
            </a:r>
            <a:r>
              <a:rPr lang="en-US" altLang="zh-CN" sz="2600" b="1" i="1" dirty="0">
                <a:latin typeface="Times New Roman" panose="02020503050405090304" pitchFamily="18" charset="0"/>
                <a:ea typeface="宋体" pitchFamily="2" charset="-122"/>
              </a:rPr>
              <a:t>y</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x</a:t>
            </a:r>
            <a:r>
              <a:rPr lang="en-US" altLang="zh-CN" sz="2600" b="1" dirty="0">
                <a:latin typeface="Times New Roman" panose="02020503050405090304" pitchFamily="18" charset="0"/>
                <a:ea typeface="宋体" pitchFamily="2" charset="-122"/>
              </a:rPr>
              <a:t>)) :</a:t>
            </a:r>
            <a:endParaRPr lang="en-US" altLang="zh-CN" sz="2600" b="1" dirty="0">
              <a:latin typeface="Times New Roman" panose="02020503050405090304" pitchFamily="18" charset="0"/>
              <a:ea typeface="宋体" pitchFamily="2" charset="-122"/>
            </a:endParaRPr>
          </a:p>
          <a:p>
            <a:pPr algn="just">
              <a:spcBef>
                <a:spcPct val="50000"/>
              </a:spcBef>
              <a:buClrTx/>
              <a:buFontTx/>
              <a:buNone/>
            </a:pPr>
            <a:r>
              <a:rPr lang="en-US" altLang="zh-CN" sz="2600" dirty="0">
                <a:latin typeface="Times New Roman" panose="02020503050405090304" pitchFamily="18" charset="0"/>
                <a:ea typeface="宋体" pitchFamily="2" charset="-122"/>
              </a:rPr>
              <a:t>             “</a:t>
            </a:r>
            <a:r>
              <a:rPr lang="zh-CN" altLang="en-US" sz="2600" dirty="0">
                <a:latin typeface="Times New Roman" panose="02020503050405090304" pitchFamily="18" charset="0"/>
                <a:ea typeface="宋体" pitchFamily="2" charset="-122"/>
              </a:rPr>
              <a:t>每个雇员都有一个经理。” </a:t>
            </a:r>
            <a:endParaRPr lang="zh-CN" altLang="en-US" sz="2600" dirty="0">
              <a:latin typeface="Times New Roman" panose="02020503050405090304" pitchFamily="18" charset="0"/>
              <a:ea typeface="宋体" pitchFamily="2" charset="-122"/>
            </a:endParaRPr>
          </a:p>
          <a:p>
            <a:pPr algn="just">
              <a:spcBef>
                <a:spcPct val="50000"/>
              </a:spcBef>
              <a:buClr>
                <a:schemeClr val="accent2"/>
              </a:buClr>
              <a:buFont typeface="Wingdings" panose="05000000000000000000" pitchFamily="2" charset="2"/>
              <a:buChar char="§"/>
            </a:pPr>
            <a:r>
              <a:rPr lang="zh-CN" altLang="en-US" sz="2600" b="1" dirty="0">
                <a:latin typeface="Times New Roman" panose="02020503050405090304" pitchFamily="18" charset="0"/>
                <a:ea typeface="宋体" pitchFamily="2" charset="-122"/>
              </a:rPr>
              <a:t>  </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y</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x</a:t>
            </a:r>
            <a:r>
              <a:rPr lang="en-US" altLang="zh-CN"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Employee</a:t>
            </a:r>
            <a:r>
              <a:rPr lang="en-US" altLang="zh-CN"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x</a:t>
            </a:r>
            <a:r>
              <a:rPr lang="en-US" altLang="zh-CN" sz="2600" b="1" dirty="0">
                <a:latin typeface="Times New Roman" panose="02020503050405090304" pitchFamily="18" charset="0"/>
                <a:ea typeface="宋体" pitchFamily="2" charset="-122"/>
              </a:rPr>
              <a:t>) </a:t>
            </a:r>
            <a:r>
              <a:rPr lang="en-US" altLang="zh-CN" b="1" dirty="0">
                <a:latin typeface="Arial" panose="020B0604020202090204" pitchFamily="34" charset="0"/>
                <a:ea typeface="宋体" pitchFamily="2" charset="-122"/>
              </a:rPr>
              <a:t>→</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Manager</a:t>
            </a:r>
            <a:r>
              <a:rPr lang="en-US" altLang="zh-CN" sz="2600" b="1" dirty="0">
                <a:latin typeface="Times New Roman" panose="02020503050405090304" pitchFamily="18" charset="0"/>
                <a:ea typeface="宋体" pitchFamily="2" charset="-122"/>
              </a:rPr>
              <a:t>(</a:t>
            </a:r>
            <a:r>
              <a:rPr lang="en-US" altLang="zh-CN" sz="2600" b="1" i="1" dirty="0">
                <a:latin typeface="Times New Roman" panose="02020503050405090304" pitchFamily="18" charset="0"/>
                <a:ea typeface="宋体" pitchFamily="2" charset="-122"/>
              </a:rPr>
              <a:t>y</a:t>
            </a:r>
            <a:r>
              <a:rPr lang="en-US" altLang="zh-CN" sz="2600" b="1" dirty="0">
                <a:latin typeface="Times New Roman" panose="02020503050405090304" pitchFamily="18" charset="0"/>
                <a:ea typeface="宋体" pitchFamily="2" charset="-122"/>
              </a:rPr>
              <a:t>, </a:t>
            </a:r>
            <a:r>
              <a:rPr lang="en-US" altLang="zh-CN" sz="2600" b="1" i="1" dirty="0">
                <a:latin typeface="Times New Roman" panose="02020503050405090304" pitchFamily="18" charset="0"/>
                <a:ea typeface="宋体" pitchFamily="2" charset="-122"/>
              </a:rPr>
              <a:t>x</a:t>
            </a:r>
            <a:r>
              <a:rPr lang="en-US" altLang="zh-CN" sz="2600" b="1" dirty="0">
                <a:latin typeface="Times New Roman" panose="02020503050405090304" pitchFamily="18" charset="0"/>
                <a:ea typeface="宋体" pitchFamily="2" charset="-122"/>
              </a:rPr>
              <a:t>)):</a:t>
            </a:r>
            <a:endParaRPr lang="en-US" altLang="zh-CN" sz="2600" b="1" dirty="0">
              <a:latin typeface="Times New Roman" panose="02020503050405090304" pitchFamily="18" charset="0"/>
              <a:ea typeface="宋体" pitchFamily="2" charset="-122"/>
            </a:endParaRPr>
          </a:p>
          <a:p>
            <a:pPr algn="just">
              <a:spcBef>
                <a:spcPct val="50000"/>
              </a:spcBef>
              <a:buClrTx/>
              <a:buFontTx/>
              <a:buNone/>
            </a:pPr>
            <a:r>
              <a:rPr lang="en-US" altLang="zh-CN" sz="2600" dirty="0">
                <a:latin typeface="Times New Roman" panose="02020503050405090304" pitchFamily="18" charset="0"/>
                <a:ea typeface="宋体" pitchFamily="2" charset="-122"/>
              </a:rPr>
              <a:t>              “</a:t>
            </a:r>
            <a:r>
              <a:rPr lang="zh-CN" altLang="en-US" sz="2600" dirty="0">
                <a:latin typeface="Times New Roman" panose="02020503050405090304" pitchFamily="18" charset="0"/>
                <a:ea typeface="宋体" pitchFamily="2" charset="-122"/>
              </a:rPr>
              <a:t>有一个人是所有雇员的经理。”</a:t>
            </a:r>
            <a:endParaRPr lang="zh-CN" altLang="en-US" sz="2600" dirty="0">
              <a:latin typeface="Times New Roman" panose="02020503050405090304" pitchFamily="18" charset="0"/>
              <a:ea typeface="宋体" pitchFamily="2" charset="-122"/>
            </a:endParaRPr>
          </a:p>
        </p:txBody>
      </p:sp>
      <p:graphicFrame>
        <p:nvGraphicFramePr>
          <p:cNvPr id="29701" name="Object 6"/>
          <p:cNvGraphicFramePr>
            <a:graphicFrameLocks noChangeAspect="1"/>
          </p:cNvGraphicFramePr>
          <p:nvPr/>
        </p:nvGraphicFramePr>
        <p:xfrm>
          <a:off x="1793875" y="3586163"/>
          <a:ext cx="500063" cy="381000"/>
        </p:xfrm>
        <a:graphic>
          <a:graphicData uri="http://schemas.openxmlformats.org/presentationml/2006/ole">
            <mc:AlternateContent xmlns:mc="http://schemas.openxmlformats.org/markup-compatibility/2006">
              <mc:Choice xmlns:v="urn:schemas-microsoft-com:vml" Requires="v">
                <p:oleObj spid="_x0000_s3083" name="" r:id="rId1" imgW="152400" imgH="165100" progId="Equation.3">
                  <p:embed/>
                </p:oleObj>
              </mc:Choice>
              <mc:Fallback>
                <p:oleObj name="" r:id="rId1" imgW="152400" imgH="165100" progId="Equation.3">
                  <p:embed/>
                  <p:pic>
                    <p:nvPicPr>
                      <p:cNvPr id="0" name="图片 3082"/>
                      <p:cNvPicPr/>
                      <p:nvPr/>
                    </p:nvPicPr>
                    <p:blipFill>
                      <a:blip r:embed="rId2"/>
                      <a:stretch>
                        <a:fillRect/>
                      </a:stretch>
                    </p:blipFill>
                    <p:spPr>
                      <a:xfrm>
                        <a:off x="1793875" y="3586163"/>
                        <a:ext cx="500063" cy="381000"/>
                      </a:xfrm>
                      <a:prstGeom prst="rect">
                        <a:avLst/>
                      </a:prstGeom>
                      <a:noFill/>
                      <a:ln w="38100">
                        <a:noFill/>
                        <a:miter/>
                      </a:ln>
                    </p:spPr>
                  </p:pic>
                </p:oleObj>
              </mc:Fallback>
            </mc:AlternateContent>
          </a:graphicData>
        </a:graphic>
      </p:graphicFrame>
      <p:graphicFrame>
        <p:nvGraphicFramePr>
          <p:cNvPr id="29702" name="Object 8"/>
          <p:cNvGraphicFramePr>
            <a:graphicFrameLocks noChangeAspect="1"/>
          </p:cNvGraphicFramePr>
          <p:nvPr/>
        </p:nvGraphicFramePr>
        <p:xfrm>
          <a:off x="1009650" y="3619500"/>
          <a:ext cx="276225" cy="339725"/>
        </p:xfrm>
        <a:graphic>
          <a:graphicData uri="http://schemas.openxmlformats.org/presentationml/2006/ole">
            <mc:AlternateContent xmlns:mc="http://schemas.openxmlformats.org/markup-compatibility/2006">
              <mc:Choice xmlns:v="urn:schemas-microsoft-com:vml" Requires="v">
                <p:oleObj spid="_x0000_s3092" name="" r:id="rId3" imgW="127000" imgH="152400" progId="Equation.DSMT4">
                  <p:embed/>
                </p:oleObj>
              </mc:Choice>
              <mc:Fallback>
                <p:oleObj name="" r:id="rId3" imgW="127000" imgH="152400" progId="Equation.DSMT4">
                  <p:embed/>
                  <p:pic>
                    <p:nvPicPr>
                      <p:cNvPr id="0" name="图片 3091"/>
                      <p:cNvPicPr/>
                      <p:nvPr/>
                    </p:nvPicPr>
                    <p:blipFill>
                      <a:blip r:embed="rId4"/>
                      <a:stretch>
                        <a:fillRect/>
                      </a:stretch>
                    </p:blipFill>
                    <p:spPr>
                      <a:xfrm>
                        <a:off x="1009650" y="3619500"/>
                        <a:ext cx="276225" cy="339725"/>
                      </a:xfrm>
                      <a:prstGeom prst="rect">
                        <a:avLst/>
                      </a:prstGeom>
                      <a:noFill/>
                      <a:ln w="38100">
                        <a:noFill/>
                        <a:miter/>
                      </a:ln>
                    </p:spPr>
                  </p:pic>
                </p:oleObj>
              </mc:Fallback>
            </mc:AlternateContent>
          </a:graphicData>
        </a:graphic>
      </p:graphicFrame>
      <p:graphicFrame>
        <p:nvGraphicFramePr>
          <p:cNvPr id="29703" name="Object 9"/>
          <p:cNvGraphicFramePr>
            <a:graphicFrameLocks noChangeAspect="1"/>
          </p:cNvGraphicFramePr>
          <p:nvPr/>
        </p:nvGraphicFramePr>
        <p:xfrm>
          <a:off x="1800225" y="2428875"/>
          <a:ext cx="276225" cy="339725"/>
        </p:xfrm>
        <a:graphic>
          <a:graphicData uri="http://schemas.openxmlformats.org/presentationml/2006/ole">
            <mc:AlternateContent xmlns:mc="http://schemas.openxmlformats.org/markup-compatibility/2006">
              <mc:Choice xmlns:v="urn:schemas-microsoft-com:vml" Requires="v">
                <p:oleObj spid="_x0000_s3086" name="" r:id="rId5" imgW="127000" imgH="152400" progId="Equation.DSMT4">
                  <p:embed/>
                </p:oleObj>
              </mc:Choice>
              <mc:Fallback>
                <p:oleObj name="" r:id="rId5" imgW="127000" imgH="152400" progId="Equation.DSMT4">
                  <p:embed/>
                  <p:pic>
                    <p:nvPicPr>
                      <p:cNvPr id="0" name="图片 3085"/>
                      <p:cNvPicPr/>
                      <p:nvPr/>
                    </p:nvPicPr>
                    <p:blipFill>
                      <a:blip r:embed="rId4"/>
                      <a:stretch>
                        <a:fillRect/>
                      </a:stretch>
                    </p:blipFill>
                    <p:spPr>
                      <a:xfrm>
                        <a:off x="1800225" y="2428875"/>
                        <a:ext cx="276225" cy="339725"/>
                      </a:xfrm>
                      <a:prstGeom prst="rect">
                        <a:avLst/>
                      </a:prstGeom>
                      <a:noFill/>
                      <a:ln w="38100">
                        <a:noFill/>
                        <a:miter/>
                      </a:ln>
                    </p:spPr>
                  </p:pic>
                </p:oleObj>
              </mc:Fallback>
            </mc:AlternateContent>
          </a:graphicData>
        </a:graphic>
      </p:graphicFrame>
      <p:grpSp>
        <p:nvGrpSpPr>
          <p:cNvPr id="29704" name="Group 11"/>
          <p:cNvGrpSpPr>
            <a:grpSpLocks noChangeAspect="1"/>
          </p:cNvGrpSpPr>
          <p:nvPr/>
        </p:nvGrpSpPr>
        <p:grpSpPr>
          <a:xfrm>
            <a:off x="971550" y="2365375"/>
            <a:ext cx="484188" cy="441325"/>
            <a:chOff x="612" y="1499"/>
            <a:chExt cx="305" cy="278"/>
          </a:xfrm>
        </p:grpSpPr>
        <p:sp>
          <p:nvSpPr>
            <p:cNvPr id="29705" name="AutoShape 10"/>
            <p:cNvSpPr>
              <a:spLocks noChangeAspect="1" noTextEdit="1"/>
            </p:cNvSpPr>
            <p:nvPr/>
          </p:nvSpPr>
          <p:spPr>
            <a:xfrm>
              <a:off x="612" y="1520"/>
              <a:ext cx="305" cy="251"/>
            </a:xfrm>
            <a:prstGeom prst="rect">
              <a:avLst/>
            </a:prstGeom>
            <a:noFill/>
            <a:ln w="9525">
              <a:noFill/>
            </a:ln>
          </p:spPr>
          <p:txBody>
            <a:bodyPr anchor="t" anchorCtr="0"/>
            <a:p>
              <a:pPr eaLnBrk="0" hangingPunct="0"/>
              <a:endParaRPr lang="zh-CN" altLang="en-US">
                <a:latin typeface="Arial" panose="020B0604020202090204" pitchFamily="34" charset="0"/>
                <a:ea typeface="宋体" pitchFamily="2" charset="-122"/>
              </a:endParaRPr>
            </a:p>
          </p:txBody>
        </p:sp>
        <p:sp>
          <p:nvSpPr>
            <p:cNvPr id="29706" name="Rectangle 12"/>
            <p:cNvSpPr/>
            <p:nvPr/>
          </p:nvSpPr>
          <p:spPr>
            <a:xfrm>
              <a:off x="649" y="1499"/>
              <a:ext cx="165" cy="278"/>
            </a:xfrm>
            <a:prstGeom prst="rect">
              <a:avLst/>
            </a:prstGeom>
            <a:noFill/>
            <a:ln w="9525">
              <a:noFill/>
            </a:ln>
          </p:spPr>
          <p:txBody>
            <a:bodyPr wrap="none" lIns="0" tIns="0" rIns="0" bIns="0" anchor="t" anchorCtr="0">
              <a:spAutoFit/>
            </a:bodyPr>
            <a:p>
              <a:pPr>
                <a:buClrTx/>
                <a:buFontTx/>
                <a:buNone/>
              </a:pPr>
              <a:r>
                <a:rPr lang="en-US" altLang="zh-CN" sz="2900" dirty="0">
                  <a:solidFill>
                    <a:srgbClr val="000000"/>
                  </a:solidFill>
                  <a:latin typeface="Symbol" panose="05050102010706020507" pitchFamily="18" charset="2"/>
                  <a:ea typeface="宋体" pitchFamily="2" charset="-122"/>
                </a:rPr>
                <a:t>"</a:t>
              </a:r>
              <a:endParaRPr lang="en-US" altLang="zh-CN" dirty="0">
                <a:latin typeface="Arial" panose="020B0604020202090204" pitchFamily="34" charset="0"/>
                <a:ea typeface="宋体" pitchFamily="2" charset="-122"/>
              </a:endParaRPr>
            </a:p>
          </p:txBody>
        </p:sp>
      </p:gr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0722"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2.2.3  </a:t>
            </a:r>
            <a:r>
              <a:rPr lang="zh-CN" altLang="en-US" dirty="0">
                <a:latin typeface="Times New Roman" panose="02020503050405090304" pitchFamily="18" charset="0"/>
              </a:rPr>
              <a:t>谓词公式</a:t>
            </a:r>
            <a:endParaRPr lang="zh-CN" altLang="en-US" dirty="0">
              <a:latin typeface="Times New Roman" panose="02020503050405090304" pitchFamily="18" charset="0"/>
            </a:endParaRPr>
          </a:p>
        </p:txBody>
      </p:sp>
      <p:sp>
        <p:nvSpPr>
          <p:cNvPr id="30723" name="Rectangle 3"/>
          <p:cNvSpPr>
            <a:spLocks noGrp="1"/>
          </p:cNvSpPr>
          <p:nvPr>
            <p:ph idx="1"/>
          </p:nvPr>
        </p:nvSpPr>
        <p:spPr>
          <a:xfrm>
            <a:off x="250825" y="908050"/>
            <a:ext cx="8642350" cy="1263650"/>
          </a:xfrm>
        </p:spPr>
        <p:txBody>
          <a:bodyPr vert="horz" wrap="square" lIns="91440" tIns="45720" rIns="91440" bIns="45720" anchor="t" anchorCtr="0"/>
          <a:p>
            <a:pPr eaLnBrk="1" hangingPunct="1">
              <a:buNone/>
            </a:pPr>
            <a:r>
              <a:rPr lang="en-US" altLang="zh-CN" b="1" dirty="0">
                <a:latin typeface="Times New Roman" panose="02020503050405090304" pitchFamily="18" charset="0"/>
              </a:rPr>
              <a:t>3. </a:t>
            </a:r>
            <a:r>
              <a:rPr lang="zh-CN" altLang="en-US" b="1" dirty="0">
                <a:latin typeface="Times New Roman" panose="02020503050405090304" pitchFamily="18" charset="0"/>
              </a:rPr>
              <a:t>谓词公式</a:t>
            </a:r>
            <a:endParaRPr lang="zh-CN" altLang="en-US" b="1" dirty="0">
              <a:latin typeface="Times New Roman" panose="02020503050405090304" pitchFamily="18" charset="0"/>
            </a:endParaRPr>
          </a:p>
          <a:p>
            <a:pPr eaLnBrk="1" hangingPunct="1"/>
            <a:r>
              <a:rPr lang="zh-CN" altLang="en-US" sz="2600" b="1" dirty="0">
                <a:latin typeface="Times New Roman" panose="02020503050405090304" pitchFamily="18" charset="0"/>
              </a:rPr>
              <a:t>定义</a:t>
            </a:r>
            <a:r>
              <a:rPr lang="en-US" altLang="zh-CN" sz="2600" b="1" dirty="0">
                <a:latin typeface="Times New Roman" panose="02020503050405090304" pitchFamily="18" charset="0"/>
              </a:rPr>
              <a:t>2.2</a:t>
            </a:r>
            <a:r>
              <a:rPr lang="en-US" altLang="zh-CN" sz="2600" dirty="0">
                <a:latin typeface="Times New Roman" panose="02020503050405090304" pitchFamily="18" charset="0"/>
              </a:rPr>
              <a:t>  </a:t>
            </a:r>
            <a:r>
              <a:rPr lang="zh-CN" altLang="en-US" sz="2600" dirty="0">
                <a:latin typeface="Times New Roman" panose="02020503050405090304" pitchFamily="18" charset="0"/>
              </a:rPr>
              <a:t>可按下述规则得到谓词演算的谓词公式：</a:t>
            </a:r>
            <a:endParaRPr lang="zh-CN" altLang="en-US" sz="2600" dirty="0">
              <a:latin typeface="Times New Roman" panose="02020503050405090304" pitchFamily="18" charset="0"/>
            </a:endParaRPr>
          </a:p>
        </p:txBody>
      </p:sp>
      <p:sp>
        <p:nvSpPr>
          <p:cNvPr id="30725" name="Text Box 5"/>
          <p:cNvSpPr txBox="1"/>
          <p:nvPr/>
        </p:nvSpPr>
        <p:spPr>
          <a:xfrm>
            <a:off x="458788" y="2200275"/>
            <a:ext cx="8272462" cy="2987675"/>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marL="342900" indent="-342900" algn="just">
              <a:spcBef>
                <a:spcPct val="20000"/>
              </a:spcBef>
              <a:buClrTx/>
              <a:buFontTx/>
              <a:buNone/>
            </a:pPr>
            <a:r>
              <a:rPr lang="en-US" altLang="zh-CN" sz="2600" dirty="0">
                <a:latin typeface="Times New Roman" panose="02020503050405090304" pitchFamily="18" charset="0"/>
                <a:ea typeface="宋体" pitchFamily="2" charset="-122"/>
              </a:rPr>
              <a:t>(1) </a:t>
            </a:r>
            <a:r>
              <a:rPr lang="zh-CN" altLang="en-US" sz="2600" dirty="0">
                <a:latin typeface="Times New Roman" panose="02020503050405090304" pitchFamily="18" charset="0"/>
                <a:ea typeface="宋体" pitchFamily="2" charset="-122"/>
              </a:rPr>
              <a:t>单个谓词是谓词公式，称为原子谓词公式。</a:t>
            </a:r>
            <a:endParaRPr lang="zh-CN" altLang="en-US" sz="2600" dirty="0">
              <a:latin typeface="Times New Roman" panose="02020503050405090304" pitchFamily="18" charset="0"/>
              <a:ea typeface="宋体" pitchFamily="2" charset="-122"/>
            </a:endParaRPr>
          </a:p>
          <a:p>
            <a:pPr marL="342900" indent="-342900" algn="just">
              <a:spcBef>
                <a:spcPct val="20000"/>
              </a:spcBef>
              <a:buClrTx/>
              <a:buFontTx/>
              <a:buNone/>
            </a:pPr>
            <a:r>
              <a:rPr lang="en-US" altLang="zh-CN" sz="2600" dirty="0">
                <a:latin typeface="Times New Roman" panose="02020503050405090304" pitchFamily="18" charset="0"/>
                <a:ea typeface="宋体" pitchFamily="2" charset="-122"/>
              </a:rPr>
              <a:t>(2) </a:t>
            </a:r>
            <a:r>
              <a:rPr lang="zh-CN" altLang="en-US" sz="2600" dirty="0">
                <a:latin typeface="Times New Roman" panose="02020503050405090304" pitchFamily="18" charset="0"/>
                <a:ea typeface="宋体" pitchFamily="2" charset="-122"/>
              </a:rPr>
              <a:t>若</a:t>
            </a:r>
            <a:r>
              <a:rPr lang="en-US" altLang="zh-CN" sz="2600" dirty="0">
                <a:latin typeface="Times New Roman" panose="02020503050405090304" pitchFamily="18" charset="0"/>
                <a:ea typeface="宋体" pitchFamily="2" charset="-122"/>
              </a:rPr>
              <a:t>A</a:t>
            </a:r>
            <a:r>
              <a:rPr lang="zh-CN" altLang="en-US" sz="2600" dirty="0">
                <a:latin typeface="Times New Roman" panose="02020503050405090304" pitchFamily="18" charset="0"/>
                <a:ea typeface="宋体" pitchFamily="2" charset="-122"/>
              </a:rPr>
              <a:t>是谓词公式，则</a:t>
            </a:r>
            <a:r>
              <a:rPr lang="en-US" altLang="zh-CN" sz="2600" dirty="0">
                <a:latin typeface="Times New Roman" panose="02020503050405090304" pitchFamily="18" charset="0"/>
                <a:ea typeface="宋体" pitchFamily="2" charset="-122"/>
              </a:rPr>
              <a:t>﹁A</a:t>
            </a:r>
            <a:r>
              <a:rPr lang="zh-CN" altLang="en-US" sz="2600" dirty="0">
                <a:latin typeface="Times New Roman" panose="02020503050405090304" pitchFamily="18" charset="0"/>
                <a:ea typeface="宋体" pitchFamily="2" charset="-122"/>
              </a:rPr>
              <a:t>也是谓词公式。 </a:t>
            </a:r>
            <a:endParaRPr lang="zh-CN" altLang="en-US" sz="2600" dirty="0">
              <a:latin typeface="Times New Roman" panose="02020503050405090304" pitchFamily="18" charset="0"/>
              <a:ea typeface="宋体" pitchFamily="2" charset="-122"/>
            </a:endParaRPr>
          </a:p>
          <a:p>
            <a:pPr marL="342900" indent="-342900" algn="just">
              <a:spcBef>
                <a:spcPct val="20000"/>
              </a:spcBef>
              <a:buClrTx/>
              <a:buFontTx/>
              <a:buNone/>
            </a:pPr>
            <a:r>
              <a:rPr lang="en-US" altLang="zh-CN" sz="2600" dirty="0">
                <a:latin typeface="Times New Roman" panose="02020503050405090304" pitchFamily="18" charset="0"/>
                <a:ea typeface="宋体" pitchFamily="2" charset="-122"/>
              </a:rPr>
              <a:t>(3) </a:t>
            </a:r>
            <a:r>
              <a:rPr lang="zh-CN" altLang="en-US" sz="2600" dirty="0">
                <a:latin typeface="Times New Roman" panose="02020503050405090304" pitchFamily="18" charset="0"/>
                <a:ea typeface="宋体" pitchFamily="2" charset="-122"/>
              </a:rPr>
              <a:t>若</a:t>
            </a:r>
            <a:r>
              <a:rPr lang="en-US" altLang="zh-CN" sz="2600" dirty="0">
                <a:latin typeface="Times New Roman" panose="02020503050405090304" pitchFamily="18" charset="0"/>
                <a:ea typeface="宋体" pitchFamily="2" charset="-122"/>
              </a:rPr>
              <a:t>A</a:t>
            </a:r>
            <a:r>
              <a:rPr lang="zh-CN" altLang="en-US" sz="2600" dirty="0">
                <a:latin typeface="Times New Roman" panose="02020503050405090304" pitchFamily="18" charset="0"/>
                <a:ea typeface="宋体" pitchFamily="2" charset="-122"/>
              </a:rPr>
              <a:t>，</a:t>
            </a:r>
            <a:r>
              <a:rPr lang="en-US" altLang="zh-CN" sz="2600" dirty="0">
                <a:latin typeface="Times New Roman" panose="02020503050405090304" pitchFamily="18" charset="0"/>
                <a:ea typeface="宋体" pitchFamily="2" charset="-122"/>
              </a:rPr>
              <a:t>B</a:t>
            </a:r>
            <a:r>
              <a:rPr lang="zh-CN" altLang="en-US" sz="2600" dirty="0">
                <a:latin typeface="Times New Roman" panose="02020503050405090304" pitchFamily="18" charset="0"/>
                <a:ea typeface="宋体" pitchFamily="2" charset="-122"/>
              </a:rPr>
              <a:t>都是谓词公式，则</a:t>
            </a:r>
            <a:r>
              <a:rPr lang="en-US" altLang="zh-CN" sz="2600" dirty="0">
                <a:latin typeface="Times New Roman" panose="02020503050405090304" pitchFamily="18" charset="0"/>
                <a:ea typeface="宋体" pitchFamily="2" charset="-122"/>
              </a:rPr>
              <a:t>A∧B</a:t>
            </a:r>
            <a:r>
              <a:rPr lang="zh-CN" altLang="en-US" sz="2600" dirty="0">
                <a:latin typeface="Times New Roman" panose="02020503050405090304" pitchFamily="18" charset="0"/>
                <a:ea typeface="宋体" pitchFamily="2" charset="-122"/>
              </a:rPr>
              <a:t>，</a:t>
            </a:r>
            <a:r>
              <a:rPr lang="en-US" altLang="zh-CN" sz="2600" dirty="0">
                <a:latin typeface="Times New Roman" panose="02020503050405090304" pitchFamily="18" charset="0"/>
                <a:ea typeface="宋体" pitchFamily="2" charset="-122"/>
              </a:rPr>
              <a:t>A</a:t>
            </a:r>
            <a:r>
              <a:rPr lang="en-US" altLang="zh-CN" sz="2400" dirty="0">
                <a:latin typeface="宋体" pitchFamily="2" charset="-122"/>
                <a:ea typeface="宋体" pitchFamily="2" charset="-122"/>
              </a:rPr>
              <a:t>∨</a:t>
            </a:r>
            <a:r>
              <a:rPr lang="en-US" altLang="zh-CN" sz="2600" dirty="0">
                <a:latin typeface="Times New Roman" panose="02020503050405090304" pitchFamily="18" charset="0"/>
                <a:ea typeface="宋体" pitchFamily="2" charset="-122"/>
              </a:rPr>
              <a:t>B</a:t>
            </a:r>
            <a:r>
              <a:rPr lang="zh-CN" altLang="en-US" sz="2600" dirty="0">
                <a:latin typeface="Times New Roman" panose="02020503050405090304" pitchFamily="18" charset="0"/>
                <a:ea typeface="宋体" pitchFamily="2" charset="-122"/>
              </a:rPr>
              <a:t>，</a:t>
            </a:r>
            <a:r>
              <a:rPr lang="en-US" altLang="zh-CN" sz="2600" dirty="0">
                <a:latin typeface="Times New Roman" panose="02020503050405090304" pitchFamily="18" charset="0"/>
                <a:ea typeface="宋体" pitchFamily="2" charset="-122"/>
              </a:rPr>
              <a:t>A→B</a:t>
            </a:r>
            <a:r>
              <a:rPr lang="zh-CN" altLang="en-US" sz="2600" dirty="0">
                <a:latin typeface="Times New Roman" panose="02020503050405090304" pitchFamily="18" charset="0"/>
                <a:ea typeface="宋体" pitchFamily="2" charset="-122"/>
              </a:rPr>
              <a:t>，   </a:t>
            </a:r>
            <a:endParaRPr lang="zh-CN" altLang="en-US" sz="2600" dirty="0">
              <a:latin typeface="Times New Roman" panose="02020503050405090304" pitchFamily="18" charset="0"/>
              <a:ea typeface="宋体" pitchFamily="2" charset="-122"/>
            </a:endParaRPr>
          </a:p>
          <a:p>
            <a:pPr marL="342900" indent="-342900" algn="just">
              <a:spcBef>
                <a:spcPct val="20000"/>
              </a:spcBef>
              <a:buClrTx/>
              <a:buFontTx/>
              <a:buNone/>
            </a:pPr>
            <a:r>
              <a:rPr lang="zh-CN" altLang="en-US" sz="2600" dirty="0">
                <a:latin typeface="Times New Roman" panose="02020503050405090304" pitchFamily="18" charset="0"/>
                <a:ea typeface="宋体" pitchFamily="2" charset="-122"/>
              </a:rPr>
              <a:t>      </a:t>
            </a:r>
            <a:r>
              <a:rPr lang="en-US" altLang="zh-CN" sz="2600" dirty="0">
                <a:latin typeface="Times New Roman" panose="02020503050405090304" pitchFamily="18" charset="0"/>
                <a:ea typeface="宋体" pitchFamily="2" charset="-122"/>
              </a:rPr>
              <a:t>A</a:t>
            </a:r>
            <a:r>
              <a:rPr lang="en-US" altLang="zh-CN" sz="3200" b="1" dirty="0">
                <a:latin typeface="Times New Roman" panose="02020503050405090304" pitchFamily="18" charset="0"/>
                <a:ea typeface="宋体" pitchFamily="2" charset="-122"/>
                <a:sym typeface="Wingdings 3" panose="05040102010807070707" pitchFamily="18" charset="2"/>
              </a:rPr>
              <a:t></a:t>
            </a:r>
            <a:r>
              <a:rPr lang="en-US" altLang="zh-CN" sz="2600" dirty="0">
                <a:latin typeface="Times New Roman" panose="02020503050405090304" pitchFamily="18" charset="0"/>
                <a:ea typeface="宋体" pitchFamily="2" charset="-122"/>
              </a:rPr>
              <a:t> B</a:t>
            </a:r>
            <a:r>
              <a:rPr lang="zh-CN" altLang="en-US" sz="2600" dirty="0">
                <a:latin typeface="Times New Roman" panose="02020503050405090304" pitchFamily="18" charset="0"/>
                <a:ea typeface="宋体" pitchFamily="2" charset="-122"/>
              </a:rPr>
              <a:t>也都是谓词公式。</a:t>
            </a:r>
            <a:endParaRPr lang="zh-CN" altLang="en-US" sz="2600" dirty="0">
              <a:latin typeface="Times New Roman" panose="02020503050405090304" pitchFamily="18" charset="0"/>
              <a:ea typeface="宋体" pitchFamily="2" charset="-122"/>
            </a:endParaRPr>
          </a:p>
          <a:p>
            <a:pPr marL="342900" indent="-342900" algn="just">
              <a:spcBef>
                <a:spcPct val="20000"/>
              </a:spcBef>
              <a:buClrTx/>
              <a:buFontTx/>
              <a:buAutoNum type="arabicParenBoth" startAt="4"/>
            </a:pPr>
            <a:r>
              <a:rPr lang="zh-CN" altLang="en-US" sz="2600" dirty="0">
                <a:latin typeface="Times New Roman" panose="02020503050405090304" pitchFamily="18" charset="0"/>
                <a:ea typeface="宋体" pitchFamily="2" charset="-122"/>
              </a:rPr>
              <a:t> 若</a:t>
            </a:r>
            <a:r>
              <a:rPr lang="en-US" altLang="zh-CN" sz="2600" dirty="0">
                <a:latin typeface="Times New Roman" panose="02020503050405090304" pitchFamily="18" charset="0"/>
                <a:ea typeface="宋体" pitchFamily="2" charset="-122"/>
              </a:rPr>
              <a:t>A</a:t>
            </a:r>
            <a:r>
              <a:rPr lang="zh-CN" altLang="en-US" sz="2600" dirty="0">
                <a:latin typeface="Times New Roman" panose="02020503050405090304" pitchFamily="18" charset="0"/>
                <a:ea typeface="宋体" pitchFamily="2" charset="-122"/>
              </a:rPr>
              <a:t>是谓词公式，则   </a:t>
            </a:r>
            <a:r>
              <a:rPr lang="en-US" altLang="zh-CN" sz="2600" dirty="0">
                <a:latin typeface="Times New Roman" panose="02020503050405090304" pitchFamily="18" charset="0"/>
                <a:ea typeface="宋体" pitchFamily="2" charset="-122"/>
              </a:rPr>
              <a:t>(   </a:t>
            </a:r>
            <a:r>
              <a:rPr lang="en-US" altLang="zh-CN" sz="2600" i="1" dirty="0">
                <a:latin typeface="Times New Roman" panose="02020503050405090304" pitchFamily="18" charset="0"/>
                <a:ea typeface="宋体" pitchFamily="2" charset="-122"/>
              </a:rPr>
              <a:t>x</a:t>
            </a:r>
            <a:r>
              <a:rPr lang="en-US" altLang="zh-CN" sz="2600" dirty="0">
                <a:latin typeface="Times New Roman" panose="02020503050405090304" pitchFamily="18" charset="0"/>
                <a:ea typeface="宋体" pitchFamily="2" charset="-122"/>
              </a:rPr>
              <a:t>) A</a:t>
            </a:r>
            <a:r>
              <a:rPr lang="zh-CN" altLang="en-US" sz="2600" dirty="0">
                <a:latin typeface="Times New Roman" panose="02020503050405090304" pitchFamily="18" charset="0"/>
                <a:ea typeface="宋体" pitchFamily="2" charset="-122"/>
              </a:rPr>
              <a:t>，</a:t>
            </a:r>
            <a:r>
              <a:rPr lang="en-US" altLang="zh-CN" sz="2600" dirty="0">
                <a:latin typeface="Times New Roman" panose="02020503050405090304" pitchFamily="18" charset="0"/>
                <a:ea typeface="宋体" pitchFamily="2" charset="-122"/>
              </a:rPr>
              <a:t>(   </a:t>
            </a:r>
            <a:r>
              <a:rPr lang="en-US" altLang="zh-CN" sz="2600" i="1" dirty="0">
                <a:latin typeface="Times New Roman" panose="02020503050405090304" pitchFamily="18" charset="0"/>
                <a:ea typeface="宋体" pitchFamily="2" charset="-122"/>
              </a:rPr>
              <a:t>x</a:t>
            </a:r>
            <a:r>
              <a:rPr lang="en-US" altLang="zh-CN" sz="2600" dirty="0">
                <a:latin typeface="Times New Roman" panose="02020503050405090304" pitchFamily="18" charset="0"/>
                <a:ea typeface="宋体" pitchFamily="2" charset="-122"/>
              </a:rPr>
              <a:t>)A</a:t>
            </a:r>
            <a:r>
              <a:rPr lang="zh-CN" altLang="en-US" sz="2600" dirty="0">
                <a:latin typeface="Times New Roman" panose="02020503050405090304" pitchFamily="18" charset="0"/>
                <a:ea typeface="宋体" pitchFamily="2" charset="-122"/>
              </a:rPr>
              <a:t>也是谓词公式。</a:t>
            </a:r>
            <a:endParaRPr lang="zh-CN" altLang="en-US" sz="2600" dirty="0">
              <a:latin typeface="Times New Roman" panose="02020503050405090304" pitchFamily="18" charset="0"/>
              <a:ea typeface="宋体" pitchFamily="2" charset="-122"/>
            </a:endParaRPr>
          </a:p>
          <a:p>
            <a:pPr marL="342900" indent="-342900" algn="just">
              <a:spcBef>
                <a:spcPct val="20000"/>
              </a:spcBef>
              <a:buClrTx/>
              <a:buFontTx/>
              <a:buAutoNum type="arabicParenBoth" startAt="4"/>
            </a:pPr>
            <a:r>
              <a:rPr lang="zh-CN" altLang="en-US" sz="2600" dirty="0">
                <a:latin typeface="Times New Roman" panose="02020503050405090304" pitchFamily="18" charset="0"/>
                <a:ea typeface="宋体" pitchFamily="2" charset="-122"/>
              </a:rPr>
              <a:t> 有限步应用（</a:t>
            </a:r>
            <a:r>
              <a:rPr lang="en-US" altLang="zh-CN" sz="2600" dirty="0">
                <a:latin typeface="Times New Roman" panose="02020503050405090304" pitchFamily="18" charset="0"/>
                <a:ea typeface="宋体" pitchFamily="2" charset="-122"/>
              </a:rPr>
              <a:t>1</a:t>
            </a:r>
            <a:r>
              <a:rPr lang="zh-CN" altLang="en-US" sz="2600" dirty="0">
                <a:latin typeface="Times New Roman" panose="02020503050405090304" pitchFamily="18" charset="0"/>
                <a:ea typeface="宋体" pitchFamily="2" charset="-122"/>
              </a:rPr>
              <a:t>）－（</a:t>
            </a:r>
            <a:r>
              <a:rPr lang="en-US" altLang="zh-CN" sz="2600" dirty="0">
                <a:latin typeface="Times New Roman" panose="02020503050405090304" pitchFamily="18" charset="0"/>
                <a:ea typeface="宋体" pitchFamily="2" charset="-122"/>
              </a:rPr>
              <a:t>4</a:t>
            </a:r>
            <a:r>
              <a:rPr lang="zh-CN" altLang="en-US" sz="2600" dirty="0">
                <a:latin typeface="Times New Roman" panose="02020503050405090304" pitchFamily="18" charset="0"/>
                <a:ea typeface="宋体" pitchFamily="2" charset="-122"/>
              </a:rPr>
              <a:t>）生成的公式也是谓词公式。</a:t>
            </a:r>
            <a:endParaRPr lang="zh-CN" altLang="en-US" sz="2600" dirty="0">
              <a:latin typeface="Times New Roman" panose="02020503050405090304" pitchFamily="18" charset="0"/>
              <a:ea typeface="宋体" pitchFamily="2" charset="-122"/>
            </a:endParaRPr>
          </a:p>
        </p:txBody>
      </p:sp>
      <p:graphicFrame>
        <p:nvGraphicFramePr>
          <p:cNvPr id="30726" name="Object 7"/>
          <p:cNvGraphicFramePr>
            <a:graphicFrameLocks noChangeAspect="1"/>
          </p:cNvGraphicFramePr>
          <p:nvPr/>
        </p:nvGraphicFramePr>
        <p:xfrm>
          <a:off x="4254500" y="4341813"/>
          <a:ext cx="288925" cy="314325"/>
        </p:xfrm>
        <a:graphic>
          <a:graphicData uri="http://schemas.openxmlformats.org/presentationml/2006/ole">
            <mc:AlternateContent xmlns:mc="http://schemas.openxmlformats.org/markup-compatibility/2006">
              <mc:Choice xmlns:v="urn:schemas-microsoft-com:vml" Requires="v">
                <p:oleObj spid="_x0000_s3088" name="" r:id="rId1" imgW="152400" imgH="165100" progId="Equation.3">
                  <p:embed/>
                </p:oleObj>
              </mc:Choice>
              <mc:Fallback>
                <p:oleObj name="" r:id="rId1" imgW="152400" imgH="165100" progId="Equation.3">
                  <p:embed/>
                  <p:pic>
                    <p:nvPicPr>
                      <p:cNvPr id="0" name="图片 3087"/>
                      <p:cNvPicPr/>
                      <p:nvPr/>
                    </p:nvPicPr>
                    <p:blipFill>
                      <a:blip r:embed="rId2"/>
                      <a:stretch>
                        <a:fillRect/>
                      </a:stretch>
                    </p:blipFill>
                    <p:spPr>
                      <a:xfrm>
                        <a:off x="4254500" y="4341813"/>
                        <a:ext cx="288925" cy="314325"/>
                      </a:xfrm>
                      <a:prstGeom prst="rect">
                        <a:avLst/>
                      </a:prstGeom>
                      <a:noFill/>
                      <a:ln w="38100">
                        <a:noFill/>
                        <a:miter/>
                      </a:ln>
                    </p:spPr>
                  </p:pic>
                </p:oleObj>
              </mc:Fallback>
            </mc:AlternateContent>
          </a:graphicData>
        </a:graphic>
      </p:graphicFrame>
      <p:graphicFrame>
        <p:nvGraphicFramePr>
          <p:cNvPr id="30727" name="Object 8"/>
          <p:cNvGraphicFramePr>
            <a:graphicFrameLocks noChangeAspect="1"/>
          </p:cNvGraphicFramePr>
          <p:nvPr/>
        </p:nvGraphicFramePr>
        <p:xfrm>
          <a:off x="5519738" y="4333875"/>
          <a:ext cx="258762" cy="311150"/>
        </p:xfrm>
        <a:graphic>
          <a:graphicData uri="http://schemas.openxmlformats.org/presentationml/2006/ole">
            <mc:AlternateContent xmlns:mc="http://schemas.openxmlformats.org/markup-compatibility/2006">
              <mc:Choice xmlns:v="urn:schemas-microsoft-com:vml" Requires="v">
                <p:oleObj spid="_x0000_s3091" name="" r:id="rId3" imgW="127000" imgH="152400" progId="Equation.3">
                  <p:embed/>
                </p:oleObj>
              </mc:Choice>
              <mc:Fallback>
                <p:oleObj name="" r:id="rId3" imgW="127000" imgH="152400" progId="Equation.3">
                  <p:embed/>
                  <p:pic>
                    <p:nvPicPr>
                      <p:cNvPr id="0" name="图片 3090"/>
                      <p:cNvPicPr/>
                      <p:nvPr/>
                    </p:nvPicPr>
                    <p:blipFill>
                      <a:blip r:embed="rId4"/>
                      <a:stretch>
                        <a:fillRect/>
                      </a:stretch>
                    </p:blipFill>
                    <p:spPr>
                      <a:xfrm>
                        <a:off x="5519738" y="4333875"/>
                        <a:ext cx="258762" cy="311150"/>
                      </a:xfrm>
                      <a:prstGeom prst="rect">
                        <a:avLst/>
                      </a:prstGeom>
                      <a:noFill/>
                      <a:ln w="38100">
                        <a:noFill/>
                        <a:miter/>
                      </a:ln>
                    </p:spPr>
                  </p:pic>
                </p:oleObj>
              </mc:Fallback>
            </mc:AlternateContent>
          </a:graphicData>
        </a:graphic>
      </p:graphicFrame>
      <p:grpSp>
        <p:nvGrpSpPr>
          <p:cNvPr id="30728" name="Group 11"/>
          <p:cNvGrpSpPr/>
          <p:nvPr/>
        </p:nvGrpSpPr>
        <p:grpSpPr>
          <a:xfrm>
            <a:off x="449263" y="5438775"/>
            <a:ext cx="8229600" cy="1014413"/>
            <a:chOff x="283" y="3345"/>
            <a:chExt cx="5184" cy="639"/>
          </a:xfrm>
        </p:grpSpPr>
        <p:sp>
          <p:nvSpPr>
            <p:cNvPr id="30729" name="Text Box 6"/>
            <p:cNvSpPr txBox="1"/>
            <p:nvPr/>
          </p:nvSpPr>
          <p:spPr>
            <a:xfrm>
              <a:off x="283" y="3345"/>
              <a:ext cx="5184" cy="639"/>
            </a:xfrm>
            <a:prstGeom prst="rect">
              <a:avLst/>
            </a:prstGeom>
            <a:gradFill rotWithShape="0">
              <a:gsLst>
                <a:gs pos="0">
                  <a:srgbClr val="CCFFCC"/>
                </a:gs>
                <a:gs pos="100000">
                  <a:schemeClr val="bg1"/>
                </a:gs>
              </a:gsLst>
              <a:path path="rect">
                <a:fillToRect l="100000" t="100000"/>
              </a:path>
              <a:tileRect/>
            </a:gradFill>
            <a:ln w="9525" cap="flat" cmpd="sng">
              <a:solidFill>
                <a:srgbClr val="808080"/>
              </a:solidFill>
              <a:prstDash val="solid"/>
              <a:miter/>
              <a:headEnd type="none" w="med" len="med"/>
              <a:tailEnd type="none" w="med" len="med"/>
            </a:ln>
          </p:spPr>
          <p:txBody>
            <a:bodyPr anchor="t" anchorCtr="0">
              <a:spAutoFit/>
            </a:bodyPr>
            <a:p>
              <a:pPr>
                <a:spcBef>
                  <a:spcPct val="50000"/>
                </a:spcBef>
                <a:buClrTx/>
                <a:buFontTx/>
                <a:buNone/>
              </a:pPr>
              <a:r>
                <a:rPr lang="zh-CN" altLang="en-US" sz="2400" dirty="0">
                  <a:latin typeface="宋体" pitchFamily="2" charset="-122"/>
                  <a:ea typeface="宋体" pitchFamily="2" charset="-122"/>
                </a:rPr>
                <a:t>连接词的优先级别</a:t>
              </a:r>
              <a:r>
                <a:rPr lang="zh-CN" altLang="en-US" sz="2400" dirty="0">
                  <a:latin typeface="Arial" panose="020B0604020202090204" pitchFamily="34" charset="0"/>
                  <a:ea typeface="宋体" pitchFamily="2" charset="-122"/>
                </a:rPr>
                <a:t>从高到低排列：</a:t>
              </a:r>
              <a:endParaRPr lang="zh-CN" altLang="en-US" sz="2400" dirty="0">
                <a:latin typeface="Arial" panose="020B0604020202090204" pitchFamily="34" charset="0"/>
                <a:ea typeface="宋体" pitchFamily="2" charset="-122"/>
              </a:endParaRPr>
            </a:p>
            <a:p>
              <a:pPr>
                <a:spcBef>
                  <a:spcPct val="50000"/>
                </a:spcBef>
                <a:buClrTx/>
                <a:buFontTx/>
                <a:buNone/>
              </a:pPr>
              <a:r>
                <a:rPr lang="zh-CN" altLang="en-US" sz="2400" dirty="0">
                  <a:latin typeface="宋体" pitchFamily="2" charset="-122"/>
                  <a:ea typeface="宋体" pitchFamily="2" charset="-122"/>
                </a:rPr>
                <a:t>            </a:t>
              </a: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a:t>
              </a:r>
              <a:r>
                <a:rPr lang="zh-CN" altLang="en-US" sz="2400" dirty="0">
                  <a:latin typeface="Times New Roman" panose="02020503050405090304" pitchFamily="18" charset="0"/>
                  <a:ea typeface="宋体" pitchFamily="2" charset="-122"/>
                </a:rPr>
                <a:t> </a:t>
              </a:r>
              <a:r>
                <a:rPr lang="zh-CN" altLang="en-US" sz="2400" dirty="0">
                  <a:latin typeface="宋体" pitchFamily="2" charset="-122"/>
                  <a:ea typeface="宋体" pitchFamily="2" charset="-122"/>
                </a:rPr>
                <a:t>∧，</a:t>
              </a:r>
              <a:r>
                <a:rPr lang="zh-CN" altLang="en-US" sz="2400" dirty="0">
                  <a:latin typeface="Times New Roman" panose="02020503050405090304" pitchFamily="18" charset="0"/>
                  <a:ea typeface="宋体" pitchFamily="2" charset="-122"/>
                </a:rPr>
                <a:t> </a:t>
              </a:r>
              <a:r>
                <a:rPr lang="zh-CN" altLang="en-US" sz="2400" dirty="0">
                  <a:latin typeface="宋体" pitchFamily="2" charset="-122"/>
                  <a:ea typeface="宋体" pitchFamily="2" charset="-122"/>
                </a:rPr>
                <a:t>∨，</a:t>
              </a:r>
              <a:r>
                <a:rPr lang="zh-CN" altLang="en-US" sz="2400" dirty="0">
                  <a:latin typeface="Times New Roman" panose="02020503050405090304" pitchFamily="18" charset="0"/>
                  <a:ea typeface="宋体" pitchFamily="2" charset="-122"/>
                </a:rPr>
                <a:t> </a:t>
              </a:r>
              <a:r>
                <a:rPr lang="zh-CN" altLang="en-US" sz="2400" dirty="0">
                  <a:latin typeface="宋体" pitchFamily="2" charset="-122"/>
                  <a:ea typeface="宋体" pitchFamily="2" charset="-122"/>
                </a:rPr>
                <a:t>→，</a:t>
              </a:r>
              <a:endParaRPr lang="zh-CN" altLang="en-US" sz="2400" dirty="0">
                <a:latin typeface="Times New Roman" panose="02020503050405090304" pitchFamily="18" charset="0"/>
                <a:ea typeface="Times New Roman" panose="02020503050405090304" pitchFamily="18" charset="0"/>
              </a:endParaRPr>
            </a:p>
          </p:txBody>
        </p:sp>
        <p:graphicFrame>
          <p:nvGraphicFramePr>
            <p:cNvPr id="30730" name="Object 10"/>
            <p:cNvGraphicFramePr>
              <a:graphicFrameLocks noChangeAspect="1"/>
            </p:cNvGraphicFramePr>
            <p:nvPr/>
          </p:nvGraphicFramePr>
          <p:xfrm>
            <a:off x="3154" y="3762"/>
            <a:ext cx="576" cy="174"/>
          </p:xfrm>
          <a:graphic>
            <a:graphicData uri="http://schemas.openxmlformats.org/presentationml/2006/ole">
              <mc:AlternateContent xmlns:mc="http://schemas.openxmlformats.org/markup-compatibility/2006">
                <mc:Choice xmlns:v="urn:schemas-microsoft-com:vml" Requires="v">
                  <p:oleObj spid="_x0000_s3095" name="" r:id="rId5" imgW="203200" imgH="139700" progId="Equation.3">
                    <p:embed/>
                  </p:oleObj>
                </mc:Choice>
                <mc:Fallback>
                  <p:oleObj name="" r:id="rId5" imgW="203200" imgH="139700" progId="Equation.3">
                    <p:embed/>
                    <p:pic>
                      <p:nvPicPr>
                        <p:cNvPr id="0" name="图片 3094"/>
                        <p:cNvPicPr/>
                        <p:nvPr/>
                      </p:nvPicPr>
                      <p:blipFill>
                        <a:blip r:embed="rId6"/>
                        <a:stretch>
                          <a:fillRect/>
                        </a:stretch>
                      </p:blipFill>
                      <p:spPr>
                        <a:xfrm>
                          <a:off x="3154" y="3762"/>
                          <a:ext cx="576" cy="174"/>
                        </a:xfrm>
                        <a:prstGeom prst="rect">
                          <a:avLst/>
                        </a:prstGeom>
                        <a:noFill/>
                        <a:ln w="38100">
                          <a:noFill/>
                          <a:miter/>
                        </a:ln>
                      </p:spPr>
                    </p:pic>
                  </p:oleObj>
                </mc:Fallback>
              </mc:AlternateContent>
            </a:graphicData>
          </a:graphic>
        </p:graphicFrame>
      </p:gr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1746"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2.2.3  </a:t>
            </a:r>
            <a:r>
              <a:rPr lang="zh-CN" altLang="en-US" dirty="0">
                <a:latin typeface="Times New Roman" panose="02020503050405090304" pitchFamily="18" charset="0"/>
              </a:rPr>
              <a:t>谓词公式</a:t>
            </a:r>
            <a:endParaRPr lang="zh-CN" altLang="en-US" dirty="0">
              <a:latin typeface="Times New Roman" panose="02020503050405090304" pitchFamily="18" charset="0"/>
            </a:endParaRPr>
          </a:p>
        </p:txBody>
      </p:sp>
      <p:sp>
        <p:nvSpPr>
          <p:cNvPr id="31747" name="Rectangle 3"/>
          <p:cNvSpPr>
            <a:spLocks noGrp="1"/>
          </p:cNvSpPr>
          <p:nvPr>
            <p:ph idx="1"/>
          </p:nvPr>
        </p:nvSpPr>
        <p:spPr>
          <a:xfrm>
            <a:off x="250825" y="908050"/>
            <a:ext cx="8642350" cy="2468563"/>
          </a:xfrm>
        </p:spPr>
        <p:txBody>
          <a:bodyPr vert="horz" wrap="square" lIns="91440" tIns="45720" rIns="91440" bIns="45720" anchor="t" anchorCtr="0"/>
          <a:p>
            <a:pPr eaLnBrk="1" hangingPunct="1">
              <a:lnSpc>
                <a:spcPct val="110000"/>
              </a:lnSpc>
              <a:buNone/>
            </a:pPr>
            <a:r>
              <a:rPr lang="en-US" altLang="zh-CN" b="1" dirty="0">
                <a:latin typeface="Times New Roman" panose="02020503050405090304" pitchFamily="18" charset="0"/>
              </a:rPr>
              <a:t>4</a:t>
            </a:r>
            <a:r>
              <a:rPr lang="zh-CN" altLang="en-US" b="1" dirty="0">
                <a:latin typeface="Times New Roman" panose="02020503050405090304" pitchFamily="18" charset="0"/>
              </a:rPr>
              <a:t>．量词的辖域</a:t>
            </a:r>
            <a:r>
              <a:rPr lang="zh-CN" altLang="en-US" sz="2400" b="1" dirty="0">
                <a:latin typeface="宋体" pitchFamily="2" charset="-122"/>
              </a:rPr>
              <a:t> </a:t>
            </a:r>
            <a:endParaRPr lang="zh-CN" altLang="en-US" sz="2400" b="1" dirty="0">
              <a:latin typeface="宋体" pitchFamily="2" charset="-122"/>
            </a:endParaRPr>
          </a:p>
          <a:p>
            <a:pPr eaLnBrk="1" hangingPunct="1">
              <a:lnSpc>
                <a:spcPct val="110000"/>
              </a:lnSpc>
            </a:pPr>
            <a:r>
              <a:rPr lang="zh-CN" altLang="en-US" sz="2600" dirty="0">
                <a:latin typeface="宋体" pitchFamily="2" charset="-122"/>
              </a:rPr>
              <a:t>量词的辖域：位于量词后面的单个谓词或者用括弧括起来的谓词公式。</a:t>
            </a:r>
            <a:endParaRPr lang="zh-CN" altLang="en-US" sz="2600" dirty="0">
              <a:latin typeface="宋体" pitchFamily="2" charset="-122"/>
            </a:endParaRPr>
          </a:p>
          <a:p>
            <a:pPr eaLnBrk="1" hangingPunct="1">
              <a:lnSpc>
                <a:spcPct val="110000"/>
              </a:lnSpc>
            </a:pPr>
            <a:r>
              <a:rPr lang="zh-CN" altLang="en-US" sz="2600" dirty="0">
                <a:latin typeface="宋体" pitchFamily="2" charset="-122"/>
              </a:rPr>
              <a:t>约束变元与自由变元：辖域内与量词中同名的变元称为约束变元，不同名的变元称为自由变元。</a:t>
            </a:r>
            <a:r>
              <a:rPr lang="zh-CN" altLang="en-US" sz="2200" dirty="0">
                <a:latin typeface="Times New Roman" panose="02020503050405090304" pitchFamily="18" charset="0"/>
              </a:rPr>
              <a:t> </a:t>
            </a:r>
            <a:endParaRPr lang="zh-CN" altLang="en-US" sz="2200" dirty="0">
              <a:latin typeface="Times New Roman" panose="02020503050405090304" pitchFamily="18" charset="0"/>
            </a:endParaRPr>
          </a:p>
        </p:txBody>
      </p:sp>
      <p:sp>
        <p:nvSpPr>
          <p:cNvPr id="31750" name="Text Box 6"/>
          <p:cNvSpPr txBox="1"/>
          <p:nvPr/>
        </p:nvSpPr>
        <p:spPr>
          <a:xfrm>
            <a:off x="530225" y="3532188"/>
            <a:ext cx="8112125" cy="2720975"/>
          </a:xfrm>
          <a:prstGeom prst="rect">
            <a:avLst/>
          </a:prstGeom>
          <a:gradFill rotWithShape="0">
            <a:gsLst>
              <a:gs pos="0">
                <a:srgbClr val="99CCFF"/>
              </a:gs>
              <a:gs pos="100000">
                <a:srgbClr val="FFFFFF"/>
              </a:gs>
            </a:gsLst>
            <a:path path="rect">
              <a:fillToRect l="100000" b="100000"/>
            </a:path>
            <a:tileRect/>
          </a:gradFill>
          <a:ln w="9525" cap="flat" cmpd="sng">
            <a:solidFill>
              <a:srgbClr val="808080"/>
            </a:solidFill>
            <a:prstDash val="solid"/>
            <a:miter/>
            <a:headEnd type="none" w="med" len="med"/>
            <a:tailEnd type="none" w="med" len="med"/>
          </a:ln>
        </p:spPr>
        <p:txBody>
          <a:bodyPr anchor="t" anchorCtr="0">
            <a:spAutoFit/>
          </a:bodyPr>
          <a:p>
            <a:pPr algn="just">
              <a:lnSpc>
                <a:spcPct val="120000"/>
              </a:lnSpc>
              <a:spcBef>
                <a:spcPct val="20000"/>
              </a:spcBef>
              <a:buClrTx/>
              <a:buFontTx/>
              <a:buBlip>
                <a:blip r:embed="rId1"/>
              </a:buBlip>
            </a:pPr>
            <a:r>
              <a:rPr lang="en-US" altLang="zh-CN" sz="2600" dirty="0">
                <a:latin typeface="Times New Roman" panose="02020503050405090304" pitchFamily="18" charset="0"/>
                <a:ea typeface="宋体" pitchFamily="2" charset="-122"/>
              </a:rPr>
              <a:t> </a:t>
            </a:r>
            <a:r>
              <a:rPr lang="zh-CN" altLang="en-US" sz="2600" dirty="0">
                <a:latin typeface="Times New Roman" panose="02020503050405090304" pitchFamily="18" charset="0"/>
                <a:ea typeface="宋体" pitchFamily="2" charset="-122"/>
              </a:rPr>
              <a:t>例如：</a:t>
            </a:r>
            <a:endParaRPr lang="zh-CN" altLang="en-US" sz="2600" dirty="0">
              <a:latin typeface="Times New Roman" panose="02020503050405090304" pitchFamily="18" charset="0"/>
              <a:ea typeface="宋体" pitchFamily="2" charset="-122"/>
            </a:endParaRPr>
          </a:p>
          <a:p>
            <a:pPr algn="ctr">
              <a:lnSpc>
                <a:spcPct val="120000"/>
              </a:lnSpc>
              <a:spcBef>
                <a:spcPct val="20000"/>
              </a:spcBef>
              <a:buClrTx/>
              <a:buFontTx/>
              <a:buNone/>
            </a:pPr>
            <a:r>
              <a:rPr lang="zh-CN" altLang="en-US" sz="2600" dirty="0">
                <a:latin typeface="Times New Roman" panose="02020503050405090304" pitchFamily="18" charset="0"/>
                <a:ea typeface="宋体" pitchFamily="2" charset="-122"/>
              </a:rPr>
              <a:t>   </a:t>
            </a:r>
            <a:r>
              <a:rPr lang="en-US" altLang="zh-CN" sz="2600" dirty="0">
                <a:latin typeface="Times New Roman" panose="02020503050405090304" pitchFamily="18" charset="0"/>
                <a:ea typeface="宋体" pitchFamily="2" charset="-122"/>
              </a:rPr>
              <a:t>(    </a:t>
            </a:r>
            <a:r>
              <a:rPr lang="en-US" altLang="zh-CN" sz="2600" i="1" dirty="0">
                <a:latin typeface="Times New Roman" panose="02020503050405090304" pitchFamily="18" charset="0"/>
                <a:ea typeface="宋体" pitchFamily="2" charset="-122"/>
              </a:rPr>
              <a:t>x</a:t>
            </a:r>
            <a:r>
              <a:rPr lang="en-US" altLang="zh-CN" sz="2600" dirty="0">
                <a:latin typeface="Times New Roman" panose="02020503050405090304" pitchFamily="18" charset="0"/>
                <a:ea typeface="宋体" pitchFamily="2" charset="-122"/>
              </a:rPr>
              <a:t>)(</a:t>
            </a:r>
            <a:r>
              <a:rPr lang="en-US" altLang="zh-CN" sz="2600" i="1" dirty="0">
                <a:latin typeface="Times New Roman" panose="02020503050405090304" pitchFamily="18" charset="0"/>
                <a:ea typeface="宋体" pitchFamily="2" charset="-122"/>
              </a:rPr>
              <a:t>P</a:t>
            </a:r>
            <a:r>
              <a:rPr lang="en-US" altLang="zh-CN" sz="2600" dirty="0">
                <a:latin typeface="Times New Roman" panose="02020503050405090304" pitchFamily="18" charset="0"/>
                <a:ea typeface="宋体" pitchFamily="2" charset="-122"/>
              </a:rPr>
              <a:t>(</a:t>
            </a:r>
            <a:r>
              <a:rPr lang="en-US" altLang="zh-CN" sz="2600" i="1" dirty="0">
                <a:latin typeface="Times New Roman" panose="02020503050405090304" pitchFamily="18" charset="0"/>
                <a:ea typeface="宋体" pitchFamily="2" charset="-122"/>
              </a:rPr>
              <a:t>x</a:t>
            </a:r>
            <a:r>
              <a:rPr lang="en-US" altLang="zh-CN" sz="2600" dirty="0">
                <a:latin typeface="Times New Roman" panose="02020503050405090304" pitchFamily="18" charset="0"/>
                <a:ea typeface="宋体" pitchFamily="2" charset="-122"/>
              </a:rPr>
              <a:t>, </a:t>
            </a:r>
            <a:r>
              <a:rPr lang="en-US" altLang="zh-CN" sz="2600" i="1" dirty="0">
                <a:latin typeface="Times New Roman" panose="02020503050405090304" pitchFamily="18" charset="0"/>
                <a:ea typeface="宋体" pitchFamily="2" charset="-122"/>
              </a:rPr>
              <a:t>y</a:t>
            </a:r>
            <a:r>
              <a:rPr lang="en-US" altLang="zh-CN" sz="2600" dirty="0">
                <a:latin typeface="Times New Roman" panose="02020503050405090304" pitchFamily="18" charset="0"/>
                <a:ea typeface="宋体" pitchFamily="2" charset="-122"/>
              </a:rPr>
              <a:t>) → </a:t>
            </a:r>
            <a:r>
              <a:rPr lang="en-US" altLang="zh-CN" sz="2600" i="1" dirty="0">
                <a:latin typeface="Times New Roman" panose="02020503050405090304" pitchFamily="18" charset="0"/>
                <a:ea typeface="宋体" pitchFamily="2" charset="-122"/>
              </a:rPr>
              <a:t>Q</a:t>
            </a:r>
            <a:r>
              <a:rPr lang="en-US" altLang="zh-CN" sz="2600" dirty="0">
                <a:latin typeface="Times New Roman" panose="02020503050405090304" pitchFamily="18" charset="0"/>
                <a:ea typeface="宋体" pitchFamily="2" charset="-122"/>
              </a:rPr>
              <a:t> (</a:t>
            </a:r>
            <a:r>
              <a:rPr lang="en-US" altLang="zh-CN" sz="2600" i="1" dirty="0">
                <a:latin typeface="Times New Roman" panose="02020503050405090304" pitchFamily="18" charset="0"/>
                <a:ea typeface="宋体" pitchFamily="2" charset="-122"/>
              </a:rPr>
              <a:t>x</a:t>
            </a:r>
            <a:r>
              <a:rPr lang="en-US" altLang="zh-CN" sz="2600" dirty="0">
                <a:latin typeface="Times New Roman" panose="02020503050405090304" pitchFamily="18" charset="0"/>
                <a:ea typeface="宋体" pitchFamily="2" charset="-122"/>
              </a:rPr>
              <a:t>, </a:t>
            </a:r>
            <a:r>
              <a:rPr lang="en-US" altLang="zh-CN" sz="2600" i="1" dirty="0">
                <a:latin typeface="Times New Roman" panose="02020503050405090304" pitchFamily="18" charset="0"/>
                <a:ea typeface="宋体" pitchFamily="2" charset="-122"/>
              </a:rPr>
              <a:t>y</a:t>
            </a:r>
            <a:r>
              <a:rPr lang="en-US" altLang="zh-CN" sz="2600" dirty="0">
                <a:latin typeface="Times New Roman" panose="02020503050405090304" pitchFamily="18" charset="0"/>
                <a:ea typeface="宋体" pitchFamily="2" charset="-122"/>
              </a:rPr>
              <a:t>))∨</a:t>
            </a:r>
            <a:r>
              <a:rPr lang="en-US" altLang="zh-CN" sz="2600" i="1" dirty="0">
                <a:latin typeface="Times New Roman" panose="02020503050405090304" pitchFamily="18" charset="0"/>
                <a:ea typeface="宋体" pitchFamily="2" charset="-122"/>
              </a:rPr>
              <a:t>R</a:t>
            </a:r>
            <a:r>
              <a:rPr lang="en-US" altLang="zh-CN" sz="2600" dirty="0">
                <a:latin typeface="Times New Roman" panose="02020503050405090304" pitchFamily="18" charset="0"/>
                <a:ea typeface="宋体" pitchFamily="2" charset="-122"/>
              </a:rPr>
              <a:t>(</a:t>
            </a:r>
            <a:r>
              <a:rPr lang="en-US" altLang="zh-CN" sz="2600" i="1" dirty="0">
                <a:latin typeface="Times New Roman" panose="02020503050405090304" pitchFamily="18" charset="0"/>
                <a:ea typeface="宋体" pitchFamily="2" charset="-122"/>
              </a:rPr>
              <a:t>x</a:t>
            </a:r>
            <a:r>
              <a:rPr lang="en-US" altLang="zh-CN" sz="2600" dirty="0">
                <a:latin typeface="Times New Roman" panose="02020503050405090304" pitchFamily="18" charset="0"/>
                <a:ea typeface="宋体" pitchFamily="2" charset="-122"/>
              </a:rPr>
              <a:t>, </a:t>
            </a:r>
            <a:r>
              <a:rPr lang="en-US" altLang="zh-CN" sz="2600" i="1" dirty="0">
                <a:latin typeface="Times New Roman" panose="02020503050405090304" pitchFamily="18" charset="0"/>
                <a:ea typeface="宋体" pitchFamily="2" charset="-122"/>
              </a:rPr>
              <a:t>y</a:t>
            </a:r>
            <a:r>
              <a:rPr lang="en-US" altLang="zh-CN" sz="2600" dirty="0">
                <a:latin typeface="Times New Roman" panose="02020503050405090304" pitchFamily="18" charset="0"/>
                <a:ea typeface="宋体" pitchFamily="2" charset="-122"/>
              </a:rPr>
              <a:t>)</a:t>
            </a:r>
            <a:endParaRPr lang="en-US" altLang="zh-CN" sz="2600" dirty="0">
              <a:latin typeface="Times New Roman" panose="02020503050405090304" pitchFamily="18" charset="0"/>
              <a:ea typeface="宋体" pitchFamily="2" charset="-122"/>
            </a:endParaRPr>
          </a:p>
          <a:p>
            <a:pPr algn="just">
              <a:lnSpc>
                <a:spcPct val="120000"/>
              </a:lnSpc>
              <a:spcBef>
                <a:spcPct val="20000"/>
              </a:spcBef>
              <a:buClr>
                <a:schemeClr val="accent2"/>
              </a:buClr>
              <a:buFont typeface="Wingdings" panose="05000000000000000000" pitchFamily="2" charset="2"/>
              <a:buChar char="§"/>
            </a:pPr>
            <a:r>
              <a:rPr lang="en-US" altLang="zh-CN" sz="2600" dirty="0">
                <a:latin typeface="Times New Roman" panose="02020503050405090304" pitchFamily="18" charset="0"/>
                <a:ea typeface="宋体" pitchFamily="2" charset="-122"/>
              </a:rPr>
              <a:t> (</a:t>
            </a:r>
            <a:r>
              <a:rPr lang="en-US" altLang="zh-CN" sz="2600" i="1" dirty="0">
                <a:latin typeface="Times New Roman" panose="02020503050405090304" pitchFamily="18" charset="0"/>
                <a:ea typeface="宋体" pitchFamily="2" charset="-122"/>
              </a:rPr>
              <a:t>P</a:t>
            </a:r>
            <a:r>
              <a:rPr lang="en-US" altLang="zh-CN" sz="2600" dirty="0">
                <a:latin typeface="Times New Roman" panose="02020503050405090304" pitchFamily="18" charset="0"/>
                <a:ea typeface="宋体" pitchFamily="2" charset="-122"/>
              </a:rPr>
              <a:t>(</a:t>
            </a:r>
            <a:r>
              <a:rPr lang="en-US" altLang="zh-CN" sz="2600" i="1" dirty="0">
                <a:latin typeface="Times New Roman" panose="02020503050405090304" pitchFamily="18" charset="0"/>
                <a:ea typeface="宋体" pitchFamily="2" charset="-122"/>
              </a:rPr>
              <a:t>x</a:t>
            </a:r>
            <a:r>
              <a:rPr lang="en-US" altLang="zh-CN" sz="2600" dirty="0">
                <a:latin typeface="Times New Roman" panose="02020503050405090304" pitchFamily="18" charset="0"/>
                <a:ea typeface="宋体" pitchFamily="2" charset="-122"/>
              </a:rPr>
              <a:t>, </a:t>
            </a:r>
            <a:r>
              <a:rPr lang="en-US" altLang="zh-CN" sz="2600" i="1" dirty="0">
                <a:latin typeface="Times New Roman" panose="02020503050405090304" pitchFamily="18" charset="0"/>
                <a:ea typeface="宋体" pitchFamily="2" charset="-122"/>
              </a:rPr>
              <a:t>y</a:t>
            </a:r>
            <a:r>
              <a:rPr lang="en-US" altLang="zh-CN" sz="2600" dirty="0">
                <a:latin typeface="Times New Roman" panose="02020503050405090304" pitchFamily="18" charset="0"/>
                <a:ea typeface="宋体" pitchFamily="2" charset="-122"/>
              </a:rPr>
              <a:t>) </a:t>
            </a:r>
            <a:r>
              <a:rPr lang="en-US" altLang="zh-CN" sz="2600" dirty="0">
                <a:latin typeface="宋体" pitchFamily="2" charset="-122"/>
                <a:ea typeface="宋体" pitchFamily="2" charset="-122"/>
              </a:rPr>
              <a:t>→</a:t>
            </a:r>
            <a:r>
              <a:rPr lang="en-US" altLang="zh-CN" sz="2600" dirty="0">
                <a:latin typeface="Times New Roman" panose="02020503050405090304" pitchFamily="18" charset="0"/>
                <a:ea typeface="宋体" pitchFamily="2" charset="-122"/>
              </a:rPr>
              <a:t> </a:t>
            </a:r>
            <a:r>
              <a:rPr lang="en-US" altLang="zh-CN" sz="2600" i="1" dirty="0">
                <a:latin typeface="Times New Roman" panose="02020503050405090304" pitchFamily="18" charset="0"/>
                <a:ea typeface="宋体" pitchFamily="2" charset="-122"/>
              </a:rPr>
              <a:t>Q</a:t>
            </a:r>
            <a:r>
              <a:rPr lang="en-US" altLang="zh-CN" sz="2600" dirty="0">
                <a:latin typeface="Times New Roman" panose="02020503050405090304" pitchFamily="18" charset="0"/>
                <a:ea typeface="宋体" pitchFamily="2" charset="-122"/>
              </a:rPr>
              <a:t> (</a:t>
            </a:r>
            <a:r>
              <a:rPr lang="en-US" altLang="zh-CN" sz="2600" i="1" dirty="0">
                <a:latin typeface="Times New Roman" panose="02020503050405090304" pitchFamily="18" charset="0"/>
                <a:ea typeface="宋体" pitchFamily="2" charset="-122"/>
              </a:rPr>
              <a:t>x</a:t>
            </a:r>
            <a:r>
              <a:rPr lang="en-US" altLang="zh-CN" sz="2600" dirty="0">
                <a:latin typeface="Times New Roman" panose="02020503050405090304" pitchFamily="18" charset="0"/>
                <a:ea typeface="宋体" pitchFamily="2" charset="-122"/>
              </a:rPr>
              <a:t>, y)) </a:t>
            </a:r>
            <a:r>
              <a:rPr lang="zh-CN" altLang="en-US" sz="2600" dirty="0">
                <a:latin typeface="宋体" pitchFamily="2" charset="-122"/>
                <a:ea typeface="宋体" pitchFamily="2" charset="-122"/>
              </a:rPr>
              <a:t>：</a:t>
            </a:r>
            <a:r>
              <a:rPr lang="en-US" altLang="zh-CN" sz="2600" dirty="0">
                <a:latin typeface="Times New Roman" panose="02020503050405090304" pitchFamily="18" charset="0"/>
                <a:ea typeface="宋体" pitchFamily="2" charset="-122"/>
              </a:rPr>
              <a:t>(    </a:t>
            </a:r>
            <a:r>
              <a:rPr lang="en-US" altLang="zh-CN" sz="2600" i="1" dirty="0">
                <a:latin typeface="Times New Roman" panose="02020503050405090304" pitchFamily="18" charset="0"/>
                <a:ea typeface="宋体" pitchFamily="2" charset="-122"/>
              </a:rPr>
              <a:t>x</a:t>
            </a:r>
            <a:r>
              <a:rPr lang="en-US" altLang="zh-CN" sz="2600" dirty="0">
                <a:latin typeface="Times New Roman" panose="02020503050405090304" pitchFamily="18" charset="0"/>
                <a:ea typeface="宋体" pitchFamily="2" charset="-122"/>
              </a:rPr>
              <a:t>)</a:t>
            </a:r>
            <a:r>
              <a:rPr lang="zh-CN" altLang="en-US" sz="2600" dirty="0">
                <a:latin typeface="宋体" pitchFamily="2" charset="-122"/>
                <a:ea typeface="宋体" pitchFamily="2" charset="-122"/>
              </a:rPr>
              <a:t>的辖域，辖域内的变元</a:t>
            </a:r>
            <a:r>
              <a:rPr lang="en-US" altLang="zh-CN" sz="2600" i="1" dirty="0">
                <a:latin typeface="Times New Roman" panose="02020503050405090304" pitchFamily="18" charset="0"/>
                <a:ea typeface="宋体" pitchFamily="2" charset="-122"/>
              </a:rPr>
              <a:t>x</a:t>
            </a:r>
            <a:r>
              <a:rPr lang="zh-CN" altLang="en-US" sz="2600" dirty="0">
                <a:latin typeface="宋体" pitchFamily="2" charset="-122"/>
                <a:ea typeface="宋体" pitchFamily="2" charset="-122"/>
              </a:rPr>
              <a:t>是受（   </a:t>
            </a:r>
            <a:r>
              <a:rPr lang="en-US" altLang="zh-CN" sz="2600" i="1" dirty="0">
                <a:latin typeface="Times New Roman" panose="02020503050405090304" pitchFamily="18" charset="0"/>
                <a:ea typeface="宋体" pitchFamily="2" charset="-122"/>
              </a:rPr>
              <a:t>x</a:t>
            </a:r>
            <a:r>
              <a:rPr lang="zh-CN" altLang="en-US" sz="2600" dirty="0">
                <a:latin typeface="宋体" pitchFamily="2" charset="-122"/>
                <a:ea typeface="宋体" pitchFamily="2" charset="-122"/>
              </a:rPr>
              <a:t>）约束的变元，</a:t>
            </a:r>
            <a:r>
              <a:rPr lang="en-US" altLang="zh-CN" sz="2600" i="1" dirty="0">
                <a:latin typeface="Times New Roman" panose="02020503050405090304" pitchFamily="18" charset="0"/>
                <a:ea typeface="宋体" pitchFamily="2" charset="-122"/>
              </a:rPr>
              <a:t>R</a:t>
            </a:r>
            <a:r>
              <a:rPr lang="en-US" altLang="zh-CN" sz="2600" dirty="0">
                <a:latin typeface="Times New Roman" panose="02020503050405090304" pitchFamily="18" charset="0"/>
                <a:ea typeface="宋体" pitchFamily="2" charset="-122"/>
              </a:rPr>
              <a:t>(</a:t>
            </a:r>
            <a:r>
              <a:rPr lang="en-US" altLang="zh-CN" sz="2600" i="1" dirty="0">
                <a:latin typeface="Times New Roman" panose="02020503050405090304" pitchFamily="18" charset="0"/>
                <a:ea typeface="宋体" pitchFamily="2" charset="-122"/>
              </a:rPr>
              <a:t>x</a:t>
            </a:r>
            <a:r>
              <a:rPr lang="en-US" altLang="zh-CN" sz="2600" dirty="0">
                <a:latin typeface="Times New Roman" panose="02020503050405090304" pitchFamily="18" charset="0"/>
                <a:ea typeface="宋体" pitchFamily="2" charset="-122"/>
              </a:rPr>
              <a:t>, </a:t>
            </a:r>
            <a:r>
              <a:rPr lang="en-US" altLang="zh-CN" sz="2600" i="1" dirty="0">
                <a:latin typeface="Times New Roman" panose="02020503050405090304" pitchFamily="18" charset="0"/>
                <a:ea typeface="宋体" pitchFamily="2" charset="-122"/>
              </a:rPr>
              <a:t>y</a:t>
            </a:r>
            <a:r>
              <a:rPr lang="en-US" altLang="zh-CN" sz="2600" dirty="0">
                <a:latin typeface="Times New Roman" panose="02020503050405090304" pitchFamily="18" charset="0"/>
                <a:ea typeface="宋体" pitchFamily="2" charset="-122"/>
              </a:rPr>
              <a:t>)</a:t>
            </a:r>
            <a:r>
              <a:rPr lang="zh-CN" altLang="en-US" sz="2600" dirty="0">
                <a:latin typeface="宋体" pitchFamily="2" charset="-122"/>
                <a:ea typeface="宋体" pitchFamily="2" charset="-122"/>
              </a:rPr>
              <a:t>中的</a:t>
            </a:r>
            <a:r>
              <a:rPr lang="en-US" altLang="zh-CN" sz="2600" i="1" dirty="0">
                <a:latin typeface="Times New Roman" panose="02020503050405090304" pitchFamily="18" charset="0"/>
                <a:ea typeface="宋体" pitchFamily="2" charset="-122"/>
              </a:rPr>
              <a:t>x</a:t>
            </a:r>
            <a:r>
              <a:rPr lang="zh-CN" altLang="en-US" sz="2600" dirty="0">
                <a:latin typeface="宋体" pitchFamily="2" charset="-122"/>
                <a:ea typeface="宋体" pitchFamily="2" charset="-122"/>
              </a:rPr>
              <a:t>是自由变元。</a:t>
            </a:r>
            <a:endParaRPr lang="zh-CN" altLang="en-US" sz="2600" dirty="0">
              <a:latin typeface="宋体" pitchFamily="2" charset="-122"/>
              <a:ea typeface="宋体" pitchFamily="2" charset="-122"/>
            </a:endParaRPr>
          </a:p>
          <a:p>
            <a:pPr algn="just">
              <a:lnSpc>
                <a:spcPct val="120000"/>
              </a:lnSpc>
              <a:spcBef>
                <a:spcPct val="20000"/>
              </a:spcBef>
              <a:buClr>
                <a:schemeClr val="accent2"/>
              </a:buClr>
              <a:buFont typeface="Wingdings" panose="05000000000000000000" pitchFamily="2" charset="2"/>
              <a:buChar char="§"/>
            </a:pPr>
            <a:r>
              <a:rPr lang="zh-CN" altLang="en-US" sz="2600" dirty="0">
                <a:latin typeface="宋体" pitchFamily="2" charset="-122"/>
                <a:ea typeface="宋体" pitchFamily="2" charset="-122"/>
              </a:rPr>
              <a:t> 公式中的所有</a:t>
            </a:r>
            <a:r>
              <a:rPr lang="en-US" altLang="zh-CN" sz="2600" i="1" dirty="0">
                <a:latin typeface="Times New Roman" panose="02020503050405090304" pitchFamily="18" charset="0"/>
                <a:ea typeface="宋体" pitchFamily="2" charset="-122"/>
              </a:rPr>
              <a:t>y</a:t>
            </a:r>
            <a:r>
              <a:rPr lang="zh-CN" altLang="en-US" sz="2600" dirty="0">
                <a:latin typeface="宋体" pitchFamily="2" charset="-122"/>
                <a:ea typeface="宋体" pitchFamily="2" charset="-122"/>
              </a:rPr>
              <a:t>都是自由变元。</a:t>
            </a:r>
            <a:r>
              <a:rPr lang="zh-CN" altLang="en-US" sz="2600" dirty="0">
                <a:latin typeface="Times New Roman" panose="02020503050405090304" pitchFamily="18" charset="0"/>
                <a:ea typeface="宋体" pitchFamily="2" charset="-122"/>
              </a:rPr>
              <a:t> </a:t>
            </a:r>
            <a:endParaRPr lang="zh-CN" altLang="en-US" sz="2600" dirty="0">
              <a:latin typeface="Times New Roman" panose="02020503050405090304" pitchFamily="18" charset="0"/>
              <a:ea typeface="宋体" pitchFamily="2" charset="-122"/>
            </a:endParaRPr>
          </a:p>
        </p:txBody>
      </p:sp>
      <p:graphicFrame>
        <p:nvGraphicFramePr>
          <p:cNvPr id="31751" name="Object 15"/>
          <p:cNvGraphicFramePr>
            <a:graphicFrameLocks noChangeAspect="1"/>
          </p:cNvGraphicFramePr>
          <p:nvPr/>
        </p:nvGraphicFramePr>
        <p:xfrm>
          <a:off x="2617788" y="4268788"/>
          <a:ext cx="298450" cy="366712"/>
        </p:xfrm>
        <a:graphic>
          <a:graphicData uri="http://schemas.openxmlformats.org/presentationml/2006/ole">
            <mc:AlternateContent xmlns:mc="http://schemas.openxmlformats.org/markup-compatibility/2006">
              <mc:Choice xmlns:v="urn:schemas-microsoft-com:vml" Requires="v">
                <p:oleObj spid="_x0000_s3096" name="" r:id="rId2" imgW="127000" imgH="152400" progId="Equation.DSMT4">
                  <p:embed/>
                </p:oleObj>
              </mc:Choice>
              <mc:Fallback>
                <p:oleObj name="" r:id="rId2" imgW="127000" imgH="152400" progId="Equation.DSMT4">
                  <p:embed/>
                  <p:pic>
                    <p:nvPicPr>
                      <p:cNvPr id="0" name="图片 3095"/>
                      <p:cNvPicPr/>
                      <p:nvPr/>
                    </p:nvPicPr>
                    <p:blipFill>
                      <a:blip r:embed="rId3"/>
                      <a:stretch>
                        <a:fillRect/>
                      </a:stretch>
                    </p:blipFill>
                    <p:spPr>
                      <a:xfrm>
                        <a:off x="2617788" y="4268788"/>
                        <a:ext cx="298450" cy="366712"/>
                      </a:xfrm>
                      <a:prstGeom prst="rect">
                        <a:avLst/>
                      </a:prstGeom>
                      <a:noFill/>
                      <a:ln w="38100">
                        <a:noFill/>
                        <a:miter/>
                      </a:ln>
                    </p:spPr>
                  </p:pic>
                </p:oleObj>
              </mc:Fallback>
            </mc:AlternateContent>
          </a:graphicData>
        </a:graphic>
      </p:graphicFrame>
      <p:graphicFrame>
        <p:nvGraphicFramePr>
          <p:cNvPr id="31752" name="Object 17"/>
          <p:cNvGraphicFramePr>
            <a:graphicFrameLocks noChangeAspect="1"/>
          </p:cNvGraphicFramePr>
          <p:nvPr/>
        </p:nvGraphicFramePr>
        <p:xfrm>
          <a:off x="4179888" y="4810125"/>
          <a:ext cx="298450" cy="366713"/>
        </p:xfrm>
        <a:graphic>
          <a:graphicData uri="http://schemas.openxmlformats.org/presentationml/2006/ole">
            <mc:AlternateContent xmlns:mc="http://schemas.openxmlformats.org/markup-compatibility/2006">
              <mc:Choice xmlns:v="urn:schemas-microsoft-com:vml" Requires="v">
                <p:oleObj spid="_x0000_s3097" name="" r:id="rId4" imgW="127000" imgH="152400" progId="Equation.DSMT4">
                  <p:embed/>
                </p:oleObj>
              </mc:Choice>
              <mc:Fallback>
                <p:oleObj name="" r:id="rId4" imgW="127000" imgH="152400" progId="Equation.DSMT4">
                  <p:embed/>
                  <p:pic>
                    <p:nvPicPr>
                      <p:cNvPr id="0" name="图片 3096"/>
                      <p:cNvPicPr/>
                      <p:nvPr/>
                    </p:nvPicPr>
                    <p:blipFill>
                      <a:blip r:embed="rId3"/>
                      <a:stretch>
                        <a:fillRect/>
                      </a:stretch>
                    </p:blipFill>
                    <p:spPr>
                      <a:xfrm>
                        <a:off x="4179888" y="4810125"/>
                        <a:ext cx="298450" cy="366713"/>
                      </a:xfrm>
                      <a:prstGeom prst="rect">
                        <a:avLst/>
                      </a:prstGeom>
                      <a:noFill/>
                      <a:ln w="38100">
                        <a:noFill/>
                        <a:miter/>
                      </a:ln>
                    </p:spPr>
                  </p:pic>
                </p:oleObj>
              </mc:Fallback>
            </mc:AlternateContent>
          </a:graphicData>
        </a:graphic>
      </p:graphicFrame>
      <p:graphicFrame>
        <p:nvGraphicFramePr>
          <p:cNvPr id="31753" name="Object 18"/>
          <p:cNvGraphicFramePr>
            <a:graphicFrameLocks noChangeAspect="1"/>
          </p:cNvGraphicFramePr>
          <p:nvPr/>
        </p:nvGraphicFramePr>
        <p:xfrm>
          <a:off x="1400175" y="5283200"/>
          <a:ext cx="298450" cy="366713"/>
        </p:xfrm>
        <a:graphic>
          <a:graphicData uri="http://schemas.openxmlformats.org/presentationml/2006/ole">
            <mc:AlternateContent xmlns:mc="http://schemas.openxmlformats.org/markup-compatibility/2006">
              <mc:Choice xmlns:v="urn:schemas-microsoft-com:vml" Requires="v">
                <p:oleObj spid="_x0000_s3098" name="" r:id="rId5" imgW="127000" imgH="152400" progId="Equation.DSMT4">
                  <p:embed/>
                </p:oleObj>
              </mc:Choice>
              <mc:Fallback>
                <p:oleObj name="" r:id="rId5" imgW="127000" imgH="152400" progId="Equation.DSMT4">
                  <p:embed/>
                  <p:pic>
                    <p:nvPicPr>
                      <p:cNvPr id="0" name="图片 3097"/>
                      <p:cNvPicPr/>
                      <p:nvPr/>
                    </p:nvPicPr>
                    <p:blipFill>
                      <a:blip r:embed="rId3"/>
                      <a:stretch>
                        <a:fillRect/>
                      </a:stretch>
                    </p:blipFill>
                    <p:spPr>
                      <a:xfrm>
                        <a:off x="1400175" y="5283200"/>
                        <a:ext cx="298450" cy="366713"/>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2770"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2.2.4  </a:t>
            </a:r>
            <a:r>
              <a:rPr lang="zh-CN" altLang="en-US" dirty="0">
                <a:latin typeface="Times New Roman" panose="02020503050405090304" pitchFamily="18" charset="0"/>
              </a:rPr>
              <a:t>谓词公式的性质</a:t>
            </a:r>
            <a:endParaRPr lang="zh-CN" altLang="en-US" dirty="0">
              <a:latin typeface="Times New Roman" panose="02020503050405090304" pitchFamily="18" charset="0"/>
            </a:endParaRPr>
          </a:p>
        </p:txBody>
      </p:sp>
      <p:sp>
        <p:nvSpPr>
          <p:cNvPr id="32771" name="Rectangle 5"/>
          <p:cNvSpPr>
            <a:spLocks noGrp="1"/>
          </p:cNvSpPr>
          <p:nvPr>
            <p:ph idx="1"/>
          </p:nvPr>
        </p:nvSpPr>
        <p:spPr>
          <a:xfrm>
            <a:off x="319088" y="965200"/>
            <a:ext cx="8642350" cy="5400675"/>
          </a:xfrm>
        </p:spPr>
        <p:txBody>
          <a:bodyPr vert="horz" wrap="square" lIns="91440" tIns="45720" rIns="91440" bIns="45720" anchor="t" anchorCtr="0"/>
          <a:p>
            <a:pPr marL="0" indent="0" eaLnBrk="1" hangingPunct="1">
              <a:spcBef>
                <a:spcPct val="40000"/>
              </a:spcBef>
              <a:buNone/>
            </a:pPr>
            <a:r>
              <a:rPr lang="en-US" altLang="zh-CN" b="1" dirty="0">
                <a:latin typeface="Times New Roman" panose="02020503050405090304" pitchFamily="18" charset="0"/>
              </a:rPr>
              <a:t>1. </a:t>
            </a:r>
            <a:r>
              <a:rPr lang="zh-CN" altLang="en-US" b="1" dirty="0">
                <a:latin typeface="Times New Roman" panose="02020503050405090304" pitchFamily="18" charset="0"/>
              </a:rPr>
              <a:t>谓词公式的解释</a:t>
            </a:r>
            <a:endParaRPr lang="zh-CN" altLang="en-US" b="1" dirty="0">
              <a:latin typeface="Times New Roman" panose="02020503050405090304" pitchFamily="18" charset="0"/>
            </a:endParaRPr>
          </a:p>
          <a:p>
            <a:pPr marL="0" indent="0" eaLnBrk="1" hangingPunct="1">
              <a:spcBef>
                <a:spcPct val="40000"/>
              </a:spcBef>
            </a:pPr>
            <a:r>
              <a:rPr lang="zh-CN" altLang="en-US" b="1" dirty="0">
                <a:latin typeface="Times New Roman" panose="02020503050405090304" pitchFamily="18" charset="0"/>
              </a:rPr>
              <a:t>  谓词公式在个体域上的解释：</a:t>
            </a:r>
            <a:r>
              <a:rPr lang="zh-CN" altLang="en-US" dirty="0">
                <a:latin typeface="Times New Roman" panose="02020503050405090304" pitchFamily="18" charset="0"/>
              </a:rPr>
              <a:t>个体域中的实体对谓词演算表达式的每个常量、变量、谓词和函数符号的指派。</a:t>
            </a:r>
            <a:endParaRPr lang="zh-CN" altLang="en-US" dirty="0">
              <a:latin typeface="Times New Roman" panose="02020503050405090304" pitchFamily="18" charset="0"/>
            </a:endParaRPr>
          </a:p>
          <a:p>
            <a:pPr marL="0" indent="0" algn="just" eaLnBrk="1" hangingPunct="1"/>
            <a:endParaRPr lang="en-US" altLang="zh-CN" b="1" dirty="0">
              <a:latin typeface="Times New Roman" panose="02020503050405090304" pitchFamily="18" charset="0"/>
            </a:endParaRPr>
          </a:p>
        </p:txBody>
      </p:sp>
      <p:sp>
        <p:nvSpPr>
          <p:cNvPr id="25606" name="AutoShape 6"/>
          <p:cNvSpPr/>
          <p:nvPr/>
        </p:nvSpPr>
        <p:spPr>
          <a:xfrm>
            <a:off x="2176463" y="3163888"/>
            <a:ext cx="4021137" cy="1597025"/>
          </a:xfrm>
          <a:prstGeom prst="wedgeRoundRectCallout">
            <a:avLst>
              <a:gd name="adj1" fmla="val -44435"/>
              <a:gd name="adj2" fmla="val -115111"/>
              <a:gd name="adj3" fmla="val 16667"/>
            </a:avLst>
          </a:prstGeom>
          <a:gradFill rotWithShape="0">
            <a:gsLst>
              <a:gs pos="0">
                <a:srgbClr val="CCFFFF"/>
              </a:gs>
              <a:gs pos="100000">
                <a:schemeClr val="bg1"/>
              </a:gs>
            </a:gsLst>
            <a:path path="rect">
              <a:fillToRect l="100000" t="100000"/>
            </a:path>
            <a:tileRect/>
          </a:gradFill>
          <a:ln w="9525" cap="flat" cmpd="sng">
            <a:solidFill>
              <a:srgbClr val="008080"/>
            </a:solidFill>
            <a:prstDash val="solid"/>
            <a:miter/>
            <a:headEnd type="none" w="med" len="med"/>
            <a:tailEnd type="none" w="med" len="med"/>
          </a:ln>
        </p:spPr>
        <p:txBody>
          <a:bodyPr anchor="t" anchorCtr="0"/>
          <a:p>
            <a:pPr algn="just">
              <a:lnSpc>
                <a:spcPct val="140000"/>
              </a:lnSpc>
              <a:buClrTx/>
              <a:buFontTx/>
              <a:buNone/>
            </a:pPr>
            <a:r>
              <a:rPr lang="en-US" altLang="zh-CN" sz="2400" b="1" i="1" dirty="0">
                <a:latin typeface="Times New Roman" panose="02020503050405090304" pitchFamily="18" charset="0"/>
                <a:ea typeface="宋体" pitchFamily="2" charset="-122"/>
              </a:rPr>
              <a:t>Friends</a:t>
            </a:r>
            <a:r>
              <a:rPr lang="en-US" altLang="zh-CN" sz="2400" b="1" dirty="0">
                <a:latin typeface="Times New Roman" panose="02020503050405090304" pitchFamily="18" charset="0"/>
                <a:ea typeface="宋体" pitchFamily="2" charset="-122"/>
              </a:rPr>
              <a:t> (</a:t>
            </a:r>
            <a:r>
              <a:rPr lang="en-US" altLang="zh-CN" sz="2400" b="1" i="1" dirty="0">
                <a:latin typeface="Times New Roman" panose="02020503050405090304" pitchFamily="18" charset="0"/>
                <a:ea typeface="宋体" pitchFamily="2" charset="-122"/>
              </a:rPr>
              <a:t>george</a:t>
            </a:r>
            <a:r>
              <a:rPr lang="en-US" altLang="zh-CN" sz="2400" b="1" dirty="0">
                <a:latin typeface="Times New Roman" panose="02020503050405090304" pitchFamily="18" charset="0"/>
                <a:ea typeface="宋体" pitchFamily="2" charset="-122"/>
              </a:rPr>
              <a:t>, </a:t>
            </a:r>
            <a:r>
              <a:rPr lang="en-US" altLang="zh-CN" sz="2400" b="1" i="1" dirty="0">
                <a:latin typeface="Times New Roman" panose="02020503050405090304" pitchFamily="18" charset="0"/>
                <a:ea typeface="宋体" pitchFamily="2" charset="-122"/>
              </a:rPr>
              <a:t>x</a:t>
            </a:r>
            <a:r>
              <a:rPr lang="en-US" altLang="zh-CN" sz="2400" b="1" dirty="0">
                <a:latin typeface="Times New Roman" panose="02020503050405090304" pitchFamily="18" charset="0"/>
                <a:ea typeface="宋体" pitchFamily="2" charset="-122"/>
              </a:rPr>
              <a:t>)</a:t>
            </a:r>
            <a:endParaRPr lang="en-US" altLang="zh-CN" sz="2400" b="1" dirty="0">
              <a:latin typeface="Times New Roman" panose="02020503050405090304" pitchFamily="18" charset="0"/>
              <a:ea typeface="宋体" pitchFamily="2" charset="-122"/>
            </a:endParaRPr>
          </a:p>
          <a:p>
            <a:pPr algn="just">
              <a:buClrTx/>
              <a:buFontTx/>
              <a:buNone/>
            </a:pPr>
            <a:r>
              <a:rPr lang="en-US" altLang="zh-CN" sz="2400" b="1" i="1" dirty="0">
                <a:latin typeface="Times New Roman" panose="02020503050405090304" pitchFamily="18" charset="0"/>
                <a:ea typeface="宋体" pitchFamily="2" charset="-122"/>
              </a:rPr>
              <a:t>Friends</a:t>
            </a:r>
            <a:r>
              <a:rPr lang="en-US" altLang="zh-CN" sz="2400" b="1" dirty="0">
                <a:latin typeface="Times New Roman" panose="02020503050405090304" pitchFamily="18" charset="0"/>
                <a:ea typeface="宋体" pitchFamily="2" charset="-122"/>
              </a:rPr>
              <a:t> (</a:t>
            </a:r>
            <a:r>
              <a:rPr lang="en-US" altLang="zh-CN" sz="2400" b="1" i="1" dirty="0">
                <a:latin typeface="Times New Roman" panose="02020503050405090304" pitchFamily="18" charset="0"/>
                <a:ea typeface="宋体" pitchFamily="2" charset="-122"/>
              </a:rPr>
              <a:t>george</a:t>
            </a:r>
            <a:r>
              <a:rPr lang="en-US" altLang="zh-CN" sz="2400" b="1" dirty="0">
                <a:latin typeface="Times New Roman" panose="02020503050405090304" pitchFamily="18" charset="0"/>
                <a:ea typeface="宋体" pitchFamily="2" charset="-122"/>
              </a:rPr>
              <a:t>, </a:t>
            </a:r>
            <a:r>
              <a:rPr lang="en-US" altLang="zh-CN" sz="2400" b="1" i="1" dirty="0">
                <a:latin typeface="Times New Roman" panose="02020503050405090304" pitchFamily="18" charset="0"/>
                <a:ea typeface="宋体" pitchFamily="2" charset="-122"/>
              </a:rPr>
              <a:t>susie</a:t>
            </a:r>
            <a:r>
              <a:rPr lang="en-US" altLang="zh-CN" sz="2400" b="1" dirty="0">
                <a:latin typeface="Times New Roman" panose="02020503050405090304" pitchFamily="18" charset="0"/>
                <a:ea typeface="宋体" pitchFamily="2" charset="-122"/>
              </a:rPr>
              <a:t>)      </a:t>
            </a:r>
            <a:r>
              <a:rPr lang="en-US" altLang="zh-CN" sz="2400" b="1" i="1" dirty="0">
                <a:latin typeface="Times New Roman" panose="02020503050405090304" pitchFamily="18" charset="0"/>
                <a:ea typeface="宋体" pitchFamily="2" charset="-122"/>
              </a:rPr>
              <a:t>T</a:t>
            </a:r>
            <a:endParaRPr lang="en-US" altLang="zh-CN" sz="2400" b="1" i="1" dirty="0">
              <a:latin typeface="Times New Roman" panose="02020503050405090304" pitchFamily="18" charset="0"/>
              <a:ea typeface="宋体" pitchFamily="2" charset="-122"/>
            </a:endParaRPr>
          </a:p>
          <a:p>
            <a:pPr algn="just">
              <a:buClrTx/>
              <a:buFontTx/>
              <a:buNone/>
            </a:pPr>
            <a:r>
              <a:rPr lang="en-US" altLang="zh-CN" sz="2400" b="1" i="1" dirty="0">
                <a:latin typeface="Times New Roman" panose="02020503050405090304" pitchFamily="18" charset="0"/>
                <a:ea typeface="宋体" pitchFamily="2" charset="-122"/>
              </a:rPr>
              <a:t>Friends</a:t>
            </a:r>
            <a:r>
              <a:rPr lang="en-US" altLang="zh-CN" sz="2400" b="1" dirty="0">
                <a:latin typeface="Times New Roman" panose="02020503050405090304" pitchFamily="18" charset="0"/>
                <a:ea typeface="宋体" pitchFamily="2" charset="-122"/>
              </a:rPr>
              <a:t> (</a:t>
            </a:r>
            <a:r>
              <a:rPr lang="en-US" altLang="zh-CN" sz="2400" b="1" i="1" dirty="0">
                <a:latin typeface="Times New Roman" panose="02020503050405090304" pitchFamily="18" charset="0"/>
                <a:ea typeface="宋体" pitchFamily="2" charset="-122"/>
              </a:rPr>
              <a:t>george</a:t>
            </a:r>
            <a:r>
              <a:rPr lang="en-US" altLang="zh-CN" sz="2400" b="1" dirty="0">
                <a:latin typeface="Times New Roman" panose="02020503050405090304" pitchFamily="18" charset="0"/>
                <a:ea typeface="宋体" pitchFamily="2" charset="-122"/>
              </a:rPr>
              <a:t>, </a:t>
            </a:r>
            <a:r>
              <a:rPr lang="en-US" altLang="zh-CN" sz="2400" b="1" i="1" dirty="0">
                <a:latin typeface="Times New Roman" panose="02020503050405090304" pitchFamily="18" charset="0"/>
                <a:ea typeface="宋体" pitchFamily="2" charset="-122"/>
              </a:rPr>
              <a:t>kate</a:t>
            </a:r>
            <a:r>
              <a:rPr lang="en-US" altLang="zh-CN" sz="2400" b="1" dirty="0">
                <a:latin typeface="Times New Roman" panose="02020503050405090304" pitchFamily="18" charset="0"/>
                <a:ea typeface="宋体" pitchFamily="2" charset="-122"/>
              </a:rPr>
              <a:t>)       </a:t>
            </a:r>
            <a:r>
              <a:rPr lang="en-US" altLang="zh-CN" sz="2400" b="1" i="1" dirty="0">
                <a:latin typeface="Times New Roman" panose="02020503050405090304" pitchFamily="18" charset="0"/>
                <a:ea typeface="宋体" pitchFamily="2" charset="-122"/>
              </a:rPr>
              <a:t>F</a:t>
            </a:r>
            <a:endParaRPr lang="en-US" altLang="zh-CN" sz="2400" b="1" dirty="0">
              <a:latin typeface="Times New Roman" panose="02020503050405090304" pitchFamily="18" charset="0"/>
              <a:ea typeface="宋体" pitchFamily="2" charset="-122"/>
            </a:endParaRPr>
          </a:p>
          <a:p>
            <a:pPr algn="just">
              <a:buClrTx/>
              <a:buFontTx/>
              <a:buNone/>
            </a:pPr>
            <a:endParaRPr lang="en-US" altLang="zh-CN" dirty="0">
              <a:latin typeface="Arial" panose="020B0604020202090204" pitchFamily="34" charset="0"/>
              <a:ea typeface="宋体" pitchFamily="2" charset="-122"/>
            </a:endParaRPr>
          </a:p>
        </p:txBody>
      </p:sp>
      <p:sp>
        <p:nvSpPr>
          <p:cNvPr id="25607" name="Rectangle 7"/>
          <p:cNvSpPr/>
          <p:nvPr/>
        </p:nvSpPr>
        <p:spPr>
          <a:xfrm>
            <a:off x="374650" y="4829175"/>
            <a:ext cx="8551863" cy="1117600"/>
          </a:xfrm>
          <a:prstGeom prst="rect">
            <a:avLst/>
          </a:prstGeom>
          <a:noFill/>
          <a:ln w="9525">
            <a:noFill/>
          </a:ln>
        </p:spPr>
        <p:txBody>
          <a:bodyPr anchor="t" anchorCtr="0">
            <a:spAutoFit/>
          </a:bodyPr>
          <a:p>
            <a:pPr>
              <a:lnSpc>
                <a:spcPct val="120000"/>
              </a:lnSpc>
              <a:spcBef>
                <a:spcPct val="40000"/>
              </a:spcBef>
              <a:buClr>
                <a:schemeClr val="accent2"/>
              </a:buClr>
              <a:buFont typeface="Wingdings" panose="05000000000000000000" pitchFamily="2" charset="2"/>
              <a:buChar char="•"/>
            </a:pPr>
            <a:r>
              <a:rPr lang="en-US" altLang="zh-CN" sz="2800" b="1" dirty="0">
                <a:latin typeface="Times New Roman" panose="02020503050405090304" pitchFamily="18" charset="0"/>
                <a:ea typeface="宋体" pitchFamily="2" charset="-122"/>
              </a:rPr>
              <a:t> </a:t>
            </a:r>
            <a:r>
              <a:rPr lang="zh-CN" altLang="en-US" sz="2800" b="1" dirty="0">
                <a:latin typeface="Times New Roman" panose="02020503050405090304" pitchFamily="18" charset="0"/>
                <a:ea typeface="宋体" pitchFamily="2" charset="-122"/>
              </a:rPr>
              <a:t>对于每一个解释，谓词公式都可求出一个真值（</a:t>
            </a:r>
            <a:r>
              <a:rPr lang="en-US" altLang="zh-CN" sz="2800" b="1" i="1" dirty="0">
                <a:latin typeface="Times New Roman" panose="02020503050405090304" pitchFamily="18" charset="0"/>
                <a:ea typeface="宋体" pitchFamily="2" charset="-122"/>
              </a:rPr>
              <a:t>T</a:t>
            </a:r>
            <a:r>
              <a:rPr lang="zh-CN" altLang="en-US" sz="2800" b="1" dirty="0">
                <a:latin typeface="Times New Roman" panose="02020503050405090304" pitchFamily="18" charset="0"/>
                <a:ea typeface="宋体" pitchFamily="2" charset="-122"/>
              </a:rPr>
              <a:t>或</a:t>
            </a:r>
            <a:r>
              <a:rPr lang="en-US" altLang="zh-CN" sz="2800" b="1" i="1" dirty="0">
                <a:latin typeface="Times New Roman" panose="02020503050405090304" pitchFamily="18" charset="0"/>
                <a:ea typeface="宋体" pitchFamily="2" charset="-122"/>
              </a:rPr>
              <a:t>F</a:t>
            </a:r>
            <a:r>
              <a:rPr lang="zh-CN" altLang="en-US" sz="2800" b="1" dirty="0">
                <a:latin typeface="Times New Roman" panose="02020503050405090304" pitchFamily="18" charset="0"/>
                <a:ea typeface="宋体" pitchFamily="2" charset="-122"/>
              </a:rPr>
              <a:t>）。</a:t>
            </a:r>
            <a:endParaRPr lang="zh-CN" altLang="en-US" sz="2800" b="1" dirty="0">
              <a:latin typeface="Times New Roman" panose="02020503050405090304" pitchFamily="18"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25606"/>
                                        </p:tgtEl>
                                        <p:attrNameLst>
                                          <p:attrName>style.visibility</p:attrName>
                                        </p:attrNameLst>
                                      </p:cBhvr>
                                      <p:to>
                                        <p:strVal val="visible"/>
                                      </p:to>
                                    </p:set>
                                    <p:anim calcmode="lin" valueType="num">
                                      <p:cBhvr>
                                        <p:cTn id="7" dur="500" fill="hold"/>
                                        <p:tgtEl>
                                          <p:spTgt spid="25606"/>
                                        </p:tgtEl>
                                        <p:attrNameLst>
                                          <p:attrName>ppt_x</p:attrName>
                                        </p:attrNameLst>
                                      </p:cBhvr>
                                      <p:tavLst>
                                        <p:tav tm="0">
                                          <p:val>
                                            <p:strVal val="#ppt_x"/>
                                          </p:val>
                                        </p:tav>
                                        <p:tav tm="100000">
                                          <p:val>
                                            <p:strVal val="#ppt_x"/>
                                          </p:val>
                                        </p:tav>
                                      </p:tavLst>
                                    </p:anim>
                                    <p:anim calcmode="lin" valueType="num">
                                      <p:cBhvr>
                                        <p:cTn id="8" dur="500" fill="hold"/>
                                        <p:tgtEl>
                                          <p:spTgt spid="25606"/>
                                        </p:tgtEl>
                                        <p:attrNameLst>
                                          <p:attrName>ppt_y</p:attrName>
                                        </p:attrNameLst>
                                      </p:cBhvr>
                                      <p:tavLst>
                                        <p:tav tm="0">
                                          <p:val>
                                            <p:strVal val="#ppt_y-#ppt_h/2"/>
                                          </p:val>
                                        </p:tav>
                                        <p:tav tm="100000">
                                          <p:val>
                                            <p:strVal val="#ppt_y"/>
                                          </p:val>
                                        </p:tav>
                                      </p:tavLst>
                                    </p:anim>
                                    <p:anim calcmode="lin" valueType="num">
                                      <p:cBhvr>
                                        <p:cTn id="9" dur="500" fill="hold"/>
                                        <p:tgtEl>
                                          <p:spTgt spid="25606"/>
                                        </p:tgtEl>
                                        <p:attrNameLst>
                                          <p:attrName>ppt_w</p:attrName>
                                        </p:attrNameLst>
                                      </p:cBhvr>
                                      <p:tavLst>
                                        <p:tav tm="0">
                                          <p:val>
                                            <p:strVal val="#ppt_w"/>
                                          </p:val>
                                        </p:tav>
                                        <p:tav tm="100000">
                                          <p:val>
                                            <p:strVal val="#ppt_w"/>
                                          </p:val>
                                        </p:tav>
                                      </p:tavLst>
                                    </p:anim>
                                    <p:anim calcmode="lin" valueType="num">
                                      <p:cBhvr>
                                        <p:cTn id="10" dur="500" fill="hold"/>
                                        <p:tgtEl>
                                          <p:spTgt spid="25606"/>
                                        </p:tgtEl>
                                        <p:attrNameLst>
                                          <p:attrName>ppt_h</p:attrName>
                                        </p:attrNameLst>
                                      </p:cBhvr>
                                      <p:tavLst>
                                        <p:tav tm="0">
                                          <p:val>
                                            <p:fltVal val="0.00000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5607"/>
                                        </p:tgtEl>
                                        <p:attrNameLst>
                                          <p:attrName>style.visibility</p:attrName>
                                        </p:attrNameLst>
                                      </p:cBhvr>
                                      <p:to>
                                        <p:strVal val="visible"/>
                                      </p:to>
                                    </p:set>
                                    <p:anim calcmode="lin" valueType="num">
                                      <p:cBhvr additive="base">
                                        <p:cTn id="15" dur="500" fill="hold"/>
                                        <p:tgtEl>
                                          <p:spTgt spid="25607"/>
                                        </p:tgtEl>
                                        <p:attrNameLst>
                                          <p:attrName>ppt_x</p:attrName>
                                        </p:attrNameLst>
                                      </p:cBhvr>
                                      <p:tavLst>
                                        <p:tav tm="0">
                                          <p:val>
                                            <p:strVal val="#ppt_x"/>
                                          </p:val>
                                        </p:tav>
                                        <p:tav tm="100000">
                                          <p:val>
                                            <p:strVal val="#ppt_x"/>
                                          </p:val>
                                        </p:tav>
                                      </p:tavLst>
                                    </p:anim>
                                    <p:anim calcmode="lin" valueType="num">
                                      <p:cBhvr additive="base">
                                        <p:cTn id="16" dur="500" fill="hold"/>
                                        <p:tgtEl>
                                          <p:spTgt spid="256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6" grpId="0" animBg="1"/>
      <p:bldP spid="2560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3794"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2.2.4  </a:t>
            </a:r>
            <a:r>
              <a:rPr lang="zh-CN" altLang="en-US" dirty="0">
                <a:latin typeface="Times New Roman" panose="02020503050405090304" pitchFamily="18" charset="0"/>
              </a:rPr>
              <a:t>谓词公式的性质</a:t>
            </a:r>
            <a:endParaRPr lang="zh-CN" altLang="en-US" dirty="0">
              <a:latin typeface="Times New Roman" panose="02020503050405090304" pitchFamily="18" charset="0"/>
            </a:endParaRPr>
          </a:p>
        </p:txBody>
      </p:sp>
      <p:sp>
        <p:nvSpPr>
          <p:cNvPr id="33795" name="Rectangle 3"/>
          <p:cNvSpPr>
            <a:spLocks noGrp="1"/>
          </p:cNvSpPr>
          <p:nvPr>
            <p:ph idx="1"/>
          </p:nvPr>
        </p:nvSpPr>
        <p:spPr>
          <a:xfrm>
            <a:off x="250825" y="908050"/>
            <a:ext cx="8642350" cy="742950"/>
          </a:xfrm>
        </p:spPr>
        <p:txBody>
          <a:bodyPr vert="horz" wrap="square" lIns="91440" tIns="45720" rIns="91440" bIns="45720" anchor="t" anchorCtr="0"/>
          <a:p>
            <a:pPr marL="571500" indent="-571500" eaLnBrk="1" hangingPunct="1">
              <a:buNone/>
            </a:pPr>
            <a:r>
              <a:rPr lang="en-US" altLang="zh-CN" b="1" dirty="0">
                <a:latin typeface="Times New Roman" panose="02020503050405090304" pitchFamily="18" charset="0"/>
              </a:rPr>
              <a:t> 2.</a:t>
            </a:r>
            <a:r>
              <a:rPr lang="en-US" altLang="zh-CN" b="1" dirty="0"/>
              <a:t> </a:t>
            </a:r>
            <a:r>
              <a:rPr lang="zh-CN" altLang="en-US" b="1" dirty="0"/>
              <a:t>谓词公式的永真性、可满足性、不可满足性   </a:t>
            </a:r>
            <a:endParaRPr lang="zh-CN" altLang="en-US" b="1" dirty="0"/>
          </a:p>
          <a:p>
            <a:pPr marL="571500" indent="-571500" eaLnBrk="1" hangingPunct="1">
              <a:buNone/>
            </a:pPr>
            <a:endParaRPr lang="en-US" altLang="zh-CN" b="1" dirty="0"/>
          </a:p>
        </p:txBody>
      </p:sp>
      <p:sp>
        <p:nvSpPr>
          <p:cNvPr id="33796" name="Text Box 4"/>
          <p:cNvSpPr txBox="1"/>
          <p:nvPr/>
        </p:nvSpPr>
        <p:spPr>
          <a:xfrm>
            <a:off x="508000" y="5108575"/>
            <a:ext cx="8374063" cy="366713"/>
          </a:xfrm>
          <a:prstGeom prst="rect">
            <a:avLst/>
          </a:prstGeom>
          <a:noFill/>
          <a:ln w="9525">
            <a:noFill/>
          </a:ln>
        </p:spPr>
        <p:txBody>
          <a:bodyPr anchor="t" anchorCtr="0">
            <a:spAutoFit/>
          </a:bodyPr>
          <a:p>
            <a:pPr>
              <a:spcBef>
                <a:spcPct val="50000"/>
              </a:spcBef>
              <a:buClrTx/>
              <a:buFontTx/>
              <a:buNone/>
            </a:pPr>
            <a:endParaRPr lang="zh-CN" altLang="zh-CN" dirty="0">
              <a:latin typeface="Arial" panose="020B0604020202090204" pitchFamily="34" charset="0"/>
              <a:ea typeface="宋体" pitchFamily="2" charset="-122"/>
            </a:endParaRPr>
          </a:p>
        </p:txBody>
      </p:sp>
      <p:sp>
        <p:nvSpPr>
          <p:cNvPr id="33797" name="Text Box 5"/>
          <p:cNvSpPr txBox="1"/>
          <p:nvPr/>
        </p:nvSpPr>
        <p:spPr>
          <a:xfrm>
            <a:off x="384175" y="5097463"/>
            <a:ext cx="8461375" cy="1530350"/>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a:lnSpc>
                <a:spcPct val="120000"/>
              </a:lnSpc>
              <a:spcBef>
                <a:spcPct val="20000"/>
              </a:spcBef>
              <a:buClr>
                <a:schemeClr val="accent2"/>
              </a:buClr>
              <a:buFont typeface="Wingdings" panose="05000000000000000000" pitchFamily="2" charset="2"/>
              <a:buChar char="§"/>
            </a:pPr>
            <a:r>
              <a:rPr lang="en-US" altLang="zh-CN" sz="2600" b="1" dirty="0">
                <a:latin typeface="Arial" panose="020B0604020202090204" pitchFamily="34" charset="0"/>
                <a:ea typeface="宋体" pitchFamily="2" charset="-122"/>
              </a:rPr>
              <a:t> </a:t>
            </a:r>
            <a:r>
              <a:rPr lang="zh-CN" altLang="en-US" sz="2600" b="1" dirty="0">
                <a:latin typeface="Times New Roman" panose="02020503050405090304" pitchFamily="18" charset="0"/>
                <a:ea typeface="宋体" pitchFamily="2" charset="-122"/>
              </a:rPr>
              <a:t>定义</a:t>
            </a:r>
            <a:r>
              <a:rPr lang="en-US" altLang="zh-CN" sz="2600" b="1" dirty="0">
                <a:latin typeface="Times New Roman" panose="02020503050405090304" pitchFamily="18" charset="0"/>
                <a:ea typeface="宋体" pitchFamily="2" charset="-122"/>
              </a:rPr>
              <a:t>2.5  </a:t>
            </a:r>
            <a:r>
              <a:rPr lang="zh-CN" altLang="en-US" sz="2600" b="1" dirty="0">
                <a:latin typeface="Times New Roman" panose="02020503050405090304" pitchFamily="18" charset="0"/>
                <a:ea typeface="宋体" pitchFamily="2" charset="-122"/>
              </a:rPr>
              <a:t>对于谓词公式</a:t>
            </a:r>
            <a:r>
              <a:rPr lang="en-US" altLang="zh-CN" sz="2600" b="1" i="1" dirty="0">
                <a:latin typeface="Times New Roman" panose="02020503050405090304" pitchFamily="18" charset="0"/>
                <a:ea typeface="宋体" pitchFamily="2" charset="-122"/>
              </a:rPr>
              <a:t>P</a:t>
            </a:r>
            <a:r>
              <a:rPr lang="zh-CN" altLang="en-US" sz="2600" b="1" dirty="0">
                <a:latin typeface="Times New Roman" panose="02020503050405090304" pitchFamily="18" charset="0"/>
                <a:ea typeface="宋体" pitchFamily="2" charset="-122"/>
              </a:rPr>
              <a:t>，如果至少存在一个解释使得</a:t>
            </a:r>
            <a:r>
              <a:rPr lang="en-US" altLang="zh-CN" sz="2600" b="1" i="1" dirty="0">
                <a:latin typeface="Times New Roman" panose="02020503050405090304" pitchFamily="18" charset="0"/>
                <a:ea typeface="宋体" pitchFamily="2" charset="-122"/>
              </a:rPr>
              <a:t>P</a:t>
            </a:r>
            <a:r>
              <a:rPr lang="zh-CN" altLang="en-US" sz="2600" b="1" dirty="0">
                <a:latin typeface="Times New Roman" panose="02020503050405090304" pitchFamily="18" charset="0"/>
                <a:ea typeface="宋体" pitchFamily="2" charset="-122"/>
              </a:rPr>
              <a:t>在此解释下的真值为</a:t>
            </a:r>
            <a:r>
              <a:rPr lang="en-US" altLang="zh-CN" sz="2600" b="1" i="1" dirty="0">
                <a:latin typeface="Times New Roman" panose="02020503050405090304" pitchFamily="18" charset="0"/>
                <a:ea typeface="宋体" pitchFamily="2" charset="-122"/>
              </a:rPr>
              <a:t>T</a:t>
            </a:r>
            <a:r>
              <a:rPr lang="zh-CN" altLang="en-US" sz="2600" b="1" dirty="0">
                <a:latin typeface="Times New Roman" panose="02020503050405090304" pitchFamily="18" charset="0"/>
                <a:ea typeface="宋体" pitchFamily="2" charset="-122"/>
              </a:rPr>
              <a:t>，则称</a:t>
            </a:r>
            <a:r>
              <a:rPr lang="en-US" altLang="zh-CN" sz="2600" b="1" i="1" dirty="0">
                <a:latin typeface="Times New Roman" panose="02020503050405090304" pitchFamily="18" charset="0"/>
                <a:ea typeface="宋体" pitchFamily="2" charset="-122"/>
              </a:rPr>
              <a:t>P</a:t>
            </a:r>
            <a:r>
              <a:rPr lang="zh-CN" altLang="en-US" sz="2600" b="1" dirty="0">
                <a:latin typeface="Times New Roman" panose="02020503050405090304" pitchFamily="18" charset="0"/>
                <a:ea typeface="宋体" pitchFamily="2" charset="-122"/>
              </a:rPr>
              <a:t>是可满足的，否则，则称</a:t>
            </a:r>
            <a:r>
              <a:rPr lang="en-US" altLang="zh-CN" sz="2600" b="1" i="1" dirty="0">
                <a:latin typeface="Times New Roman" panose="02020503050405090304" pitchFamily="18" charset="0"/>
                <a:ea typeface="宋体" pitchFamily="2" charset="-122"/>
              </a:rPr>
              <a:t>P</a:t>
            </a:r>
            <a:r>
              <a:rPr lang="zh-CN" altLang="en-US" sz="2600" b="1" dirty="0">
                <a:latin typeface="Times New Roman" panose="02020503050405090304" pitchFamily="18" charset="0"/>
                <a:ea typeface="宋体" pitchFamily="2" charset="-122"/>
              </a:rPr>
              <a:t>是不可满足的。</a:t>
            </a:r>
            <a:endParaRPr lang="zh-CN" altLang="en-US" sz="2600" dirty="0">
              <a:latin typeface="Times New Roman" panose="02020503050405090304" pitchFamily="18" charset="0"/>
              <a:ea typeface="宋体" pitchFamily="2" charset="-122"/>
            </a:endParaRPr>
          </a:p>
        </p:txBody>
      </p:sp>
      <p:sp>
        <p:nvSpPr>
          <p:cNvPr id="33798" name="Text Box 6"/>
          <p:cNvSpPr txBox="1"/>
          <p:nvPr/>
        </p:nvSpPr>
        <p:spPr>
          <a:xfrm>
            <a:off x="369888" y="3357563"/>
            <a:ext cx="8432800" cy="1566862"/>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a:lnSpc>
                <a:spcPct val="120000"/>
              </a:lnSpc>
              <a:spcBef>
                <a:spcPct val="50000"/>
              </a:spcBef>
              <a:buClr>
                <a:schemeClr val="accent2"/>
              </a:buClr>
              <a:buFont typeface="Wingdings" panose="05000000000000000000" pitchFamily="2" charset="2"/>
              <a:buChar char="§"/>
            </a:pPr>
            <a:r>
              <a:rPr lang="en-US" altLang="zh-CN" sz="2600" b="1" dirty="0">
                <a:latin typeface="Arial" panose="020B0604020202090204" pitchFamily="34" charset="0"/>
                <a:ea typeface="宋体" pitchFamily="2" charset="-122"/>
              </a:rPr>
              <a:t> </a:t>
            </a:r>
            <a:r>
              <a:rPr lang="zh-CN" altLang="en-US" sz="2600" b="1" dirty="0">
                <a:latin typeface="Times New Roman" panose="02020503050405090304" pitchFamily="18" charset="0"/>
                <a:ea typeface="宋体" pitchFamily="2" charset="-122"/>
              </a:rPr>
              <a:t>定义</a:t>
            </a:r>
            <a:r>
              <a:rPr lang="en-US" altLang="zh-CN" sz="2600" b="1" dirty="0">
                <a:latin typeface="Times New Roman" panose="02020503050405090304" pitchFamily="18" charset="0"/>
                <a:ea typeface="宋体" pitchFamily="2" charset="-122"/>
              </a:rPr>
              <a:t>2.4  </a:t>
            </a:r>
            <a:r>
              <a:rPr lang="zh-CN" altLang="en-US" sz="2600" b="1" dirty="0">
                <a:latin typeface="Times New Roman" panose="02020503050405090304" pitchFamily="18" charset="0"/>
                <a:ea typeface="宋体" pitchFamily="2" charset="-122"/>
              </a:rPr>
              <a:t>如果谓词公式</a:t>
            </a:r>
            <a:r>
              <a:rPr lang="en-US" altLang="zh-CN" sz="2600" b="1" i="1" dirty="0">
                <a:latin typeface="Times New Roman" panose="02020503050405090304" pitchFamily="18" charset="0"/>
                <a:ea typeface="宋体" pitchFamily="2" charset="-122"/>
              </a:rPr>
              <a:t>P</a:t>
            </a:r>
            <a:r>
              <a:rPr lang="zh-CN" altLang="en-US" sz="2600" b="1" dirty="0">
                <a:latin typeface="Times New Roman" panose="02020503050405090304" pitchFamily="18" charset="0"/>
                <a:ea typeface="宋体" pitchFamily="2" charset="-122"/>
              </a:rPr>
              <a:t>对个体域</a:t>
            </a:r>
            <a:r>
              <a:rPr lang="en-US" altLang="zh-CN" sz="2600" b="1" i="1" dirty="0">
                <a:latin typeface="Times New Roman" panose="02020503050405090304" pitchFamily="18" charset="0"/>
                <a:ea typeface="宋体" pitchFamily="2" charset="-122"/>
              </a:rPr>
              <a:t>D</a:t>
            </a:r>
            <a:r>
              <a:rPr lang="zh-CN" altLang="en-US" sz="2600" b="1" dirty="0">
                <a:latin typeface="Times New Roman" panose="02020503050405090304" pitchFamily="18" charset="0"/>
                <a:ea typeface="宋体" pitchFamily="2" charset="-122"/>
              </a:rPr>
              <a:t>上的任何一个解释都取得真值</a:t>
            </a:r>
            <a:r>
              <a:rPr lang="en-US" altLang="zh-CN" sz="2600" b="1" i="1" dirty="0">
                <a:latin typeface="Times New Roman" panose="02020503050405090304" pitchFamily="18" charset="0"/>
                <a:ea typeface="宋体" pitchFamily="2" charset="-122"/>
              </a:rPr>
              <a:t>F</a:t>
            </a:r>
            <a:r>
              <a:rPr lang="zh-CN" altLang="en-US" sz="2600" b="1" dirty="0">
                <a:latin typeface="Times New Roman" panose="02020503050405090304" pitchFamily="18" charset="0"/>
                <a:ea typeface="宋体" pitchFamily="2" charset="-122"/>
              </a:rPr>
              <a:t>，则称</a:t>
            </a:r>
            <a:r>
              <a:rPr lang="en-US" altLang="zh-CN" sz="2600" b="1" i="1" dirty="0">
                <a:latin typeface="Times New Roman" panose="02020503050405090304" pitchFamily="18" charset="0"/>
                <a:ea typeface="宋体" pitchFamily="2" charset="-122"/>
              </a:rPr>
              <a:t>P</a:t>
            </a:r>
            <a:r>
              <a:rPr lang="zh-CN" altLang="en-US" sz="2600" b="1" dirty="0">
                <a:latin typeface="Times New Roman" panose="02020503050405090304" pitchFamily="18" charset="0"/>
                <a:ea typeface="宋体" pitchFamily="2" charset="-122"/>
              </a:rPr>
              <a:t>在</a:t>
            </a:r>
            <a:r>
              <a:rPr lang="en-US" altLang="zh-CN" sz="2600" b="1" i="1" dirty="0">
                <a:latin typeface="Times New Roman" panose="02020503050405090304" pitchFamily="18" charset="0"/>
                <a:ea typeface="宋体" pitchFamily="2" charset="-122"/>
              </a:rPr>
              <a:t>D</a:t>
            </a:r>
            <a:r>
              <a:rPr lang="zh-CN" altLang="en-US" sz="2600" b="1" dirty="0">
                <a:latin typeface="Times New Roman" panose="02020503050405090304" pitchFamily="18" charset="0"/>
                <a:ea typeface="宋体" pitchFamily="2" charset="-122"/>
              </a:rPr>
              <a:t>上是永假的；如果</a:t>
            </a:r>
            <a:r>
              <a:rPr lang="en-US" altLang="zh-CN" sz="2600" b="1" i="1" dirty="0">
                <a:latin typeface="Times New Roman" panose="02020503050405090304" pitchFamily="18" charset="0"/>
                <a:ea typeface="宋体" pitchFamily="2" charset="-122"/>
              </a:rPr>
              <a:t>P</a:t>
            </a:r>
            <a:r>
              <a:rPr lang="zh-CN" altLang="en-US" sz="2600" b="1" dirty="0">
                <a:latin typeface="Times New Roman" panose="02020503050405090304" pitchFamily="18" charset="0"/>
                <a:ea typeface="宋体" pitchFamily="2" charset="-122"/>
              </a:rPr>
              <a:t>在每个非空个体域上均永假，则称</a:t>
            </a:r>
            <a:r>
              <a:rPr lang="en-US" altLang="zh-CN" sz="2600" b="1" i="1" dirty="0">
                <a:latin typeface="Times New Roman" panose="02020503050405090304" pitchFamily="18" charset="0"/>
                <a:ea typeface="宋体" pitchFamily="2" charset="-122"/>
              </a:rPr>
              <a:t>P</a:t>
            </a:r>
            <a:r>
              <a:rPr lang="zh-CN" altLang="en-US" sz="2600" b="1" dirty="0">
                <a:latin typeface="Times New Roman" panose="02020503050405090304" pitchFamily="18" charset="0"/>
                <a:ea typeface="宋体" pitchFamily="2" charset="-122"/>
              </a:rPr>
              <a:t>永假</a:t>
            </a:r>
            <a:r>
              <a:rPr lang="zh-CN" altLang="en-US" sz="2800" b="1" dirty="0">
                <a:latin typeface="Times New Roman" panose="02020503050405090304" pitchFamily="18" charset="0"/>
                <a:ea typeface="宋体" pitchFamily="2" charset="-122"/>
              </a:rPr>
              <a:t>。</a:t>
            </a:r>
            <a:endParaRPr lang="zh-CN" altLang="en-US" sz="2800" b="1" dirty="0">
              <a:latin typeface="Times New Roman" panose="02020503050405090304" pitchFamily="18" charset="0"/>
              <a:ea typeface="宋体" pitchFamily="2" charset="-122"/>
            </a:endParaRPr>
          </a:p>
        </p:txBody>
      </p:sp>
      <p:sp>
        <p:nvSpPr>
          <p:cNvPr id="33799" name="Text Box 7"/>
          <p:cNvSpPr txBox="1"/>
          <p:nvPr/>
        </p:nvSpPr>
        <p:spPr>
          <a:xfrm>
            <a:off x="392113" y="1598613"/>
            <a:ext cx="8404225" cy="1566862"/>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a:lnSpc>
                <a:spcPct val="120000"/>
              </a:lnSpc>
              <a:spcBef>
                <a:spcPct val="50000"/>
              </a:spcBef>
              <a:buClr>
                <a:schemeClr val="accent2"/>
              </a:buClr>
              <a:buFont typeface="Wingdings" panose="05000000000000000000" pitchFamily="2" charset="2"/>
              <a:buChar char="§"/>
            </a:pPr>
            <a:r>
              <a:rPr lang="en-US" altLang="zh-CN" sz="2600" b="1" dirty="0">
                <a:latin typeface="Arial" panose="020B0604020202090204" pitchFamily="34" charset="0"/>
                <a:ea typeface="宋体" pitchFamily="2" charset="-122"/>
              </a:rPr>
              <a:t> </a:t>
            </a:r>
            <a:r>
              <a:rPr lang="zh-CN" altLang="en-US" sz="2600" b="1" dirty="0">
                <a:latin typeface="Times New Roman" panose="02020503050405090304" pitchFamily="18" charset="0"/>
                <a:ea typeface="宋体" pitchFamily="2" charset="-122"/>
              </a:rPr>
              <a:t>定义</a:t>
            </a:r>
            <a:r>
              <a:rPr lang="en-US" altLang="zh-CN" sz="2600" b="1" dirty="0">
                <a:latin typeface="Times New Roman" panose="02020503050405090304" pitchFamily="18" charset="0"/>
                <a:ea typeface="宋体" pitchFamily="2" charset="-122"/>
              </a:rPr>
              <a:t>2.3  </a:t>
            </a:r>
            <a:r>
              <a:rPr lang="zh-CN" altLang="en-US" sz="2600" b="1" dirty="0">
                <a:latin typeface="Times New Roman" panose="02020503050405090304" pitchFamily="18" charset="0"/>
                <a:ea typeface="宋体" pitchFamily="2" charset="-122"/>
              </a:rPr>
              <a:t>如果谓词公式</a:t>
            </a:r>
            <a:r>
              <a:rPr lang="en-US" altLang="zh-CN" sz="2600" b="1" i="1" dirty="0">
                <a:latin typeface="Times New Roman" panose="02020503050405090304" pitchFamily="18" charset="0"/>
                <a:ea typeface="宋体" pitchFamily="2" charset="-122"/>
              </a:rPr>
              <a:t>P</a:t>
            </a:r>
            <a:r>
              <a:rPr lang="zh-CN" altLang="en-US" sz="2600" b="1" dirty="0">
                <a:latin typeface="Times New Roman" panose="02020503050405090304" pitchFamily="18" charset="0"/>
                <a:ea typeface="宋体" pitchFamily="2" charset="-122"/>
              </a:rPr>
              <a:t>对个体域</a:t>
            </a:r>
            <a:r>
              <a:rPr lang="en-US" altLang="zh-CN" sz="2600" b="1" i="1" dirty="0">
                <a:latin typeface="Times New Roman" panose="02020503050405090304" pitchFamily="18" charset="0"/>
                <a:ea typeface="宋体" pitchFamily="2" charset="-122"/>
              </a:rPr>
              <a:t>D</a:t>
            </a:r>
            <a:r>
              <a:rPr lang="zh-CN" altLang="en-US" sz="2600" b="1" dirty="0">
                <a:latin typeface="Times New Roman" panose="02020503050405090304" pitchFamily="18" charset="0"/>
                <a:ea typeface="宋体" pitchFamily="2" charset="-122"/>
              </a:rPr>
              <a:t>上的任何一个解释都取得真值</a:t>
            </a:r>
            <a:r>
              <a:rPr lang="en-US" altLang="zh-CN" sz="2600" b="1" i="1" dirty="0">
                <a:latin typeface="Times New Roman" panose="02020503050405090304" pitchFamily="18" charset="0"/>
                <a:ea typeface="宋体" pitchFamily="2" charset="-122"/>
              </a:rPr>
              <a:t>T</a:t>
            </a:r>
            <a:r>
              <a:rPr lang="zh-CN" altLang="en-US" sz="2600" b="1" dirty="0">
                <a:latin typeface="Times New Roman" panose="02020503050405090304" pitchFamily="18" charset="0"/>
                <a:ea typeface="宋体" pitchFamily="2" charset="-122"/>
              </a:rPr>
              <a:t>，则称</a:t>
            </a:r>
            <a:r>
              <a:rPr lang="en-US" altLang="zh-CN" sz="2600" b="1" i="1" dirty="0">
                <a:latin typeface="Times New Roman" panose="02020503050405090304" pitchFamily="18" charset="0"/>
                <a:ea typeface="宋体" pitchFamily="2" charset="-122"/>
              </a:rPr>
              <a:t>P</a:t>
            </a:r>
            <a:r>
              <a:rPr lang="zh-CN" altLang="en-US" sz="2600" b="1" dirty="0">
                <a:latin typeface="Times New Roman" panose="02020503050405090304" pitchFamily="18" charset="0"/>
                <a:ea typeface="宋体" pitchFamily="2" charset="-122"/>
              </a:rPr>
              <a:t>在</a:t>
            </a:r>
            <a:r>
              <a:rPr lang="en-US" altLang="zh-CN" sz="2600" b="1" i="1" dirty="0">
                <a:latin typeface="Times New Roman" panose="02020503050405090304" pitchFamily="18" charset="0"/>
                <a:ea typeface="宋体" pitchFamily="2" charset="-122"/>
              </a:rPr>
              <a:t>D</a:t>
            </a:r>
            <a:r>
              <a:rPr lang="zh-CN" altLang="en-US" sz="2600" b="1" dirty="0">
                <a:latin typeface="Times New Roman" panose="02020503050405090304" pitchFamily="18" charset="0"/>
                <a:ea typeface="宋体" pitchFamily="2" charset="-122"/>
              </a:rPr>
              <a:t>上是永真的；如果</a:t>
            </a:r>
            <a:r>
              <a:rPr lang="en-US" altLang="zh-CN" sz="2600" b="1" i="1" dirty="0">
                <a:latin typeface="Times New Roman" panose="02020503050405090304" pitchFamily="18" charset="0"/>
                <a:ea typeface="宋体" pitchFamily="2" charset="-122"/>
              </a:rPr>
              <a:t>P</a:t>
            </a:r>
            <a:r>
              <a:rPr lang="zh-CN" altLang="en-US" sz="2600" b="1" dirty="0">
                <a:latin typeface="Times New Roman" panose="02020503050405090304" pitchFamily="18" charset="0"/>
                <a:ea typeface="宋体" pitchFamily="2" charset="-122"/>
              </a:rPr>
              <a:t>在每个非空个体域上均永真，则称</a:t>
            </a:r>
            <a:r>
              <a:rPr lang="en-US" altLang="zh-CN" sz="2600" b="1" i="1" dirty="0">
                <a:latin typeface="Times New Roman" panose="02020503050405090304" pitchFamily="18" charset="0"/>
                <a:ea typeface="宋体" pitchFamily="2" charset="-122"/>
              </a:rPr>
              <a:t>P</a:t>
            </a:r>
            <a:r>
              <a:rPr lang="zh-CN" altLang="en-US" sz="2600" b="1" dirty="0">
                <a:latin typeface="Times New Roman" panose="02020503050405090304" pitchFamily="18" charset="0"/>
                <a:ea typeface="宋体" pitchFamily="2" charset="-122"/>
              </a:rPr>
              <a:t>永真</a:t>
            </a:r>
            <a:r>
              <a:rPr lang="zh-CN" altLang="en-US" sz="2800" b="1" dirty="0">
                <a:latin typeface="Times New Roman" panose="02020503050405090304" pitchFamily="18" charset="0"/>
                <a:ea typeface="宋体" pitchFamily="2" charset="-122"/>
              </a:rPr>
              <a:t>。</a:t>
            </a:r>
            <a:endParaRPr lang="zh-CN" altLang="en-US" sz="2800" b="1" dirty="0">
              <a:latin typeface="Times New Roman" panose="02020503050405090304" pitchFamily="18" charset="0"/>
              <a:ea typeface="宋体" pitchFamily="2" charset="-122"/>
            </a:endParaRPr>
          </a:p>
        </p:txBody>
      </p:sp>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4818"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2.2.4  </a:t>
            </a:r>
            <a:r>
              <a:rPr lang="zh-CN" altLang="en-US" dirty="0">
                <a:latin typeface="Times New Roman" panose="02020503050405090304" pitchFamily="18" charset="0"/>
              </a:rPr>
              <a:t>谓词公式的性质</a:t>
            </a:r>
            <a:endParaRPr lang="zh-CN" altLang="en-US" dirty="0">
              <a:latin typeface="Times New Roman" panose="02020503050405090304" pitchFamily="18" charset="0"/>
            </a:endParaRPr>
          </a:p>
        </p:txBody>
      </p:sp>
      <p:sp>
        <p:nvSpPr>
          <p:cNvPr id="34819" name="Rectangle 3"/>
          <p:cNvSpPr>
            <a:spLocks noGrp="1"/>
          </p:cNvSpPr>
          <p:nvPr>
            <p:ph idx="1"/>
          </p:nvPr>
        </p:nvSpPr>
        <p:spPr/>
        <p:txBody>
          <a:bodyPr vert="horz" wrap="square" lIns="91440" tIns="45720" rIns="91440" bIns="45720" anchor="t" anchorCtr="0"/>
          <a:p>
            <a:pPr marL="571500" indent="-571500" eaLnBrk="1" hangingPunct="1">
              <a:buNone/>
            </a:pPr>
            <a:r>
              <a:rPr lang="en-US" altLang="zh-CN" b="1" dirty="0">
                <a:latin typeface="Times New Roman" panose="02020503050405090304" pitchFamily="18" charset="0"/>
              </a:rPr>
              <a:t>3. </a:t>
            </a:r>
            <a:r>
              <a:rPr lang="zh-CN" altLang="en-US" b="1" dirty="0">
                <a:latin typeface="Times New Roman" panose="02020503050405090304" pitchFamily="18" charset="0"/>
              </a:rPr>
              <a:t>谓词公式的等价性</a:t>
            </a:r>
            <a:endParaRPr lang="zh-CN" altLang="en-US" b="1" dirty="0"/>
          </a:p>
        </p:txBody>
      </p:sp>
      <p:sp>
        <p:nvSpPr>
          <p:cNvPr id="34820" name="Rectangle 5"/>
          <p:cNvSpPr/>
          <p:nvPr/>
        </p:nvSpPr>
        <p:spPr>
          <a:xfrm>
            <a:off x="0" y="3352800"/>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34821" name="Text Box 8"/>
          <p:cNvSpPr txBox="1"/>
          <p:nvPr/>
        </p:nvSpPr>
        <p:spPr>
          <a:xfrm>
            <a:off x="247650" y="1641475"/>
            <a:ext cx="8578850" cy="4633913"/>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a:lnSpc>
                <a:spcPct val="130000"/>
              </a:lnSpc>
              <a:spcBef>
                <a:spcPct val="50000"/>
              </a:spcBef>
              <a:buClr>
                <a:schemeClr val="accent2"/>
              </a:buClr>
              <a:buFont typeface="Wingdings" panose="05000000000000000000" pitchFamily="2" charset="2"/>
              <a:buChar char="§"/>
            </a:pPr>
            <a:r>
              <a:rPr lang="en-US" altLang="zh-CN" sz="2600" b="1" dirty="0">
                <a:latin typeface="Times New Roman" panose="02020503050405090304" pitchFamily="18" charset="0"/>
                <a:ea typeface="宋体" pitchFamily="2" charset="-122"/>
              </a:rPr>
              <a:t> </a:t>
            </a:r>
            <a:r>
              <a:rPr lang="zh-CN" altLang="en-US" sz="2800" b="1" dirty="0">
                <a:latin typeface="Times New Roman" panose="02020503050405090304" pitchFamily="18" charset="0"/>
                <a:ea typeface="宋体" pitchFamily="2" charset="-122"/>
              </a:rPr>
              <a:t>定义</a:t>
            </a:r>
            <a:r>
              <a:rPr lang="en-US" altLang="zh-CN" sz="2800" b="1" dirty="0">
                <a:latin typeface="Times New Roman" panose="02020503050405090304" pitchFamily="18" charset="0"/>
                <a:ea typeface="宋体" pitchFamily="2" charset="-122"/>
              </a:rPr>
              <a:t>2.6  </a:t>
            </a:r>
            <a:r>
              <a:rPr lang="zh-CN" altLang="en-US" sz="2800" b="1" dirty="0">
                <a:latin typeface="Times New Roman" panose="02020503050405090304" pitchFamily="18" charset="0"/>
                <a:ea typeface="宋体" pitchFamily="2" charset="-122"/>
              </a:rPr>
              <a:t>设</a:t>
            </a:r>
            <a:r>
              <a:rPr lang="en-US" altLang="zh-CN" sz="2800" b="1" i="1" dirty="0">
                <a:latin typeface="Times New Roman" panose="02020503050405090304" pitchFamily="18" charset="0"/>
                <a:ea typeface="宋体" pitchFamily="2" charset="-122"/>
              </a:rPr>
              <a:t>P</a:t>
            </a:r>
            <a:r>
              <a:rPr lang="zh-CN" altLang="en-US" sz="2800" b="1" dirty="0">
                <a:latin typeface="Times New Roman" panose="02020503050405090304" pitchFamily="18" charset="0"/>
                <a:ea typeface="宋体" pitchFamily="2" charset="-122"/>
              </a:rPr>
              <a:t>与</a:t>
            </a:r>
            <a:r>
              <a:rPr lang="en-US" altLang="zh-CN" sz="2800" b="1" i="1" dirty="0">
                <a:latin typeface="Times New Roman" panose="02020503050405090304" pitchFamily="18" charset="0"/>
                <a:ea typeface="宋体" pitchFamily="2" charset="-122"/>
              </a:rPr>
              <a:t>Q</a:t>
            </a:r>
            <a:r>
              <a:rPr lang="zh-CN" altLang="en-US" sz="2800" b="1" dirty="0">
                <a:latin typeface="Times New Roman" panose="02020503050405090304" pitchFamily="18" charset="0"/>
                <a:ea typeface="宋体" pitchFamily="2" charset="-122"/>
              </a:rPr>
              <a:t>是两个谓词公式，</a:t>
            </a:r>
            <a:r>
              <a:rPr lang="en-US" altLang="zh-CN" sz="2800" b="1" i="1" dirty="0">
                <a:latin typeface="Times New Roman" panose="02020503050405090304" pitchFamily="18" charset="0"/>
                <a:ea typeface="宋体" pitchFamily="2" charset="-122"/>
              </a:rPr>
              <a:t>D</a:t>
            </a:r>
            <a:r>
              <a:rPr lang="zh-CN" altLang="en-US" sz="2800" b="1" dirty="0">
                <a:latin typeface="Times New Roman" panose="02020503050405090304" pitchFamily="18" charset="0"/>
                <a:ea typeface="宋体" pitchFamily="2" charset="-122"/>
              </a:rPr>
              <a:t>是它们共同的个体域，若对</a:t>
            </a:r>
            <a:r>
              <a:rPr lang="en-US" altLang="zh-CN" sz="2800" b="1" i="1" dirty="0">
                <a:latin typeface="Times New Roman" panose="02020503050405090304" pitchFamily="18" charset="0"/>
                <a:ea typeface="宋体" pitchFamily="2" charset="-122"/>
              </a:rPr>
              <a:t>D</a:t>
            </a:r>
            <a:r>
              <a:rPr lang="zh-CN" altLang="en-US" sz="2800" b="1" dirty="0">
                <a:latin typeface="Times New Roman" panose="02020503050405090304" pitchFamily="18" charset="0"/>
                <a:ea typeface="宋体" pitchFamily="2" charset="-122"/>
              </a:rPr>
              <a:t>上的任何一个解释，</a:t>
            </a:r>
            <a:r>
              <a:rPr lang="en-US" altLang="zh-CN" sz="2800" b="1" i="1" dirty="0">
                <a:latin typeface="Times New Roman" panose="02020503050405090304" pitchFamily="18" charset="0"/>
                <a:ea typeface="宋体" pitchFamily="2" charset="-122"/>
              </a:rPr>
              <a:t>P</a:t>
            </a:r>
            <a:r>
              <a:rPr lang="zh-CN" altLang="en-US" sz="2800" b="1" dirty="0">
                <a:latin typeface="Times New Roman" panose="02020503050405090304" pitchFamily="18" charset="0"/>
                <a:ea typeface="宋体" pitchFamily="2" charset="-122"/>
              </a:rPr>
              <a:t>与</a:t>
            </a:r>
            <a:r>
              <a:rPr lang="en-US" altLang="zh-CN" sz="2800" b="1" i="1" dirty="0">
                <a:latin typeface="Times New Roman" panose="02020503050405090304" pitchFamily="18" charset="0"/>
                <a:ea typeface="宋体" pitchFamily="2" charset="-122"/>
              </a:rPr>
              <a:t>Q</a:t>
            </a:r>
            <a:r>
              <a:rPr lang="zh-CN" altLang="en-US" sz="2800" b="1" dirty="0">
                <a:latin typeface="Times New Roman" panose="02020503050405090304" pitchFamily="18" charset="0"/>
                <a:ea typeface="宋体" pitchFamily="2" charset="-122"/>
              </a:rPr>
              <a:t>都有相同的真值，则称公式</a:t>
            </a:r>
            <a:r>
              <a:rPr lang="en-US" altLang="zh-CN" sz="2800" b="1" i="1" dirty="0">
                <a:latin typeface="Times New Roman" panose="02020503050405090304" pitchFamily="18" charset="0"/>
                <a:ea typeface="宋体" pitchFamily="2" charset="-122"/>
              </a:rPr>
              <a:t>P</a:t>
            </a:r>
            <a:r>
              <a:rPr lang="zh-CN" altLang="en-US" sz="2800" b="1" dirty="0">
                <a:latin typeface="Times New Roman" panose="02020503050405090304" pitchFamily="18" charset="0"/>
                <a:ea typeface="宋体" pitchFamily="2" charset="-122"/>
              </a:rPr>
              <a:t>和</a:t>
            </a:r>
            <a:r>
              <a:rPr lang="en-US" altLang="zh-CN" sz="2800" b="1" i="1" dirty="0">
                <a:latin typeface="Times New Roman" panose="02020503050405090304" pitchFamily="18" charset="0"/>
                <a:ea typeface="宋体" pitchFamily="2" charset="-122"/>
              </a:rPr>
              <a:t>Q</a:t>
            </a:r>
            <a:r>
              <a:rPr lang="zh-CN" altLang="en-US" sz="2800" b="1" dirty="0">
                <a:latin typeface="Times New Roman" panose="02020503050405090304" pitchFamily="18" charset="0"/>
                <a:ea typeface="宋体" pitchFamily="2" charset="-122"/>
              </a:rPr>
              <a:t>在</a:t>
            </a:r>
            <a:r>
              <a:rPr lang="en-US" altLang="zh-CN" sz="2800" b="1" i="1" dirty="0">
                <a:latin typeface="Times New Roman" panose="02020503050405090304" pitchFamily="18" charset="0"/>
                <a:ea typeface="宋体" pitchFamily="2" charset="-122"/>
              </a:rPr>
              <a:t>D</a:t>
            </a:r>
            <a:r>
              <a:rPr lang="zh-CN" altLang="en-US" sz="2800" b="1" dirty="0">
                <a:latin typeface="Times New Roman" panose="02020503050405090304" pitchFamily="18" charset="0"/>
                <a:ea typeface="宋体" pitchFamily="2" charset="-122"/>
              </a:rPr>
              <a:t>上是等价的。如果</a:t>
            </a:r>
            <a:r>
              <a:rPr lang="en-US" altLang="zh-CN" sz="2800" b="1" i="1" dirty="0">
                <a:latin typeface="Times New Roman" panose="02020503050405090304" pitchFamily="18" charset="0"/>
                <a:ea typeface="宋体" pitchFamily="2" charset="-122"/>
              </a:rPr>
              <a:t>D</a:t>
            </a:r>
            <a:r>
              <a:rPr lang="zh-CN" altLang="en-US" sz="2800" b="1" dirty="0">
                <a:latin typeface="Times New Roman" panose="02020503050405090304" pitchFamily="18" charset="0"/>
                <a:ea typeface="宋体" pitchFamily="2" charset="-122"/>
              </a:rPr>
              <a:t>是任意个体域，则称</a:t>
            </a:r>
            <a:r>
              <a:rPr lang="en-US" altLang="zh-CN" sz="2800" b="1" i="1" dirty="0">
                <a:latin typeface="Times New Roman" panose="02020503050405090304" pitchFamily="18" charset="0"/>
                <a:ea typeface="宋体" pitchFamily="2" charset="-122"/>
              </a:rPr>
              <a:t>P</a:t>
            </a:r>
            <a:r>
              <a:rPr lang="zh-CN" altLang="en-US" sz="2800" b="1" dirty="0">
                <a:latin typeface="Times New Roman" panose="02020503050405090304" pitchFamily="18" charset="0"/>
                <a:ea typeface="宋体" pitchFamily="2" charset="-122"/>
              </a:rPr>
              <a:t>和</a:t>
            </a:r>
            <a:r>
              <a:rPr lang="en-US" altLang="zh-CN" sz="2800" b="1" i="1" dirty="0">
                <a:latin typeface="Times New Roman" panose="02020503050405090304" pitchFamily="18" charset="0"/>
                <a:ea typeface="宋体" pitchFamily="2" charset="-122"/>
              </a:rPr>
              <a:t>Q</a:t>
            </a:r>
            <a:r>
              <a:rPr lang="zh-CN" altLang="en-US" sz="2800" b="1" dirty="0">
                <a:latin typeface="Times New Roman" panose="02020503050405090304" pitchFamily="18" charset="0"/>
                <a:ea typeface="宋体" pitchFamily="2" charset="-122"/>
              </a:rPr>
              <a:t>是等价的，记为</a:t>
            </a:r>
            <a:r>
              <a:rPr lang="en-US" altLang="zh-CN" sz="2800" b="1" i="1" dirty="0">
                <a:latin typeface="Times New Roman" panose="02020503050405090304" pitchFamily="18" charset="0"/>
                <a:ea typeface="宋体" pitchFamily="2" charset="-122"/>
              </a:rPr>
              <a:t>P</a:t>
            </a:r>
            <a:r>
              <a:rPr lang="en-US" altLang="zh-CN" sz="2800" b="1" dirty="0">
                <a:latin typeface="Times New Roman" panose="02020503050405090304" pitchFamily="18" charset="0"/>
                <a:ea typeface="宋体" pitchFamily="2" charset="-122"/>
              </a:rPr>
              <a:t>        </a:t>
            </a:r>
            <a:r>
              <a:rPr lang="en-US" altLang="zh-CN" sz="2800" b="1" i="1" dirty="0">
                <a:latin typeface="Times New Roman" panose="02020503050405090304" pitchFamily="18" charset="0"/>
                <a:ea typeface="宋体" pitchFamily="2" charset="-122"/>
              </a:rPr>
              <a:t>Q</a:t>
            </a:r>
            <a:r>
              <a:rPr lang="en-US" altLang="zh-CN" dirty="0">
                <a:latin typeface="Arial" panose="020B0604020202090204" pitchFamily="34" charset="0"/>
                <a:ea typeface="宋体" pitchFamily="2" charset="-122"/>
              </a:rPr>
              <a:t> </a:t>
            </a:r>
            <a:r>
              <a:rPr lang="zh-CN" altLang="en-US" sz="2800" b="1" dirty="0">
                <a:latin typeface="Times New Roman" panose="02020503050405090304" pitchFamily="18" charset="0"/>
                <a:ea typeface="宋体" pitchFamily="2" charset="-122"/>
              </a:rPr>
              <a:t>。</a:t>
            </a:r>
            <a:endParaRPr lang="zh-CN" altLang="en-US" sz="2800" b="1" dirty="0">
              <a:latin typeface="Times New Roman" panose="02020503050405090304" pitchFamily="18" charset="0"/>
              <a:ea typeface="宋体" pitchFamily="2" charset="-122"/>
            </a:endParaRPr>
          </a:p>
          <a:p>
            <a:pPr algn="just">
              <a:lnSpc>
                <a:spcPct val="130000"/>
              </a:lnSpc>
              <a:spcBef>
                <a:spcPct val="50000"/>
              </a:spcBef>
              <a:buClr>
                <a:schemeClr val="accent2"/>
              </a:buClr>
              <a:buFont typeface="Wingdings" panose="05000000000000000000" pitchFamily="2" charset="2"/>
              <a:buChar char="§"/>
            </a:pPr>
            <a:r>
              <a:rPr lang="zh-CN" altLang="en-US" sz="2800" b="1" dirty="0">
                <a:latin typeface="宋体" pitchFamily="2" charset="-122"/>
                <a:ea typeface="宋体" pitchFamily="2" charset="-122"/>
              </a:rPr>
              <a:t>（</a:t>
            </a:r>
            <a:r>
              <a:rPr lang="en-US" altLang="zh-CN" sz="2800" b="1" dirty="0">
                <a:latin typeface="Times New Roman" panose="02020503050405090304" pitchFamily="18" charset="0"/>
                <a:ea typeface="宋体" pitchFamily="2" charset="-122"/>
              </a:rPr>
              <a:t>4</a:t>
            </a:r>
            <a:r>
              <a:rPr lang="zh-CN" altLang="en-US" sz="2800" b="1" dirty="0">
                <a:latin typeface="宋体" pitchFamily="2" charset="-122"/>
                <a:ea typeface="宋体" pitchFamily="2" charset="-122"/>
              </a:rPr>
              <a:t>）德</a:t>
            </a:r>
            <a:r>
              <a:rPr lang="en-US" altLang="zh-CN" sz="2800" b="1" dirty="0">
                <a:latin typeface="Times New Roman" panose="02020503050405090304" pitchFamily="18" charset="0"/>
                <a:ea typeface="宋体" pitchFamily="2" charset="-122"/>
              </a:rPr>
              <a:t>.</a:t>
            </a:r>
            <a:r>
              <a:rPr lang="zh-CN" altLang="en-US" sz="2800" b="1" dirty="0">
                <a:latin typeface="宋体" pitchFamily="2" charset="-122"/>
                <a:ea typeface="宋体" pitchFamily="2" charset="-122"/>
              </a:rPr>
              <a:t>摩根律</a:t>
            </a:r>
            <a:r>
              <a:rPr lang="en-US" altLang="zh-CN" sz="2800" b="1" dirty="0">
                <a:latin typeface="Times New Roman" panose="02020503050405090304" pitchFamily="18" charset="0"/>
                <a:ea typeface="宋体" pitchFamily="2" charset="-122"/>
              </a:rPr>
              <a:t>(De. Morgen) </a:t>
            </a:r>
            <a:endParaRPr lang="en-US" altLang="zh-CN" sz="2800" b="1" dirty="0">
              <a:latin typeface="Times New Roman" panose="02020503050405090304" pitchFamily="18" charset="0"/>
              <a:ea typeface="宋体" pitchFamily="2" charset="-122"/>
            </a:endParaRPr>
          </a:p>
          <a:p>
            <a:pPr algn="just">
              <a:lnSpc>
                <a:spcPct val="130000"/>
              </a:lnSpc>
              <a:spcBef>
                <a:spcPct val="50000"/>
              </a:spcBef>
              <a:buClr>
                <a:schemeClr val="accent2"/>
              </a:buClr>
              <a:buFont typeface="Wingdings" panose="05000000000000000000" pitchFamily="2" charset="2"/>
              <a:buChar char="§"/>
            </a:pPr>
            <a:r>
              <a:rPr lang="zh-CN" altLang="en-US" sz="2800" b="1" dirty="0">
                <a:latin typeface="宋体" pitchFamily="2" charset="-122"/>
                <a:ea typeface="宋体" pitchFamily="2" charset="-122"/>
              </a:rPr>
              <a:t>（</a:t>
            </a:r>
            <a:r>
              <a:rPr lang="en-US" altLang="zh-CN" sz="2800" b="1" dirty="0">
                <a:latin typeface="Times New Roman" panose="02020503050405090304" pitchFamily="18" charset="0"/>
                <a:ea typeface="宋体" pitchFamily="2" charset="-122"/>
              </a:rPr>
              <a:t>8</a:t>
            </a:r>
            <a:r>
              <a:rPr lang="zh-CN" altLang="en-US" sz="2800" b="1" dirty="0">
                <a:latin typeface="宋体" pitchFamily="2" charset="-122"/>
                <a:ea typeface="宋体" pitchFamily="2" charset="-122"/>
              </a:rPr>
              <a:t>）连接词化规律（蕴含、等价等值式）</a:t>
            </a:r>
            <a:r>
              <a:rPr lang="zh-CN" altLang="en-US" sz="2800" b="1" dirty="0">
                <a:latin typeface="Times New Roman" panose="02020503050405090304" pitchFamily="18" charset="0"/>
                <a:ea typeface="宋体" pitchFamily="2" charset="-122"/>
              </a:rPr>
              <a:t> </a:t>
            </a:r>
            <a:endParaRPr lang="zh-CN" altLang="en-US" sz="2800" b="1" dirty="0">
              <a:latin typeface="Times New Roman" panose="02020503050405090304" pitchFamily="18" charset="0"/>
              <a:ea typeface="宋体" pitchFamily="2" charset="-122"/>
            </a:endParaRPr>
          </a:p>
          <a:p>
            <a:pPr algn="just">
              <a:lnSpc>
                <a:spcPct val="130000"/>
              </a:lnSpc>
              <a:spcBef>
                <a:spcPct val="50000"/>
              </a:spcBef>
              <a:buClr>
                <a:schemeClr val="accent2"/>
              </a:buClr>
              <a:buFont typeface="Wingdings" panose="05000000000000000000" pitchFamily="2" charset="2"/>
              <a:buChar char="§"/>
            </a:pPr>
            <a:r>
              <a:rPr lang="zh-CN" altLang="en-US" sz="2800" b="1" dirty="0">
                <a:latin typeface="宋体" pitchFamily="2" charset="-122"/>
                <a:ea typeface="宋体" pitchFamily="2" charset="-122"/>
              </a:rPr>
              <a:t>（</a:t>
            </a:r>
            <a:r>
              <a:rPr lang="en-US" altLang="zh-CN" sz="2800" b="1" dirty="0">
                <a:latin typeface="Times New Roman" panose="02020503050405090304" pitchFamily="18" charset="0"/>
                <a:ea typeface="宋体" pitchFamily="2" charset="-122"/>
              </a:rPr>
              <a:t>10</a:t>
            </a:r>
            <a:r>
              <a:rPr lang="zh-CN" altLang="en-US" sz="2800" b="1" dirty="0">
                <a:latin typeface="宋体" pitchFamily="2" charset="-122"/>
                <a:ea typeface="宋体" pitchFamily="2" charset="-122"/>
              </a:rPr>
              <a:t>）量词转换律</a:t>
            </a:r>
            <a:r>
              <a:rPr lang="zh-CN" altLang="en-US" sz="2800" b="1" dirty="0">
                <a:latin typeface="Times New Roman" panose="02020503050405090304" pitchFamily="18" charset="0"/>
                <a:ea typeface="宋体" pitchFamily="2" charset="-122"/>
              </a:rPr>
              <a:t> </a:t>
            </a:r>
            <a:endParaRPr lang="zh-CN" altLang="en-US" sz="2800" b="1" dirty="0">
              <a:latin typeface="Times New Roman" panose="02020503050405090304" pitchFamily="18" charset="0"/>
              <a:ea typeface="Times New Roman" panose="02020503050405090304" pitchFamily="18" charset="0"/>
            </a:endParaRPr>
          </a:p>
        </p:txBody>
      </p:sp>
      <p:graphicFrame>
        <p:nvGraphicFramePr>
          <p:cNvPr id="34822" name="Object 4"/>
          <p:cNvGraphicFramePr>
            <a:graphicFrameLocks noChangeAspect="1"/>
          </p:cNvGraphicFramePr>
          <p:nvPr/>
        </p:nvGraphicFramePr>
        <p:xfrm>
          <a:off x="5810250" y="3517900"/>
          <a:ext cx="533400" cy="371475"/>
        </p:xfrm>
        <a:graphic>
          <a:graphicData uri="http://schemas.openxmlformats.org/presentationml/2006/ole">
            <mc:AlternateContent xmlns:mc="http://schemas.openxmlformats.org/markup-compatibility/2006">
              <mc:Choice xmlns:v="urn:schemas-microsoft-com:vml" Requires="v">
                <p:oleObj spid="_x0000_s3100" name="" r:id="rId1" imgW="215900" imgH="152400" progId="Equation.3">
                  <p:embed/>
                </p:oleObj>
              </mc:Choice>
              <mc:Fallback>
                <p:oleObj name="" r:id="rId1" imgW="215900" imgH="152400" progId="Equation.3">
                  <p:embed/>
                  <p:pic>
                    <p:nvPicPr>
                      <p:cNvPr id="0" name="图片 3099"/>
                      <p:cNvPicPr/>
                      <p:nvPr/>
                    </p:nvPicPr>
                    <p:blipFill>
                      <a:blip r:embed="rId2"/>
                      <a:stretch>
                        <a:fillRect/>
                      </a:stretch>
                    </p:blipFill>
                    <p:spPr>
                      <a:xfrm>
                        <a:off x="5810250" y="3517900"/>
                        <a:ext cx="533400" cy="371475"/>
                      </a:xfrm>
                      <a:prstGeom prst="rect">
                        <a:avLst/>
                      </a:prstGeom>
                      <a:noFill/>
                      <a:ln w="38100">
                        <a:noFill/>
                        <a:miter/>
                      </a:ln>
                    </p:spPr>
                  </p:pic>
                </p:oleObj>
              </mc:Fallback>
            </mc:AlternateContent>
          </a:graphicData>
        </a:graphic>
      </p:graphicFrame>
      <p:sp>
        <p:nvSpPr>
          <p:cNvPr id="34823" name="Rectangle 7"/>
          <p:cNvSpPr/>
          <p:nvPr/>
        </p:nvSpPr>
        <p:spPr>
          <a:xfrm>
            <a:off x="0" y="3352800"/>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Tree>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5842" name="Rectangle 3"/>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2.2.4  </a:t>
            </a:r>
            <a:r>
              <a:rPr lang="zh-CN" altLang="en-US" dirty="0">
                <a:latin typeface="Times New Roman" panose="02020503050405090304" pitchFamily="18" charset="0"/>
              </a:rPr>
              <a:t>谓词公式的性质</a:t>
            </a:r>
            <a:endParaRPr lang="zh-CN" altLang="en-US" dirty="0">
              <a:latin typeface="Times New Roman" panose="02020503050405090304" pitchFamily="18" charset="0"/>
            </a:endParaRPr>
          </a:p>
        </p:txBody>
      </p:sp>
      <p:sp>
        <p:nvSpPr>
          <p:cNvPr id="35843" name="Rectangle 4"/>
          <p:cNvSpPr>
            <a:spLocks noGrp="1"/>
          </p:cNvSpPr>
          <p:nvPr>
            <p:ph idx="1"/>
          </p:nvPr>
        </p:nvSpPr>
        <p:spPr>
          <a:xfrm>
            <a:off x="265113" y="1008063"/>
            <a:ext cx="8642350" cy="5400675"/>
          </a:xfrm>
        </p:spPr>
        <p:txBody>
          <a:bodyPr vert="horz" wrap="square" lIns="91440" tIns="45720" rIns="91440" bIns="45720" anchor="t" anchorCtr="0"/>
          <a:p>
            <a:pPr marL="571500" indent="-571500" eaLnBrk="1" hangingPunct="1">
              <a:buNone/>
            </a:pPr>
            <a:r>
              <a:rPr lang="en-US" altLang="zh-CN" b="1" dirty="0">
                <a:latin typeface="Times New Roman" panose="02020503050405090304" pitchFamily="18" charset="0"/>
              </a:rPr>
              <a:t>4. </a:t>
            </a:r>
            <a:r>
              <a:rPr lang="zh-CN" altLang="en-US" b="1" dirty="0">
                <a:latin typeface="Times New Roman" panose="02020503050405090304" pitchFamily="18" charset="0"/>
              </a:rPr>
              <a:t>谓词公式</a:t>
            </a:r>
            <a:r>
              <a:rPr lang="zh-CN" altLang="en-US" b="1" dirty="0"/>
              <a:t>的永真蕴含</a:t>
            </a:r>
            <a:endParaRPr lang="zh-CN" altLang="en-US" b="1" dirty="0"/>
          </a:p>
        </p:txBody>
      </p:sp>
      <p:sp>
        <p:nvSpPr>
          <p:cNvPr id="35844" name="Rectangle 5"/>
          <p:cNvSpPr/>
          <p:nvPr/>
        </p:nvSpPr>
        <p:spPr>
          <a:xfrm>
            <a:off x="0" y="3352800"/>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35845" name="Rectangle 7"/>
          <p:cNvSpPr/>
          <p:nvPr/>
        </p:nvSpPr>
        <p:spPr>
          <a:xfrm>
            <a:off x="0" y="3352800"/>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35847" name="Text Box 2"/>
          <p:cNvSpPr txBox="1"/>
          <p:nvPr/>
        </p:nvSpPr>
        <p:spPr>
          <a:xfrm>
            <a:off x="334963" y="1841500"/>
            <a:ext cx="8550275" cy="3692525"/>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a:lnSpc>
                <a:spcPct val="130000"/>
              </a:lnSpc>
              <a:spcBef>
                <a:spcPct val="20000"/>
              </a:spcBef>
              <a:buClr>
                <a:schemeClr val="accent2"/>
              </a:buClr>
              <a:buFont typeface="Wingdings" panose="05000000000000000000" pitchFamily="2" charset="2"/>
              <a:buChar char="•"/>
            </a:pPr>
            <a:r>
              <a:rPr lang="en-US" altLang="zh-CN" sz="2800" b="1" dirty="0">
                <a:latin typeface="Arial" panose="020B0604020202090204" pitchFamily="34" charset="0"/>
                <a:ea typeface="宋体" pitchFamily="2" charset="-122"/>
              </a:rPr>
              <a:t> </a:t>
            </a:r>
            <a:r>
              <a:rPr lang="zh-CN" altLang="en-US" sz="2800" b="1" dirty="0">
                <a:latin typeface="Times New Roman" panose="02020503050405090304" pitchFamily="18" charset="0"/>
                <a:ea typeface="宋体" pitchFamily="2" charset="-122"/>
              </a:rPr>
              <a:t>定义</a:t>
            </a:r>
            <a:r>
              <a:rPr lang="en-US" altLang="zh-CN" sz="2800" b="1" dirty="0">
                <a:latin typeface="Times New Roman" panose="02020503050405090304" pitchFamily="18" charset="0"/>
                <a:ea typeface="宋体" pitchFamily="2" charset="-122"/>
              </a:rPr>
              <a:t>2.7  </a:t>
            </a:r>
            <a:r>
              <a:rPr lang="zh-CN" altLang="en-US" sz="2800" b="1" dirty="0">
                <a:latin typeface="Times New Roman" panose="02020503050405090304" pitchFamily="18" charset="0"/>
                <a:ea typeface="宋体" pitchFamily="2" charset="-122"/>
              </a:rPr>
              <a:t>对于谓词公式</a:t>
            </a:r>
            <a:r>
              <a:rPr lang="en-US" altLang="zh-CN" sz="2800" b="1" i="1" dirty="0">
                <a:latin typeface="Times New Roman" panose="02020503050405090304" pitchFamily="18" charset="0"/>
                <a:ea typeface="宋体" pitchFamily="2" charset="-122"/>
              </a:rPr>
              <a:t>P</a:t>
            </a:r>
            <a:r>
              <a:rPr lang="zh-CN" altLang="en-US" sz="2800" b="1" dirty="0">
                <a:latin typeface="Times New Roman" panose="02020503050405090304" pitchFamily="18" charset="0"/>
                <a:ea typeface="宋体" pitchFamily="2" charset="-122"/>
              </a:rPr>
              <a:t>与</a:t>
            </a:r>
            <a:r>
              <a:rPr lang="en-US" altLang="zh-CN" sz="2800" b="1" i="1" dirty="0">
                <a:latin typeface="Times New Roman" panose="02020503050405090304" pitchFamily="18" charset="0"/>
                <a:ea typeface="宋体" pitchFamily="2" charset="-122"/>
              </a:rPr>
              <a:t>Q</a:t>
            </a:r>
            <a:r>
              <a:rPr lang="zh-CN" altLang="en-US" sz="2800" b="1" dirty="0">
                <a:latin typeface="Times New Roman" panose="02020503050405090304" pitchFamily="18" charset="0"/>
                <a:ea typeface="宋体" pitchFamily="2" charset="-122"/>
              </a:rPr>
              <a:t>，如果</a:t>
            </a:r>
            <a:r>
              <a:rPr lang="en-US" altLang="zh-CN" sz="2800" b="1" i="1" dirty="0">
                <a:latin typeface="Times New Roman" panose="02020503050405090304" pitchFamily="18" charset="0"/>
                <a:ea typeface="宋体" pitchFamily="2" charset="-122"/>
              </a:rPr>
              <a:t>P</a:t>
            </a:r>
            <a:r>
              <a:rPr lang="en-US" altLang="en-US" sz="2400" b="1" dirty="0">
                <a:latin typeface="Arial" panose="020B0604020202090204" pitchFamily="34" charset="0"/>
                <a:ea typeface="宋体" pitchFamily="2" charset="-122"/>
                <a:sym typeface="Wingdings" panose="05000000000000000000" pitchFamily="2" charset="2"/>
              </a:rPr>
              <a:t>→</a:t>
            </a:r>
            <a:r>
              <a:rPr lang="en-US" altLang="zh-CN" sz="2800" b="1" i="1" dirty="0">
                <a:latin typeface="Times New Roman" panose="02020503050405090304" pitchFamily="18" charset="0"/>
                <a:ea typeface="宋体" pitchFamily="2" charset="-122"/>
              </a:rPr>
              <a:t>Q</a:t>
            </a:r>
            <a:r>
              <a:rPr lang="zh-CN" altLang="en-US" sz="2800" b="1" dirty="0">
                <a:latin typeface="Times New Roman" panose="02020503050405090304" pitchFamily="18" charset="0"/>
                <a:ea typeface="宋体" pitchFamily="2" charset="-122"/>
              </a:rPr>
              <a:t>永真，则称公式</a:t>
            </a:r>
            <a:r>
              <a:rPr lang="en-US" altLang="zh-CN" sz="2800" b="1" i="1" dirty="0">
                <a:latin typeface="Times New Roman" panose="02020503050405090304" pitchFamily="18" charset="0"/>
                <a:ea typeface="宋体" pitchFamily="2" charset="-122"/>
              </a:rPr>
              <a:t>P</a:t>
            </a:r>
            <a:r>
              <a:rPr lang="zh-CN" altLang="en-US" sz="2800" b="1" dirty="0">
                <a:latin typeface="Times New Roman" panose="02020503050405090304" pitchFamily="18" charset="0"/>
                <a:ea typeface="宋体" pitchFamily="2" charset="-122"/>
              </a:rPr>
              <a:t>永真蕴含</a:t>
            </a:r>
            <a:r>
              <a:rPr lang="en-US" altLang="zh-CN" sz="2800" b="1" i="1" dirty="0">
                <a:latin typeface="Times New Roman" panose="02020503050405090304" pitchFamily="18" charset="0"/>
                <a:ea typeface="宋体" pitchFamily="2" charset="-122"/>
              </a:rPr>
              <a:t>Q</a:t>
            </a:r>
            <a:r>
              <a:rPr lang="zh-CN" altLang="en-US" sz="2800" b="1" dirty="0">
                <a:latin typeface="Times New Roman" panose="02020503050405090304" pitchFamily="18" charset="0"/>
                <a:ea typeface="宋体" pitchFamily="2" charset="-122"/>
              </a:rPr>
              <a:t>，且称</a:t>
            </a:r>
            <a:r>
              <a:rPr lang="en-US" altLang="zh-CN" sz="2800" b="1" i="1" dirty="0">
                <a:latin typeface="Times New Roman" panose="02020503050405090304" pitchFamily="18" charset="0"/>
                <a:ea typeface="宋体" pitchFamily="2" charset="-122"/>
              </a:rPr>
              <a:t>Q</a:t>
            </a:r>
            <a:r>
              <a:rPr lang="zh-CN" altLang="en-US" sz="2800" b="1" dirty="0">
                <a:latin typeface="Times New Roman" panose="02020503050405090304" pitchFamily="18" charset="0"/>
                <a:ea typeface="宋体" pitchFamily="2" charset="-122"/>
              </a:rPr>
              <a:t>为</a:t>
            </a:r>
            <a:r>
              <a:rPr lang="en-US" altLang="zh-CN" sz="2800" b="1" i="1" dirty="0">
                <a:latin typeface="Times New Roman" panose="02020503050405090304" pitchFamily="18" charset="0"/>
                <a:ea typeface="宋体" pitchFamily="2" charset="-122"/>
              </a:rPr>
              <a:t>P</a:t>
            </a:r>
            <a:r>
              <a:rPr lang="zh-CN" altLang="en-US" sz="2800" b="1" dirty="0">
                <a:latin typeface="Times New Roman" panose="02020503050405090304" pitchFamily="18" charset="0"/>
                <a:ea typeface="宋体" pitchFamily="2" charset="-122"/>
              </a:rPr>
              <a:t>的逻辑结论，称</a:t>
            </a:r>
            <a:r>
              <a:rPr lang="en-US" altLang="zh-CN" sz="2800" b="1" i="1" dirty="0">
                <a:latin typeface="Times New Roman" panose="02020503050405090304" pitchFamily="18" charset="0"/>
                <a:ea typeface="宋体" pitchFamily="2" charset="-122"/>
              </a:rPr>
              <a:t>P</a:t>
            </a:r>
            <a:r>
              <a:rPr lang="zh-CN" altLang="en-US" sz="2800" b="1" dirty="0">
                <a:latin typeface="Times New Roman" panose="02020503050405090304" pitchFamily="18" charset="0"/>
                <a:ea typeface="宋体" pitchFamily="2" charset="-122"/>
              </a:rPr>
              <a:t>为</a:t>
            </a:r>
            <a:r>
              <a:rPr lang="en-US" altLang="zh-CN" sz="2800" b="1" i="1" dirty="0">
                <a:latin typeface="Times New Roman" panose="02020503050405090304" pitchFamily="18" charset="0"/>
                <a:ea typeface="宋体" pitchFamily="2" charset="-122"/>
              </a:rPr>
              <a:t>Q</a:t>
            </a:r>
            <a:r>
              <a:rPr lang="zh-CN" altLang="en-US" sz="2800" b="1" dirty="0">
                <a:latin typeface="Times New Roman" panose="02020503050405090304" pitchFamily="18" charset="0"/>
                <a:ea typeface="宋体" pitchFamily="2" charset="-122"/>
              </a:rPr>
              <a:t>的前提，记为</a:t>
            </a:r>
            <a:r>
              <a:rPr lang="en-US" altLang="zh-CN" sz="2800" b="1" i="1" dirty="0">
                <a:latin typeface="Times New Roman" panose="02020503050405090304" pitchFamily="18" charset="0"/>
                <a:ea typeface="宋体" pitchFamily="2" charset="-122"/>
              </a:rPr>
              <a:t>P</a:t>
            </a:r>
            <a:r>
              <a:rPr lang="en-US" altLang="zh-CN" sz="2800" b="1" dirty="0">
                <a:latin typeface="Times New Roman" panose="02020503050405090304" pitchFamily="18" charset="0"/>
                <a:ea typeface="宋体" pitchFamily="2" charset="-122"/>
              </a:rPr>
              <a:t>       </a:t>
            </a:r>
            <a:r>
              <a:rPr lang="en-US" altLang="zh-CN" sz="2800" b="1" i="1" dirty="0">
                <a:latin typeface="Times New Roman" panose="02020503050405090304" pitchFamily="18" charset="0"/>
                <a:ea typeface="宋体" pitchFamily="2" charset="-122"/>
              </a:rPr>
              <a:t>Q</a:t>
            </a:r>
            <a:r>
              <a:rPr lang="zh-CN" altLang="en-US" sz="2800" b="1" dirty="0">
                <a:latin typeface="Times New Roman" panose="02020503050405090304" pitchFamily="18" charset="0"/>
                <a:ea typeface="宋体" pitchFamily="2" charset="-122"/>
              </a:rPr>
              <a:t>。</a:t>
            </a:r>
            <a:endParaRPr lang="zh-CN" altLang="en-US" sz="2800" b="1" dirty="0">
              <a:latin typeface="Times New Roman" panose="02020503050405090304" pitchFamily="18" charset="0"/>
              <a:ea typeface="宋体" pitchFamily="2" charset="-122"/>
            </a:endParaRPr>
          </a:p>
          <a:p>
            <a:pPr algn="just">
              <a:lnSpc>
                <a:spcPct val="130000"/>
              </a:lnSpc>
              <a:spcBef>
                <a:spcPct val="20000"/>
              </a:spcBef>
              <a:buClr>
                <a:schemeClr val="accent2"/>
              </a:buClr>
              <a:buFont typeface="Wingdings" panose="05000000000000000000" pitchFamily="2" charset="2"/>
              <a:buChar char="•"/>
            </a:pPr>
            <a:r>
              <a:rPr lang="zh-CN" altLang="en-US" sz="2800" b="1" dirty="0">
                <a:latin typeface="宋体" pitchFamily="2" charset="-122"/>
                <a:ea typeface="宋体" pitchFamily="2" charset="-122"/>
              </a:rPr>
              <a:t>（</a:t>
            </a:r>
            <a:r>
              <a:rPr lang="en-US" altLang="zh-CN" sz="2800" b="1" dirty="0">
                <a:latin typeface="Times New Roman" panose="02020503050405090304" pitchFamily="18" charset="0"/>
                <a:ea typeface="宋体" pitchFamily="2" charset="-122"/>
              </a:rPr>
              <a:t>3</a:t>
            </a:r>
            <a:r>
              <a:rPr lang="zh-CN" altLang="en-US" sz="2800" b="1" dirty="0">
                <a:latin typeface="宋体" pitchFamily="2" charset="-122"/>
                <a:ea typeface="宋体" pitchFamily="2" charset="-122"/>
              </a:rPr>
              <a:t>）假言推理</a:t>
            </a:r>
            <a:r>
              <a:rPr lang="zh-CN" altLang="en-US" sz="2800" b="1" dirty="0">
                <a:latin typeface="Arial" panose="020B0604020202090204" pitchFamily="34" charset="0"/>
                <a:ea typeface="宋体" pitchFamily="2" charset="-122"/>
              </a:rPr>
              <a:t> </a:t>
            </a:r>
            <a:endParaRPr lang="zh-CN" altLang="en-US" sz="2800" b="1" dirty="0">
              <a:latin typeface="Arial" panose="020B0604020202090204" pitchFamily="34" charset="0"/>
              <a:ea typeface="宋体" pitchFamily="2" charset="-122"/>
            </a:endParaRPr>
          </a:p>
          <a:p>
            <a:pPr algn="just">
              <a:lnSpc>
                <a:spcPct val="130000"/>
              </a:lnSpc>
              <a:spcBef>
                <a:spcPct val="20000"/>
              </a:spcBef>
              <a:buClr>
                <a:schemeClr val="accent2"/>
              </a:buClr>
              <a:buFont typeface="Wingdings" panose="05000000000000000000" pitchFamily="2" charset="2"/>
              <a:buChar char="•"/>
            </a:pPr>
            <a:r>
              <a:rPr lang="zh-CN" altLang="en-US" sz="2800" b="1" dirty="0">
                <a:latin typeface="宋体" pitchFamily="2" charset="-122"/>
                <a:ea typeface="宋体" pitchFamily="2" charset="-122"/>
              </a:rPr>
              <a:t>（</a:t>
            </a:r>
            <a:r>
              <a:rPr lang="en-US" altLang="zh-CN" sz="2800" b="1" dirty="0">
                <a:latin typeface="Times New Roman" panose="02020503050405090304" pitchFamily="18" charset="0"/>
                <a:ea typeface="宋体" pitchFamily="2" charset="-122"/>
              </a:rPr>
              <a:t>4</a:t>
            </a:r>
            <a:r>
              <a:rPr lang="zh-CN" altLang="en-US" sz="2800" b="1" dirty="0">
                <a:latin typeface="宋体" pitchFamily="2" charset="-122"/>
                <a:ea typeface="宋体" pitchFamily="2" charset="-122"/>
              </a:rPr>
              <a:t>）拒取式推理</a:t>
            </a:r>
            <a:r>
              <a:rPr lang="zh-CN" altLang="en-US" sz="2800" b="1" dirty="0">
                <a:latin typeface="Arial" panose="020B0604020202090204" pitchFamily="34" charset="0"/>
                <a:ea typeface="宋体" pitchFamily="2" charset="-122"/>
              </a:rPr>
              <a:t> </a:t>
            </a:r>
            <a:endParaRPr lang="zh-CN" altLang="en-US" sz="2800" b="1" dirty="0">
              <a:latin typeface="Arial" panose="020B0604020202090204" pitchFamily="34" charset="0"/>
              <a:ea typeface="宋体" pitchFamily="2" charset="-122"/>
            </a:endParaRPr>
          </a:p>
          <a:p>
            <a:pPr algn="just">
              <a:lnSpc>
                <a:spcPct val="130000"/>
              </a:lnSpc>
              <a:spcBef>
                <a:spcPct val="20000"/>
              </a:spcBef>
              <a:buClr>
                <a:schemeClr val="accent2"/>
              </a:buClr>
              <a:buFont typeface="Wingdings" panose="05000000000000000000" pitchFamily="2" charset="2"/>
              <a:buChar char="•"/>
            </a:pPr>
            <a:r>
              <a:rPr lang="zh-CN" altLang="en-US" sz="2800" b="1" dirty="0">
                <a:latin typeface="宋体" pitchFamily="2" charset="-122"/>
                <a:ea typeface="宋体" pitchFamily="2" charset="-122"/>
              </a:rPr>
              <a:t>（</a:t>
            </a:r>
            <a:r>
              <a:rPr lang="en-US" altLang="zh-CN" sz="2800" b="1" dirty="0">
                <a:latin typeface="Times New Roman" panose="02020503050405090304" pitchFamily="18" charset="0"/>
                <a:ea typeface="宋体" pitchFamily="2" charset="-122"/>
              </a:rPr>
              <a:t>5</a:t>
            </a:r>
            <a:r>
              <a:rPr lang="zh-CN" altLang="en-US" sz="2800" b="1" dirty="0">
                <a:latin typeface="宋体" pitchFamily="2" charset="-122"/>
                <a:ea typeface="宋体" pitchFamily="2" charset="-122"/>
              </a:rPr>
              <a:t>）假言三段论</a:t>
            </a:r>
            <a:r>
              <a:rPr lang="zh-CN" altLang="en-US" sz="2800" b="1" dirty="0">
                <a:latin typeface="Arial" panose="020B0604020202090204" pitchFamily="34" charset="0"/>
                <a:ea typeface="宋体" pitchFamily="2" charset="-122"/>
              </a:rPr>
              <a:t> </a:t>
            </a:r>
            <a:endParaRPr lang="zh-CN" altLang="en-US" sz="2800" b="1" dirty="0">
              <a:latin typeface="Arial" panose="020B0604020202090204" pitchFamily="34" charset="0"/>
              <a:ea typeface="宋体" pitchFamily="2" charset="-122"/>
            </a:endParaRPr>
          </a:p>
        </p:txBody>
      </p:sp>
      <p:graphicFrame>
        <p:nvGraphicFramePr>
          <p:cNvPr id="35848" name="Object 8"/>
          <p:cNvGraphicFramePr>
            <a:graphicFrameLocks noChangeAspect="1"/>
          </p:cNvGraphicFramePr>
          <p:nvPr/>
        </p:nvGraphicFramePr>
        <p:xfrm>
          <a:off x="2533650" y="3148013"/>
          <a:ext cx="566738" cy="366712"/>
        </p:xfrm>
        <a:graphic>
          <a:graphicData uri="http://schemas.openxmlformats.org/presentationml/2006/ole">
            <mc:AlternateContent xmlns:mc="http://schemas.openxmlformats.org/markup-compatibility/2006">
              <mc:Choice xmlns:v="urn:schemas-microsoft-com:vml" Requires="v">
                <p:oleObj spid="_x0000_s3099" name="" r:id="rId1" imgW="190500" imgH="152400" progId="Equation.DSMT4">
                  <p:embed/>
                </p:oleObj>
              </mc:Choice>
              <mc:Fallback>
                <p:oleObj name="" r:id="rId1" imgW="190500" imgH="152400" progId="Equation.DSMT4">
                  <p:embed/>
                  <p:pic>
                    <p:nvPicPr>
                      <p:cNvPr id="0" name="图片 3098"/>
                      <p:cNvPicPr/>
                      <p:nvPr/>
                    </p:nvPicPr>
                    <p:blipFill>
                      <a:blip r:embed="rId2"/>
                      <a:stretch>
                        <a:fillRect/>
                      </a:stretch>
                    </p:blipFill>
                    <p:spPr>
                      <a:xfrm>
                        <a:off x="2533650" y="3148013"/>
                        <a:ext cx="566738" cy="366712"/>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6866"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2.2.4  </a:t>
            </a:r>
            <a:r>
              <a:rPr lang="zh-CN" altLang="en-US" dirty="0">
                <a:latin typeface="Times New Roman" panose="02020503050405090304" pitchFamily="18" charset="0"/>
              </a:rPr>
              <a:t>谓词公式的性质</a:t>
            </a:r>
            <a:endParaRPr lang="zh-CN" altLang="en-US" dirty="0">
              <a:latin typeface="Times New Roman" panose="02020503050405090304" pitchFamily="18" charset="0"/>
            </a:endParaRPr>
          </a:p>
        </p:txBody>
      </p:sp>
      <p:sp>
        <p:nvSpPr>
          <p:cNvPr id="36867" name="Rectangle 3"/>
          <p:cNvSpPr>
            <a:spLocks noGrp="1"/>
          </p:cNvSpPr>
          <p:nvPr>
            <p:ph idx="1"/>
          </p:nvPr>
        </p:nvSpPr>
        <p:spPr>
          <a:xfrm>
            <a:off x="368300" y="1141413"/>
            <a:ext cx="8264525" cy="4762500"/>
          </a:xfrm>
        </p:spPr>
        <p:txBody>
          <a:bodyPr vert="horz" wrap="square" lIns="91440" tIns="45720" rIns="91440" bIns="45720" anchor="t" anchorCtr="0"/>
          <a:p>
            <a:pPr marL="571500" indent="-571500" eaLnBrk="1" hangingPunct="1">
              <a:spcBef>
                <a:spcPct val="40000"/>
              </a:spcBef>
            </a:pPr>
            <a:r>
              <a:rPr lang="zh-CN" altLang="en-US" b="1" dirty="0"/>
              <a:t>谓词逻辑的其他推理规则</a:t>
            </a:r>
            <a:endParaRPr lang="zh-CN" altLang="en-US" b="1" dirty="0"/>
          </a:p>
          <a:p>
            <a:pPr marL="571500" indent="-571500" algn="just" eaLnBrk="1" hangingPunct="1">
              <a:spcBef>
                <a:spcPct val="40000"/>
              </a:spcBef>
              <a:buFont typeface="Wingdings" panose="05000000000000000000" pitchFamily="2" charset="2"/>
              <a:buAutoNum type="circleNumDbPlain"/>
            </a:pPr>
            <a:r>
              <a:rPr lang="zh-CN" altLang="en-US" b="1" dirty="0">
                <a:latin typeface="Times New Roman" panose="02020503050405090304" pitchFamily="18" charset="0"/>
              </a:rPr>
              <a:t> </a:t>
            </a:r>
            <a:r>
              <a:rPr lang="en-US" altLang="zh-CN" b="1" i="1" dirty="0">
                <a:latin typeface="Times New Roman" panose="02020503050405090304" pitchFamily="18" charset="0"/>
              </a:rPr>
              <a:t>P</a:t>
            </a:r>
            <a:r>
              <a:rPr lang="zh-CN" altLang="en-US" b="1" dirty="0">
                <a:latin typeface="Times New Roman" panose="02020503050405090304" pitchFamily="18" charset="0"/>
              </a:rPr>
              <a:t>规则：</a:t>
            </a:r>
            <a:r>
              <a:rPr lang="zh-CN" altLang="en-US" dirty="0">
                <a:latin typeface="Times New Roman" panose="02020503050405090304" pitchFamily="18" charset="0"/>
              </a:rPr>
              <a:t>在推理的任何步骤上都可引入前提。</a:t>
            </a:r>
            <a:endParaRPr lang="zh-CN" altLang="en-US" dirty="0">
              <a:latin typeface="Times New Roman" panose="02020503050405090304" pitchFamily="18" charset="0"/>
            </a:endParaRPr>
          </a:p>
          <a:p>
            <a:pPr marL="571500" indent="-571500" algn="just" eaLnBrk="1" hangingPunct="1">
              <a:spcBef>
                <a:spcPct val="40000"/>
              </a:spcBef>
              <a:buFont typeface="Wingdings" panose="05000000000000000000" pitchFamily="2" charset="2"/>
              <a:buAutoNum type="circleNumDbPlain"/>
            </a:pPr>
            <a:r>
              <a:rPr lang="zh-CN" altLang="en-US" b="1" dirty="0">
                <a:latin typeface="Times New Roman" panose="02020503050405090304" pitchFamily="18" charset="0"/>
              </a:rPr>
              <a:t> </a:t>
            </a:r>
            <a:r>
              <a:rPr lang="en-US" altLang="zh-CN" b="1" i="1" dirty="0">
                <a:latin typeface="Times New Roman" panose="02020503050405090304" pitchFamily="18" charset="0"/>
              </a:rPr>
              <a:t>T</a:t>
            </a:r>
            <a:r>
              <a:rPr lang="zh-CN" altLang="en-US" b="1" dirty="0">
                <a:latin typeface="Times New Roman" panose="02020503050405090304" pitchFamily="18" charset="0"/>
              </a:rPr>
              <a:t>规则：</a:t>
            </a:r>
            <a:r>
              <a:rPr lang="zh-CN" altLang="en-US" dirty="0">
                <a:latin typeface="Times New Roman" panose="02020503050405090304" pitchFamily="18" charset="0"/>
              </a:rPr>
              <a:t>在推理过程中，如果前面步骤中有一个或多个公式永真蕴含公式</a:t>
            </a:r>
            <a:r>
              <a:rPr lang="en-US" altLang="zh-CN" b="1" i="1" dirty="0">
                <a:latin typeface="Times New Roman" panose="02020503050405090304" pitchFamily="18" charset="0"/>
              </a:rPr>
              <a:t>S</a:t>
            </a:r>
            <a:r>
              <a:rPr lang="zh-CN" altLang="en-US" dirty="0">
                <a:latin typeface="Times New Roman" panose="02020503050405090304" pitchFamily="18" charset="0"/>
              </a:rPr>
              <a:t>，则可把</a:t>
            </a:r>
            <a:r>
              <a:rPr lang="en-US" altLang="zh-CN" b="1" i="1" dirty="0">
                <a:latin typeface="Times New Roman" panose="02020503050405090304" pitchFamily="18" charset="0"/>
              </a:rPr>
              <a:t>S</a:t>
            </a:r>
            <a:r>
              <a:rPr lang="zh-CN" altLang="en-US" dirty="0">
                <a:latin typeface="Times New Roman" panose="02020503050405090304" pitchFamily="18" charset="0"/>
              </a:rPr>
              <a:t>引入推理过程中。</a:t>
            </a:r>
            <a:endParaRPr lang="zh-CN" altLang="en-US" dirty="0">
              <a:latin typeface="Times New Roman" panose="02020503050405090304" pitchFamily="18" charset="0"/>
            </a:endParaRPr>
          </a:p>
          <a:p>
            <a:pPr marL="571500" indent="-571500" algn="just" eaLnBrk="1" hangingPunct="1">
              <a:spcBef>
                <a:spcPct val="40000"/>
              </a:spcBef>
              <a:buFont typeface="Wingdings" panose="05000000000000000000" pitchFamily="2" charset="2"/>
              <a:buAutoNum type="circleNumDbPlain"/>
            </a:pPr>
            <a:r>
              <a:rPr lang="zh-CN" altLang="en-US" b="1" dirty="0">
                <a:latin typeface="Times New Roman" panose="02020503050405090304" pitchFamily="18" charset="0"/>
              </a:rPr>
              <a:t> </a:t>
            </a:r>
            <a:r>
              <a:rPr lang="en-US" altLang="zh-CN" b="1" i="1" dirty="0">
                <a:latin typeface="Times New Roman" panose="02020503050405090304" pitchFamily="18" charset="0"/>
              </a:rPr>
              <a:t>CP</a:t>
            </a:r>
            <a:r>
              <a:rPr lang="zh-CN" altLang="en-US" b="1" dirty="0">
                <a:latin typeface="Times New Roman" panose="02020503050405090304" pitchFamily="18" charset="0"/>
              </a:rPr>
              <a:t>规则：</a:t>
            </a:r>
            <a:r>
              <a:rPr lang="zh-CN" altLang="en-US" dirty="0">
                <a:latin typeface="Times New Roman" panose="02020503050405090304" pitchFamily="18" charset="0"/>
              </a:rPr>
              <a:t>如果能从任意引入的命题</a:t>
            </a:r>
            <a:r>
              <a:rPr lang="en-US" altLang="zh-CN" b="1" i="1" dirty="0">
                <a:latin typeface="Times New Roman" panose="02020503050405090304" pitchFamily="18" charset="0"/>
              </a:rPr>
              <a:t>R</a:t>
            </a:r>
            <a:r>
              <a:rPr lang="zh-CN" altLang="en-US" dirty="0">
                <a:latin typeface="Times New Roman" panose="02020503050405090304" pitchFamily="18" charset="0"/>
              </a:rPr>
              <a:t>和前提集合中推出</a:t>
            </a:r>
            <a:r>
              <a:rPr lang="en-US" altLang="zh-CN" b="1" i="1" dirty="0">
                <a:latin typeface="Times New Roman" panose="02020503050405090304" pitchFamily="18" charset="0"/>
              </a:rPr>
              <a:t>S</a:t>
            </a:r>
            <a:r>
              <a:rPr lang="zh-CN" altLang="en-US" dirty="0">
                <a:latin typeface="Times New Roman" panose="02020503050405090304" pitchFamily="18" charset="0"/>
              </a:rPr>
              <a:t>来，则可从前提集合推出</a:t>
            </a:r>
            <a:r>
              <a:rPr lang="en-US" altLang="zh-CN" b="1" i="1" dirty="0">
                <a:latin typeface="Times New Roman" panose="02020503050405090304" pitchFamily="18" charset="0"/>
              </a:rPr>
              <a:t>R</a:t>
            </a:r>
            <a:r>
              <a:rPr lang="en-US" altLang="zh-CN" dirty="0">
                <a:latin typeface="Times New Roman" panose="02020503050405090304" pitchFamily="18" charset="0"/>
              </a:rPr>
              <a:t> </a:t>
            </a:r>
            <a:r>
              <a:rPr lang="en-US" altLang="zh-CN" sz="2400" dirty="0">
                <a:latin typeface="Times New Roman" panose="02020503050405090304" pitchFamily="18" charset="0"/>
              </a:rPr>
              <a:t>→</a:t>
            </a:r>
            <a:r>
              <a:rPr lang="en-US" altLang="zh-CN" dirty="0">
                <a:latin typeface="Times New Roman" panose="02020503050405090304" pitchFamily="18" charset="0"/>
              </a:rPr>
              <a:t> </a:t>
            </a:r>
            <a:r>
              <a:rPr lang="en-US" altLang="zh-CN" b="1" i="1" dirty="0">
                <a:latin typeface="Times New Roman" panose="02020503050405090304" pitchFamily="18" charset="0"/>
              </a:rPr>
              <a:t>S</a:t>
            </a:r>
            <a:r>
              <a:rPr lang="zh-CN" altLang="en-US" dirty="0">
                <a:latin typeface="Times New Roman" panose="02020503050405090304" pitchFamily="18" charset="0"/>
              </a:rPr>
              <a:t>来。</a:t>
            </a:r>
            <a:endParaRPr lang="zh-CN" altLang="en-US" dirty="0">
              <a:latin typeface="Times New Roman" panose="02020503050405090304" pitchFamily="18" charset="0"/>
            </a:endParaRPr>
          </a:p>
        </p:txBody>
      </p:sp>
      <p:sp>
        <p:nvSpPr>
          <p:cNvPr id="36868" name="Rectangle 5"/>
          <p:cNvSpPr/>
          <p:nvPr/>
        </p:nvSpPr>
        <p:spPr>
          <a:xfrm>
            <a:off x="0" y="0"/>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36869" name="Rectangle 7"/>
          <p:cNvSpPr/>
          <p:nvPr/>
        </p:nvSpPr>
        <p:spPr>
          <a:xfrm>
            <a:off x="0" y="3328988"/>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36870" name="Rectangle 9"/>
          <p:cNvSpPr/>
          <p:nvPr/>
        </p:nvSpPr>
        <p:spPr>
          <a:xfrm>
            <a:off x="0" y="3328988"/>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36871" name="Rectangle 11"/>
          <p:cNvSpPr/>
          <p:nvPr/>
        </p:nvSpPr>
        <p:spPr>
          <a:xfrm>
            <a:off x="0" y="3319463"/>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36872" name="Rectangle 13"/>
          <p:cNvSpPr/>
          <p:nvPr/>
        </p:nvSpPr>
        <p:spPr>
          <a:xfrm>
            <a:off x="0" y="3319463"/>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36873" name="Rectangle 15"/>
          <p:cNvSpPr/>
          <p:nvPr/>
        </p:nvSpPr>
        <p:spPr>
          <a:xfrm>
            <a:off x="0" y="3314700"/>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36874" name="Rectangle 17"/>
          <p:cNvSpPr/>
          <p:nvPr/>
        </p:nvSpPr>
        <p:spPr>
          <a:xfrm>
            <a:off x="0" y="0"/>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Tree>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灯片编号占位符 1"/>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7890" name="Rectangle 2"/>
          <p:cNvSpPr/>
          <p:nvPr/>
        </p:nvSpPr>
        <p:spPr>
          <a:xfrm>
            <a:off x="0" y="0"/>
            <a:ext cx="9144000" cy="765175"/>
          </a:xfrm>
          <a:prstGeom prst="rect">
            <a:avLst/>
          </a:prstGeom>
          <a:solidFill>
            <a:srgbClr val="A50021"/>
          </a:solidFill>
          <a:ln w="9525">
            <a:noFill/>
          </a:ln>
        </p:spPr>
        <p:txBody>
          <a:bodyPr anchor="b" anchorCtr="0"/>
          <a:p>
            <a:pPr indent="176530">
              <a:buClrTx/>
              <a:buFontTx/>
              <a:buNone/>
            </a:pPr>
            <a:r>
              <a:rPr lang="en-US" altLang="zh-CN" sz="3600" dirty="0">
                <a:solidFill>
                  <a:schemeClr val="bg1"/>
                </a:solidFill>
                <a:latin typeface="Times New Roman" panose="02020503050405090304" pitchFamily="18" charset="0"/>
                <a:ea typeface="黑体" panose="02010609060101010101" pitchFamily="49" charset="-122"/>
              </a:rPr>
              <a:t>2.2.4  </a:t>
            </a:r>
            <a:r>
              <a:rPr lang="zh-CN" altLang="en-US" sz="3600" dirty="0">
                <a:solidFill>
                  <a:schemeClr val="bg1"/>
                </a:solidFill>
                <a:latin typeface="Times New Roman" panose="02020503050405090304" pitchFamily="18" charset="0"/>
                <a:ea typeface="黑体" panose="02010609060101010101" pitchFamily="49" charset="-122"/>
              </a:rPr>
              <a:t>谓词公式的性质</a:t>
            </a:r>
            <a:endParaRPr lang="zh-CN" altLang="en-US" sz="3600" dirty="0">
              <a:solidFill>
                <a:schemeClr val="bg1"/>
              </a:solidFill>
              <a:latin typeface="Times New Roman" panose="02020503050405090304" pitchFamily="18" charset="0"/>
              <a:ea typeface="黑体" panose="02010609060101010101" pitchFamily="49" charset="-122"/>
            </a:endParaRPr>
          </a:p>
        </p:txBody>
      </p:sp>
      <p:sp>
        <p:nvSpPr>
          <p:cNvPr id="37891" name="Rectangle 3"/>
          <p:cNvSpPr/>
          <p:nvPr/>
        </p:nvSpPr>
        <p:spPr>
          <a:xfrm>
            <a:off x="250825" y="1120775"/>
            <a:ext cx="8642350" cy="2163763"/>
          </a:xfrm>
          <a:prstGeom prst="rect">
            <a:avLst/>
          </a:prstGeom>
          <a:gradFill rotWithShape="0">
            <a:gsLst>
              <a:gs pos="0">
                <a:srgbClr val="CCFFFF"/>
              </a:gs>
              <a:gs pos="100000">
                <a:schemeClr val="bg1"/>
              </a:gs>
            </a:gsLst>
            <a:path path="rect">
              <a:fillToRect l="100000" t="100000"/>
            </a:path>
            <a:tileRect/>
          </a:gradFill>
          <a:ln w="9525" cap="flat" cmpd="sng">
            <a:solidFill>
              <a:srgbClr val="808080"/>
            </a:solidFill>
            <a:prstDash val="solid"/>
            <a:miter/>
            <a:headEnd type="none" w="med" len="med"/>
            <a:tailEnd type="none" w="med" len="med"/>
          </a:ln>
        </p:spPr>
        <p:txBody>
          <a:bodyPr anchor="t" anchorCtr="0"/>
          <a:p>
            <a:pPr algn="just">
              <a:lnSpc>
                <a:spcPct val="120000"/>
              </a:lnSpc>
              <a:spcBef>
                <a:spcPct val="20000"/>
              </a:spcBef>
              <a:buClr>
                <a:srgbClr val="0000FF"/>
              </a:buClr>
              <a:buFont typeface="Wingdings" panose="05000000000000000000" pitchFamily="2" charset="2"/>
              <a:buChar char="§"/>
            </a:pPr>
            <a:r>
              <a:rPr lang="en-US" altLang="zh-CN" sz="2800" b="1" dirty="0">
                <a:latin typeface="宋体" pitchFamily="2" charset="-122"/>
                <a:ea typeface="宋体" pitchFamily="2" charset="-122"/>
              </a:rPr>
              <a:t> </a:t>
            </a:r>
            <a:r>
              <a:rPr lang="zh-CN" altLang="en-US" sz="2800" b="1" dirty="0">
                <a:latin typeface="宋体" pitchFamily="2" charset="-122"/>
                <a:ea typeface="宋体" pitchFamily="2" charset="-122"/>
              </a:rPr>
              <a:t>所有的人都是会死的，</a:t>
            </a:r>
            <a:endParaRPr lang="zh-CN" altLang="en-US" sz="2800" b="1" dirty="0">
              <a:latin typeface="Times New Roman" panose="02020503050405090304" pitchFamily="18" charset="0"/>
              <a:ea typeface="宋体" pitchFamily="2" charset="-122"/>
            </a:endParaRPr>
          </a:p>
          <a:p>
            <a:pPr algn="just">
              <a:lnSpc>
                <a:spcPct val="120000"/>
              </a:lnSpc>
              <a:spcBef>
                <a:spcPct val="20000"/>
              </a:spcBef>
              <a:buClr>
                <a:srgbClr val="0000FF"/>
              </a:buClr>
              <a:buFont typeface="Wingdings" panose="05000000000000000000" pitchFamily="2" charset="2"/>
              <a:buChar char="§"/>
            </a:pPr>
            <a:r>
              <a:rPr lang="zh-CN" altLang="en-US" sz="2800" b="1" dirty="0">
                <a:latin typeface="宋体" pitchFamily="2" charset="-122"/>
                <a:ea typeface="宋体" pitchFamily="2" charset="-122"/>
              </a:rPr>
              <a:t> 因为诸葛亮是人，</a:t>
            </a:r>
            <a:r>
              <a:rPr lang="zh-CN" altLang="en-US" sz="2800" dirty="0">
                <a:latin typeface="宋体" pitchFamily="2" charset="-122"/>
                <a:ea typeface="宋体" pitchFamily="2" charset="-122"/>
              </a:rPr>
              <a:t>      </a:t>
            </a:r>
            <a:r>
              <a:rPr lang="en-US" altLang="zh-CN" sz="2800" i="1" dirty="0">
                <a:latin typeface="Times New Roman" panose="02020503050405090304" pitchFamily="18" charset="0"/>
                <a:ea typeface="宋体" pitchFamily="2" charset="-122"/>
              </a:rPr>
              <a:t>Human</a:t>
            </a:r>
            <a:r>
              <a:rPr lang="zh-CN" altLang="en-US" sz="2800" dirty="0">
                <a:latin typeface="宋体" pitchFamily="2" charset="-122"/>
                <a:ea typeface="宋体" pitchFamily="2" charset="-122"/>
              </a:rPr>
              <a:t>（</a:t>
            </a:r>
            <a:r>
              <a:rPr lang="en-US" altLang="zh-CN" sz="2800" i="1" dirty="0">
                <a:latin typeface="Times New Roman" panose="02020503050405090304" pitchFamily="18" charset="0"/>
                <a:ea typeface="宋体" pitchFamily="2" charset="-122"/>
              </a:rPr>
              <a:t>Zhugeliang</a:t>
            </a:r>
            <a:r>
              <a:rPr lang="zh-CN" altLang="en-US" sz="2800" dirty="0">
                <a:latin typeface="宋体" pitchFamily="2" charset="-122"/>
                <a:ea typeface="宋体" pitchFamily="2" charset="-122"/>
              </a:rPr>
              <a:t>）</a:t>
            </a:r>
            <a:endParaRPr lang="zh-CN" altLang="en-US" sz="2800" dirty="0">
              <a:latin typeface="Times New Roman" panose="02020503050405090304" pitchFamily="18" charset="0"/>
              <a:ea typeface="宋体" pitchFamily="2" charset="-122"/>
            </a:endParaRPr>
          </a:p>
          <a:p>
            <a:pPr>
              <a:lnSpc>
                <a:spcPct val="120000"/>
              </a:lnSpc>
              <a:spcBef>
                <a:spcPct val="20000"/>
              </a:spcBef>
              <a:buClr>
                <a:srgbClr val="0000FF"/>
              </a:buClr>
              <a:buFont typeface="Wingdings" panose="05000000000000000000" pitchFamily="2" charset="2"/>
              <a:buChar char="§"/>
            </a:pPr>
            <a:r>
              <a:rPr lang="zh-CN" altLang="en-US" sz="2800" dirty="0">
                <a:latin typeface="宋体" pitchFamily="2" charset="-122"/>
                <a:ea typeface="宋体" pitchFamily="2" charset="-122"/>
              </a:rPr>
              <a:t> </a:t>
            </a:r>
            <a:r>
              <a:rPr lang="zh-CN" altLang="en-US" sz="2800" b="1" dirty="0">
                <a:latin typeface="宋体" pitchFamily="2" charset="-122"/>
                <a:ea typeface="宋体" pitchFamily="2" charset="-122"/>
              </a:rPr>
              <a:t>所以诸葛亮是会死的。</a:t>
            </a:r>
            <a:r>
              <a:rPr lang="zh-CN" altLang="en-US" sz="2800" dirty="0">
                <a:latin typeface="宋体" pitchFamily="2" charset="-122"/>
                <a:ea typeface="宋体" pitchFamily="2" charset="-122"/>
              </a:rPr>
              <a:t>  </a:t>
            </a:r>
            <a:r>
              <a:rPr lang="en-US" altLang="zh-CN" sz="2800" i="1" dirty="0">
                <a:latin typeface="Times New Roman" panose="02020503050405090304" pitchFamily="18" charset="0"/>
                <a:ea typeface="宋体" pitchFamily="2" charset="-122"/>
              </a:rPr>
              <a:t>Die</a:t>
            </a:r>
            <a:r>
              <a:rPr lang="zh-CN" altLang="en-US" sz="2800" dirty="0">
                <a:latin typeface="宋体" pitchFamily="2" charset="-122"/>
                <a:ea typeface="宋体" pitchFamily="2" charset="-122"/>
              </a:rPr>
              <a:t>（</a:t>
            </a:r>
            <a:r>
              <a:rPr lang="en-US" altLang="zh-CN" sz="2800" i="1" dirty="0">
                <a:latin typeface="Times New Roman" panose="02020503050405090304" pitchFamily="18" charset="0"/>
                <a:ea typeface="宋体" pitchFamily="2" charset="-122"/>
              </a:rPr>
              <a:t>Zhugeliang</a:t>
            </a:r>
            <a:r>
              <a:rPr lang="zh-CN" altLang="en-US" sz="2800" dirty="0">
                <a:latin typeface="宋体" pitchFamily="2" charset="-122"/>
                <a:ea typeface="宋体" pitchFamily="2" charset="-122"/>
              </a:rPr>
              <a:t>）</a:t>
            </a:r>
            <a:r>
              <a:rPr lang="zh-CN" altLang="en-US" sz="2800" dirty="0">
                <a:latin typeface="Arial" panose="020B0604020202090204" pitchFamily="34" charset="0"/>
                <a:ea typeface="宋体" pitchFamily="2" charset="-122"/>
              </a:rPr>
              <a:t> </a:t>
            </a:r>
            <a:endParaRPr lang="zh-CN" altLang="en-US" sz="2800" dirty="0">
              <a:latin typeface="Arial" panose="020B0604020202090204" pitchFamily="34" charset="0"/>
              <a:ea typeface="宋体" pitchFamily="2" charset="-122"/>
            </a:endParaRPr>
          </a:p>
        </p:txBody>
      </p:sp>
      <p:sp>
        <p:nvSpPr>
          <p:cNvPr id="37892" name="Text Box 6"/>
          <p:cNvSpPr txBox="1"/>
          <p:nvPr/>
        </p:nvSpPr>
        <p:spPr>
          <a:xfrm>
            <a:off x="276225" y="3730625"/>
            <a:ext cx="8605838" cy="2046288"/>
          </a:xfrm>
          <a:prstGeom prst="rect">
            <a:avLst/>
          </a:prstGeom>
          <a:gradFill rotWithShape="0">
            <a:gsLst>
              <a:gs pos="0">
                <a:srgbClr val="CCFFCC"/>
              </a:gs>
              <a:gs pos="100000">
                <a:schemeClr val="bg1"/>
              </a:gs>
            </a:gsLst>
            <a:path path="rect">
              <a:fillToRect l="100000" t="100000"/>
            </a:path>
            <a:tileRect/>
          </a:gradFill>
          <a:ln w="9525" cap="flat" cmpd="sng">
            <a:solidFill>
              <a:srgbClr val="008000"/>
            </a:solidFill>
            <a:prstDash val="solid"/>
            <a:miter/>
            <a:headEnd type="none" w="med" len="med"/>
            <a:tailEnd type="none" w="med" len="med"/>
          </a:ln>
        </p:spPr>
        <p:txBody>
          <a:bodyPr anchor="t" anchorCtr="0">
            <a:spAutoFit/>
          </a:bodyPr>
          <a:p>
            <a:pPr algn="just">
              <a:lnSpc>
                <a:spcPct val="130000"/>
              </a:lnSpc>
              <a:spcBef>
                <a:spcPct val="50000"/>
              </a:spcBef>
              <a:buClr>
                <a:schemeClr val="accent2"/>
              </a:buClr>
              <a:buFont typeface="Wingdings" panose="05000000000000000000" pitchFamily="2" charset="2"/>
              <a:buChar char="§"/>
            </a:pPr>
            <a:r>
              <a:rPr lang="en-US" altLang="zh-CN" sz="2600" b="1" dirty="0">
                <a:latin typeface="Times New Roman" panose="02020503050405090304" pitchFamily="18" charset="0"/>
                <a:ea typeface="宋体" pitchFamily="2" charset="-122"/>
              </a:rPr>
              <a:t>  { 1 }                                                                   </a:t>
            </a:r>
            <a:r>
              <a:rPr lang="en-US" altLang="zh-CN" sz="2600" b="1" i="1" dirty="0">
                <a:solidFill>
                  <a:schemeClr val="accent2"/>
                </a:solidFill>
                <a:latin typeface="Times New Roman" panose="02020503050405090304" pitchFamily="18" charset="0"/>
                <a:ea typeface="宋体" pitchFamily="2" charset="-122"/>
              </a:rPr>
              <a:t>P</a:t>
            </a:r>
            <a:r>
              <a:rPr lang="zh-CN" altLang="en-US" sz="2600" b="1" dirty="0">
                <a:solidFill>
                  <a:schemeClr val="accent2"/>
                </a:solidFill>
                <a:latin typeface="宋体" pitchFamily="2" charset="-122"/>
                <a:ea typeface="宋体" pitchFamily="2" charset="-122"/>
              </a:rPr>
              <a:t>规则</a:t>
            </a:r>
            <a:endParaRPr lang="zh-CN" altLang="en-US" sz="2600" b="1" dirty="0">
              <a:solidFill>
                <a:schemeClr val="accent2"/>
              </a:solidFill>
              <a:latin typeface="Times New Roman" panose="02020503050405090304" pitchFamily="18" charset="0"/>
              <a:ea typeface="宋体" pitchFamily="2" charset="-122"/>
            </a:endParaRPr>
          </a:p>
          <a:p>
            <a:pPr algn="just">
              <a:lnSpc>
                <a:spcPct val="130000"/>
              </a:lnSpc>
              <a:spcBef>
                <a:spcPct val="50000"/>
              </a:spcBef>
              <a:buClr>
                <a:schemeClr val="accent2"/>
              </a:buClr>
              <a:buFont typeface="Wingdings" panose="05000000000000000000" pitchFamily="2" charset="2"/>
              <a:buChar char="§"/>
            </a:pPr>
            <a:r>
              <a:rPr lang="zh-CN" altLang="en-US" sz="2600" b="1" dirty="0">
                <a:latin typeface="Times New Roman" panose="02020503050405090304" pitchFamily="18" charset="0"/>
                <a:ea typeface="宋体" pitchFamily="2" charset="-122"/>
              </a:rPr>
              <a:t>  </a:t>
            </a:r>
            <a:r>
              <a:rPr lang="en-US" altLang="zh-CN" sz="2600" b="1" dirty="0">
                <a:latin typeface="Times New Roman" panose="02020503050405090304" pitchFamily="18" charset="0"/>
                <a:ea typeface="宋体" pitchFamily="2" charset="-122"/>
              </a:rPr>
              <a:t>{ 2 }          </a:t>
            </a:r>
            <a:r>
              <a:rPr lang="en-US" altLang="zh-CN" sz="2600" b="1" i="1" dirty="0">
                <a:latin typeface="Times New Roman" panose="02020503050405090304" pitchFamily="18" charset="0"/>
                <a:ea typeface="宋体" pitchFamily="2" charset="-122"/>
              </a:rPr>
              <a:t>Human</a:t>
            </a:r>
            <a:r>
              <a:rPr lang="zh-CN" altLang="en-US" sz="2600" b="1" dirty="0">
                <a:latin typeface="宋体" pitchFamily="2" charset="-122"/>
                <a:ea typeface="宋体" pitchFamily="2" charset="-122"/>
              </a:rPr>
              <a:t>（</a:t>
            </a:r>
            <a:r>
              <a:rPr lang="en-US" altLang="zh-CN" sz="2600" b="1" i="1" dirty="0">
                <a:latin typeface="Times New Roman" panose="02020503050405090304" pitchFamily="18" charset="0"/>
                <a:ea typeface="宋体" pitchFamily="2" charset="-122"/>
              </a:rPr>
              <a:t>Zhugeliang</a:t>
            </a:r>
            <a:r>
              <a:rPr lang="zh-CN" altLang="en-US" sz="2600" b="1" dirty="0">
                <a:latin typeface="宋体" pitchFamily="2" charset="-122"/>
                <a:ea typeface="宋体" pitchFamily="2" charset="-122"/>
              </a:rPr>
              <a:t>）</a:t>
            </a:r>
            <a:r>
              <a:rPr lang="zh-CN" altLang="en-US" sz="2600" b="1" dirty="0">
                <a:latin typeface="Times New Roman" panose="02020503050405090304" pitchFamily="18" charset="0"/>
                <a:ea typeface="宋体" pitchFamily="2" charset="-122"/>
              </a:rPr>
              <a:t>                 </a:t>
            </a:r>
            <a:r>
              <a:rPr lang="en-US" altLang="zh-CN" sz="2600" b="1" i="1" dirty="0">
                <a:solidFill>
                  <a:schemeClr val="accent2"/>
                </a:solidFill>
                <a:latin typeface="Times New Roman" panose="02020503050405090304" pitchFamily="18" charset="0"/>
                <a:ea typeface="宋体" pitchFamily="2" charset="-122"/>
              </a:rPr>
              <a:t>P</a:t>
            </a:r>
            <a:r>
              <a:rPr lang="zh-CN" altLang="en-US" sz="2600" b="1" dirty="0">
                <a:solidFill>
                  <a:schemeClr val="accent2"/>
                </a:solidFill>
                <a:latin typeface="宋体" pitchFamily="2" charset="-122"/>
                <a:ea typeface="宋体" pitchFamily="2" charset="-122"/>
              </a:rPr>
              <a:t>规则</a:t>
            </a:r>
            <a:endParaRPr lang="zh-CN" altLang="en-US" sz="2600" b="1" dirty="0">
              <a:solidFill>
                <a:schemeClr val="accent2"/>
              </a:solidFill>
              <a:latin typeface="Times New Roman" panose="02020503050405090304" pitchFamily="18" charset="0"/>
              <a:ea typeface="宋体" pitchFamily="2" charset="-122"/>
            </a:endParaRPr>
          </a:p>
          <a:p>
            <a:pPr>
              <a:lnSpc>
                <a:spcPct val="130000"/>
              </a:lnSpc>
              <a:spcBef>
                <a:spcPct val="50000"/>
              </a:spcBef>
              <a:buClr>
                <a:schemeClr val="accent2"/>
              </a:buClr>
              <a:buFont typeface="Wingdings" panose="05000000000000000000" pitchFamily="2" charset="2"/>
              <a:buChar char="§"/>
            </a:pPr>
            <a:r>
              <a:rPr lang="zh-CN" altLang="en-US" sz="2600" b="1" dirty="0">
                <a:latin typeface="Times New Roman" panose="02020503050405090304" pitchFamily="18" charset="0"/>
                <a:ea typeface="宋体" pitchFamily="2" charset="-122"/>
              </a:rPr>
              <a:t>  </a:t>
            </a:r>
            <a:r>
              <a:rPr lang="en-US" altLang="zh-CN" sz="2600" b="1" dirty="0">
                <a:latin typeface="Times New Roman" panose="02020503050405090304" pitchFamily="18" charset="0"/>
                <a:ea typeface="宋体" pitchFamily="2" charset="-122"/>
              </a:rPr>
              <a:t>{ 1, 2 }        </a:t>
            </a:r>
            <a:r>
              <a:rPr lang="en-US" altLang="zh-CN" sz="2600" b="1" i="1" dirty="0">
                <a:latin typeface="Times New Roman" panose="02020503050405090304" pitchFamily="18" charset="0"/>
                <a:ea typeface="宋体" pitchFamily="2" charset="-122"/>
              </a:rPr>
              <a:t>Die</a:t>
            </a:r>
            <a:r>
              <a:rPr lang="zh-CN" altLang="en-US" sz="2600" b="1" dirty="0">
                <a:latin typeface="宋体" pitchFamily="2" charset="-122"/>
                <a:ea typeface="宋体" pitchFamily="2" charset="-122"/>
              </a:rPr>
              <a:t>（</a:t>
            </a:r>
            <a:r>
              <a:rPr lang="en-US" altLang="zh-CN" sz="2600" b="1" dirty="0">
                <a:latin typeface="Times New Roman" panose="02020503050405090304" pitchFamily="18" charset="0"/>
                <a:ea typeface="宋体" pitchFamily="2" charset="-122"/>
              </a:rPr>
              <a:t>Zhugeliang</a:t>
            </a:r>
            <a:r>
              <a:rPr lang="zh-CN" altLang="en-US" sz="2600" b="1" dirty="0">
                <a:latin typeface="宋体" pitchFamily="2" charset="-122"/>
                <a:ea typeface="宋体" pitchFamily="2" charset="-122"/>
              </a:rPr>
              <a:t>）</a:t>
            </a:r>
            <a:r>
              <a:rPr lang="zh-CN" altLang="en-US" sz="2600" b="1" dirty="0">
                <a:latin typeface="Times New Roman" panose="02020503050405090304" pitchFamily="18" charset="0"/>
                <a:ea typeface="宋体" pitchFamily="2" charset="-122"/>
              </a:rPr>
              <a:t>                      </a:t>
            </a:r>
            <a:r>
              <a:rPr lang="en-US" altLang="zh-CN" sz="2600" b="1" i="1" dirty="0">
                <a:solidFill>
                  <a:schemeClr val="accent2"/>
                </a:solidFill>
                <a:latin typeface="Times New Roman" panose="02020503050405090304" pitchFamily="18" charset="0"/>
                <a:ea typeface="宋体" pitchFamily="2" charset="-122"/>
              </a:rPr>
              <a:t>T</a:t>
            </a:r>
            <a:r>
              <a:rPr lang="zh-CN" altLang="en-US" sz="2600" b="1" dirty="0">
                <a:solidFill>
                  <a:schemeClr val="accent2"/>
                </a:solidFill>
                <a:latin typeface="宋体" pitchFamily="2" charset="-122"/>
                <a:ea typeface="宋体" pitchFamily="2" charset="-122"/>
              </a:rPr>
              <a:t>规则</a:t>
            </a:r>
            <a:r>
              <a:rPr lang="zh-CN" altLang="en-US" sz="2600" b="1" dirty="0">
                <a:latin typeface="Arial" panose="020B0604020202090204" pitchFamily="34" charset="0"/>
                <a:ea typeface="宋体" pitchFamily="2" charset="-122"/>
              </a:rPr>
              <a:t> </a:t>
            </a:r>
            <a:endParaRPr lang="zh-CN" altLang="en-US" sz="2600" b="1" dirty="0">
              <a:latin typeface="Arial" panose="020B0604020202090204" pitchFamily="34" charset="0"/>
              <a:ea typeface="宋体" pitchFamily="2" charset="-122"/>
            </a:endParaRPr>
          </a:p>
        </p:txBody>
      </p:sp>
      <p:grpSp>
        <p:nvGrpSpPr>
          <p:cNvPr id="2" name="Group 18"/>
          <p:cNvGrpSpPr/>
          <p:nvPr/>
        </p:nvGrpSpPr>
        <p:grpSpPr>
          <a:xfrm>
            <a:off x="3681413" y="2297113"/>
            <a:ext cx="4514850" cy="1476375"/>
            <a:chOff x="2319" y="1447"/>
            <a:chExt cx="2844" cy="930"/>
          </a:xfrm>
        </p:grpSpPr>
        <p:sp>
          <p:nvSpPr>
            <p:cNvPr id="37894" name="AutoShape 9"/>
            <p:cNvSpPr/>
            <p:nvPr/>
          </p:nvSpPr>
          <p:spPr>
            <a:xfrm>
              <a:off x="2319" y="1447"/>
              <a:ext cx="2844" cy="930"/>
            </a:xfrm>
            <a:prstGeom prst="cloudCallout">
              <a:avLst>
                <a:gd name="adj1" fmla="val 34847"/>
                <a:gd name="adj2" fmla="val 153977"/>
              </a:avLst>
            </a:prstGeom>
            <a:gradFill rotWithShape="0">
              <a:gsLst>
                <a:gs pos="0">
                  <a:srgbClr val="99CCFF"/>
                </a:gs>
                <a:gs pos="50000">
                  <a:srgbClr val="FFFFFF"/>
                </a:gs>
                <a:gs pos="100000">
                  <a:srgbClr val="99CCFF"/>
                </a:gs>
              </a:gsLst>
              <a:lin ang="5400000" scaled="1"/>
              <a:tileRect/>
            </a:gradFill>
            <a:ln w="9525" cap="flat" cmpd="sng">
              <a:solidFill>
                <a:schemeClr val="tx1"/>
              </a:solidFill>
              <a:prstDash val="solid"/>
              <a:round/>
              <a:headEnd type="none" w="med" len="med"/>
              <a:tailEnd type="none" w="med" len="med"/>
            </a:ln>
          </p:spPr>
          <p:txBody>
            <a:bodyPr anchor="t" anchorCtr="0"/>
            <a:p>
              <a:pPr algn="ctr">
                <a:buClrTx/>
                <a:buFontTx/>
                <a:buNone/>
              </a:pPr>
              <a:endParaRPr lang="zh-CN" altLang="zh-CN" dirty="0">
                <a:latin typeface="Arial" panose="020B0604020202090204" pitchFamily="34" charset="0"/>
                <a:ea typeface="宋体" pitchFamily="2" charset="-122"/>
              </a:endParaRPr>
            </a:p>
          </p:txBody>
        </p:sp>
        <p:graphicFrame>
          <p:nvGraphicFramePr>
            <p:cNvPr id="37895" name="Object 10"/>
            <p:cNvGraphicFramePr>
              <a:graphicFrameLocks noChangeAspect="1"/>
            </p:cNvGraphicFramePr>
            <p:nvPr/>
          </p:nvGraphicFramePr>
          <p:xfrm>
            <a:off x="2684" y="1761"/>
            <a:ext cx="1868" cy="304"/>
          </p:xfrm>
          <a:graphic>
            <a:graphicData uri="http://schemas.openxmlformats.org/presentationml/2006/ole">
              <mc:AlternateContent xmlns:mc="http://schemas.openxmlformats.org/markup-compatibility/2006">
                <mc:Choice xmlns:v="urn:schemas-microsoft-com:vml" Requires="v">
                  <p:oleObj spid="_x0000_s3081" name="" r:id="rId1" imgW="1244600" imgH="203200" progId="Equation.3">
                    <p:embed/>
                  </p:oleObj>
                </mc:Choice>
                <mc:Fallback>
                  <p:oleObj name="" r:id="rId1" imgW="1244600" imgH="203200" progId="Equation.3">
                    <p:embed/>
                    <p:pic>
                      <p:nvPicPr>
                        <p:cNvPr id="0" name="图片 3080"/>
                        <p:cNvPicPr/>
                        <p:nvPr/>
                      </p:nvPicPr>
                      <p:blipFill>
                        <a:blip r:embed="rId2"/>
                        <a:stretch>
                          <a:fillRect/>
                        </a:stretch>
                      </p:blipFill>
                      <p:spPr>
                        <a:xfrm>
                          <a:off x="2684" y="1761"/>
                          <a:ext cx="1868" cy="304"/>
                        </a:xfrm>
                        <a:prstGeom prst="rect">
                          <a:avLst/>
                        </a:prstGeom>
                        <a:noFill/>
                        <a:ln w="38100">
                          <a:noFill/>
                          <a:miter/>
                        </a:ln>
                      </p:spPr>
                    </p:pic>
                  </p:oleObj>
                </mc:Fallback>
              </mc:AlternateContent>
            </a:graphicData>
          </a:graphic>
        </p:graphicFrame>
      </p:grpSp>
      <p:graphicFrame>
        <p:nvGraphicFramePr>
          <p:cNvPr id="37896" name="Object 16"/>
          <p:cNvGraphicFramePr>
            <a:graphicFrameLocks noChangeAspect="1"/>
          </p:cNvGraphicFramePr>
          <p:nvPr/>
        </p:nvGraphicFramePr>
        <p:xfrm>
          <a:off x="4521200" y="1293813"/>
          <a:ext cx="3505200" cy="449262"/>
        </p:xfrm>
        <a:graphic>
          <a:graphicData uri="http://schemas.openxmlformats.org/presentationml/2006/ole">
            <mc:AlternateContent xmlns:mc="http://schemas.openxmlformats.org/markup-compatibility/2006">
              <mc:Choice xmlns:v="urn:schemas-microsoft-com:vml" Requires="v">
                <p:oleObj spid="_x0000_s3077" name="" r:id="rId3" imgW="1586865" imgH="203200" progId="Equation.3">
                  <p:embed/>
                </p:oleObj>
              </mc:Choice>
              <mc:Fallback>
                <p:oleObj name="" r:id="rId3" imgW="1586865" imgH="203200" progId="Equation.3">
                  <p:embed/>
                  <p:pic>
                    <p:nvPicPr>
                      <p:cNvPr id="0" name="图片 3076"/>
                      <p:cNvPicPr/>
                      <p:nvPr/>
                    </p:nvPicPr>
                    <p:blipFill>
                      <a:blip r:embed="rId4"/>
                      <a:stretch>
                        <a:fillRect/>
                      </a:stretch>
                    </p:blipFill>
                    <p:spPr>
                      <a:xfrm>
                        <a:off x="4521200" y="1293813"/>
                        <a:ext cx="3505200" cy="449262"/>
                      </a:xfrm>
                      <a:prstGeom prst="rect">
                        <a:avLst/>
                      </a:prstGeom>
                      <a:noFill/>
                      <a:ln w="38100">
                        <a:noFill/>
                        <a:miter/>
                      </a:ln>
                    </p:spPr>
                  </p:pic>
                </p:oleObj>
              </mc:Fallback>
            </mc:AlternateContent>
          </a:graphicData>
        </a:graphic>
      </p:graphicFrame>
      <p:graphicFrame>
        <p:nvGraphicFramePr>
          <p:cNvPr id="37897" name="Object 17"/>
          <p:cNvGraphicFramePr>
            <a:graphicFrameLocks noChangeAspect="1"/>
          </p:cNvGraphicFramePr>
          <p:nvPr/>
        </p:nvGraphicFramePr>
        <p:xfrm>
          <a:off x="1830388" y="3924300"/>
          <a:ext cx="3592512" cy="460375"/>
        </p:xfrm>
        <a:graphic>
          <a:graphicData uri="http://schemas.openxmlformats.org/presentationml/2006/ole">
            <mc:AlternateContent xmlns:mc="http://schemas.openxmlformats.org/markup-compatibility/2006">
              <mc:Choice xmlns:v="urn:schemas-microsoft-com:vml" Requires="v">
                <p:oleObj spid="_x0000_s3076" name="" r:id="rId5" imgW="1586865" imgH="203200" progId="Equation.3">
                  <p:embed/>
                </p:oleObj>
              </mc:Choice>
              <mc:Fallback>
                <p:oleObj name="" r:id="rId5" imgW="1586865" imgH="203200" progId="Equation.3">
                  <p:embed/>
                  <p:pic>
                    <p:nvPicPr>
                      <p:cNvPr id="0" name="图片 3075"/>
                      <p:cNvPicPr/>
                      <p:nvPr/>
                    </p:nvPicPr>
                    <p:blipFill>
                      <a:blip r:embed="rId4"/>
                      <a:stretch>
                        <a:fillRect/>
                      </a:stretch>
                    </p:blipFill>
                    <p:spPr>
                      <a:xfrm>
                        <a:off x="1830388" y="3924300"/>
                        <a:ext cx="3592512" cy="460375"/>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8914"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2.2.4  </a:t>
            </a:r>
            <a:r>
              <a:rPr lang="zh-CN" altLang="en-US" dirty="0">
                <a:latin typeface="Times New Roman" panose="02020503050405090304" pitchFamily="18" charset="0"/>
              </a:rPr>
              <a:t>谓词公式的性质</a:t>
            </a:r>
            <a:endParaRPr lang="zh-CN" altLang="en-US" dirty="0">
              <a:latin typeface="Times New Roman" panose="02020503050405090304" pitchFamily="18" charset="0"/>
            </a:endParaRPr>
          </a:p>
        </p:txBody>
      </p:sp>
      <p:sp>
        <p:nvSpPr>
          <p:cNvPr id="38915" name="Rectangle 3"/>
          <p:cNvSpPr>
            <a:spLocks noGrp="1"/>
          </p:cNvSpPr>
          <p:nvPr>
            <p:ph idx="1"/>
          </p:nvPr>
        </p:nvSpPr>
        <p:spPr/>
        <p:txBody>
          <a:bodyPr vert="horz" wrap="square" lIns="91440" tIns="45720" rIns="91440" bIns="45720" anchor="t" anchorCtr="0"/>
          <a:p>
            <a:pPr marL="571500" indent="-571500" eaLnBrk="1" hangingPunct="1">
              <a:spcBef>
                <a:spcPct val="40000"/>
              </a:spcBef>
            </a:pPr>
            <a:r>
              <a:rPr lang="zh-CN" altLang="en-US" b="1" dirty="0"/>
              <a:t>谓词逻辑的其他推理规则：</a:t>
            </a:r>
            <a:endParaRPr lang="zh-CN" altLang="en-US" b="1" dirty="0"/>
          </a:p>
          <a:p>
            <a:pPr marL="571500" indent="-571500" eaLnBrk="1" hangingPunct="1">
              <a:spcBef>
                <a:spcPct val="40000"/>
              </a:spcBef>
              <a:buNone/>
            </a:pPr>
            <a:r>
              <a:rPr lang="zh-CN" altLang="en-US" b="1" dirty="0">
                <a:solidFill>
                  <a:schemeClr val="accent2"/>
                </a:solidFill>
                <a:latin typeface="宋体" pitchFamily="2" charset="-122"/>
              </a:rPr>
              <a:t>④</a:t>
            </a:r>
            <a:r>
              <a:rPr lang="zh-CN" altLang="en-US" b="1" dirty="0">
                <a:latin typeface="宋体" pitchFamily="2" charset="-122"/>
              </a:rPr>
              <a:t> </a:t>
            </a:r>
            <a:r>
              <a:rPr lang="zh-CN" altLang="en-US" b="1" dirty="0">
                <a:latin typeface="Times New Roman" panose="02020503050405090304" pitchFamily="18" charset="0"/>
              </a:rPr>
              <a:t>反证法：          </a:t>
            </a:r>
            <a:r>
              <a:rPr lang="zh-CN" altLang="en-US" dirty="0">
                <a:latin typeface="Times New Roman" panose="02020503050405090304" pitchFamily="18" charset="0"/>
              </a:rPr>
              <a:t>，当且仅当                      ，即</a:t>
            </a:r>
            <a:r>
              <a:rPr lang="en-US" altLang="zh-CN" i="1" dirty="0">
                <a:latin typeface="Times New Roman" panose="02020503050405090304" pitchFamily="18" charset="0"/>
              </a:rPr>
              <a:t>Q</a:t>
            </a:r>
            <a:r>
              <a:rPr lang="zh-CN" altLang="en-US" dirty="0">
                <a:latin typeface="Times New Roman" panose="02020503050405090304" pitchFamily="18" charset="0"/>
              </a:rPr>
              <a:t>为</a:t>
            </a:r>
            <a:r>
              <a:rPr lang="en-US" altLang="zh-CN" i="1" dirty="0">
                <a:latin typeface="Times New Roman" panose="02020503050405090304" pitchFamily="18" charset="0"/>
              </a:rPr>
              <a:t>P</a:t>
            </a:r>
            <a:r>
              <a:rPr lang="zh-CN" altLang="en-US" dirty="0">
                <a:latin typeface="Times New Roman" panose="02020503050405090304" pitchFamily="18" charset="0"/>
              </a:rPr>
              <a:t>的逻辑结论，当且仅当                是不可满足的。</a:t>
            </a:r>
            <a:r>
              <a:rPr lang="zh-CN" altLang="en-US" sz="3200" b="1" dirty="0">
                <a:latin typeface="Times New Roman" panose="02020503050405090304" pitchFamily="18" charset="0"/>
              </a:rPr>
              <a:t> </a:t>
            </a:r>
            <a:endParaRPr lang="zh-CN" altLang="en-US" sz="3200" b="1" dirty="0">
              <a:latin typeface="Times New Roman" panose="02020503050405090304" pitchFamily="18" charset="0"/>
            </a:endParaRPr>
          </a:p>
        </p:txBody>
      </p:sp>
      <p:sp>
        <p:nvSpPr>
          <p:cNvPr id="38916" name="Rectangle 4"/>
          <p:cNvSpPr/>
          <p:nvPr/>
        </p:nvSpPr>
        <p:spPr>
          <a:xfrm>
            <a:off x="0" y="0"/>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graphicFrame>
        <p:nvGraphicFramePr>
          <p:cNvPr id="38917" name="Object 5"/>
          <p:cNvGraphicFramePr>
            <a:graphicFrameLocks noChangeAspect="1"/>
          </p:cNvGraphicFramePr>
          <p:nvPr/>
        </p:nvGraphicFramePr>
        <p:xfrm>
          <a:off x="2297113" y="1744663"/>
          <a:ext cx="990600" cy="407987"/>
        </p:xfrm>
        <a:graphic>
          <a:graphicData uri="http://schemas.openxmlformats.org/presentationml/2006/ole">
            <mc:AlternateContent xmlns:mc="http://schemas.openxmlformats.org/markup-compatibility/2006">
              <mc:Choice xmlns:v="urn:schemas-microsoft-com:vml" Requires="v">
                <p:oleObj spid="_x0000_s3078" name="" r:id="rId1" imgW="482600" imgH="203200" progId="Equation.3">
                  <p:embed/>
                </p:oleObj>
              </mc:Choice>
              <mc:Fallback>
                <p:oleObj name="" r:id="rId1" imgW="482600" imgH="203200" progId="Equation.3">
                  <p:embed/>
                  <p:pic>
                    <p:nvPicPr>
                      <p:cNvPr id="0" name="图片 3077"/>
                      <p:cNvPicPr/>
                      <p:nvPr/>
                    </p:nvPicPr>
                    <p:blipFill>
                      <a:blip r:embed="rId2"/>
                      <a:stretch>
                        <a:fillRect/>
                      </a:stretch>
                    </p:blipFill>
                    <p:spPr>
                      <a:xfrm>
                        <a:off x="2297113" y="1744663"/>
                        <a:ext cx="990600" cy="407987"/>
                      </a:xfrm>
                      <a:prstGeom prst="rect">
                        <a:avLst/>
                      </a:prstGeom>
                      <a:noFill/>
                      <a:ln w="38100">
                        <a:noFill/>
                        <a:miter/>
                      </a:ln>
                    </p:spPr>
                  </p:pic>
                </p:oleObj>
              </mc:Fallback>
            </mc:AlternateContent>
          </a:graphicData>
        </a:graphic>
      </p:graphicFrame>
      <p:sp>
        <p:nvSpPr>
          <p:cNvPr id="38918" name="Rectangle 6"/>
          <p:cNvSpPr/>
          <p:nvPr/>
        </p:nvSpPr>
        <p:spPr>
          <a:xfrm>
            <a:off x="0" y="3328988"/>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graphicFrame>
        <p:nvGraphicFramePr>
          <p:cNvPr id="38919" name="Object 7"/>
          <p:cNvGraphicFramePr>
            <a:graphicFrameLocks noChangeAspect="1"/>
          </p:cNvGraphicFramePr>
          <p:nvPr/>
        </p:nvGraphicFramePr>
        <p:xfrm>
          <a:off x="5118100" y="1701800"/>
          <a:ext cx="1878013" cy="434975"/>
        </p:xfrm>
        <a:graphic>
          <a:graphicData uri="http://schemas.openxmlformats.org/presentationml/2006/ole">
            <mc:AlternateContent xmlns:mc="http://schemas.openxmlformats.org/markup-compatibility/2006">
              <mc:Choice xmlns:v="urn:schemas-microsoft-com:vml" Requires="v">
                <p:oleObj spid="_x0000_s3079" name="" r:id="rId3" imgW="862965" imgH="203200" progId="Equation.3">
                  <p:embed/>
                </p:oleObj>
              </mc:Choice>
              <mc:Fallback>
                <p:oleObj name="" r:id="rId3" imgW="862965" imgH="203200" progId="Equation.3">
                  <p:embed/>
                  <p:pic>
                    <p:nvPicPr>
                      <p:cNvPr id="0" name="图片 3078"/>
                      <p:cNvPicPr/>
                      <p:nvPr/>
                    </p:nvPicPr>
                    <p:blipFill>
                      <a:blip r:embed="rId4"/>
                      <a:stretch>
                        <a:fillRect/>
                      </a:stretch>
                    </p:blipFill>
                    <p:spPr>
                      <a:xfrm>
                        <a:off x="5118100" y="1701800"/>
                        <a:ext cx="1878013" cy="434975"/>
                      </a:xfrm>
                      <a:prstGeom prst="rect">
                        <a:avLst/>
                      </a:prstGeom>
                      <a:noFill/>
                      <a:ln w="38100">
                        <a:noFill/>
                        <a:miter/>
                      </a:ln>
                    </p:spPr>
                  </p:pic>
                </p:oleObj>
              </mc:Fallback>
            </mc:AlternateContent>
          </a:graphicData>
        </a:graphic>
      </p:graphicFrame>
      <p:sp>
        <p:nvSpPr>
          <p:cNvPr id="38920" name="Rectangle 8"/>
          <p:cNvSpPr/>
          <p:nvPr/>
        </p:nvSpPr>
        <p:spPr>
          <a:xfrm>
            <a:off x="0" y="3328988"/>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graphicFrame>
        <p:nvGraphicFramePr>
          <p:cNvPr id="38921" name="Object 9"/>
          <p:cNvGraphicFramePr>
            <a:graphicFrameLocks noChangeAspect="1"/>
          </p:cNvGraphicFramePr>
          <p:nvPr/>
        </p:nvGraphicFramePr>
        <p:xfrm>
          <a:off x="4584700" y="2289175"/>
          <a:ext cx="1143000" cy="436563"/>
        </p:xfrm>
        <a:graphic>
          <a:graphicData uri="http://schemas.openxmlformats.org/presentationml/2006/ole">
            <mc:AlternateContent xmlns:mc="http://schemas.openxmlformats.org/markup-compatibility/2006">
              <mc:Choice xmlns:v="urn:schemas-microsoft-com:vml" Requires="v">
                <p:oleObj spid="_x0000_s3080" name="" r:id="rId5" imgW="520700" imgH="203200" progId="Equation.3">
                  <p:embed/>
                </p:oleObj>
              </mc:Choice>
              <mc:Fallback>
                <p:oleObj name="" r:id="rId5" imgW="520700" imgH="203200" progId="Equation.3">
                  <p:embed/>
                  <p:pic>
                    <p:nvPicPr>
                      <p:cNvPr id="0" name="图片 3079"/>
                      <p:cNvPicPr/>
                      <p:nvPr/>
                    </p:nvPicPr>
                    <p:blipFill>
                      <a:blip r:embed="rId6"/>
                      <a:stretch>
                        <a:fillRect/>
                      </a:stretch>
                    </p:blipFill>
                    <p:spPr>
                      <a:xfrm>
                        <a:off x="4584700" y="2289175"/>
                        <a:ext cx="1143000" cy="436563"/>
                      </a:xfrm>
                      <a:prstGeom prst="rect">
                        <a:avLst/>
                      </a:prstGeom>
                      <a:noFill/>
                      <a:ln w="38100">
                        <a:noFill/>
                        <a:miter/>
                      </a:ln>
                    </p:spPr>
                  </p:pic>
                </p:oleObj>
              </mc:Fallback>
            </mc:AlternateContent>
          </a:graphicData>
        </a:graphic>
      </p:graphicFrame>
      <p:sp>
        <p:nvSpPr>
          <p:cNvPr id="38922" name="Rectangle 10"/>
          <p:cNvSpPr/>
          <p:nvPr/>
        </p:nvSpPr>
        <p:spPr>
          <a:xfrm>
            <a:off x="0" y="3319463"/>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38923" name="Rectangle 12"/>
          <p:cNvSpPr/>
          <p:nvPr/>
        </p:nvSpPr>
        <p:spPr>
          <a:xfrm>
            <a:off x="0" y="3319463"/>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38924" name="Rectangle 16"/>
          <p:cNvSpPr/>
          <p:nvPr/>
        </p:nvSpPr>
        <p:spPr>
          <a:xfrm>
            <a:off x="0" y="0"/>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38925" name="Rectangle 18"/>
          <p:cNvSpPr/>
          <p:nvPr/>
        </p:nvSpPr>
        <p:spPr>
          <a:xfrm>
            <a:off x="195263" y="2941638"/>
            <a:ext cx="8667750" cy="1289050"/>
          </a:xfrm>
          <a:prstGeom prst="rect">
            <a:avLst/>
          </a:prstGeom>
          <a:noFill/>
          <a:ln w="9525">
            <a:noFill/>
          </a:ln>
        </p:spPr>
        <p:txBody>
          <a:bodyPr anchor="t" anchorCtr="0">
            <a:spAutoFit/>
          </a:bodyPr>
          <a:p>
            <a:pPr>
              <a:lnSpc>
                <a:spcPct val="120000"/>
              </a:lnSpc>
              <a:spcBef>
                <a:spcPct val="40000"/>
              </a:spcBef>
              <a:buClr>
                <a:schemeClr val="accent2"/>
              </a:buClr>
              <a:buFont typeface="Wingdings" panose="05000000000000000000" pitchFamily="2" charset="2"/>
              <a:buChar char="•"/>
            </a:pPr>
            <a:r>
              <a:rPr lang="en-US" altLang="zh-CN" sz="2800" b="1" dirty="0">
                <a:latin typeface="Arial" panose="020B0604020202090204" pitchFamily="34" charset="0"/>
                <a:ea typeface="宋体" pitchFamily="2" charset="-122"/>
              </a:rPr>
              <a:t>  </a:t>
            </a:r>
            <a:r>
              <a:rPr lang="zh-CN" altLang="en-US" sz="2800" b="1" dirty="0">
                <a:latin typeface="Arial" panose="020B0604020202090204" pitchFamily="34" charset="0"/>
                <a:ea typeface="宋体" pitchFamily="2" charset="-122"/>
              </a:rPr>
              <a:t>定理：</a:t>
            </a:r>
            <a:r>
              <a:rPr lang="en-US" altLang="zh-CN" sz="2800" i="1" dirty="0">
                <a:latin typeface="Times New Roman" panose="02020503050405090304" pitchFamily="18" charset="0"/>
                <a:ea typeface="宋体" pitchFamily="2" charset="-122"/>
              </a:rPr>
              <a:t>Q</a:t>
            </a:r>
            <a:r>
              <a:rPr lang="zh-CN" altLang="en-US" sz="2800" dirty="0">
                <a:latin typeface="Times New Roman" panose="02020503050405090304" pitchFamily="18" charset="0"/>
                <a:ea typeface="宋体" pitchFamily="2" charset="-122"/>
              </a:rPr>
              <a:t>为     ，    ，</a:t>
            </a:r>
            <a:r>
              <a:rPr lang="en-US" altLang="zh-CN" sz="3600" b="1" baseline="20000" dirty="0">
                <a:latin typeface="Times New Roman" panose="02020503050405090304" pitchFamily="18" charset="0"/>
                <a:ea typeface="宋体" pitchFamily="2" charset="-122"/>
              </a:rPr>
              <a:t>…  </a:t>
            </a:r>
            <a:r>
              <a:rPr lang="zh-CN" altLang="en-US" sz="2800" dirty="0">
                <a:latin typeface="Times New Roman" panose="02020503050405090304" pitchFamily="18" charset="0"/>
                <a:ea typeface="宋体" pitchFamily="2" charset="-122"/>
              </a:rPr>
              <a:t>，    的逻辑结论，当且仅当</a:t>
            </a:r>
            <a:endParaRPr lang="zh-CN" altLang="en-US" sz="2800" dirty="0">
              <a:latin typeface="Times New Roman" panose="02020503050405090304" pitchFamily="18" charset="0"/>
              <a:ea typeface="宋体" pitchFamily="2" charset="-122"/>
            </a:endParaRPr>
          </a:p>
          <a:p>
            <a:pPr>
              <a:lnSpc>
                <a:spcPct val="120000"/>
              </a:lnSpc>
              <a:spcBef>
                <a:spcPct val="40000"/>
              </a:spcBef>
              <a:buClr>
                <a:schemeClr val="accent2"/>
              </a:buClr>
              <a:buFont typeface="Wingdings" panose="05000000000000000000" pitchFamily="2" charset="2"/>
              <a:buNone/>
            </a:pPr>
            <a:r>
              <a:rPr lang="zh-CN" altLang="en-US" sz="2800" dirty="0">
                <a:latin typeface="Times New Roman" panose="02020503050405090304" pitchFamily="18" charset="0"/>
                <a:ea typeface="宋体" pitchFamily="2" charset="-122"/>
              </a:rPr>
              <a:t>                                                      是不可满足的</a:t>
            </a:r>
            <a:r>
              <a:rPr lang="zh-CN" altLang="en-US" sz="2800" dirty="0">
                <a:latin typeface="Arial" panose="020B0604020202090204" pitchFamily="34" charset="0"/>
                <a:ea typeface="宋体" pitchFamily="2" charset="-122"/>
              </a:rPr>
              <a:t>。</a:t>
            </a:r>
            <a:endParaRPr lang="zh-CN" altLang="en-US" sz="2800" dirty="0">
              <a:latin typeface="Arial" panose="020B0604020202090204" pitchFamily="34" charset="0"/>
              <a:ea typeface="宋体" pitchFamily="2" charset="-122"/>
            </a:endParaRPr>
          </a:p>
        </p:txBody>
      </p:sp>
      <p:graphicFrame>
        <p:nvGraphicFramePr>
          <p:cNvPr id="38926" name="Object 11"/>
          <p:cNvGraphicFramePr>
            <a:graphicFrameLocks noChangeAspect="1"/>
          </p:cNvGraphicFramePr>
          <p:nvPr/>
        </p:nvGraphicFramePr>
        <p:xfrm>
          <a:off x="2551113" y="3009900"/>
          <a:ext cx="393700" cy="533400"/>
        </p:xfrm>
        <a:graphic>
          <a:graphicData uri="http://schemas.openxmlformats.org/presentationml/2006/ole">
            <mc:AlternateContent xmlns:mc="http://schemas.openxmlformats.org/markup-compatibility/2006">
              <mc:Choice xmlns:v="urn:schemas-microsoft-com:vml" Requires="v">
                <p:oleObj spid="_x0000_s3113" name="" r:id="rId7" imgW="165100" imgH="215900" progId="Equation.3">
                  <p:embed/>
                </p:oleObj>
              </mc:Choice>
              <mc:Fallback>
                <p:oleObj name="" r:id="rId7" imgW="165100" imgH="215900" progId="Equation.3">
                  <p:embed/>
                  <p:pic>
                    <p:nvPicPr>
                      <p:cNvPr id="0" name="图片 3112"/>
                      <p:cNvPicPr/>
                      <p:nvPr/>
                    </p:nvPicPr>
                    <p:blipFill>
                      <a:blip r:embed="rId8"/>
                      <a:stretch>
                        <a:fillRect/>
                      </a:stretch>
                    </p:blipFill>
                    <p:spPr>
                      <a:xfrm>
                        <a:off x="2551113" y="3009900"/>
                        <a:ext cx="393700" cy="533400"/>
                      </a:xfrm>
                      <a:prstGeom prst="rect">
                        <a:avLst/>
                      </a:prstGeom>
                      <a:noFill/>
                      <a:ln w="38100">
                        <a:noFill/>
                        <a:miter/>
                      </a:ln>
                    </p:spPr>
                  </p:pic>
                </p:oleObj>
              </mc:Fallback>
            </mc:AlternateContent>
          </a:graphicData>
        </a:graphic>
      </p:graphicFrame>
      <p:graphicFrame>
        <p:nvGraphicFramePr>
          <p:cNvPr id="38927" name="Object 13"/>
          <p:cNvGraphicFramePr>
            <a:graphicFrameLocks noChangeAspect="1"/>
          </p:cNvGraphicFramePr>
          <p:nvPr/>
        </p:nvGraphicFramePr>
        <p:xfrm>
          <a:off x="3119438" y="3024188"/>
          <a:ext cx="441325" cy="533400"/>
        </p:xfrm>
        <a:graphic>
          <a:graphicData uri="http://schemas.openxmlformats.org/presentationml/2006/ole">
            <mc:AlternateContent xmlns:mc="http://schemas.openxmlformats.org/markup-compatibility/2006">
              <mc:Choice xmlns:v="urn:schemas-microsoft-com:vml" Requires="v">
                <p:oleObj spid="_x0000_s3112" name="" r:id="rId9" imgW="177800" imgH="215900" progId="Equation.3">
                  <p:embed/>
                </p:oleObj>
              </mc:Choice>
              <mc:Fallback>
                <p:oleObj name="" r:id="rId9" imgW="177800" imgH="215900" progId="Equation.3">
                  <p:embed/>
                  <p:pic>
                    <p:nvPicPr>
                      <p:cNvPr id="0" name="图片 3111"/>
                      <p:cNvPicPr/>
                      <p:nvPr/>
                    </p:nvPicPr>
                    <p:blipFill>
                      <a:blip r:embed="rId10"/>
                      <a:stretch>
                        <a:fillRect/>
                      </a:stretch>
                    </p:blipFill>
                    <p:spPr>
                      <a:xfrm>
                        <a:off x="3119438" y="3024188"/>
                        <a:ext cx="441325" cy="533400"/>
                      </a:xfrm>
                      <a:prstGeom prst="rect">
                        <a:avLst/>
                      </a:prstGeom>
                      <a:noFill/>
                      <a:ln w="38100">
                        <a:noFill/>
                        <a:miter/>
                      </a:ln>
                    </p:spPr>
                  </p:pic>
                </p:oleObj>
              </mc:Fallback>
            </mc:AlternateContent>
          </a:graphicData>
        </a:graphic>
      </p:graphicFrame>
      <p:graphicFrame>
        <p:nvGraphicFramePr>
          <p:cNvPr id="38928" name="Object 15"/>
          <p:cNvGraphicFramePr>
            <a:graphicFrameLocks noChangeAspect="1"/>
          </p:cNvGraphicFramePr>
          <p:nvPr/>
        </p:nvGraphicFramePr>
        <p:xfrm>
          <a:off x="4651375" y="3051175"/>
          <a:ext cx="423863" cy="504825"/>
        </p:xfrm>
        <a:graphic>
          <a:graphicData uri="http://schemas.openxmlformats.org/presentationml/2006/ole">
            <mc:AlternateContent xmlns:mc="http://schemas.openxmlformats.org/markup-compatibility/2006">
              <mc:Choice xmlns:v="urn:schemas-microsoft-com:vml" Requires="v">
                <p:oleObj spid="_x0000_s3110" name="" r:id="rId11" imgW="177800" imgH="215900" progId="Equation.3">
                  <p:embed/>
                </p:oleObj>
              </mc:Choice>
              <mc:Fallback>
                <p:oleObj name="" r:id="rId11" imgW="177800" imgH="215900" progId="Equation.3">
                  <p:embed/>
                  <p:pic>
                    <p:nvPicPr>
                      <p:cNvPr id="0" name="图片 3109"/>
                      <p:cNvPicPr/>
                      <p:nvPr/>
                    </p:nvPicPr>
                    <p:blipFill>
                      <a:blip r:embed="rId12"/>
                      <a:stretch>
                        <a:fillRect/>
                      </a:stretch>
                    </p:blipFill>
                    <p:spPr>
                      <a:xfrm>
                        <a:off x="4651375" y="3051175"/>
                        <a:ext cx="423863" cy="504825"/>
                      </a:xfrm>
                      <a:prstGeom prst="rect">
                        <a:avLst/>
                      </a:prstGeom>
                      <a:noFill/>
                      <a:ln w="38100">
                        <a:noFill/>
                        <a:miter/>
                      </a:ln>
                    </p:spPr>
                  </p:pic>
                </p:oleObj>
              </mc:Fallback>
            </mc:AlternateContent>
          </a:graphicData>
        </a:graphic>
      </p:graphicFrame>
      <p:graphicFrame>
        <p:nvGraphicFramePr>
          <p:cNvPr id="38929" name="Object 17"/>
          <p:cNvGraphicFramePr>
            <a:graphicFrameLocks noChangeAspect="1"/>
          </p:cNvGraphicFramePr>
          <p:nvPr/>
        </p:nvGraphicFramePr>
        <p:xfrm>
          <a:off x="1571625" y="3668713"/>
          <a:ext cx="3552825" cy="550862"/>
        </p:xfrm>
        <a:graphic>
          <a:graphicData uri="http://schemas.openxmlformats.org/presentationml/2006/ole">
            <mc:AlternateContent xmlns:mc="http://schemas.openxmlformats.org/markup-compatibility/2006">
              <mc:Choice xmlns:v="urn:schemas-microsoft-com:vml" Requires="v">
                <p:oleObj spid="_x0000_s3111" name="" r:id="rId13" imgW="1473200" imgH="228600" progId="Equation.3">
                  <p:embed/>
                </p:oleObj>
              </mc:Choice>
              <mc:Fallback>
                <p:oleObj name="" r:id="rId13" imgW="1473200" imgH="228600" progId="Equation.3">
                  <p:embed/>
                  <p:pic>
                    <p:nvPicPr>
                      <p:cNvPr id="0" name="图片 3110"/>
                      <p:cNvPicPr/>
                      <p:nvPr/>
                    </p:nvPicPr>
                    <p:blipFill>
                      <a:blip r:embed="rId14"/>
                      <a:stretch>
                        <a:fillRect/>
                      </a:stretch>
                    </p:blipFill>
                    <p:spPr>
                      <a:xfrm>
                        <a:off x="1571625" y="3668713"/>
                        <a:ext cx="3552825" cy="550862"/>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9938" name="Rectangle 6"/>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2.2.5  </a:t>
            </a:r>
            <a:r>
              <a:rPr lang="zh-CN" altLang="en-US" dirty="0">
                <a:latin typeface="Times New Roman" panose="02020503050405090304" pitchFamily="18" charset="0"/>
              </a:rPr>
              <a:t>一阶谓词逻辑知识表示方法</a:t>
            </a:r>
            <a:endParaRPr lang="zh-CN" altLang="en-US" dirty="0">
              <a:latin typeface="Times New Roman" panose="02020503050405090304" pitchFamily="18" charset="0"/>
            </a:endParaRPr>
          </a:p>
        </p:txBody>
      </p:sp>
      <p:sp>
        <p:nvSpPr>
          <p:cNvPr id="39939" name="Rectangle 7"/>
          <p:cNvSpPr>
            <a:spLocks noGrp="1"/>
          </p:cNvSpPr>
          <p:nvPr>
            <p:ph idx="1"/>
          </p:nvPr>
        </p:nvSpPr>
        <p:spPr>
          <a:xfrm>
            <a:off x="379413" y="908050"/>
            <a:ext cx="8337550" cy="2527300"/>
          </a:xfrm>
          <a:gradFill rotWithShape="0">
            <a:gsLst>
              <a:gs pos="0">
                <a:srgbClr val="CCFFFF"/>
              </a:gs>
              <a:gs pos="100000">
                <a:schemeClr val="bg1"/>
              </a:gs>
            </a:gsLst>
            <a:path path="rect">
              <a:fillToRect l="100000" t="100000"/>
            </a:path>
            <a:tileRect/>
          </a:gradFill>
          <a:ln>
            <a:solidFill>
              <a:srgbClr val="808080"/>
            </a:solidFill>
            <a:miter/>
          </a:ln>
        </p:spPr>
        <p:txBody>
          <a:bodyPr vert="horz" wrap="square" lIns="91440" tIns="45720" rIns="91440" bIns="45720" anchor="t" anchorCtr="0"/>
          <a:p>
            <a:pPr marL="571500" indent="-571500" eaLnBrk="1" hangingPunct="1">
              <a:spcBef>
                <a:spcPct val="30000"/>
              </a:spcBef>
            </a:pPr>
            <a:r>
              <a:rPr lang="zh-CN" altLang="en-US" sz="2600" b="1" dirty="0">
                <a:latin typeface="Times New Roman" panose="02020503050405090304" pitchFamily="18" charset="0"/>
              </a:rPr>
              <a:t>谓词公式表示知识的步骤：</a:t>
            </a:r>
            <a:endParaRPr lang="zh-CN" altLang="en-US" sz="2600" b="1" dirty="0">
              <a:latin typeface="Times New Roman" panose="02020503050405090304" pitchFamily="18" charset="0"/>
            </a:endParaRPr>
          </a:p>
          <a:p>
            <a:pPr marL="967105" lvl="1" indent="-495300" eaLnBrk="1" hangingPunct="1">
              <a:lnSpc>
                <a:spcPct val="120000"/>
              </a:lnSpc>
              <a:spcBef>
                <a:spcPct val="30000"/>
              </a:spcBef>
              <a:buNone/>
            </a:pPr>
            <a:r>
              <a:rPr lang="zh-CN" altLang="en-US" b="1" dirty="0">
                <a:solidFill>
                  <a:schemeClr val="tx1"/>
                </a:solidFill>
                <a:latin typeface="Times New Roman" panose="02020503050405090304" pitchFamily="18" charset="0"/>
              </a:rPr>
              <a:t>（</a:t>
            </a:r>
            <a:r>
              <a:rPr lang="en-US" altLang="zh-CN" b="1" dirty="0">
                <a:solidFill>
                  <a:schemeClr val="tx1"/>
                </a:solidFill>
                <a:latin typeface="Times New Roman" panose="02020503050405090304" pitchFamily="18" charset="0"/>
              </a:rPr>
              <a:t>1</a:t>
            </a:r>
            <a:r>
              <a:rPr lang="zh-CN" altLang="en-US" b="1" dirty="0">
                <a:solidFill>
                  <a:schemeClr val="tx1"/>
                </a:solidFill>
                <a:latin typeface="Times New Roman" panose="02020503050405090304" pitchFamily="18" charset="0"/>
              </a:rPr>
              <a:t>）定义谓词及个体。</a:t>
            </a:r>
            <a:endParaRPr lang="zh-CN" altLang="en-US" b="1" dirty="0">
              <a:solidFill>
                <a:schemeClr val="tx1"/>
              </a:solidFill>
              <a:latin typeface="Times New Roman" panose="02020503050405090304" pitchFamily="18" charset="0"/>
            </a:endParaRPr>
          </a:p>
          <a:p>
            <a:pPr marL="967105" lvl="1" indent="-495300" eaLnBrk="1" hangingPunct="1">
              <a:lnSpc>
                <a:spcPct val="120000"/>
              </a:lnSpc>
              <a:spcBef>
                <a:spcPct val="30000"/>
              </a:spcBef>
              <a:buNone/>
            </a:pPr>
            <a:r>
              <a:rPr lang="zh-CN" altLang="en-US" b="1" dirty="0">
                <a:solidFill>
                  <a:schemeClr val="tx1"/>
                </a:solidFill>
                <a:latin typeface="Times New Roman" panose="02020503050405090304" pitchFamily="18" charset="0"/>
              </a:rPr>
              <a:t>（</a:t>
            </a:r>
            <a:r>
              <a:rPr lang="en-US" altLang="zh-CN" b="1" dirty="0">
                <a:solidFill>
                  <a:schemeClr val="tx1"/>
                </a:solidFill>
                <a:latin typeface="Times New Roman" panose="02020503050405090304" pitchFamily="18" charset="0"/>
              </a:rPr>
              <a:t>2</a:t>
            </a:r>
            <a:r>
              <a:rPr lang="zh-CN" altLang="en-US" b="1" dirty="0">
                <a:solidFill>
                  <a:schemeClr val="tx1"/>
                </a:solidFill>
                <a:latin typeface="Times New Roman" panose="02020503050405090304" pitchFamily="18" charset="0"/>
              </a:rPr>
              <a:t>）变元赋值。</a:t>
            </a:r>
            <a:endParaRPr lang="zh-CN" altLang="en-US" b="1" dirty="0">
              <a:solidFill>
                <a:schemeClr val="tx1"/>
              </a:solidFill>
              <a:latin typeface="Times New Roman" panose="02020503050405090304" pitchFamily="18" charset="0"/>
            </a:endParaRPr>
          </a:p>
          <a:p>
            <a:pPr marL="967105" lvl="1" indent="-495300" eaLnBrk="1" hangingPunct="1">
              <a:lnSpc>
                <a:spcPct val="120000"/>
              </a:lnSpc>
              <a:spcBef>
                <a:spcPct val="30000"/>
              </a:spcBef>
              <a:buNone/>
            </a:pPr>
            <a:r>
              <a:rPr lang="zh-CN" altLang="en-US" b="1" dirty="0">
                <a:solidFill>
                  <a:schemeClr val="tx1"/>
                </a:solidFill>
                <a:latin typeface="Times New Roman" panose="02020503050405090304" pitchFamily="18" charset="0"/>
              </a:rPr>
              <a:t>（</a:t>
            </a:r>
            <a:r>
              <a:rPr lang="en-US" altLang="zh-CN" b="1" dirty="0">
                <a:solidFill>
                  <a:schemeClr val="tx1"/>
                </a:solidFill>
                <a:latin typeface="Times New Roman" panose="02020503050405090304" pitchFamily="18" charset="0"/>
              </a:rPr>
              <a:t>3</a:t>
            </a:r>
            <a:r>
              <a:rPr lang="zh-CN" altLang="en-US" b="1" dirty="0">
                <a:solidFill>
                  <a:schemeClr val="tx1"/>
                </a:solidFill>
                <a:latin typeface="Times New Roman" panose="02020503050405090304" pitchFamily="18" charset="0"/>
              </a:rPr>
              <a:t>）用连接词连接各个谓词，形成谓词公式</a:t>
            </a:r>
            <a:r>
              <a:rPr lang="zh-CN" altLang="en-US" sz="2800" b="1" dirty="0">
                <a:solidFill>
                  <a:schemeClr val="tx1"/>
                </a:solidFill>
                <a:latin typeface="Times New Roman" panose="02020503050405090304" pitchFamily="18" charset="0"/>
              </a:rPr>
              <a:t>。</a:t>
            </a:r>
            <a:endParaRPr lang="zh-CN" altLang="en-US" sz="2800" b="1" dirty="0">
              <a:solidFill>
                <a:schemeClr val="tx1"/>
              </a:solidFill>
              <a:latin typeface="Times New Roman" panose="02020503050405090304" pitchFamily="18" charset="0"/>
            </a:endParaRPr>
          </a:p>
        </p:txBody>
      </p:sp>
      <p:sp>
        <p:nvSpPr>
          <p:cNvPr id="39940" name="Rectangle 8"/>
          <p:cNvSpPr/>
          <p:nvPr/>
        </p:nvSpPr>
        <p:spPr>
          <a:xfrm>
            <a:off x="346075" y="3667125"/>
            <a:ext cx="8412163" cy="2803525"/>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nSpc>
                <a:spcPct val="120000"/>
              </a:lnSpc>
              <a:buClr>
                <a:schemeClr val="accent2"/>
              </a:buClr>
              <a:buFont typeface="Wingdings" panose="05000000000000000000" pitchFamily="2" charset="2"/>
              <a:buChar char="§"/>
            </a:pPr>
            <a:r>
              <a:rPr lang="en-US" altLang="zh-CN" sz="2400" b="1" dirty="0">
                <a:latin typeface="Times New Roman" panose="02020503050405090304" pitchFamily="18" charset="0"/>
                <a:ea typeface="宋体" pitchFamily="2" charset="-122"/>
              </a:rPr>
              <a:t> </a:t>
            </a:r>
            <a:r>
              <a:rPr lang="zh-CN" altLang="en-US" sz="2400" b="1" dirty="0">
                <a:latin typeface="Times New Roman" panose="02020503050405090304" pitchFamily="18" charset="0"/>
                <a:ea typeface="宋体" pitchFamily="2" charset="-122"/>
              </a:rPr>
              <a:t>例如： 用一阶谓词逻辑表示下列关系数据库。</a:t>
            </a:r>
            <a:endParaRPr lang="zh-CN" altLang="en-US" sz="2400" b="1" dirty="0">
              <a:latin typeface="Times New Roman" panose="02020503050405090304" pitchFamily="18" charset="0"/>
              <a:ea typeface="宋体" pitchFamily="2" charset="-122"/>
            </a:endParaRPr>
          </a:p>
          <a:p>
            <a:pPr lvl="2" indent="0" algn="l" rtl="0" eaLnBrk="1" fontAlgn="base" hangingPunct="1">
              <a:lnSpc>
                <a:spcPct val="120000"/>
              </a:lnSpc>
              <a:spcBef>
                <a:spcPct val="20000"/>
              </a:spcBef>
              <a:spcAft>
                <a:spcPct val="0"/>
              </a:spcAft>
              <a:buClr>
                <a:schemeClr val="accent2"/>
              </a:buClr>
              <a:buFont typeface="Wingdings" panose="05000000000000000000" pitchFamily="2" charset="2"/>
              <a:buNone/>
            </a:pPr>
            <a:r>
              <a:rPr lang="zh-CN" altLang="en-US" sz="2400" b="1" dirty="0">
                <a:solidFill>
                  <a:schemeClr val="tx1"/>
                </a:solidFill>
                <a:latin typeface="Times New Roman" panose="02020503050405090304" pitchFamily="18" charset="0"/>
                <a:ea typeface="宋体" pitchFamily="2" charset="-122"/>
              </a:rPr>
              <a:t>住户              房间               </a:t>
            </a:r>
            <a:r>
              <a:rPr lang="zh-CN" altLang="en-US" sz="2400" b="1" dirty="0">
                <a:solidFill>
                  <a:schemeClr val="tx1"/>
                </a:solidFill>
                <a:latin typeface="Times New Roman" panose="02020503050405090304" pitchFamily="18" charset="0"/>
                <a:ea typeface="宋体" pitchFamily="2" charset="-122"/>
              </a:rPr>
              <a:t>电话号码         房间</a:t>
            </a:r>
            <a:endParaRPr lang="zh-CN" altLang="en-US" sz="2400" b="1" dirty="0">
              <a:solidFill>
                <a:schemeClr val="tx1"/>
              </a:solidFill>
              <a:latin typeface="Times New Roman" panose="02020503050405090304" pitchFamily="18" charset="0"/>
              <a:ea typeface="宋体" pitchFamily="2" charset="-122"/>
            </a:endParaRPr>
          </a:p>
          <a:p>
            <a:pPr lvl="2" indent="0" algn="l" rtl="0" eaLnBrk="1" fontAlgn="base" hangingPunct="1">
              <a:lnSpc>
                <a:spcPct val="120000"/>
              </a:lnSpc>
              <a:spcBef>
                <a:spcPct val="0"/>
              </a:spcBef>
              <a:spcAft>
                <a:spcPct val="0"/>
              </a:spcAft>
              <a:buClr>
                <a:schemeClr val="accent2"/>
              </a:buClr>
              <a:buFont typeface="Wingdings" panose="05000000000000000000" pitchFamily="2" charset="2"/>
              <a:buNone/>
            </a:pPr>
            <a:r>
              <a:rPr lang="en-US" altLang="zh-CN" sz="2400" b="1" dirty="0">
                <a:solidFill>
                  <a:srgbClr val="0000FF"/>
                </a:solidFill>
                <a:latin typeface="Times New Roman" panose="02020503050405090304" pitchFamily="18" charset="0"/>
                <a:ea typeface="宋体" pitchFamily="2" charset="-122"/>
              </a:rPr>
              <a:t>Zhang            201                    491                 201</a:t>
            </a:r>
            <a:endParaRPr lang="en-US" altLang="zh-CN" sz="2400" b="1" dirty="0">
              <a:solidFill>
                <a:srgbClr val="0000FF"/>
              </a:solidFill>
              <a:latin typeface="Times New Roman" panose="02020503050405090304" pitchFamily="18" charset="0"/>
              <a:ea typeface="宋体" pitchFamily="2" charset="-122"/>
            </a:endParaRPr>
          </a:p>
          <a:p>
            <a:pPr lvl="2" indent="0" algn="l" rtl="0" eaLnBrk="1" fontAlgn="base" hangingPunct="1">
              <a:lnSpc>
                <a:spcPct val="120000"/>
              </a:lnSpc>
              <a:spcBef>
                <a:spcPct val="0"/>
              </a:spcBef>
              <a:spcAft>
                <a:spcPct val="0"/>
              </a:spcAft>
              <a:buClr>
                <a:schemeClr val="accent2"/>
              </a:buClr>
              <a:buFont typeface="Wingdings" panose="05000000000000000000" pitchFamily="2" charset="2"/>
              <a:buNone/>
            </a:pPr>
            <a:r>
              <a:rPr lang="en-US" altLang="zh-CN" sz="2400" b="1" dirty="0">
                <a:solidFill>
                  <a:srgbClr val="0000FF"/>
                </a:solidFill>
                <a:latin typeface="Times New Roman" panose="02020503050405090304" pitchFamily="18" charset="0"/>
                <a:ea typeface="宋体" pitchFamily="2" charset="-122"/>
              </a:rPr>
              <a:t>Li                   201                    492                 201</a:t>
            </a:r>
            <a:endParaRPr lang="en-US" altLang="zh-CN" sz="2400" b="1" dirty="0">
              <a:solidFill>
                <a:srgbClr val="0000FF"/>
              </a:solidFill>
              <a:latin typeface="Times New Roman" panose="02020503050405090304" pitchFamily="18" charset="0"/>
              <a:ea typeface="宋体" pitchFamily="2" charset="-122"/>
            </a:endParaRPr>
          </a:p>
          <a:p>
            <a:pPr lvl="2" indent="0" algn="l" rtl="0" eaLnBrk="1" fontAlgn="base" hangingPunct="1">
              <a:lnSpc>
                <a:spcPct val="120000"/>
              </a:lnSpc>
              <a:spcBef>
                <a:spcPct val="0"/>
              </a:spcBef>
              <a:spcAft>
                <a:spcPct val="0"/>
              </a:spcAft>
              <a:buClr>
                <a:schemeClr val="accent2"/>
              </a:buClr>
              <a:buFont typeface="Wingdings" panose="05000000000000000000" pitchFamily="2" charset="2"/>
              <a:buNone/>
            </a:pPr>
            <a:r>
              <a:rPr lang="en-US" altLang="zh-CN" sz="2400" b="1" dirty="0">
                <a:solidFill>
                  <a:srgbClr val="0000FF"/>
                </a:solidFill>
                <a:latin typeface="Times New Roman" panose="02020503050405090304" pitchFamily="18" charset="0"/>
                <a:ea typeface="宋体" pitchFamily="2" charset="-122"/>
              </a:rPr>
              <a:t>Wang             202                    451                 202</a:t>
            </a:r>
            <a:endParaRPr lang="en-US" altLang="zh-CN" sz="2400" b="1" dirty="0">
              <a:solidFill>
                <a:srgbClr val="0000FF"/>
              </a:solidFill>
              <a:latin typeface="Times New Roman" panose="02020503050405090304" pitchFamily="18" charset="0"/>
              <a:ea typeface="宋体" pitchFamily="2" charset="-122"/>
            </a:endParaRPr>
          </a:p>
          <a:p>
            <a:pPr lvl="2" indent="0" algn="l" rtl="0" eaLnBrk="1" fontAlgn="base" hangingPunct="1">
              <a:lnSpc>
                <a:spcPct val="120000"/>
              </a:lnSpc>
              <a:spcBef>
                <a:spcPct val="0"/>
              </a:spcBef>
              <a:spcAft>
                <a:spcPct val="0"/>
              </a:spcAft>
              <a:buClr>
                <a:schemeClr val="accent2"/>
              </a:buClr>
              <a:buFont typeface="Wingdings" panose="05000000000000000000" pitchFamily="2" charset="2"/>
              <a:buNone/>
            </a:pPr>
            <a:r>
              <a:rPr lang="en-US" altLang="zh-CN" sz="2400" b="1" dirty="0">
                <a:solidFill>
                  <a:srgbClr val="0000FF"/>
                </a:solidFill>
                <a:latin typeface="Times New Roman" panose="02020503050405090304" pitchFamily="18" charset="0"/>
                <a:ea typeface="宋体" pitchFamily="2" charset="-122"/>
              </a:rPr>
              <a:t>Zhao              203                    451                 203</a:t>
            </a:r>
            <a:endParaRPr lang="en-US" altLang="zh-CN" sz="2400" b="1" dirty="0">
              <a:solidFill>
                <a:srgbClr val="0000FF"/>
              </a:solidFill>
              <a:latin typeface="Times New Roman" panose="02020503050405090304" pitchFamily="18" charset="0"/>
              <a:ea typeface="Times New Roman" panose="02020503050405090304" pitchFamily="18" charset="0"/>
            </a:endParaRPr>
          </a:p>
        </p:txBody>
      </p:sp>
      <p:sp>
        <p:nvSpPr>
          <p:cNvPr id="39941" name="Line 9"/>
          <p:cNvSpPr/>
          <p:nvPr/>
        </p:nvSpPr>
        <p:spPr>
          <a:xfrm>
            <a:off x="4267200" y="4368800"/>
            <a:ext cx="0" cy="1944688"/>
          </a:xfrm>
          <a:prstGeom prst="line">
            <a:avLst/>
          </a:prstGeom>
          <a:ln w="25400" cap="flat" cmpd="sng">
            <a:solidFill>
              <a:schemeClr val="accent2"/>
            </a:solidFill>
            <a:prstDash val="dash"/>
            <a:round/>
            <a:headEnd type="none" w="med" len="med"/>
            <a:tailEnd type="none" w="med" len="med"/>
          </a:ln>
        </p:spPr>
      </p:sp>
      <p:sp>
        <p:nvSpPr>
          <p:cNvPr id="28682" name="AutoShape 10"/>
          <p:cNvSpPr/>
          <p:nvPr/>
        </p:nvSpPr>
        <p:spPr>
          <a:xfrm>
            <a:off x="1185863" y="4919663"/>
            <a:ext cx="2744787" cy="885825"/>
          </a:xfrm>
          <a:prstGeom prst="cloudCallout">
            <a:avLst>
              <a:gd name="adj1" fmla="val -9514"/>
              <a:gd name="adj2" fmla="val -96597"/>
            </a:avLst>
          </a:prstGeom>
          <a:solidFill>
            <a:srgbClr val="CCFFFF"/>
          </a:solidFill>
          <a:ln w="9525" cap="flat" cmpd="sng">
            <a:solidFill>
              <a:schemeClr val="tx1"/>
            </a:solidFill>
            <a:prstDash val="solid"/>
            <a:round/>
            <a:headEnd type="none" w="med" len="med"/>
            <a:tailEnd type="none" w="med" len="med"/>
          </a:ln>
        </p:spPr>
        <p:txBody>
          <a:bodyPr anchor="t" anchorCtr="0"/>
          <a:p>
            <a:pPr algn="ctr">
              <a:buClrTx/>
              <a:buFontTx/>
              <a:buNone/>
            </a:pPr>
            <a:r>
              <a:rPr lang="en-US" altLang="zh-CN" sz="2400" b="1" i="1" dirty="0">
                <a:latin typeface="Times New Roman" panose="02020503050405090304" pitchFamily="18" charset="0"/>
                <a:ea typeface="宋体" pitchFamily="2" charset="-122"/>
              </a:rPr>
              <a:t>Occupant</a:t>
            </a:r>
            <a:endParaRPr lang="en-US" altLang="zh-CN" sz="2400" b="1" i="1" dirty="0">
              <a:latin typeface="Times New Roman" panose="02020503050405090304" pitchFamily="18" charset="0"/>
              <a:ea typeface="宋体" pitchFamily="2" charset="-122"/>
            </a:endParaRPr>
          </a:p>
        </p:txBody>
      </p:sp>
      <p:sp>
        <p:nvSpPr>
          <p:cNvPr id="28683" name="AutoShape 11"/>
          <p:cNvSpPr/>
          <p:nvPr/>
        </p:nvSpPr>
        <p:spPr>
          <a:xfrm>
            <a:off x="5389563" y="4868863"/>
            <a:ext cx="2933700" cy="885825"/>
          </a:xfrm>
          <a:prstGeom prst="cloudCallout">
            <a:avLst>
              <a:gd name="adj1" fmla="val -20509"/>
              <a:gd name="adj2" fmla="val -84944"/>
            </a:avLst>
          </a:prstGeom>
          <a:solidFill>
            <a:srgbClr val="CCFFFF"/>
          </a:solidFill>
          <a:ln w="9525" cap="flat" cmpd="sng">
            <a:solidFill>
              <a:schemeClr val="tx1"/>
            </a:solidFill>
            <a:prstDash val="solid"/>
            <a:round/>
            <a:headEnd type="none" w="med" len="med"/>
            <a:tailEnd type="none" w="med" len="med"/>
          </a:ln>
        </p:spPr>
        <p:txBody>
          <a:bodyPr anchor="t" anchorCtr="0"/>
          <a:p>
            <a:pPr algn="ctr">
              <a:buClrTx/>
              <a:buFontTx/>
              <a:buNone/>
            </a:pPr>
            <a:r>
              <a:rPr lang="en-US" altLang="zh-CN" sz="2400" b="1" i="1" dirty="0">
                <a:latin typeface="Times New Roman" panose="02020503050405090304" pitchFamily="18" charset="0"/>
                <a:ea typeface="宋体" pitchFamily="2" charset="-122"/>
              </a:rPr>
              <a:t>Telephone</a:t>
            </a:r>
            <a:endParaRPr lang="en-US" altLang="zh-CN" sz="2400" b="1" i="1" dirty="0">
              <a:latin typeface="Times New Roman" panose="02020503050405090304" pitchFamily="18"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28682"/>
                                        </p:tgtEl>
                                        <p:attrNameLst>
                                          <p:attrName>style.visibility</p:attrName>
                                        </p:attrNameLst>
                                      </p:cBhvr>
                                      <p:to>
                                        <p:strVal val="visible"/>
                                      </p:to>
                                    </p:set>
                                    <p:anim calcmode="lin" valueType="num">
                                      <p:cBhvr>
                                        <p:cTn id="7" dur="500" fill="hold"/>
                                        <p:tgtEl>
                                          <p:spTgt spid="28682"/>
                                        </p:tgtEl>
                                        <p:attrNameLst>
                                          <p:attrName>ppt_x</p:attrName>
                                        </p:attrNameLst>
                                      </p:cBhvr>
                                      <p:tavLst>
                                        <p:tav tm="0">
                                          <p:val>
                                            <p:strVal val="#ppt_x"/>
                                          </p:val>
                                        </p:tav>
                                        <p:tav tm="100000">
                                          <p:val>
                                            <p:strVal val="#ppt_x"/>
                                          </p:val>
                                        </p:tav>
                                      </p:tavLst>
                                    </p:anim>
                                    <p:anim calcmode="lin" valueType="num">
                                      <p:cBhvr>
                                        <p:cTn id="8" dur="500" fill="hold"/>
                                        <p:tgtEl>
                                          <p:spTgt spid="28682"/>
                                        </p:tgtEl>
                                        <p:attrNameLst>
                                          <p:attrName>ppt_y</p:attrName>
                                        </p:attrNameLst>
                                      </p:cBhvr>
                                      <p:tavLst>
                                        <p:tav tm="0">
                                          <p:val>
                                            <p:strVal val="#ppt_y-#ppt_h/2"/>
                                          </p:val>
                                        </p:tav>
                                        <p:tav tm="100000">
                                          <p:val>
                                            <p:strVal val="#ppt_y"/>
                                          </p:val>
                                        </p:tav>
                                      </p:tavLst>
                                    </p:anim>
                                    <p:anim calcmode="lin" valueType="num">
                                      <p:cBhvr>
                                        <p:cTn id="9" dur="500" fill="hold"/>
                                        <p:tgtEl>
                                          <p:spTgt spid="28682"/>
                                        </p:tgtEl>
                                        <p:attrNameLst>
                                          <p:attrName>ppt_w</p:attrName>
                                        </p:attrNameLst>
                                      </p:cBhvr>
                                      <p:tavLst>
                                        <p:tav tm="0">
                                          <p:val>
                                            <p:strVal val="#ppt_w"/>
                                          </p:val>
                                        </p:tav>
                                        <p:tav tm="100000">
                                          <p:val>
                                            <p:strVal val="#ppt_w"/>
                                          </p:val>
                                        </p:tav>
                                      </p:tavLst>
                                    </p:anim>
                                    <p:anim calcmode="lin" valueType="num">
                                      <p:cBhvr>
                                        <p:cTn id="10" dur="500" fill="hold"/>
                                        <p:tgtEl>
                                          <p:spTgt spid="28682"/>
                                        </p:tgtEl>
                                        <p:attrNameLst>
                                          <p:attrName>ppt_h</p:attrName>
                                        </p:attrNameLst>
                                      </p:cBhvr>
                                      <p:tavLst>
                                        <p:tav tm="0">
                                          <p:val>
                                            <p:fltVal val="0.000000"/>
                                          </p:val>
                                        </p:tav>
                                        <p:tav tm="100000">
                                          <p:val>
                                            <p:strVal val="#ppt_h"/>
                                          </p:val>
                                        </p:tav>
                                      </p:tavLst>
                                    </p:anim>
                                  </p:childTnLst>
                                  <p:subTnLst>
                                    <p:set>
                                      <p:cBhvr override="childStyle">
                                        <p:cTn dur="1" fill="hold" display="0" masterRel="nextClick" afterEffect="1"/>
                                        <p:tgtEl>
                                          <p:spTgt spid="28682"/>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7" presetClass="entr" presetSubtype="1" fill="hold" grpId="0" nodeType="clickEffect">
                                  <p:stCondLst>
                                    <p:cond delay="0"/>
                                  </p:stCondLst>
                                  <p:childTnLst>
                                    <p:set>
                                      <p:cBhvr>
                                        <p:cTn id="14" dur="1" fill="hold">
                                          <p:stCondLst>
                                            <p:cond delay="0"/>
                                          </p:stCondLst>
                                        </p:cTn>
                                        <p:tgtEl>
                                          <p:spTgt spid="28683"/>
                                        </p:tgtEl>
                                        <p:attrNameLst>
                                          <p:attrName>style.visibility</p:attrName>
                                        </p:attrNameLst>
                                      </p:cBhvr>
                                      <p:to>
                                        <p:strVal val="visible"/>
                                      </p:to>
                                    </p:set>
                                    <p:anim calcmode="lin" valueType="num">
                                      <p:cBhvr>
                                        <p:cTn id="15" dur="500" fill="hold"/>
                                        <p:tgtEl>
                                          <p:spTgt spid="28683"/>
                                        </p:tgtEl>
                                        <p:attrNameLst>
                                          <p:attrName>ppt_x</p:attrName>
                                        </p:attrNameLst>
                                      </p:cBhvr>
                                      <p:tavLst>
                                        <p:tav tm="0">
                                          <p:val>
                                            <p:strVal val="#ppt_x"/>
                                          </p:val>
                                        </p:tav>
                                        <p:tav tm="100000">
                                          <p:val>
                                            <p:strVal val="#ppt_x"/>
                                          </p:val>
                                        </p:tav>
                                      </p:tavLst>
                                    </p:anim>
                                    <p:anim calcmode="lin" valueType="num">
                                      <p:cBhvr>
                                        <p:cTn id="16" dur="500" fill="hold"/>
                                        <p:tgtEl>
                                          <p:spTgt spid="28683"/>
                                        </p:tgtEl>
                                        <p:attrNameLst>
                                          <p:attrName>ppt_y</p:attrName>
                                        </p:attrNameLst>
                                      </p:cBhvr>
                                      <p:tavLst>
                                        <p:tav tm="0">
                                          <p:val>
                                            <p:strVal val="#ppt_y-#ppt_h/2"/>
                                          </p:val>
                                        </p:tav>
                                        <p:tav tm="100000">
                                          <p:val>
                                            <p:strVal val="#ppt_y"/>
                                          </p:val>
                                        </p:tav>
                                      </p:tavLst>
                                    </p:anim>
                                    <p:anim calcmode="lin" valueType="num">
                                      <p:cBhvr>
                                        <p:cTn id="17" dur="500" fill="hold"/>
                                        <p:tgtEl>
                                          <p:spTgt spid="28683"/>
                                        </p:tgtEl>
                                        <p:attrNameLst>
                                          <p:attrName>ppt_w</p:attrName>
                                        </p:attrNameLst>
                                      </p:cBhvr>
                                      <p:tavLst>
                                        <p:tav tm="0">
                                          <p:val>
                                            <p:strVal val="#ppt_w"/>
                                          </p:val>
                                        </p:tav>
                                        <p:tav tm="100000">
                                          <p:val>
                                            <p:strVal val="#ppt_w"/>
                                          </p:val>
                                        </p:tav>
                                      </p:tavLst>
                                    </p:anim>
                                    <p:anim calcmode="lin" valueType="num">
                                      <p:cBhvr>
                                        <p:cTn id="18" dur="500" fill="hold"/>
                                        <p:tgtEl>
                                          <p:spTgt spid="28683"/>
                                        </p:tgtEl>
                                        <p:attrNameLst>
                                          <p:attrName>ppt_h</p:attrName>
                                        </p:attrNameLst>
                                      </p:cBhvr>
                                      <p:tavLst>
                                        <p:tav tm="0">
                                          <p:val>
                                            <p:fltVal val="0.000000"/>
                                          </p:val>
                                        </p:tav>
                                        <p:tav tm="100000">
                                          <p:val>
                                            <p:strVal val="#ppt_h"/>
                                          </p:val>
                                        </p:tav>
                                      </p:tavLst>
                                    </p:anim>
                                  </p:childTnLst>
                                  <p:subTnLst>
                                    <p:set>
                                      <p:cBhvr override="childStyle">
                                        <p:cTn dur="1" fill="hold" display="0" masterRel="nextClick" afterEffect="1"/>
                                        <p:tgtEl>
                                          <p:spTgt spid="2868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2" grpId="0" animBg="1"/>
      <p:bldP spid="2868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0962" name="Rectangle 6"/>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503050405090304" pitchFamily="18" charset="0"/>
            </a:endParaRPr>
          </a:p>
        </p:txBody>
      </p:sp>
      <p:sp>
        <p:nvSpPr>
          <p:cNvPr id="143367" name="Rectangle 7"/>
          <p:cNvSpPr>
            <a:spLocks noGrp="1"/>
          </p:cNvSpPr>
          <p:nvPr>
            <p:ph idx="1"/>
          </p:nvPr>
        </p:nvSpPr>
        <p:spPr>
          <a:xfrm>
            <a:off x="250825" y="1022350"/>
            <a:ext cx="8642350" cy="5400675"/>
          </a:xfrm>
        </p:spPr>
        <p:txBody>
          <a:bodyPr vert="horz" wrap="square" lIns="91440" tIns="45720" rIns="91440" bIns="45720" anchor="t" anchorCtr="0"/>
          <a:p>
            <a:pPr algn="just" eaLnBrk="1" hangingPunct="1">
              <a:lnSpc>
                <a:spcPct val="110000"/>
              </a:lnSpc>
              <a:spcBef>
                <a:spcPct val="30000"/>
              </a:spcBef>
              <a:buFont typeface="Wingdings" panose="05000000000000000000" pitchFamily="2" charset="2"/>
              <a:buChar char="§"/>
            </a:pPr>
            <a:r>
              <a:rPr lang="zh-CN" altLang="en-US" b="1" dirty="0">
                <a:solidFill>
                  <a:srgbClr val="0000FF"/>
                </a:solidFill>
                <a:latin typeface="Times New Roman" panose="02020503050405090304" pitchFamily="18" charset="0"/>
              </a:rPr>
              <a:t>用一阶谓词表示：</a:t>
            </a:r>
            <a:endParaRPr lang="zh-CN" altLang="en-US" b="1" dirty="0">
              <a:solidFill>
                <a:srgbClr val="0000FF"/>
              </a:solidFill>
              <a:latin typeface="Times New Roman" panose="02020503050405090304" pitchFamily="18" charset="0"/>
            </a:endParaRPr>
          </a:p>
          <a:p>
            <a:pPr algn="just" eaLnBrk="1" hangingPunct="1">
              <a:lnSpc>
                <a:spcPct val="110000"/>
              </a:lnSpc>
              <a:spcBef>
                <a:spcPct val="30000"/>
              </a:spcBef>
              <a:buNone/>
            </a:pPr>
            <a:r>
              <a:rPr lang="zh-CN" altLang="en-US" dirty="0">
                <a:latin typeface="Times New Roman" panose="02020503050405090304" pitchFamily="18" charset="0"/>
              </a:rPr>
              <a:t>        </a:t>
            </a:r>
            <a:r>
              <a:rPr lang="en-US" altLang="zh-CN" sz="2600" i="1" dirty="0">
                <a:latin typeface="Times New Roman" panose="02020503050405090304" pitchFamily="18" charset="0"/>
              </a:rPr>
              <a:t>Occupant</a:t>
            </a:r>
            <a:r>
              <a:rPr lang="zh-CN" altLang="en-US" sz="2600" dirty="0">
                <a:latin typeface="Times New Roman" panose="02020503050405090304" pitchFamily="18" charset="0"/>
              </a:rPr>
              <a:t>（</a:t>
            </a:r>
            <a:r>
              <a:rPr lang="en-US" altLang="zh-CN" sz="2600" i="1" dirty="0">
                <a:latin typeface="Times New Roman" panose="02020503050405090304" pitchFamily="18" charset="0"/>
              </a:rPr>
              <a:t>Zhang </a:t>
            </a:r>
            <a:r>
              <a:rPr lang="zh-CN" altLang="en-US" sz="2600" dirty="0">
                <a:latin typeface="Times New Roman" panose="02020503050405090304" pitchFamily="18" charset="0"/>
              </a:rPr>
              <a:t>， </a:t>
            </a:r>
            <a:r>
              <a:rPr lang="en-US" altLang="zh-CN" sz="2600" dirty="0">
                <a:latin typeface="Times New Roman" panose="02020503050405090304" pitchFamily="18" charset="0"/>
              </a:rPr>
              <a:t>201</a:t>
            </a:r>
            <a:r>
              <a:rPr lang="zh-CN" altLang="en-US" sz="2600" dirty="0">
                <a:latin typeface="Times New Roman" panose="02020503050405090304" pitchFamily="18" charset="0"/>
              </a:rPr>
              <a:t>）</a:t>
            </a:r>
            <a:endParaRPr lang="zh-CN" altLang="en-US" sz="2600" dirty="0">
              <a:latin typeface="Times New Roman" panose="02020503050405090304" pitchFamily="18" charset="0"/>
            </a:endParaRPr>
          </a:p>
          <a:p>
            <a:pPr algn="just" eaLnBrk="1" hangingPunct="1">
              <a:lnSpc>
                <a:spcPct val="110000"/>
              </a:lnSpc>
              <a:spcBef>
                <a:spcPct val="30000"/>
              </a:spcBef>
              <a:buNone/>
            </a:pPr>
            <a:r>
              <a:rPr lang="zh-CN" altLang="en-US" sz="2600" dirty="0">
                <a:latin typeface="Times New Roman" panose="02020503050405090304" pitchFamily="18" charset="0"/>
              </a:rPr>
              <a:t>        </a:t>
            </a:r>
            <a:r>
              <a:rPr lang="en-US" altLang="zh-CN" sz="2600" i="1" dirty="0">
                <a:latin typeface="Times New Roman" panose="02020503050405090304" pitchFamily="18" charset="0"/>
              </a:rPr>
              <a:t>Occupant</a:t>
            </a:r>
            <a:r>
              <a:rPr lang="zh-CN" altLang="en-US" sz="2600" dirty="0">
                <a:latin typeface="Times New Roman" panose="02020503050405090304" pitchFamily="18" charset="0"/>
              </a:rPr>
              <a:t>（</a:t>
            </a:r>
            <a:r>
              <a:rPr lang="en-US" altLang="zh-CN" sz="2600" i="1" dirty="0">
                <a:latin typeface="Times New Roman" panose="02020503050405090304" pitchFamily="18" charset="0"/>
              </a:rPr>
              <a:t>Li</a:t>
            </a:r>
            <a:r>
              <a:rPr lang="zh-CN" altLang="en-US" sz="2600" dirty="0">
                <a:latin typeface="Times New Roman" panose="02020503050405090304" pitchFamily="18" charset="0"/>
              </a:rPr>
              <a:t>，</a:t>
            </a:r>
            <a:r>
              <a:rPr lang="en-US" altLang="zh-CN" sz="2600" dirty="0">
                <a:latin typeface="Times New Roman" panose="02020503050405090304" pitchFamily="18" charset="0"/>
              </a:rPr>
              <a:t>201</a:t>
            </a:r>
            <a:r>
              <a:rPr lang="zh-CN" altLang="en-US" sz="2600" dirty="0">
                <a:latin typeface="Times New Roman" panose="02020503050405090304" pitchFamily="18" charset="0"/>
              </a:rPr>
              <a:t>）</a:t>
            </a:r>
            <a:endParaRPr lang="zh-CN" altLang="en-US" sz="2600" dirty="0">
              <a:latin typeface="Times New Roman" panose="02020503050405090304" pitchFamily="18" charset="0"/>
            </a:endParaRPr>
          </a:p>
          <a:p>
            <a:pPr algn="just" eaLnBrk="1" hangingPunct="1">
              <a:lnSpc>
                <a:spcPct val="110000"/>
              </a:lnSpc>
              <a:spcBef>
                <a:spcPct val="30000"/>
              </a:spcBef>
              <a:buNone/>
            </a:pPr>
            <a:r>
              <a:rPr lang="zh-CN" altLang="en-US" sz="2600" dirty="0">
                <a:latin typeface="Times New Roman" panose="02020503050405090304" pitchFamily="18" charset="0"/>
              </a:rPr>
              <a:t>        </a:t>
            </a:r>
            <a:r>
              <a:rPr lang="en-US" altLang="zh-CN" sz="2600" i="1" dirty="0">
                <a:latin typeface="Times New Roman" panose="02020503050405090304" pitchFamily="18" charset="0"/>
              </a:rPr>
              <a:t>Occupant</a:t>
            </a:r>
            <a:r>
              <a:rPr lang="zh-CN" altLang="en-US" sz="2600" dirty="0">
                <a:latin typeface="Times New Roman" panose="02020503050405090304" pitchFamily="18" charset="0"/>
              </a:rPr>
              <a:t>（</a:t>
            </a:r>
            <a:r>
              <a:rPr lang="en-US" altLang="zh-CN" sz="2600" i="1" dirty="0">
                <a:latin typeface="Times New Roman" panose="02020503050405090304" pitchFamily="18" charset="0"/>
              </a:rPr>
              <a:t>Wang</a:t>
            </a:r>
            <a:r>
              <a:rPr lang="zh-CN" altLang="en-US" sz="2600" dirty="0">
                <a:latin typeface="Times New Roman" panose="02020503050405090304" pitchFamily="18" charset="0"/>
              </a:rPr>
              <a:t>， </a:t>
            </a:r>
            <a:r>
              <a:rPr lang="en-US" altLang="zh-CN" sz="2600" dirty="0">
                <a:latin typeface="Times New Roman" panose="02020503050405090304" pitchFamily="18" charset="0"/>
              </a:rPr>
              <a:t>202</a:t>
            </a:r>
            <a:r>
              <a:rPr lang="zh-CN" altLang="en-US" sz="2600" dirty="0">
                <a:latin typeface="Times New Roman" panose="02020503050405090304" pitchFamily="18" charset="0"/>
              </a:rPr>
              <a:t>）</a:t>
            </a:r>
            <a:endParaRPr lang="zh-CN" altLang="en-US" sz="2600" dirty="0">
              <a:latin typeface="Times New Roman" panose="02020503050405090304" pitchFamily="18" charset="0"/>
            </a:endParaRPr>
          </a:p>
          <a:p>
            <a:pPr algn="just" eaLnBrk="1" hangingPunct="1">
              <a:lnSpc>
                <a:spcPct val="110000"/>
              </a:lnSpc>
              <a:spcBef>
                <a:spcPct val="30000"/>
              </a:spcBef>
              <a:buNone/>
            </a:pPr>
            <a:r>
              <a:rPr lang="zh-CN" altLang="en-US" sz="2600" dirty="0">
                <a:latin typeface="Times New Roman" panose="02020503050405090304" pitchFamily="18" charset="0"/>
              </a:rPr>
              <a:t>        </a:t>
            </a:r>
            <a:r>
              <a:rPr lang="en-US" altLang="zh-CN" sz="2600" i="1" dirty="0">
                <a:latin typeface="Times New Roman" panose="02020503050405090304" pitchFamily="18" charset="0"/>
              </a:rPr>
              <a:t>Occupant</a:t>
            </a:r>
            <a:r>
              <a:rPr lang="zh-CN" altLang="en-US" sz="2600" dirty="0">
                <a:latin typeface="Times New Roman" panose="02020503050405090304" pitchFamily="18" charset="0"/>
              </a:rPr>
              <a:t>（</a:t>
            </a:r>
            <a:r>
              <a:rPr lang="en-US" altLang="zh-CN" sz="2600" i="1" dirty="0">
                <a:latin typeface="Times New Roman" panose="02020503050405090304" pitchFamily="18" charset="0"/>
              </a:rPr>
              <a:t>Zhao</a:t>
            </a:r>
            <a:r>
              <a:rPr lang="zh-CN" altLang="en-US" sz="2600" dirty="0">
                <a:latin typeface="Times New Roman" panose="02020503050405090304" pitchFamily="18" charset="0"/>
              </a:rPr>
              <a:t>， </a:t>
            </a:r>
            <a:r>
              <a:rPr lang="en-US" altLang="zh-CN" sz="2600" dirty="0">
                <a:latin typeface="Times New Roman" panose="02020503050405090304" pitchFamily="18" charset="0"/>
              </a:rPr>
              <a:t>203</a:t>
            </a:r>
            <a:r>
              <a:rPr lang="zh-CN" altLang="en-US" sz="2600" dirty="0">
                <a:latin typeface="Times New Roman" panose="02020503050405090304" pitchFamily="18" charset="0"/>
              </a:rPr>
              <a:t>）</a:t>
            </a:r>
            <a:endParaRPr lang="zh-CN" altLang="en-US" sz="2600" dirty="0">
              <a:latin typeface="Times New Roman" panose="02020503050405090304" pitchFamily="18" charset="0"/>
            </a:endParaRPr>
          </a:p>
          <a:p>
            <a:pPr algn="just" eaLnBrk="1" hangingPunct="1">
              <a:lnSpc>
                <a:spcPct val="110000"/>
              </a:lnSpc>
              <a:spcBef>
                <a:spcPct val="30000"/>
              </a:spcBef>
              <a:buNone/>
            </a:pPr>
            <a:r>
              <a:rPr lang="zh-CN" altLang="en-US" sz="2600" dirty="0">
                <a:latin typeface="Times New Roman" panose="02020503050405090304" pitchFamily="18" charset="0"/>
              </a:rPr>
              <a:t>        </a:t>
            </a:r>
            <a:r>
              <a:rPr lang="en-US" altLang="zh-CN" sz="2600" i="1" dirty="0">
                <a:latin typeface="Times New Roman" panose="02020503050405090304" pitchFamily="18" charset="0"/>
              </a:rPr>
              <a:t>Telephone</a:t>
            </a:r>
            <a:r>
              <a:rPr lang="zh-CN" altLang="en-US" sz="2600" dirty="0">
                <a:latin typeface="Times New Roman" panose="02020503050405090304" pitchFamily="18" charset="0"/>
              </a:rPr>
              <a:t>（</a:t>
            </a:r>
            <a:r>
              <a:rPr lang="en-US" altLang="zh-CN" sz="2600" dirty="0">
                <a:latin typeface="Times New Roman" panose="02020503050405090304" pitchFamily="18" charset="0"/>
              </a:rPr>
              <a:t>491</a:t>
            </a:r>
            <a:r>
              <a:rPr lang="zh-CN" altLang="en-US" sz="2600" dirty="0">
                <a:latin typeface="Times New Roman" panose="02020503050405090304" pitchFamily="18" charset="0"/>
              </a:rPr>
              <a:t>，</a:t>
            </a:r>
            <a:r>
              <a:rPr lang="en-US" altLang="zh-CN" sz="2600" dirty="0">
                <a:latin typeface="Times New Roman" panose="02020503050405090304" pitchFamily="18" charset="0"/>
              </a:rPr>
              <a:t>201</a:t>
            </a:r>
            <a:r>
              <a:rPr lang="zh-CN" altLang="en-US" sz="2600" dirty="0">
                <a:latin typeface="Times New Roman" panose="02020503050405090304" pitchFamily="18" charset="0"/>
              </a:rPr>
              <a:t>）</a:t>
            </a:r>
            <a:endParaRPr lang="zh-CN" altLang="en-US" sz="2600" dirty="0">
              <a:latin typeface="Times New Roman" panose="02020503050405090304" pitchFamily="18" charset="0"/>
            </a:endParaRPr>
          </a:p>
          <a:p>
            <a:pPr algn="just" eaLnBrk="1" hangingPunct="1">
              <a:lnSpc>
                <a:spcPct val="110000"/>
              </a:lnSpc>
              <a:spcBef>
                <a:spcPct val="30000"/>
              </a:spcBef>
              <a:buNone/>
            </a:pPr>
            <a:r>
              <a:rPr lang="zh-CN" altLang="en-US" sz="2600" dirty="0">
                <a:latin typeface="Times New Roman" panose="02020503050405090304" pitchFamily="18" charset="0"/>
              </a:rPr>
              <a:t>        </a:t>
            </a:r>
            <a:r>
              <a:rPr lang="en-US" altLang="zh-CN" sz="2600" i="1" dirty="0">
                <a:latin typeface="Times New Roman" panose="02020503050405090304" pitchFamily="18" charset="0"/>
              </a:rPr>
              <a:t>Telephone</a:t>
            </a:r>
            <a:r>
              <a:rPr lang="zh-CN" altLang="en-US" sz="2600" dirty="0">
                <a:latin typeface="Times New Roman" panose="02020503050405090304" pitchFamily="18" charset="0"/>
              </a:rPr>
              <a:t>（</a:t>
            </a:r>
            <a:r>
              <a:rPr lang="en-US" altLang="zh-CN" sz="2600" dirty="0">
                <a:latin typeface="Times New Roman" panose="02020503050405090304" pitchFamily="18" charset="0"/>
              </a:rPr>
              <a:t>492</a:t>
            </a:r>
            <a:r>
              <a:rPr lang="zh-CN" altLang="en-US" sz="2600" dirty="0">
                <a:latin typeface="Times New Roman" panose="02020503050405090304" pitchFamily="18" charset="0"/>
              </a:rPr>
              <a:t>，</a:t>
            </a:r>
            <a:r>
              <a:rPr lang="en-US" altLang="zh-CN" sz="2600" dirty="0">
                <a:latin typeface="Times New Roman" panose="02020503050405090304" pitchFamily="18" charset="0"/>
              </a:rPr>
              <a:t>201</a:t>
            </a:r>
            <a:r>
              <a:rPr lang="zh-CN" altLang="en-US" sz="2600" dirty="0">
                <a:latin typeface="Times New Roman" panose="02020503050405090304" pitchFamily="18" charset="0"/>
              </a:rPr>
              <a:t>）</a:t>
            </a:r>
            <a:endParaRPr lang="zh-CN" altLang="en-US" sz="2600" dirty="0">
              <a:latin typeface="Times New Roman" panose="02020503050405090304" pitchFamily="18" charset="0"/>
            </a:endParaRPr>
          </a:p>
          <a:p>
            <a:pPr algn="just" eaLnBrk="1" hangingPunct="1">
              <a:lnSpc>
                <a:spcPct val="110000"/>
              </a:lnSpc>
              <a:spcBef>
                <a:spcPct val="30000"/>
              </a:spcBef>
              <a:buNone/>
            </a:pPr>
            <a:r>
              <a:rPr lang="zh-CN" altLang="en-US" sz="2600" dirty="0">
                <a:latin typeface="Times New Roman" panose="02020503050405090304" pitchFamily="18" charset="0"/>
              </a:rPr>
              <a:t>        </a:t>
            </a:r>
            <a:r>
              <a:rPr lang="en-US" altLang="zh-CN" sz="2600" i="1" dirty="0">
                <a:latin typeface="Times New Roman" panose="02020503050405090304" pitchFamily="18" charset="0"/>
              </a:rPr>
              <a:t>Telephone</a:t>
            </a:r>
            <a:r>
              <a:rPr lang="zh-CN" altLang="en-US" sz="2600" dirty="0">
                <a:latin typeface="Times New Roman" panose="02020503050405090304" pitchFamily="18" charset="0"/>
              </a:rPr>
              <a:t>（</a:t>
            </a:r>
            <a:r>
              <a:rPr lang="en-US" altLang="zh-CN" sz="2600" dirty="0">
                <a:latin typeface="Times New Roman" panose="02020503050405090304" pitchFamily="18" charset="0"/>
              </a:rPr>
              <a:t>451</a:t>
            </a:r>
            <a:r>
              <a:rPr lang="zh-CN" altLang="en-US" sz="2600" dirty="0">
                <a:latin typeface="Times New Roman" panose="02020503050405090304" pitchFamily="18" charset="0"/>
              </a:rPr>
              <a:t>，</a:t>
            </a:r>
            <a:r>
              <a:rPr lang="en-US" altLang="zh-CN" sz="2600" dirty="0">
                <a:latin typeface="Times New Roman" panose="02020503050405090304" pitchFamily="18" charset="0"/>
              </a:rPr>
              <a:t>202</a:t>
            </a:r>
            <a:r>
              <a:rPr lang="zh-CN" altLang="en-US" sz="2600" dirty="0">
                <a:latin typeface="Times New Roman" panose="02020503050405090304" pitchFamily="18" charset="0"/>
              </a:rPr>
              <a:t>）</a:t>
            </a:r>
            <a:endParaRPr lang="zh-CN" altLang="en-US" sz="2600" dirty="0">
              <a:latin typeface="Times New Roman" panose="02020503050405090304" pitchFamily="18" charset="0"/>
            </a:endParaRPr>
          </a:p>
          <a:p>
            <a:pPr algn="just" eaLnBrk="1" hangingPunct="1">
              <a:lnSpc>
                <a:spcPct val="110000"/>
              </a:lnSpc>
              <a:spcBef>
                <a:spcPct val="30000"/>
              </a:spcBef>
              <a:buNone/>
            </a:pPr>
            <a:r>
              <a:rPr lang="zh-CN" altLang="en-US" sz="2600" dirty="0">
                <a:latin typeface="Times New Roman" panose="02020503050405090304" pitchFamily="18" charset="0"/>
              </a:rPr>
              <a:t>        </a:t>
            </a:r>
            <a:r>
              <a:rPr lang="en-US" altLang="zh-CN" sz="2600" i="1" dirty="0">
                <a:latin typeface="Times New Roman" panose="02020503050405090304" pitchFamily="18" charset="0"/>
              </a:rPr>
              <a:t>Telephone</a:t>
            </a:r>
            <a:r>
              <a:rPr lang="zh-CN" altLang="en-US" sz="2600" dirty="0">
                <a:latin typeface="Times New Roman" panose="02020503050405090304" pitchFamily="18" charset="0"/>
              </a:rPr>
              <a:t>（</a:t>
            </a:r>
            <a:r>
              <a:rPr lang="en-US" altLang="zh-CN" sz="2600" dirty="0">
                <a:latin typeface="Times New Roman" panose="02020503050405090304" pitchFamily="18" charset="0"/>
              </a:rPr>
              <a:t>451</a:t>
            </a:r>
            <a:r>
              <a:rPr lang="zh-CN" altLang="en-US" sz="2600" dirty="0">
                <a:latin typeface="Times New Roman" panose="02020503050405090304" pitchFamily="18" charset="0"/>
              </a:rPr>
              <a:t>，</a:t>
            </a:r>
            <a:r>
              <a:rPr lang="en-US" altLang="zh-CN" sz="2600" dirty="0">
                <a:latin typeface="Times New Roman" panose="02020503050405090304" pitchFamily="18" charset="0"/>
              </a:rPr>
              <a:t>203</a:t>
            </a:r>
            <a:r>
              <a:rPr lang="zh-CN" altLang="en-US" sz="2600" dirty="0">
                <a:latin typeface="Times New Roman" panose="02020503050405090304" pitchFamily="18" charset="0"/>
              </a:rPr>
              <a:t>）</a:t>
            </a:r>
            <a:endParaRPr lang="zh-CN" altLang="en-US" sz="2600" dirty="0">
              <a:latin typeface="Times New Roman" panose="02020503050405090304" pitchFamily="18" charset="0"/>
            </a:endParaRPr>
          </a:p>
        </p:txBody>
      </p:sp>
      <p:sp>
        <p:nvSpPr>
          <p:cNvPr id="40964" name="Rectangle 8"/>
          <p:cNvSpPr/>
          <p:nvPr/>
        </p:nvSpPr>
        <p:spPr>
          <a:xfrm>
            <a:off x="0" y="152400"/>
            <a:ext cx="9144000" cy="765175"/>
          </a:xfrm>
          <a:prstGeom prst="rect">
            <a:avLst/>
          </a:prstGeom>
          <a:solidFill>
            <a:srgbClr val="A50021"/>
          </a:solidFill>
          <a:ln w="9525">
            <a:noFill/>
          </a:ln>
        </p:spPr>
        <p:txBody>
          <a:bodyPr anchor="b" anchorCtr="0"/>
          <a:p>
            <a:pPr indent="176530">
              <a:buClrTx/>
              <a:buFontTx/>
              <a:buNone/>
            </a:pPr>
            <a:r>
              <a:rPr lang="en-US" altLang="zh-CN" sz="3600" dirty="0">
                <a:solidFill>
                  <a:schemeClr val="bg1"/>
                </a:solidFill>
                <a:latin typeface="Times New Roman" panose="02020503050405090304" pitchFamily="18" charset="0"/>
                <a:ea typeface="黑体" panose="02010609060101010101" pitchFamily="49" charset="-122"/>
              </a:rPr>
              <a:t>2.2.5  </a:t>
            </a:r>
            <a:r>
              <a:rPr lang="zh-CN" altLang="en-US" sz="3600" dirty="0">
                <a:solidFill>
                  <a:schemeClr val="bg1"/>
                </a:solidFill>
                <a:latin typeface="Times New Roman" panose="02020503050405090304" pitchFamily="18" charset="0"/>
                <a:ea typeface="黑体" panose="02010609060101010101" pitchFamily="49" charset="-122"/>
              </a:rPr>
              <a:t>一阶谓词逻辑知识表示方法</a:t>
            </a:r>
            <a:endParaRPr lang="zh-CN" altLang="en-US" sz="3600" dirty="0">
              <a:solidFill>
                <a:schemeClr val="bg1"/>
              </a:solidFill>
              <a:latin typeface="Times New Roman" panose="02020503050405090304" pitchFamily="18" charset="0"/>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43367">
                                            <p:txEl>
                                              <p:charRg st="0" end="9"/>
                                            </p:txEl>
                                          </p:spTgt>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43367">
                                            <p:txEl>
                                              <p:charRg st="9" end="39"/>
                                            </p:txEl>
                                          </p:spTgt>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43367">
                                            <p:txEl>
                                              <p:charRg st="39" end="64"/>
                                            </p:txEl>
                                          </p:spTgt>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143367">
                                            <p:txEl>
                                              <p:charRg st="64" end="92"/>
                                            </p:txEl>
                                          </p:spTgt>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143367">
                                            <p:txEl>
                                              <p:charRg st="92" end="120"/>
                                            </p:txEl>
                                          </p:spTgt>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143367">
                                            <p:txEl>
                                              <p:charRg st="120" end="147"/>
                                            </p:txEl>
                                          </p:spTgt>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143367">
                                            <p:txEl>
                                              <p:charRg st="147" end="174"/>
                                            </p:txEl>
                                          </p:spTgt>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143367">
                                            <p:txEl>
                                              <p:charRg st="174" end="201"/>
                                            </p:txEl>
                                          </p:spTgt>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143367">
                                            <p:txEl>
                                              <p:charRg st="201" end="22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7" grpId="0" advAuto="100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1986" name="Rectangle 7"/>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2.2.6  </a:t>
            </a:r>
            <a:r>
              <a:rPr lang="zh-CN" altLang="en-US" dirty="0">
                <a:latin typeface="Times New Roman" panose="02020503050405090304" pitchFamily="18" charset="0"/>
              </a:rPr>
              <a:t>一阶谓词逻辑表示法的特点</a:t>
            </a:r>
            <a:endParaRPr lang="zh-CN" altLang="en-US" dirty="0">
              <a:latin typeface="Times New Roman" panose="02020503050405090304" pitchFamily="18" charset="0"/>
            </a:endParaRPr>
          </a:p>
        </p:txBody>
      </p:sp>
      <p:sp>
        <p:nvSpPr>
          <p:cNvPr id="41987" name="Rectangle 8"/>
          <p:cNvSpPr>
            <a:spLocks noGrp="1"/>
          </p:cNvSpPr>
          <p:nvPr>
            <p:ph idx="1"/>
          </p:nvPr>
        </p:nvSpPr>
        <p:spPr>
          <a:xfrm>
            <a:off x="250825" y="908050"/>
            <a:ext cx="4070350" cy="2686050"/>
          </a:xfrm>
          <a:gradFill rotWithShape="0">
            <a:gsLst>
              <a:gs pos="0">
                <a:srgbClr val="CCFFCC"/>
              </a:gs>
              <a:gs pos="100000">
                <a:schemeClr val="bg1"/>
              </a:gs>
            </a:gsLst>
            <a:path path="rect">
              <a:fillToRect l="100000" t="100000"/>
            </a:path>
            <a:tileRect/>
          </a:gradFill>
          <a:ln>
            <a:solidFill>
              <a:srgbClr val="969696"/>
            </a:solidFill>
            <a:miter/>
          </a:ln>
        </p:spPr>
        <p:txBody>
          <a:bodyPr vert="horz" wrap="square" lIns="91440" tIns="45720" rIns="91440" bIns="45720" anchor="t" anchorCtr="0"/>
          <a:p>
            <a:pPr marL="495300" indent="-495300" eaLnBrk="1" hangingPunct="1">
              <a:lnSpc>
                <a:spcPct val="110000"/>
              </a:lnSpc>
              <a:spcBef>
                <a:spcPct val="50000"/>
              </a:spcBef>
            </a:pPr>
            <a:r>
              <a:rPr lang="zh-CN" altLang="en-US" sz="2400" b="1" dirty="0">
                <a:solidFill>
                  <a:srgbClr val="0000FF"/>
                </a:solidFill>
                <a:latin typeface="Times New Roman" panose="02020503050405090304" pitchFamily="18" charset="0"/>
              </a:rPr>
              <a:t>优点：</a:t>
            </a:r>
            <a:endParaRPr lang="zh-CN" altLang="en-US" sz="2400" b="1" dirty="0">
              <a:solidFill>
                <a:srgbClr val="0000FF"/>
              </a:solidFill>
              <a:latin typeface="Times New Roman" panose="02020503050405090304" pitchFamily="18" charset="0"/>
            </a:endParaRPr>
          </a:p>
          <a:p>
            <a:pPr lvl="1" indent="-436245" eaLnBrk="1" hangingPunct="1">
              <a:lnSpc>
                <a:spcPct val="120000"/>
              </a:lnSpc>
              <a:buFont typeface="Wingdings" panose="05000000000000000000" pitchFamily="2" charset="2"/>
              <a:buAutoNum type="circleNumDbPlain"/>
            </a:pPr>
            <a:r>
              <a:rPr lang="zh-CN" altLang="en-US" sz="2400" b="1" dirty="0">
                <a:solidFill>
                  <a:schemeClr val="tx1"/>
                </a:solidFill>
                <a:latin typeface="Times New Roman" panose="02020503050405090304" pitchFamily="18" charset="0"/>
              </a:rPr>
              <a:t> 自然性</a:t>
            </a:r>
            <a:endParaRPr lang="zh-CN" altLang="en-US" sz="2400" b="1" dirty="0">
              <a:solidFill>
                <a:schemeClr val="tx1"/>
              </a:solidFill>
              <a:latin typeface="Times New Roman" panose="02020503050405090304" pitchFamily="18" charset="0"/>
            </a:endParaRPr>
          </a:p>
          <a:p>
            <a:pPr lvl="1" indent="-436245" eaLnBrk="1" hangingPunct="1">
              <a:lnSpc>
                <a:spcPct val="120000"/>
              </a:lnSpc>
              <a:buFont typeface="Wingdings" panose="05000000000000000000" pitchFamily="2" charset="2"/>
              <a:buAutoNum type="circleNumDbPlain"/>
            </a:pPr>
            <a:r>
              <a:rPr lang="zh-CN" altLang="en-US" sz="2400" b="1" dirty="0">
                <a:solidFill>
                  <a:schemeClr val="tx1"/>
                </a:solidFill>
                <a:latin typeface="Times New Roman" panose="02020503050405090304" pitchFamily="18" charset="0"/>
              </a:rPr>
              <a:t> 精确性</a:t>
            </a:r>
            <a:endParaRPr lang="zh-CN" altLang="en-US" sz="2400" b="1" dirty="0">
              <a:solidFill>
                <a:schemeClr val="tx1"/>
              </a:solidFill>
              <a:latin typeface="Times New Roman" panose="02020503050405090304" pitchFamily="18" charset="0"/>
            </a:endParaRPr>
          </a:p>
          <a:p>
            <a:pPr lvl="1" indent="-436245" eaLnBrk="1" hangingPunct="1">
              <a:lnSpc>
                <a:spcPct val="120000"/>
              </a:lnSpc>
              <a:buFont typeface="Wingdings" panose="05000000000000000000" pitchFamily="2" charset="2"/>
              <a:buAutoNum type="circleNumDbPlain"/>
            </a:pPr>
            <a:r>
              <a:rPr lang="zh-CN" altLang="en-US" sz="2400" b="1" dirty="0">
                <a:solidFill>
                  <a:schemeClr val="tx1"/>
                </a:solidFill>
                <a:latin typeface="Times New Roman" panose="02020503050405090304" pitchFamily="18" charset="0"/>
              </a:rPr>
              <a:t> 严密性</a:t>
            </a:r>
            <a:endParaRPr lang="zh-CN" altLang="en-US" sz="2400" b="1" dirty="0">
              <a:solidFill>
                <a:schemeClr val="tx1"/>
              </a:solidFill>
              <a:latin typeface="Times New Roman" panose="02020503050405090304" pitchFamily="18" charset="0"/>
            </a:endParaRPr>
          </a:p>
          <a:p>
            <a:pPr lvl="1" indent="-436245" eaLnBrk="1" hangingPunct="1">
              <a:lnSpc>
                <a:spcPct val="120000"/>
              </a:lnSpc>
              <a:buFont typeface="Wingdings" panose="05000000000000000000" pitchFamily="2" charset="2"/>
              <a:buAutoNum type="circleNumDbPlain"/>
            </a:pPr>
            <a:r>
              <a:rPr lang="zh-CN" altLang="en-US" sz="2400" b="1" dirty="0">
                <a:solidFill>
                  <a:schemeClr val="tx1"/>
                </a:solidFill>
                <a:latin typeface="Times New Roman" panose="02020503050405090304" pitchFamily="18" charset="0"/>
              </a:rPr>
              <a:t> 容易实现</a:t>
            </a:r>
            <a:endParaRPr lang="zh-CN" altLang="en-US" sz="2400" b="1" dirty="0">
              <a:solidFill>
                <a:schemeClr val="tx1"/>
              </a:solidFill>
              <a:latin typeface="Times New Roman" panose="02020503050405090304" pitchFamily="18" charset="0"/>
            </a:endParaRPr>
          </a:p>
        </p:txBody>
      </p:sp>
      <p:sp>
        <p:nvSpPr>
          <p:cNvPr id="41988" name="Text Box 9"/>
          <p:cNvSpPr txBox="1"/>
          <p:nvPr/>
        </p:nvSpPr>
        <p:spPr>
          <a:xfrm>
            <a:off x="250825" y="3792538"/>
            <a:ext cx="8704263" cy="2528887"/>
          </a:xfrm>
          <a:prstGeom prst="rect">
            <a:avLst/>
          </a:prstGeom>
          <a:gradFill rotWithShape="0">
            <a:gsLst>
              <a:gs pos="0">
                <a:srgbClr val="FFFF99"/>
              </a:gs>
              <a:gs pos="100000">
                <a:srgbClr val="FFFFFF"/>
              </a:gs>
            </a:gsLst>
            <a:path path="rect">
              <a:fillToRect l="100000" t="100000"/>
            </a:path>
            <a:tileRect/>
          </a:gradFill>
          <a:ln w="9525" cap="flat" cmpd="sng">
            <a:solidFill>
              <a:srgbClr val="808080"/>
            </a:solidFill>
            <a:prstDash val="solid"/>
            <a:miter/>
            <a:headEnd type="none" w="med" len="med"/>
            <a:tailEnd type="none" w="med" len="med"/>
          </a:ln>
        </p:spPr>
        <p:txBody>
          <a:bodyPr wrap="square" anchor="t" anchorCtr="0">
            <a:spAutoFit/>
          </a:bodyPr>
          <a:p>
            <a:pPr marL="342900" indent="-342900">
              <a:spcBef>
                <a:spcPct val="50000"/>
              </a:spcBef>
              <a:buClr>
                <a:schemeClr val="accent2"/>
              </a:buClr>
              <a:buFont typeface="Wingdings" panose="05000000000000000000" pitchFamily="2" charset="2"/>
              <a:buChar char="q"/>
            </a:pP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应用：</a:t>
            </a:r>
            <a:endParaRPr lang="zh-CN" altLang="en-US" sz="2400" b="1" dirty="0">
              <a:latin typeface="宋体" pitchFamily="2" charset="-122"/>
              <a:ea typeface="宋体" pitchFamily="2" charset="-122"/>
            </a:endParaRPr>
          </a:p>
          <a:p>
            <a:pPr marL="342900" indent="-342900">
              <a:spcBef>
                <a:spcPct val="40000"/>
              </a:spcBef>
              <a:buClr>
                <a:schemeClr val="tx1"/>
              </a:buClr>
              <a:buFont typeface="Wingdings" panose="05000000000000000000" pitchFamily="2" charset="2"/>
              <a:buNone/>
            </a:pPr>
            <a:r>
              <a:rPr lang="zh-CN" altLang="en-US" sz="2400" b="1" dirty="0">
                <a:latin typeface="Times New Roman" panose="02020503050405090304" pitchFamily="18" charset="0"/>
                <a:ea typeface="宋体" pitchFamily="2" charset="-122"/>
              </a:rPr>
              <a:t>（</a:t>
            </a:r>
            <a:r>
              <a:rPr lang="en-US" altLang="zh-CN" sz="2400" b="1" dirty="0">
                <a:latin typeface="Times New Roman" panose="02020503050405090304" pitchFamily="18" charset="0"/>
                <a:ea typeface="宋体" pitchFamily="2" charset="-122"/>
              </a:rPr>
              <a:t>1</a:t>
            </a:r>
            <a:r>
              <a:rPr lang="zh-CN" altLang="en-US" sz="2400" b="1" dirty="0">
                <a:latin typeface="Times New Roman" panose="02020503050405090304" pitchFamily="18" charset="0"/>
                <a:ea typeface="宋体" pitchFamily="2" charset="-122"/>
              </a:rPr>
              <a:t>）自动问答系统（</a:t>
            </a:r>
            <a:r>
              <a:rPr lang="en-US" altLang="zh-CN" sz="2400" b="1" dirty="0">
                <a:latin typeface="Times New Roman" panose="02020503050405090304" pitchFamily="18" charset="0"/>
                <a:ea typeface="宋体" pitchFamily="2" charset="-122"/>
              </a:rPr>
              <a:t>Green</a:t>
            </a:r>
            <a:r>
              <a:rPr lang="zh-CN" altLang="en-US" sz="2400" b="1" dirty="0">
                <a:latin typeface="Times New Roman" panose="02020503050405090304" pitchFamily="18" charset="0"/>
                <a:ea typeface="宋体" pitchFamily="2" charset="-122"/>
              </a:rPr>
              <a:t>等人研制的</a:t>
            </a:r>
            <a:r>
              <a:rPr lang="en-US" altLang="zh-CN" sz="2400" b="1" dirty="0">
                <a:latin typeface="Times New Roman" panose="02020503050405090304" pitchFamily="18" charset="0"/>
                <a:ea typeface="宋体" pitchFamily="2" charset="-122"/>
              </a:rPr>
              <a:t>QA3</a:t>
            </a:r>
            <a:r>
              <a:rPr lang="zh-CN" altLang="en-US" sz="2400" b="1" dirty="0">
                <a:latin typeface="Times New Roman" panose="02020503050405090304" pitchFamily="18" charset="0"/>
                <a:ea typeface="宋体" pitchFamily="2" charset="-122"/>
              </a:rPr>
              <a:t>系统）</a:t>
            </a:r>
            <a:endParaRPr lang="zh-CN" altLang="en-US" sz="2400" b="1" dirty="0">
              <a:latin typeface="Times New Roman" panose="02020503050405090304" pitchFamily="18" charset="0"/>
              <a:ea typeface="宋体" pitchFamily="2" charset="-122"/>
            </a:endParaRPr>
          </a:p>
          <a:p>
            <a:pPr marL="342900" indent="-342900">
              <a:spcBef>
                <a:spcPct val="40000"/>
              </a:spcBef>
              <a:buClr>
                <a:schemeClr val="tx1"/>
              </a:buClr>
              <a:buFont typeface="Wingdings" panose="05000000000000000000" pitchFamily="2" charset="2"/>
              <a:buNone/>
            </a:pPr>
            <a:r>
              <a:rPr lang="zh-CN" altLang="en-US" sz="2400" b="1" dirty="0">
                <a:latin typeface="Times New Roman" panose="02020503050405090304" pitchFamily="18" charset="0"/>
                <a:ea typeface="宋体" pitchFamily="2" charset="-122"/>
              </a:rPr>
              <a:t>（</a:t>
            </a:r>
            <a:r>
              <a:rPr lang="en-US" altLang="zh-CN" sz="2400" b="1" dirty="0">
                <a:latin typeface="Times New Roman" panose="02020503050405090304" pitchFamily="18" charset="0"/>
                <a:ea typeface="宋体" pitchFamily="2" charset="-122"/>
              </a:rPr>
              <a:t>2</a:t>
            </a:r>
            <a:r>
              <a:rPr lang="zh-CN" altLang="en-US" sz="2400" b="1" dirty="0">
                <a:latin typeface="Times New Roman" panose="02020503050405090304" pitchFamily="18" charset="0"/>
                <a:ea typeface="宋体" pitchFamily="2" charset="-122"/>
              </a:rPr>
              <a:t>）机器人行动规划系统（</a:t>
            </a:r>
            <a:r>
              <a:rPr lang="en-US" altLang="zh-CN" sz="2400" b="1" dirty="0">
                <a:latin typeface="Times New Roman" panose="02020503050405090304" pitchFamily="18" charset="0"/>
                <a:ea typeface="宋体" pitchFamily="2" charset="-122"/>
              </a:rPr>
              <a:t>Fikes</a:t>
            </a:r>
            <a:r>
              <a:rPr lang="zh-CN" altLang="en-US" sz="2400" b="1" dirty="0">
                <a:latin typeface="Times New Roman" panose="02020503050405090304" pitchFamily="18" charset="0"/>
                <a:ea typeface="宋体" pitchFamily="2" charset="-122"/>
              </a:rPr>
              <a:t>等人研制的</a:t>
            </a:r>
            <a:r>
              <a:rPr lang="en-US" altLang="zh-CN" sz="2400" b="1" dirty="0">
                <a:latin typeface="Times New Roman" panose="02020503050405090304" pitchFamily="18" charset="0"/>
                <a:ea typeface="宋体" pitchFamily="2" charset="-122"/>
              </a:rPr>
              <a:t>STRIPS</a:t>
            </a:r>
            <a:r>
              <a:rPr lang="zh-CN" altLang="en-US" sz="2400" b="1" dirty="0">
                <a:latin typeface="Times New Roman" panose="02020503050405090304" pitchFamily="18" charset="0"/>
                <a:ea typeface="宋体" pitchFamily="2" charset="-122"/>
              </a:rPr>
              <a:t>系统）</a:t>
            </a:r>
            <a:endParaRPr lang="zh-CN" altLang="en-US" sz="2400" b="1" dirty="0">
              <a:latin typeface="Times New Roman" panose="02020503050405090304" pitchFamily="18" charset="0"/>
              <a:ea typeface="宋体" pitchFamily="2" charset="-122"/>
            </a:endParaRPr>
          </a:p>
          <a:p>
            <a:pPr marL="342900" indent="-342900">
              <a:spcBef>
                <a:spcPct val="40000"/>
              </a:spcBef>
              <a:buClr>
                <a:schemeClr val="tx1"/>
              </a:buClr>
              <a:buFont typeface="Wingdings" panose="05000000000000000000" pitchFamily="2" charset="2"/>
              <a:buNone/>
            </a:pPr>
            <a:r>
              <a:rPr lang="zh-CN" altLang="en-US" sz="2400" b="1" dirty="0">
                <a:latin typeface="Times New Roman" panose="02020503050405090304" pitchFamily="18" charset="0"/>
                <a:ea typeface="宋体" pitchFamily="2" charset="-122"/>
              </a:rPr>
              <a:t>（</a:t>
            </a:r>
            <a:r>
              <a:rPr lang="en-US" altLang="zh-CN" sz="2400" b="1" dirty="0">
                <a:latin typeface="Times New Roman" panose="02020503050405090304" pitchFamily="18" charset="0"/>
                <a:ea typeface="宋体" pitchFamily="2" charset="-122"/>
              </a:rPr>
              <a:t>3</a:t>
            </a:r>
            <a:r>
              <a:rPr lang="zh-CN" altLang="en-US" sz="2400" b="1" dirty="0">
                <a:latin typeface="Times New Roman" panose="02020503050405090304" pitchFamily="18" charset="0"/>
                <a:ea typeface="宋体" pitchFamily="2" charset="-122"/>
              </a:rPr>
              <a:t>）机器博弈系统（</a:t>
            </a:r>
            <a:r>
              <a:rPr lang="en-US" altLang="zh-CN" sz="2400" b="1" dirty="0">
                <a:latin typeface="Times New Roman" panose="02020503050405090304" pitchFamily="18" charset="0"/>
                <a:ea typeface="宋体" pitchFamily="2" charset="-122"/>
              </a:rPr>
              <a:t>Filman</a:t>
            </a:r>
            <a:r>
              <a:rPr lang="zh-CN" altLang="en-US" sz="2400" b="1" dirty="0">
                <a:latin typeface="Times New Roman" panose="02020503050405090304" pitchFamily="18" charset="0"/>
                <a:ea typeface="宋体" pitchFamily="2" charset="-122"/>
              </a:rPr>
              <a:t>等人研制的</a:t>
            </a:r>
            <a:r>
              <a:rPr lang="en-US" altLang="zh-CN" sz="2400" b="1" dirty="0">
                <a:latin typeface="Times New Roman" panose="02020503050405090304" pitchFamily="18" charset="0"/>
                <a:ea typeface="宋体" pitchFamily="2" charset="-122"/>
              </a:rPr>
              <a:t>FOL</a:t>
            </a:r>
            <a:r>
              <a:rPr lang="zh-CN" altLang="en-US" sz="2400" b="1" dirty="0">
                <a:latin typeface="Times New Roman" panose="02020503050405090304" pitchFamily="18" charset="0"/>
                <a:ea typeface="宋体" pitchFamily="2" charset="-122"/>
              </a:rPr>
              <a:t>系统）</a:t>
            </a:r>
            <a:endParaRPr lang="zh-CN" altLang="en-US" sz="2400" b="1" dirty="0">
              <a:latin typeface="Times New Roman" panose="02020503050405090304" pitchFamily="18" charset="0"/>
              <a:ea typeface="宋体" pitchFamily="2" charset="-122"/>
            </a:endParaRPr>
          </a:p>
          <a:p>
            <a:pPr marL="342900" indent="-342900">
              <a:spcBef>
                <a:spcPct val="40000"/>
              </a:spcBef>
              <a:buClr>
                <a:schemeClr val="tx1"/>
              </a:buClr>
              <a:buFont typeface="Wingdings" panose="05000000000000000000" pitchFamily="2" charset="2"/>
              <a:buNone/>
            </a:pPr>
            <a:r>
              <a:rPr lang="zh-CN" altLang="en-US" sz="2400" b="1" dirty="0">
                <a:latin typeface="Times New Roman" panose="02020503050405090304" pitchFamily="18" charset="0"/>
                <a:ea typeface="宋体" pitchFamily="2" charset="-122"/>
              </a:rPr>
              <a:t>（</a:t>
            </a:r>
            <a:r>
              <a:rPr lang="en-US" altLang="zh-CN" sz="2400" b="1" dirty="0">
                <a:latin typeface="Times New Roman" panose="02020503050405090304" pitchFamily="18" charset="0"/>
                <a:ea typeface="宋体" pitchFamily="2" charset="-122"/>
              </a:rPr>
              <a:t>4</a:t>
            </a:r>
            <a:r>
              <a:rPr lang="zh-CN" altLang="en-US" sz="2400" b="1" dirty="0">
                <a:latin typeface="Times New Roman" panose="02020503050405090304" pitchFamily="18" charset="0"/>
                <a:ea typeface="宋体" pitchFamily="2" charset="-122"/>
              </a:rPr>
              <a:t>）问题求解系统（</a:t>
            </a:r>
            <a:r>
              <a:rPr lang="en-US" altLang="zh-CN" sz="2400" b="1" dirty="0">
                <a:latin typeface="Times New Roman" panose="02020503050405090304" pitchFamily="18" charset="0"/>
                <a:ea typeface="宋体" pitchFamily="2" charset="-122"/>
              </a:rPr>
              <a:t>Kowalski</a:t>
            </a:r>
            <a:r>
              <a:rPr lang="zh-CN" altLang="en-US" sz="2400" b="1" dirty="0">
                <a:latin typeface="Times New Roman" panose="02020503050405090304" pitchFamily="18" charset="0"/>
                <a:ea typeface="宋体" pitchFamily="2" charset="-122"/>
              </a:rPr>
              <a:t>等设计的</a:t>
            </a:r>
            <a:r>
              <a:rPr lang="en-US" altLang="zh-CN" sz="2400" b="1" dirty="0">
                <a:latin typeface="Times New Roman" panose="02020503050405090304" pitchFamily="18" charset="0"/>
                <a:ea typeface="宋体" pitchFamily="2" charset="-122"/>
              </a:rPr>
              <a:t>PS</a:t>
            </a:r>
            <a:r>
              <a:rPr lang="zh-CN" altLang="en-US" sz="2400" b="1" dirty="0">
                <a:latin typeface="Times New Roman" panose="02020503050405090304" pitchFamily="18" charset="0"/>
                <a:ea typeface="宋体" pitchFamily="2" charset="-122"/>
              </a:rPr>
              <a:t>系统）</a:t>
            </a:r>
            <a:endParaRPr lang="zh-CN" altLang="en-US" sz="2400" b="1" dirty="0">
              <a:latin typeface="Times New Roman" panose="02020503050405090304" pitchFamily="18" charset="0"/>
              <a:ea typeface="宋体" pitchFamily="2" charset="-122"/>
            </a:endParaRPr>
          </a:p>
        </p:txBody>
      </p:sp>
      <p:sp>
        <p:nvSpPr>
          <p:cNvPr id="41989" name="Rectangle 10"/>
          <p:cNvSpPr/>
          <p:nvPr/>
        </p:nvSpPr>
        <p:spPr>
          <a:xfrm>
            <a:off x="4518025" y="908050"/>
            <a:ext cx="4437063" cy="2701925"/>
          </a:xfrm>
          <a:prstGeom prst="rect">
            <a:avLst/>
          </a:prstGeom>
          <a:gradFill rotWithShape="0">
            <a:gsLst>
              <a:gs pos="0">
                <a:srgbClr val="CCFFFF"/>
              </a:gs>
              <a:gs pos="100000">
                <a:schemeClr val="bg1"/>
              </a:gs>
            </a:gsLst>
            <a:path path="rect">
              <a:fillToRect l="100000" t="100000"/>
            </a:path>
            <a:tileRect/>
          </a:gradFill>
          <a:ln w="9525" cap="flat" cmpd="sng">
            <a:solidFill>
              <a:srgbClr val="808080"/>
            </a:solidFill>
            <a:prstDash val="solid"/>
            <a:miter/>
            <a:headEnd type="none" w="med" len="med"/>
            <a:tailEnd type="none" w="med" len="med"/>
          </a:ln>
        </p:spPr>
        <p:txBody>
          <a:bodyPr anchor="t" anchorCtr="0"/>
          <a:p>
            <a:pPr marL="457200" indent="-457200">
              <a:lnSpc>
                <a:spcPct val="120000"/>
              </a:lnSpc>
              <a:spcBef>
                <a:spcPct val="20000"/>
              </a:spcBef>
              <a:buClr>
                <a:schemeClr val="accent2"/>
              </a:buClr>
              <a:buFont typeface="Wingdings" panose="05000000000000000000" pitchFamily="2" charset="2"/>
              <a:buBlip>
                <a:blip r:embed="rId1"/>
              </a:buBlip>
            </a:pPr>
            <a:r>
              <a:rPr lang="en-US" altLang="zh-CN" sz="2600" dirty="0">
                <a:latin typeface="Arial" panose="020B0604020202090204" pitchFamily="34" charset="0"/>
                <a:ea typeface="宋体" pitchFamily="2" charset="-122"/>
              </a:rPr>
              <a:t> </a:t>
            </a:r>
            <a:r>
              <a:rPr lang="zh-CN" altLang="en-US" sz="2600" b="1" dirty="0">
                <a:solidFill>
                  <a:srgbClr val="0000FF"/>
                </a:solidFill>
                <a:latin typeface="Arial" panose="020B0604020202090204" pitchFamily="34" charset="0"/>
                <a:ea typeface="宋体" pitchFamily="2" charset="-122"/>
              </a:rPr>
              <a:t>局限性：</a:t>
            </a:r>
            <a:endParaRPr lang="zh-CN" altLang="en-US" sz="2600" b="1" dirty="0">
              <a:solidFill>
                <a:srgbClr val="0000FF"/>
              </a:solidFill>
              <a:latin typeface="Arial" panose="020B0604020202090204" pitchFamily="34" charset="0"/>
              <a:ea typeface="宋体" pitchFamily="2" charset="-122"/>
            </a:endParaRPr>
          </a:p>
          <a:p>
            <a:pPr marL="860425" lvl="1" indent="-419100" algn="l" rtl="0" eaLnBrk="1" fontAlgn="base" hangingPunct="1">
              <a:lnSpc>
                <a:spcPct val="120000"/>
              </a:lnSpc>
              <a:spcBef>
                <a:spcPct val="40000"/>
              </a:spcBef>
              <a:spcAft>
                <a:spcPct val="0"/>
              </a:spcAft>
              <a:buClr>
                <a:schemeClr val="accent2"/>
              </a:buClr>
              <a:buFont typeface="Wingdings" panose="05000000000000000000" pitchFamily="2" charset="2"/>
              <a:buAutoNum type="circleNumDbPlain"/>
            </a:pPr>
            <a:r>
              <a:rPr lang="zh-CN" altLang="en-US" sz="2400" b="1" dirty="0">
                <a:solidFill>
                  <a:schemeClr val="tx1"/>
                </a:solidFill>
                <a:latin typeface="Arial" panose="020B0604020202090204" pitchFamily="34" charset="0"/>
                <a:ea typeface="宋体" pitchFamily="2" charset="-122"/>
              </a:rPr>
              <a:t> 不能表示不确定的知识</a:t>
            </a:r>
            <a:endParaRPr lang="zh-CN" altLang="en-US" sz="2400" b="1" dirty="0">
              <a:solidFill>
                <a:schemeClr val="tx1"/>
              </a:solidFill>
              <a:latin typeface="Arial" panose="020B0604020202090204" pitchFamily="34" charset="0"/>
              <a:ea typeface="宋体" pitchFamily="2" charset="-122"/>
            </a:endParaRPr>
          </a:p>
          <a:p>
            <a:pPr marL="860425" lvl="1" indent="-419100" algn="l" rtl="0" eaLnBrk="1" fontAlgn="base" hangingPunct="1">
              <a:lnSpc>
                <a:spcPct val="120000"/>
              </a:lnSpc>
              <a:spcBef>
                <a:spcPct val="40000"/>
              </a:spcBef>
              <a:spcAft>
                <a:spcPct val="0"/>
              </a:spcAft>
              <a:buClr>
                <a:schemeClr val="accent2"/>
              </a:buClr>
              <a:buFont typeface="Wingdings" panose="05000000000000000000" pitchFamily="2" charset="2"/>
              <a:buAutoNum type="circleNumDbPlain"/>
            </a:pPr>
            <a:r>
              <a:rPr lang="zh-CN" altLang="en-US" sz="2400" b="1" dirty="0">
                <a:solidFill>
                  <a:schemeClr val="tx1"/>
                </a:solidFill>
                <a:latin typeface="Arial" panose="020B0604020202090204" pitchFamily="34" charset="0"/>
                <a:ea typeface="宋体" pitchFamily="2" charset="-122"/>
              </a:rPr>
              <a:t> 组合爆炸</a:t>
            </a:r>
            <a:endParaRPr lang="zh-CN" altLang="en-US" sz="2400" dirty="0">
              <a:solidFill>
                <a:schemeClr val="tx1"/>
              </a:solidFill>
              <a:latin typeface="Arial" panose="020B0604020202090204" pitchFamily="34" charset="0"/>
              <a:ea typeface="宋体" pitchFamily="2" charset="-122"/>
            </a:endParaRPr>
          </a:p>
          <a:p>
            <a:pPr marL="860425" lvl="1" indent="-419100" algn="l" rtl="0" eaLnBrk="1" fontAlgn="base" hangingPunct="1">
              <a:lnSpc>
                <a:spcPct val="120000"/>
              </a:lnSpc>
              <a:spcBef>
                <a:spcPct val="40000"/>
              </a:spcBef>
              <a:spcAft>
                <a:spcPct val="0"/>
              </a:spcAft>
              <a:buClr>
                <a:schemeClr val="accent2"/>
              </a:buClr>
              <a:buFont typeface="Wingdings" panose="05000000000000000000" pitchFamily="2" charset="2"/>
              <a:buAutoNum type="circleNumDbPlain"/>
            </a:pPr>
            <a:r>
              <a:rPr lang="zh-CN" altLang="en-US" sz="2400" b="1" dirty="0">
                <a:solidFill>
                  <a:schemeClr val="tx1"/>
                </a:solidFill>
                <a:latin typeface="Arial" panose="020B0604020202090204" pitchFamily="34" charset="0"/>
                <a:ea typeface="宋体" pitchFamily="2" charset="-122"/>
              </a:rPr>
              <a:t> 效率低</a:t>
            </a:r>
            <a:endParaRPr lang="zh-CN" altLang="en-US" sz="2400" b="1" dirty="0">
              <a:solidFill>
                <a:schemeClr val="tx1"/>
              </a:solidFill>
              <a:latin typeface="Arial" panose="020B0604020202090204" pitchFamily="34" charset="0"/>
              <a:ea typeface="宋体" pitchFamily="2" charset="-122"/>
            </a:endParaRPr>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3010" name="Rectangle 2"/>
          <p:cNvSpPr>
            <a:spLocks noGrp="1"/>
          </p:cNvSpPr>
          <p:nvPr>
            <p:ph type="title"/>
          </p:nvPr>
        </p:nvSpPr>
        <p:spPr/>
        <p:txBody>
          <a:bodyPr vert="horz" wrap="square" lIns="91440" tIns="45720" rIns="91440" bIns="45720" anchor="b" anchorCtr="0"/>
          <a:p>
            <a:pPr eaLnBrk="1" hangingPunct="1"/>
            <a:r>
              <a:rPr lang="zh-CN" altLang="en-US" dirty="0">
                <a:latin typeface="Times New Roman" panose="02020503050405090304" pitchFamily="18" charset="0"/>
              </a:rPr>
              <a:t>第</a:t>
            </a:r>
            <a:r>
              <a:rPr lang="en-US" altLang="zh-CN" dirty="0">
                <a:latin typeface="Times New Roman" panose="02020503050405090304" pitchFamily="18" charset="0"/>
              </a:rPr>
              <a:t>2</a:t>
            </a:r>
            <a:r>
              <a:rPr lang="zh-CN" altLang="en-US" dirty="0">
                <a:latin typeface="Times New Roman" panose="02020503050405090304" pitchFamily="18" charset="0"/>
              </a:rPr>
              <a:t>章  知识表示与知识图谱</a:t>
            </a:r>
            <a:endParaRPr lang="zh-CN" altLang="en-US" dirty="0">
              <a:latin typeface="Times New Roman" panose="02020503050405090304" pitchFamily="18" charset="0"/>
            </a:endParaRPr>
          </a:p>
        </p:txBody>
      </p:sp>
      <p:sp>
        <p:nvSpPr>
          <p:cNvPr id="43011" name="Rectangle 3"/>
          <p:cNvSpPr>
            <a:spLocks noGrp="1"/>
          </p:cNvSpPr>
          <p:nvPr>
            <p:ph idx="1"/>
          </p:nvPr>
        </p:nvSpPr>
        <p:spPr>
          <a:xfrm>
            <a:off x="454025" y="922338"/>
            <a:ext cx="8439150" cy="5400675"/>
          </a:xfrm>
        </p:spPr>
        <p:txBody>
          <a:bodyPr vert="horz" wrap="square" lIns="91440" tIns="45720" rIns="91440" bIns="45720" anchor="t" anchorCtr="0"/>
          <a:p>
            <a:pPr eaLnBrk="1" hangingPunct="1">
              <a:lnSpc>
                <a:spcPct val="160000"/>
              </a:lnSpc>
            </a:pPr>
            <a:r>
              <a:rPr lang="en-US" altLang="zh-CN" b="1" dirty="0">
                <a:latin typeface="Times New Roman" panose="02020503050405090304" pitchFamily="18" charset="0"/>
              </a:rPr>
              <a:t>2.1  </a:t>
            </a:r>
            <a:r>
              <a:rPr lang="zh-CN" altLang="en-US" b="1" dirty="0">
                <a:latin typeface="Times New Roman" panose="02020503050405090304" pitchFamily="18" charset="0"/>
              </a:rPr>
              <a:t>知识与知识表示的概念 </a:t>
            </a:r>
            <a:endParaRPr lang="zh-CN" altLang="en-US" b="1" dirty="0">
              <a:latin typeface="Times New Roman" panose="02020503050405090304" pitchFamily="18" charset="0"/>
            </a:endParaRPr>
          </a:p>
          <a:p>
            <a:pPr eaLnBrk="1" hangingPunct="1">
              <a:lnSpc>
                <a:spcPct val="160000"/>
              </a:lnSpc>
            </a:pPr>
            <a:r>
              <a:rPr lang="en-US" altLang="zh-CN" b="1" dirty="0">
                <a:latin typeface="Times New Roman" panose="02020503050405090304" pitchFamily="18" charset="0"/>
              </a:rPr>
              <a:t>2.2  </a:t>
            </a:r>
            <a:r>
              <a:rPr lang="zh-CN" altLang="en-US" b="1" dirty="0">
                <a:latin typeface="Times New Roman" panose="02020503050405090304" pitchFamily="18" charset="0"/>
              </a:rPr>
              <a:t>一阶谓词逻辑表示法 </a:t>
            </a:r>
            <a:endParaRPr lang="zh-CN" altLang="en-US" b="1" dirty="0">
              <a:latin typeface="Times New Roman" panose="02020503050405090304" pitchFamily="18" charset="0"/>
            </a:endParaRPr>
          </a:p>
          <a:p>
            <a:pPr eaLnBrk="1" hangingPunct="1">
              <a:lnSpc>
                <a:spcPct val="160000"/>
              </a:lnSpc>
              <a:buClr>
                <a:srgbClr val="0000FF"/>
              </a:buClr>
              <a:buSzPct val="150000"/>
              <a:buFont typeface="Wingdings" panose="05000000000000000000" pitchFamily="2" charset="2"/>
              <a:buChar char="ü"/>
            </a:pPr>
            <a:r>
              <a:rPr lang="en-US" altLang="zh-CN" b="1" dirty="0">
                <a:solidFill>
                  <a:srgbClr val="0000FF"/>
                </a:solidFill>
                <a:latin typeface="Times New Roman" panose="02020503050405090304" pitchFamily="18" charset="0"/>
              </a:rPr>
              <a:t>2.3  </a:t>
            </a:r>
            <a:r>
              <a:rPr lang="zh-CN" altLang="en-US" b="1" dirty="0">
                <a:solidFill>
                  <a:srgbClr val="0000FF"/>
                </a:solidFill>
                <a:latin typeface="Times New Roman" panose="02020503050405090304" pitchFamily="18" charset="0"/>
              </a:rPr>
              <a:t>产生式表示法</a:t>
            </a:r>
            <a:r>
              <a:rPr lang="zh-CN" altLang="en-US" b="1" dirty="0">
                <a:latin typeface="Times New Roman" panose="02020503050405090304" pitchFamily="18" charset="0"/>
              </a:rPr>
              <a:t> </a:t>
            </a:r>
            <a:endParaRPr lang="zh-CN" altLang="en-US" b="1" dirty="0">
              <a:latin typeface="Times New Roman" panose="02020503050405090304" pitchFamily="18" charset="0"/>
            </a:endParaRPr>
          </a:p>
          <a:p>
            <a:pPr eaLnBrk="1" hangingPunct="1">
              <a:lnSpc>
                <a:spcPct val="160000"/>
              </a:lnSpc>
            </a:pPr>
            <a:r>
              <a:rPr lang="en-US" altLang="zh-CN" b="1" dirty="0">
                <a:latin typeface="Times New Roman" panose="02020503050405090304" pitchFamily="18" charset="0"/>
              </a:rPr>
              <a:t>2.4  </a:t>
            </a:r>
            <a:r>
              <a:rPr lang="zh-CN" altLang="en-US" b="1" dirty="0">
                <a:latin typeface="Times New Roman" panose="02020503050405090304" pitchFamily="18" charset="0"/>
              </a:rPr>
              <a:t>框架表示法 </a:t>
            </a:r>
            <a:endParaRPr lang="en-US" altLang="zh-CN" b="1" dirty="0">
              <a:latin typeface="Times New Roman" panose="02020503050405090304" pitchFamily="18" charset="0"/>
            </a:endParaRPr>
          </a:p>
          <a:p>
            <a:pPr eaLnBrk="1" hangingPunct="1">
              <a:lnSpc>
                <a:spcPct val="160000"/>
              </a:lnSpc>
            </a:pPr>
            <a:r>
              <a:rPr lang="en-US" altLang="zh-CN" b="1" dirty="0">
                <a:latin typeface="Times New Roman" panose="02020503050405090304" pitchFamily="18" charset="0"/>
              </a:rPr>
              <a:t>2.5  </a:t>
            </a:r>
            <a:r>
              <a:rPr lang="zh-CN" altLang="en-US" b="1" dirty="0">
                <a:latin typeface="Times New Roman" panose="02020503050405090304" pitchFamily="18" charset="0"/>
              </a:rPr>
              <a:t>知识图谱</a:t>
            </a:r>
            <a:endParaRPr lang="zh-CN" altLang="en-US" b="1" dirty="0">
              <a:latin typeface="Times New Roman" panose="02020503050405090304" pitchFamily="18" charset="0"/>
            </a:endParaRPr>
          </a:p>
          <a:p>
            <a:pPr eaLnBrk="1" hangingPunct="1"/>
            <a:endParaRPr lang="en-US" altLang="zh-CN" b="1" dirty="0">
              <a:latin typeface="Times New Roman" panose="02020503050405090304" pitchFamily="18"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4034"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 2.3  </a:t>
            </a:r>
            <a:r>
              <a:rPr lang="zh-CN" altLang="en-US" dirty="0">
                <a:latin typeface="Times New Roman" panose="02020503050405090304" pitchFamily="18" charset="0"/>
              </a:rPr>
              <a:t>产生式表示法</a:t>
            </a:r>
            <a:endParaRPr lang="zh-CN" altLang="en-US" dirty="0">
              <a:latin typeface="Times New Roman" panose="02020503050405090304" pitchFamily="18" charset="0"/>
            </a:endParaRPr>
          </a:p>
        </p:txBody>
      </p:sp>
      <p:sp>
        <p:nvSpPr>
          <p:cNvPr id="44035" name="Rectangle 3"/>
          <p:cNvSpPr>
            <a:spLocks noGrp="1"/>
          </p:cNvSpPr>
          <p:nvPr>
            <p:ph idx="1"/>
          </p:nvPr>
        </p:nvSpPr>
        <p:spPr>
          <a:xfrm>
            <a:off x="482600" y="993775"/>
            <a:ext cx="8439150" cy="5400675"/>
          </a:xfrm>
        </p:spPr>
        <p:txBody>
          <a:bodyPr vert="horz" wrap="square" lIns="91440" tIns="45720" rIns="91440" bIns="45720" anchor="t" anchorCtr="0"/>
          <a:p>
            <a:pPr eaLnBrk="1" hangingPunct="1">
              <a:lnSpc>
                <a:spcPct val="140000"/>
              </a:lnSpc>
              <a:buFontTx/>
              <a:buBlip>
                <a:blip r:embed="rId1"/>
              </a:buBlip>
            </a:pPr>
            <a:r>
              <a:rPr lang="en-US" altLang="zh-CN" b="1" dirty="0">
                <a:latin typeface="Times New Roman" panose="02020503050405090304" pitchFamily="18" charset="0"/>
              </a:rPr>
              <a:t>2.3.1  </a:t>
            </a:r>
            <a:r>
              <a:rPr lang="zh-CN" altLang="en-US" b="1" dirty="0">
                <a:latin typeface="Times New Roman" panose="02020503050405090304" pitchFamily="18" charset="0"/>
              </a:rPr>
              <a:t>产生式</a:t>
            </a:r>
            <a:endParaRPr lang="zh-CN" altLang="en-US" b="1" dirty="0">
              <a:latin typeface="Times New Roman" panose="02020503050405090304" pitchFamily="18" charset="0"/>
            </a:endParaRPr>
          </a:p>
          <a:p>
            <a:pPr eaLnBrk="1" hangingPunct="1">
              <a:lnSpc>
                <a:spcPct val="140000"/>
              </a:lnSpc>
              <a:buFontTx/>
              <a:buBlip>
                <a:blip r:embed="rId1"/>
              </a:buBlip>
            </a:pPr>
            <a:r>
              <a:rPr lang="en-US" altLang="zh-CN" b="1" dirty="0">
                <a:latin typeface="Times New Roman" panose="02020503050405090304" pitchFamily="18" charset="0"/>
              </a:rPr>
              <a:t>2.3.2  </a:t>
            </a:r>
            <a:r>
              <a:rPr lang="zh-CN" altLang="en-US" b="1" dirty="0">
                <a:latin typeface="Times New Roman" panose="02020503050405090304" pitchFamily="18" charset="0"/>
              </a:rPr>
              <a:t>产生式系统</a:t>
            </a:r>
            <a:endParaRPr lang="zh-CN" altLang="en-US" b="1" dirty="0">
              <a:latin typeface="Times New Roman" panose="02020503050405090304" pitchFamily="18" charset="0"/>
            </a:endParaRPr>
          </a:p>
          <a:p>
            <a:pPr eaLnBrk="1" hangingPunct="1">
              <a:lnSpc>
                <a:spcPct val="140000"/>
              </a:lnSpc>
              <a:buFontTx/>
              <a:buBlip>
                <a:blip r:embed="rId1"/>
              </a:buBlip>
            </a:pPr>
            <a:r>
              <a:rPr lang="en-US" altLang="zh-CN" b="1" dirty="0">
                <a:latin typeface="Times New Roman" panose="02020503050405090304" pitchFamily="18" charset="0"/>
              </a:rPr>
              <a:t>2.3.3  </a:t>
            </a:r>
            <a:r>
              <a:rPr lang="zh-CN" altLang="en-US" b="1" dirty="0">
                <a:latin typeface="Times New Roman" panose="02020503050405090304" pitchFamily="18" charset="0"/>
              </a:rPr>
              <a:t>产生式系统</a:t>
            </a:r>
            <a:r>
              <a:rPr lang="en-US" altLang="zh-CN" b="1" dirty="0">
                <a:latin typeface="Times New Roman" panose="02020503050405090304" pitchFamily="18" charset="0"/>
              </a:rPr>
              <a:t>——</a:t>
            </a:r>
            <a:r>
              <a:rPr lang="zh-CN" altLang="en-US" b="1" dirty="0">
                <a:latin typeface="Times New Roman" panose="02020503050405090304" pitchFamily="18" charset="0"/>
              </a:rPr>
              <a:t>动物识别系统</a:t>
            </a:r>
            <a:endParaRPr lang="zh-CN" altLang="en-US" b="1" dirty="0">
              <a:latin typeface="Times New Roman" panose="02020503050405090304" pitchFamily="18" charset="0"/>
            </a:endParaRPr>
          </a:p>
          <a:p>
            <a:pPr eaLnBrk="1" hangingPunct="1">
              <a:lnSpc>
                <a:spcPct val="140000"/>
              </a:lnSpc>
              <a:buFontTx/>
              <a:buBlip>
                <a:blip r:embed="rId1"/>
              </a:buBlip>
            </a:pPr>
            <a:r>
              <a:rPr lang="en-US" altLang="zh-CN" b="1" dirty="0">
                <a:latin typeface="Times New Roman" panose="02020503050405090304" pitchFamily="18" charset="0"/>
              </a:rPr>
              <a:t>2.3.4  </a:t>
            </a:r>
            <a:r>
              <a:rPr lang="zh-CN" altLang="en-US" b="1" dirty="0">
                <a:latin typeface="Times New Roman" panose="02020503050405090304" pitchFamily="18" charset="0"/>
              </a:rPr>
              <a:t>产生式表示法的特点</a:t>
            </a:r>
            <a:endParaRPr lang="zh-CN" altLang="en-US" b="1" dirty="0">
              <a:latin typeface="Times New Roman" panose="02020503050405090304" pitchFamily="18" charset="0"/>
            </a:endParaRPr>
          </a:p>
        </p:txBody>
      </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6082"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 2.3.1  </a:t>
            </a:r>
            <a:r>
              <a:rPr lang="zh-CN" altLang="en-US" dirty="0">
                <a:latin typeface="Times New Roman" panose="02020503050405090304" pitchFamily="18" charset="0"/>
              </a:rPr>
              <a:t>产生式</a:t>
            </a:r>
            <a:endParaRPr lang="zh-CN" altLang="en-US" dirty="0">
              <a:latin typeface="Times New Roman" panose="02020503050405090304" pitchFamily="18" charset="0"/>
            </a:endParaRPr>
          </a:p>
        </p:txBody>
      </p:sp>
      <p:sp>
        <p:nvSpPr>
          <p:cNvPr id="46083" name="Rectangle 3"/>
          <p:cNvSpPr>
            <a:spLocks noGrp="1"/>
          </p:cNvSpPr>
          <p:nvPr>
            <p:ph idx="1"/>
          </p:nvPr>
        </p:nvSpPr>
        <p:spPr>
          <a:xfrm>
            <a:off x="422275" y="1308100"/>
            <a:ext cx="8205788" cy="4268788"/>
          </a:xfrm>
        </p:spPr>
        <p:txBody>
          <a:bodyPr vert="horz" wrap="square" lIns="91440" tIns="45720" rIns="91440" bIns="45720" anchor="t" anchorCtr="0"/>
          <a:p>
            <a:pPr marL="571500" indent="-571500" algn="just" eaLnBrk="1" hangingPunct="1"/>
            <a:r>
              <a:rPr lang="en-US" altLang="zh-CN" b="1" dirty="0">
                <a:latin typeface="Times New Roman" panose="02020503050405090304" pitchFamily="18" charset="0"/>
              </a:rPr>
              <a:t>“</a:t>
            </a:r>
            <a:r>
              <a:rPr lang="zh-CN" altLang="en-US" b="1" dirty="0">
                <a:latin typeface="宋体" pitchFamily="2" charset="-122"/>
              </a:rPr>
              <a:t>产生式</a:t>
            </a:r>
            <a:r>
              <a:rPr lang="zh-CN" altLang="en-US" b="1" dirty="0">
                <a:latin typeface="Times New Roman" panose="02020503050405090304" pitchFamily="18" charset="0"/>
              </a:rPr>
              <a:t>”</a:t>
            </a:r>
            <a:r>
              <a:rPr lang="zh-CN" altLang="en-US" b="1" dirty="0">
                <a:latin typeface="宋体" pitchFamily="2" charset="-122"/>
              </a:rPr>
              <a:t>：</a:t>
            </a:r>
            <a:r>
              <a:rPr lang="en-US" altLang="zh-CN" b="1" dirty="0">
                <a:latin typeface="Times New Roman" panose="02020503050405090304" pitchFamily="18" charset="0"/>
              </a:rPr>
              <a:t>1943</a:t>
            </a:r>
            <a:r>
              <a:rPr lang="zh-CN" altLang="en-US" b="1" dirty="0">
                <a:latin typeface="宋体" pitchFamily="2" charset="-122"/>
              </a:rPr>
              <a:t>年，美国数学家波斯特（</a:t>
            </a:r>
            <a:r>
              <a:rPr lang="en-US" altLang="zh-CN" b="1" dirty="0">
                <a:latin typeface="Times New Roman" panose="02020503050405090304" pitchFamily="18" charset="0"/>
              </a:rPr>
              <a:t>E. Post</a:t>
            </a:r>
            <a:r>
              <a:rPr lang="zh-CN" altLang="en-US" b="1" dirty="0">
                <a:latin typeface="宋体" pitchFamily="2" charset="-122"/>
              </a:rPr>
              <a:t>）首先提出。</a:t>
            </a:r>
            <a:r>
              <a:rPr lang="zh-CN" altLang="en-US" b="1" dirty="0"/>
              <a:t> </a:t>
            </a:r>
            <a:endParaRPr lang="zh-CN" altLang="en-US" b="1" dirty="0"/>
          </a:p>
          <a:p>
            <a:pPr marL="571500" indent="-571500" algn="just" eaLnBrk="1" hangingPunct="1">
              <a:spcBef>
                <a:spcPct val="50000"/>
              </a:spcBef>
              <a:spcAft>
                <a:spcPct val="50000"/>
              </a:spcAft>
            </a:pPr>
            <a:r>
              <a:rPr lang="en-US" altLang="zh-CN" b="1" dirty="0">
                <a:latin typeface="Times New Roman" panose="02020503050405090304" pitchFamily="18" charset="0"/>
              </a:rPr>
              <a:t>1972</a:t>
            </a:r>
            <a:r>
              <a:rPr lang="zh-CN" altLang="en-US" b="1" dirty="0">
                <a:latin typeface="宋体" pitchFamily="2" charset="-122"/>
              </a:rPr>
              <a:t>年，纽厄尔和西蒙在研究人类的认知模型中开发了基于规则的产生式系统。</a:t>
            </a:r>
            <a:endParaRPr lang="zh-CN" altLang="en-US" b="1" dirty="0">
              <a:latin typeface="宋体" pitchFamily="2" charset="-122"/>
            </a:endParaRPr>
          </a:p>
          <a:p>
            <a:pPr marL="571500" indent="-571500" algn="just" eaLnBrk="1" hangingPunct="1"/>
            <a:r>
              <a:rPr lang="zh-CN" altLang="en-US" b="1" dirty="0"/>
              <a:t>产生式通常用于表示事实、规则以及它们的不确定性度量，适合于表示事实性知识和规则性知识。</a:t>
            </a:r>
            <a:endParaRPr lang="zh-CN" altLang="en-US" b="1" dirty="0"/>
          </a:p>
        </p:txBody>
      </p:sp>
      <p:sp>
        <p:nvSpPr>
          <p:cNvPr id="46084" name="Rectangle 5"/>
          <p:cNvSpPr/>
          <p:nvPr/>
        </p:nvSpPr>
        <p:spPr>
          <a:xfrm>
            <a:off x="0" y="3328988"/>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
        <p:nvSpPr>
          <p:cNvPr id="46085" name="Rectangle 7"/>
          <p:cNvSpPr/>
          <p:nvPr/>
        </p:nvSpPr>
        <p:spPr>
          <a:xfrm>
            <a:off x="0" y="3328988"/>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7106"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2.3.1  </a:t>
            </a:r>
            <a:r>
              <a:rPr lang="zh-CN" altLang="en-US" dirty="0">
                <a:latin typeface="Times New Roman" panose="02020503050405090304" pitchFamily="18" charset="0"/>
              </a:rPr>
              <a:t>产生式</a:t>
            </a:r>
            <a:endParaRPr lang="zh-CN" altLang="en-US" dirty="0">
              <a:latin typeface="Times New Roman" panose="02020503050405090304" pitchFamily="18" charset="0"/>
            </a:endParaRPr>
          </a:p>
        </p:txBody>
      </p:sp>
      <p:sp>
        <p:nvSpPr>
          <p:cNvPr id="47107" name="Rectangle 5"/>
          <p:cNvSpPr/>
          <p:nvPr/>
        </p:nvSpPr>
        <p:spPr>
          <a:xfrm>
            <a:off x="295275" y="942975"/>
            <a:ext cx="5259388" cy="519113"/>
          </a:xfrm>
          <a:prstGeom prst="rect">
            <a:avLst/>
          </a:prstGeom>
          <a:noFill/>
          <a:ln w="9525">
            <a:noFill/>
          </a:ln>
        </p:spPr>
        <p:txBody>
          <a:bodyPr wrap="none" anchor="t" anchorCtr="0">
            <a:spAutoFit/>
          </a:bodyPr>
          <a:p>
            <a:pPr marL="342900" indent="-342900">
              <a:spcBef>
                <a:spcPct val="20000"/>
              </a:spcBef>
              <a:buClr>
                <a:schemeClr val="tx1"/>
              </a:buClr>
              <a:buFont typeface="Wingdings" panose="05000000000000000000" pitchFamily="2" charset="2"/>
              <a:buAutoNum type="arabicPeriod"/>
            </a:pPr>
            <a:r>
              <a:rPr lang="en-US" altLang="zh-CN" sz="2800" b="1" dirty="0">
                <a:latin typeface="Times New Roman" panose="02020503050405090304" pitchFamily="18" charset="0"/>
                <a:ea typeface="宋体" pitchFamily="2" charset="-122"/>
              </a:rPr>
              <a:t> </a:t>
            </a:r>
            <a:r>
              <a:rPr lang="zh-CN" altLang="en-US" sz="2800" b="1" dirty="0">
                <a:latin typeface="Arial" panose="020B0604020202090204" pitchFamily="34" charset="0"/>
                <a:ea typeface="宋体" pitchFamily="2" charset="-122"/>
              </a:rPr>
              <a:t>确定性规则知识的产生式表示</a:t>
            </a:r>
            <a:endParaRPr lang="zh-CN" altLang="en-US" sz="2800" b="1" dirty="0">
              <a:latin typeface="Arial" panose="020B0604020202090204" pitchFamily="34" charset="0"/>
              <a:ea typeface="宋体" pitchFamily="2" charset="-122"/>
            </a:endParaRPr>
          </a:p>
        </p:txBody>
      </p:sp>
      <p:sp>
        <p:nvSpPr>
          <p:cNvPr id="47108" name="Rectangle 6"/>
          <p:cNvSpPr/>
          <p:nvPr/>
        </p:nvSpPr>
        <p:spPr>
          <a:xfrm>
            <a:off x="315913" y="3871913"/>
            <a:ext cx="5648325" cy="561975"/>
          </a:xfrm>
          <a:prstGeom prst="rect">
            <a:avLst/>
          </a:prstGeom>
          <a:noFill/>
          <a:ln w="9525">
            <a:noFill/>
          </a:ln>
        </p:spPr>
        <p:txBody>
          <a:bodyPr wrap="none" anchor="t" anchorCtr="0">
            <a:spAutoFit/>
          </a:bodyPr>
          <a:p>
            <a:pPr marL="342900" indent="-342900">
              <a:lnSpc>
                <a:spcPct val="110000"/>
              </a:lnSpc>
              <a:spcBef>
                <a:spcPct val="20000"/>
              </a:spcBef>
              <a:buClr>
                <a:schemeClr val="tx1"/>
              </a:buClr>
              <a:buFont typeface="Wingdings" panose="05000000000000000000" pitchFamily="2" charset="2"/>
              <a:buNone/>
            </a:pPr>
            <a:r>
              <a:rPr lang="en-US" altLang="zh-CN" sz="2800" b="1" dirty="0">
                <a:latin typeface="Times New Roman" panose="02020503050405090304" pitchFamily="18" charset="0"/>
                <a:ea typeface="宋体" pitchFamily="2" charset="-122"/>
              </a:rPr>
              <a:t>2.</a:t>
            </a:r>
            <a:r>
              <a:rPr lang="en-US" altLang="zh-CN" sz="2800" b="1" dirty="0">
                <a:latin typeface="Arial" panose="020B0604020202090204" pitchFamily="34" charset="0"/>
                <a:ea typeface="宋体" pitchFamily="2" charset="-122"/>
              </a:rPr>
              <a:t>  </a:t>
            </a:r>
            <a:r>
              <a:rPr lang="zh-CN" altLang="en-US" sz="2800" b="1" dirty="0">
                <a:latin typeface="Arial" panose="020B0604020202090204" pitchFamily="34" charset="0"/>
                <a:ea typeface="宋体" pitchFamily="2" charset="-122"/>
              </a:rPr>
              <a:t>不确定性规则知识的产生式表示</a:t>
            </a:r>
            <a:endParaRPr lang="zh-CN" altLang="en-US" sz="2800" b="1" dirty="0">
              <a:latin typeface="Arial" panose="020B0604020202090204" pitchFamily="34" charset="0"/>
              <a:ea typeface="宋体" pitchFamily="2" charset="-122"/>
            </a:endParaRPr>
          </a:p>
        </p:txBody>
      </p:sp>
      <p:grpSp>
        <p:nvGrpSpPr>
          <p:cNvPr id="47109" name="Group 11"/>
          <p:cNvGrpSpPr/>
          <p:nvPr/>
        </p:nvGrpSpPr>
        <p:grpSpPr>
          <a:xfrm>
            <a:off x="280988" y="1585913"/>
            <a:ext cx="8561387" cy="2085975"/>
            <a:chOff x="177" y="999"/>
            <a:chExt cx="5393" cy="1314"/>
          </a:xfrm>
        </p:grpSpPr>
        <p:sp>
          <p:nvSpPr>
            <p:cNvPr id="47110" name="Rectangle 7"/>
            <p:cNvSpPr/>
            <p:nvPr/>
          </p:nvSpPr>
          <p:spPr>
            <a:xfrm>
              <a:off x="177" y="999"/>
              <a:ext cx="5393" cy="1314"/>
            </a:xfrm>
            <a:prstGeom prst="rect">
              <a:avLst/>
            </a:prstGeom>
            <a:gradFill rotWithShape="0">
              <a:gsLst>
                <a:gs pos="0">
                  <a:srgbClr val="CCFFFF"/>
                </a:gs>
                <a:gs pos="100000">
                  <a:srgbClr val="FFFFFF"/>
                </a:gs>
              </a:gsLst>
              <a:path path="rect">
                <a:fillToRect l="100000" b="100000"/>
              </a:path>
              <a:tileRect/>
            </a:gradFill>
            <a:ln w="9525" cap="flat" cmpd="sng">
              <a:solidFill>
                <a:srgbClr val="808080"/>
              </a:solidFill>
              <a:prstDash val="solid"/>
              <a:miter/>
              <a:headEnd type="none" w="med" len="med"/>
              <a:tailEnd type="none" w="med" len="med"/>
            </a:ln>
          </p:spPr>
          <p:txBody>
            <a:bodyPr anchor="t" anchorCtr="0">
              <a:spAutoFit/>
            </a:bodyPr>
            <a:p>
              <a:pPr>
                <a:lnSpc>
                  <a:spcPct val="110000"/>
                </a:lnSpc>
                <a:spcBef>
                  <a:spcPct val="20000"/>
                </a:spcBef>
                <a:buClr>
                  <a:schemeClr val="accent2"/>
                </a:buClr>
                <a:buFont typeface="Wingdings" panose="05000000000000000000" pitchFamily="2" charset="2"/>
                <a:buChar char="§"/>
              </a:pPr>
              <a:r>
                <a:rPr lang="en-US" altLang="zh-CN" sz="2600" dirty="0">
                  <a:latin typeface="Arial" panose="020B0604020202090204" pitchFamily="34" charset="0"/>
                  <a:ea typeface="宋体" pitchFamily="2" charset="-122"/>
                </a:rPr>
                <a:t> </a:t>
              </a:r>
              <a:r>
                <a:rPr lang="zh-CN" altLang="en-US" sz="2600" dirty="0">
                  <a:latin typeface="Arial" panose="020B0604020202090204" pitchFamily="34" charset="0"/>
                  <a:ea typeface="宋体" pitchFamily="2" charset="-122"/>
                </a:rPr>
                <a:t>基本形式：  </a:t>
              </a:r>
              <a:r>
                <a:rPr lang="en-US" altLang="zh-CN" sz="2600" dirty="0">
                  <a:latin typeface="Times New Roman" panose="02020503050405090304" pitchFamily="18" charset="0"/>
                  <a:ea typeface="宋体" pitchFamily="2" charset="-122"/>
                </a:rPr>
                <a:t>IF    </a:t>
              </a:r>
              <a:r>
                <a:rPr lang="en-US" altLang="zh-CN" sz="2600" i="1" dirty="0">
                  <a:latin typeface="Times New Roman" panose="02020503050405090304" pitchFamily="18" charset="0"/>
                  <a:ea typeface="宋体" pitchFamily="2" charset="-122"/>
                </a:rPr>
                <a:t>P</a:t>
              </a:r>
              <a:r>
                <a:rPr lang="en-US" altLang="zh-CN" sz="2600" dirty="0">
                  <a:latin typeface="Times New Roman" panose="02020503050405090304" pitchFamily="18" charset="0"/>
                  <a:ea typeface="宋体" pitchFamily="2" charset="-122"/>
                </a:rPr>
                <a:t>    THEN   </a:t>
              </a:r>
              <a:r>
                <a:rPr lang="en-US" altLang="zh-CN" sz="2600" i="1" dirty="0">
                  <a:latin typeface="Times New Roman" panose="02020503050405090304" pitchFamily="18" charset="0"/>
                  <a:ea typeface="宋体" pitchFamily="2" charset="-122"/>
                </a:rPr>
                <a:t> Q</a:t>
              </a:r>
              <a:endParaRPr lang="en-US" altLang="zh-CN" sz="2600" i="1" dirty="0">
                <a:latin typeface="Times New Roman" panose="02020503050405090304" pitchFamily="18" charset="0"/>
                <a:ea typeface="宋体" pitchFamily="2" charset="-122"/>
              </a:endParaRPr>
            </a:p>
            <a:p>
              <a:pPr algn="just">
                <a:lnSpc>
                  <a:spcPct val="110000"/>
                </a:lnSpc>
                <a:spcBef>
                  <a:spcPct val="20000"/>
                </a:spcBef>
                <a:buClr>
                  <a:schemeClr val="accent2"/>
                </a:buClr>
                <a:buFont typeface="Wingdings" panose="05000000000000000000" pitchFamily="2" charset="2"/>
                <a:buNone/>
              </a:pPr>
              <a:r>
                <a:rPr lang="en-US" altLang="zh-CN" sz="2600" dirty="0">
                  <a:latin typeface="Arial" panose="020B0604020202090204" pitchFamily="34" charset="0"/>
                  <a:ea typeface="宋体" pitchFamily="2" charset="-122"/>
                </a:rPr>
                <a:t>         </a:t>
              </a:r>
              <a:r>
                <a:rPr lang="zh-CN" altLang="en-US" sz="2600" dirty="0">
                  <a:latin typeface="Arial" panose="020B0604020202090204" pitchFamily="34" charset="0"/>
                  <a:ea typeface="宋体" pitchFamily="2" charset="-122"/>
                </a:rPr>
                <a:t>或者：</a:t>
              </a:r>
              <a:endParaRPr lang="zh-CN" altLang="en-US" sz="2600" dirty="0">
                <a:latin typeface="Arial" panose="020B0604020202090204" pitchFamily="34" charset="0"/>
                <a:ea typeface="宋体" pitchFamily="2" charset="-122"/>
              </a:endParaRPr>
            </a:p>
            <a:p>
              <a:pPr algn="just">
                <a:lnSpc>
                  <a:spcPct val="110000"/>
                </a:lnSpc>
                <a:spcBef>
                  <a:spcPct val="20000"/>
                </a:spcBef>
                <a:buClr>
                  <a:schemeClr val="accent2"/>
                </a:buClr>
                <a:buFont typeface="Wingdings" panose="05000000000000000000" pitchFamily="2" charset="2"/>
                <a:buChar char="§"/>
              </a:pPr>
              <a:r>
                <a:rPr lang="zh-CN" altLang="en-US" sz="2600" dirty="0">
                  <a:latin typeface="宋体" pitchFamily="2" charset="-122"/>
                  <a:ea typeface="宋体" pitchFamily="2" charset="-122"/>
                </a:rPr>
                <a:t> 例如：</a:t>
              </a:r>
              <a:endParaRPr lang="zh-CN" altLang="en-US" sz="2600" dirty="0">
                <a:latin typeface="Times New Roman" panose="02020503050405090304" pitchFamily="18" charset="0"/>
                <a:ea typeface="宋体" pitchFamily="2" charset="-122"/>
              </a:endParaRPr>
            </a:p>
            <a:p>
              <a:pPr algn="just">
                <a:lnSpc>
                  <a:spcPct val="110000"/>
                </a:lnSpc>
                <a:spcBef>
                  <a:spcPct val="20000"/>
                </a:spcBef>
                <a:buClr>
                  <a:schemeClr val="accent2"/>
                </a:buClr>
                <a:buFont typeface="Wingdings" panose="05000000000000000000" pitchFamily="2" charset="2"/>
                <a:buNone/>
              </a:pPr>
              <a:r>
                <a:rPr lang="zh-CN" altLang="en-US" sz="2600" dirty="0">
                  <a:latin typeface="Times New Roman" panose="02020503050405090304" pitchFamily="18" charset="0"/>
                  <a:ea typeface="宋体" pitchFamily="2" charset="-122"/>
                </a:rPr>
                <a:t>     </a:t>
              </a:r>
              <a:r>
                <a:rPr lang="en-US" altLang="zh-CN" sz="2600" i="1" dirty="0">
                  <a:latin typeface="Times New Roman" panose="02020503050405090304" pitchFamily="18" charset="0"/>
                  <a:ea typeface="宋体" pitchFamily="2" charset="-122"/>
                </a:rPr>
                <a:t>r</a:t>
              </a:r>
              <a:r>
                <a:rPr lang="en-US" altLang="zh-CN" sz="2600" baseline="-30000" dirty="0">
                  <a:latin typeface="Times New Roman" panose="02020503050405090304" pitchFamily="18" charset="0"/>
                  <a:ea typeface="宋体" pitchFamily="2" charset="-122"/>
                </a:rPr>
                <a:t>4</a:t>
              </a:r>
              <a:r>
                <a:rPr lang="zh-CN" altLang="en-US" sz="2600" dirty="0">
                  <a:latin typeface="宋体" pitchFamily="2" charset="-122"/>
                  <a:ea typeface="宋体" pitchFamily="2" charset="-122"/>
                </a:rPr>
                <a:t>：</a:t>
              </a:r>
              <a:r>
                <a:rPr lang="en-US" altLang="zh-CN" sz="2600" dirty="0">
                  <a:latin typeface="Times New Roman" panose="02020503050405090304" pitchFamily="18" charset="0"/>
                  <a:ea typeface="宋体" pitchFamily="2" charset="-122"/>
                </a:rPr>
                <a:t>IF   </a:t>
              </a:r>
              <a:r>
                <a:rPr lang="zh-CN" altLang="en-US" sz="2600" dirty="0">
                  <a:latin typeface="宋体" pitchFamily="2" charset="-122"/>
                  <a:ea typeface="宋体" pitchFamily="2" charset="-122"/>
                </a:rPr>
                <a:t>动物会飞</a:t>
              </a:r>
              <a:r>
                <a:rPr lang="zh-CN" altLang="en-US" sz="2600" dirty="0">
                  <a:latin typeface="Times New Roman" panose="02020503050405090304" pitchFamily="18" charset="0"/>
                  <a:ea typeface="宋体" pitchFamily="2" charset="-122"/>
                </a:rPr>
                <a:t>    </a:t>
              </a:r>
              <a:r>
                <a:rPr lang="en-US" altLang="zh-CN" sz="2600" dirty="0">
                  <a:latin typeface="Times New Roman" panose="02020503050405090304" pitchFamily="18" charset="0"/>
                  <a:ea typeface="宋体" pitchFamily="2" charset="-122"/>
                </a:rPr>
                <a:t>AND    </a:t>
              </a:r>
              <a:r>
                <a:rPr lang="zh-CN" altLang="en-US" sz="2600" dirty="0">
                  <a:latin typeface="宋体" pitchFamily="2" charset="-122"/>
                  <a:ea typeface="宋体" pitchFamily="2" charset="-122"/>
                </a:rPr>
                <a:t>会下蛋</a:t>
              </a:r>
              <a:r>
                <a:rPr lang="zh-CN" altLang="en-US" sz="2600" dirty="0">
                  <a:latin typeface="Times New Roman" panose="02020503050405090304" pitchFamily="18" charset="0"/>
                  <a:ea typeface="宋体" pitchFamily="2" charset="-122"/>
                </a:rPr>
                <a:t>    </a:t>
              </a:r>
              <a:r>
                <a:rPr lang="en-US" altLang="zh-CN" sz="2600" dirty="0">
                  <a:latin typeface="Times New Roman" panose="02020503050405090304" pitchFamily="18" charset="0"/>
                  <a:ea typeface="宋体" pitchFamily="2" charset="-122"/>
                </a:rPr>
                <a:t>THEN   </a:t>
              </a:r>
              <a:r>
                <a:rPr lang="zh-CN" altLang="en-US" sz="2600" dirty="0">
                  <a:latin typeface="宋体" pitchFamily="2" charset="-122"/>
                  <a:ea typeface="宋体" pitchFamily="2" charset="-122"/>
                </a:rPr>
                <a:t>该动物是鸟</a:t>
              </a:r>
              <a:endParaRPr lang="zh-CN" altLang="en-US" sz="2600" dirty="0">
                <a:latin typeface="宋体" pitchFamily="2" charset="-122"/>
                <a:ea typeface="宋体" pitchFamily="2" charset="-122"/>
              </a:endParaRPr>
            </a:p>
          </p:txBody>
        </p:sp>
        <p:graphicFrame>
          <p:nvGraphicFramePr>
            <p:cNvPr id="47111" name="Object 9"/>
            <p:cNvGraphicFramePr>
              <a:graphicFrameLocks noChangeAspect="1"/>
            </p:cNvGraphicFramePr>
            <p:nvPr/>
          </p:nvGraphicFramePr>
          <p:xfrm>
            <a:off x="1478" y="1379"/>
            <a:ext cx="850" cy="316"/>
          </p:xfrm>
          <a:graphic>
            <a:graphicData uri="http://schemas.openxmlformats.org/presentationml/2006/ole">
              <mc:AlternateContent xmlns:mc="http://schemas.openxmlformats.org/markup-compatibility/2006">
                <mc:Choice xmlns:v="urn:schemas-microsoft-com:vml" Requires="v">
                  <p:oleObj spid="_x0000_s3107" name="" r:id="rId1" imgW="482600" imgH="203200" progId="Equation.3">
                    <p:embed/>
                  </p:oleObj>
                </mc:Choice>
                <mc:Fallback>
                  <p:oleObj name="" r:id="rId1" imgW="482600" imgH="203200" progId="Equation.3">
                    <p:embed/>
                    <p:pic>
                      <p:nvPicPr>
                        <p:cNvPr id="0" name="图片 3106"/>
                        <p:cNvPicPr/>
                        <p:nvPr/>
                      </p:nvPicPr>
                      <p:blipFill>
                        <a:blip r:embed="rId2"/>
                        <a:stretch>
                          <a:fillRect/>
                        </a:stretch>
                      </p:blipFill>
                      <p:spPr>
                        <a:xfrm>
                          <a:off x="1478" y="1379"/>
                          <a:ext cx="850" cy="316"/>
                        </a:xfrm>
                        <a:prstGeom prst="rect">
                          <a:avLst/>
                        </a:prstGeom>
                        <a:noFill/>
                        <a:ln w="38100">
                          <a:noFill/>
                          <a:miter/>
                        </a:ln>
                      </p:spPr>
                    </p:pic>
                  </p:oleObj>
                </mc:Fallback>
              </mc:AlternateContent>
            </a:graphicData>
          </a:graphic>
        </p:graphicFrame>
      </p:grpSp>
      <p:sp>
        <p:nvSpPr>
          <p:cNvPr id="47112" name="Rectangle 13"/>
          <p:cNvSpPr>
            <a:spLocks noGrp="1"/>
          </p:cNvSpPr>
          <p:nvPr>
            <p:ph idx="1"/>
          </p:nvPr>
        </p:nvSpPr>
        <p:spPr>
          <a:xfrm>
            <a:off x="250825" y="4579938"/>
            <a:ext cx="8642350" cy="1979612"/>
          </a:xfrm>
          <a:gradFill rotWithShape="0">
            <a:gsLst>
              <a:gs pos="0">
                <a:srgbClr val="CCFFCC"/>
              </a:gs>
              <a:gs pos="100000">
                <a:schemeClr val="bg1"/>
              </a:gs>
            </a:gsLst>
            <a:path path="rect">
              <a:fillToRect l="100000" t="100000"/>
            </a:path>
            <a:tileRect/>
          </a:gradFill>
          <a:ln>
            <a:solidFill>
              <a:srgbClr val="808080"/>
            </a:solidFill>
            <a:miter/>
          </a:ln>
        </p:spPr>
        <p:txBody>
          <a:bodyPr vert="horz" wrap="square" lIns="91440" tIns="45720" rIns="91440" bIns="45720" anchor="t" anchorCtr="0"/>
          <a:p>
            <a:pPr marL="193675" indent="-193675" eaLnBrk="1" hangingPunct="1">
              <a:buFont typeface="Wingdings" panose="05000000000000000000" pitchFamily="2" charset="2"/>
              <a:buChar char="§"/>
            </a:pPr>
            <a:r>
              <a:rPr lang="en-US" altLang="zh-CN" sz="2600" dirty="0"/>
              <a:t> </a:t>
            </a:r>
            <a:r>
              <a:rPr lang="zh-CN" altLang="en-US" sz="2600" dirty="0"/>
              <a:t>基本形式：  </a:t>
            </a:r>
            <a:r>
              <a:rPr lang="en-US" altLang="zh-CN" sz="2600" dirty="0">
                <a:latin typeface="Times New Roman" panose="02020503050405090304" pitchFamily="18" charset="0"/>
              </a:rPr>
              <a:t>IF    </a:t>
            </a:r>
            <a:r>
              <a:rPr lang="en-US" altLang="zh-CN" sz="2600" i="1" dirty="0">
                <a:latin typeface="Times New Roman" panose="02020503050405090304" pitchFamily="18" charset="0"/>
              </a:rPr>
              <a:t>P</a:t>
            </a:r>
            <a:r>
              <a:rPr lang="en-US" altLang="zh-CN" sz="2600" dirty="0">
                <a:latin typeface="Times New Roman" panose="02020503050405090304" pitchFamily="18" charset="0"/>
              </a:rPr>
              <a:t>    THEN    </a:t>
            </a:r>
            <a:r>
              <a:rPr lang="en-US" altLang="zh-CN" sz="2600" i="1" dirty="0">
                <a:latin typeface="Times New Roman" panose="02020503050405090304" pitchFamily="18" charset="0"/>
              </a:rPr>
              <a:t>Q</a:t>
            </a:r>
            <a:r>
              <a:rPr lang="en-US" altLang="zh-CN" sz="2600" dirty="0"/>
              <a:t> </a:t>
            </a:r>
            <a:r>
              <a:rPr lang="zh-CN" altLang="en-US" sz="2600" dirty="0"/>
              <a:t>（置信度） </a:t>
            </a:r>
            <a:endParaRPr lang="zh-CN" altLang="en-US" sz="2600" dirty="0"/>
          </a:p>
          <a:p>
            <a:pPr marL="193675" indent="-193675" eaLnBrk="1" hangingPunct="1">
              <a:buNone/>
            </a:pPr>
            <a:r>
              <a:rPr lang="zh-CN" altLang="en-US" sz="2600" dirty="0"/>
              <a:t>          或者：                     （置信度</a:t>
            </a:r>
            <a:r>
              <a:rPr lang="zh-CN" altLang="en-US" b="1" dirty="0"/>
              <a:t>）</a:t>
            </a:r>
            <a:endParaRPr lang="zh-CN" altLang="en-US" b="1" dirty="0"/>
          </a:p>
          <a:p>
            <a:pPr marL="193675" indent="-193675" eaLnBrk="1" hangingPunct="1">
              <a:buNone/>
            </a:pPr>
            <a:r>
              <a:rPr lang="zh-CN" altLang="en-US" b="1" dirty="0"/>
              <a:t>   </a:t>
            </a:r>
            <a:r>
              <a:rPr lang="zh-CN" altLang="en-US" b="1" dirty="0">
                <a:latin typeface="Times New Roman" panose="02020503050405090304" pitchFamily="18" charset="0"/>
              </a:rPr>
              <a:t>例如： </a:t>
            </a:r>
            <a:r>
              <a:rPr lang="en-US" altLang="zh-CN" b="1" dirty="0">
                <a:latin typeface="Times New Roman" panose="02020503050405090304" pitchFamily="18" charset="0"/>
              </a:rPr>
              <a:t>IF   </a:t>
            </a:r>
            <a:r>
              <a:rPr lang="zh-CN" altLang="en-US" b="1" dirty="0">
                <a:latin typeface="Times New Roman" panose="02020503050405090304" pitchFamily="18" charset="0"/>
              </a:rPr>
              <a:t>发烧    </a:t>
            </a:r>
            <a:r>
              <a:rPr lang="en-US" altLang="zh-CN" b="1" dirty="0">
                <a:latin typeface="Times New Roman" panose="02020503050405090304" pitchFamily="18" charset="0"/>
              </a:rPr>
              <a:t>THEN    </a:t>
            </a:r>
            <a:r>
              <a:rPr lang="zh-CN" altLang="en-US" b="1" dirty="0">
                <a:latin typeface="Times New Roman" panose="02020503050405090304" pitchFamily="18" charset="0"/>
              </a:rPr>
              <a:t>感冒   （</a:t>
            </a:r>
            <a:r>
              <a:rPr lang="en-US" altLang="zh-CN" b="1" dirty="0">
                <a:latin typeface="Times New Roman" panose="02020503050405090304" pitchFamily="18" charset="0"/>
              </a:rPr>
              <a:t>0.6</a:t>
            </a:r>
            <a:r>
              <a:rPr lang="zh-CN" altLang="en-US" b="1" dirty="0">
                <a:latin typeface="Times New Roman" panose="02020503050405090304" pitchFamily="18" charset="0"/>
              </a:rPr>
              <a:t>）</a:t>
            </a:r>
            <a:endParaRPr lang="zh-CN" altLang="en-US" b="1" dirty="0">
              <a:latin typeface="Times New Roman" panose="02020503050405090304" pitchFamily="18" charset="0"/>
            </a:endParaRPr>
          </a:p>
        </p:txBody>
      </p:sp>
      <p:graphicFrame>
        <p:nvGraphicFramePr>
          <p:cNvPr id="47113" name="Object 10"/>
          <p:cNvGraphicFramePr>
            <a:graphicFrameLocks noChangeAspect="1"/>
          </p:cNvGraphicFramePr>
          <p:nvPr/>
        </p:nvGraphicFramePr>
        <p:xfrm>
          <a:off x="2598738" y="5275263"/>
          <a:ext cx="1101725" cy="450850"/>
        </p:xfrm>
        <a:graphic>
          <a:graphicData uri="http://schemas.openxmlformats.org/presentationml/2006/ole">
            <mc:AlternateContent xmlns:mc="http://schemas.openxmlformats.org/markup-compatibility/2006">
              <mc:Choice xmlns:v="urn:schemas-microsoft-com:vml" Requires="v">
                <p:oleObj spid="_x0000_s3108" name="" r:id="rId3" imgW="482600" imgH="203200" progId="Equation.3">
                  <p:embed/>
                </p:oleObj>
              </mc:Choice>
              <mc:Fallback>
                <p:oleObj name="" r:id="rId3" imgW="482600" imgH="203200" progId="Equation.3">
                  <p:embed/>
                  <p:pic>
                    <p:nvPicPr>
                      <p:cNvPr id="0" name="图片 3107"/>
                      <p:cNvPicPr/>
                      <p:nvPr/>
                    </p:nvPicPr>
                    <p:blipFill>
                      <a:blip r:embed="rId4"/>
                      <a:stretch>
                        <a:fillRect/>
                      </a:stretch>
                    </p:blipFill>
                    <p:spPr>
                      <a:xfrm>
                        <a:off x="2598738" y="5275263"/>
                        <a:ext cx="1101725" cy="450850"/>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8130" name="Rectangle 2"/>
          <p:cNvSpPr>
            <a:spLocks noGrp="1"/>
          </p:cNvSpPr>
          <p:nvPr>
            <p:ph type="title"/>
          </p:nvPr>
        </p:nvSpPr>
        <p:spPr>
          <a:xfrm>
            <a:off x="0" y="0"/>
            <a:ext cx="9144000" cy="793750"/>
          </a:xfrm>
        </p:spPr>
        <p:txBody>
          <a:bodyPr vert="horz" wrap="square" lIns="91440" tIns="45720" rIns="91440" bIns="45720" anchor="b" anchorCtr="0"/>
          <a:p>
            <a:pPr eaLnBrk="1" hangingPunct="1"/>
            <a:r>
              <a:rPr lang="en-US" altLang="zh-CN" dirty="0">
                <a:latin typeface="Times New Roman" panose="02020503050405090304" pitchFamily="18" charset="0"/>
              </a:rPr>
              <a:t>2.3.1  </a:t>
            </a:r>
            <a:r>
              <a:rPr lang="zh-CN" altLang="en-US" dirty="0">
                <a:latin typeface="Times New Roman" panose="02020503050405090304" pitchFamily="18" charset="0"/>
              </a:rPr>
              <a:t>产生式</a:t>
            </a:r>
            <a:endParaRPr lang="zh-CN" altLang="en-US" dirty="0">
              <a:latin typeface="Times New Roman" panose="02020503050405090304" pitchFamily="18" charset="0"/>
            </a:endParaRPr>
          </a:p>
        </p:txBody>
      </p:sp>
      <p:sp>
        <p:nvSpPr>
          <p:cNvPr id="48131" name="Rectangle 3"/>
          <p:cNvSpPr/>
          <p:nvPr/>
        </p:nvSpPr>
        <p:spPr>
          <a:xfrm>
            <a:off x="323850" y="955675"/>
            <a:ext cx="6469063" cy="519113"/>
          </a:xfrm>
          <a:prstGeom prst="rect">
            <a:avLst/>
          </a:prstGeom>
          <a:noFill/>
          <a:ln w="9525">
            <a:noFill/>
          </a:ln>
        </p:spPr>
        <p:txBody>
          <a:bodyPr anchor="t" anchorCtr="0">
            <a:spAutoFit/>
          </a:bodyPr>
          <a:p>
            <a:pPr marL="342900" indent="-342900">
              <a:spcBef>
                <a:spcPct val="20000"/>
              </a:spcBef>
              <a:buClr>
                <a:schemeClr val="tx1"/>
              </a:buClr>
              <a:buFont typeface="Wingdings" panose="05000000000000000000" pitchFamily="2" charset="2"/>
              <a:buNone/>
            </a:pPr>
            <a:r>
              <a:rPr lang="en-US" altLang="zh-CN" sz="2800" b="1" dirty="0">
                <a:latin typeface="Times New Roman" panose="02020503050405090304" pitchFamily="18" charset="0"/>
                <a:ea typeface="宋体" pitchFamily="2" charset="-122"/>
              </a:rPr>
              <a:t>3.  </a:t>
            </a:r>
            <a:r>
              <a:rPr lang="zh-CN" altLang="en-US" sz="2800" b="1" dirty="0">
                <a:latin typeface="Times New Roman" panose="02020503050405090304" pitchFamily="18" charset="0"/>
                <a:ea typeface="宋体" pitchFamily="2" charset="-122"/>
              </a:rPr>
              <a:t>确定性事实性知识的产生式表示</a:t>
            </a:r>
            <a:endParaRPr lang="zh-CN" altLang="en-US" sz="2800" b="1" dirty="0">
              <a:latin typeface="Times New Roman" panose="02020503050405090304" pitchFamily="18" charset="0"/>
              <a:ea typeface="宋体" pitchFamily="2" charset="-122"/>
            </a:endParaRPr>
          </a:p>
        </p:txBody>
      </p:sp>
      <p:sp>
        <p:nvSpPr>
          <p:cNvPr id="48132" name="Rectangle 4"/>
          <p:cNvSpPr/>
          <p:nvPr/>
        </p:nvSpPr>
        <p:spPr>
          <a:xfrm>
            <a:off x="344488" y="3730625"/>
            <a:ext cx="6534150" cy="561975"/>
          </a:xfrm>
          <a:prstGeom prst="rect">
            <a:avLst/>
          </a:prstGeom>
          <a:noFill/>
          <a:ln w="9525">
            <a:noFill/>
          </a:ln>
        </p:spPr>
        <p:txBody>
          <a:bodyPr anchor="t" anchorCtr="0">
            <a:spAutoFit/>
          </a:bodyPr>
          <a:p>
            <a:pPr marL="342900" indent="-342900">
              <a:lnSpc>
                <a:spcPct val="110000"/>
              </a:lnSpc>
              <a:spcBef>
                <a:spcPct val="20000"/>
              </a:spcBef>
              <a:buClr>
                <a:schemeClr val="tx1"/>
              </a:buClr>
              <a:buFont typeface="Wingdings" panose="05000000000000000000" pitchFamily="2" charset="2"/>
              <a:buNone/>
            </a:pPr>
            <a:r>
              <a:rPr lang="en-US" altLang="zh-CN" sz="2800" b="1" dirty="0">
                <a:latin typeface="Times New Roman" panose="02020503050405090304" pitchFamily="18" charset="0"/>
                <a:ea typeface="宋体" pitchFamily="2" charset="-122"/>
              </a:rPr>
              <a:t>4.  </a:t>
            </a:r>
            <a:r>
              <a:rPr lang="zh-CN" altLang="en-US" sz="2800" b="1" dirty="0">
                <a:latin typeface="Times New Roman" panose="02020503050405090304" pitchFamily="18" charset="0"/>
                <a:ea typeface="宋体" pitchFamily="2" charset="-122"/>
              </a:rPr>
              <a:t>不确定性事实性知识的产生式表示</a:t>
            </a:r>
            <a:endParaRPr lang="zh-CN" altLang="en-US" sz="2800" b="1" dirty="0">
              <a:latin typeface="Times New Roman" panose="02020503050405090304" pitchFamily="18" charset="0"/>
              <a:ea typeface="宋体" pitchFamily="2" charset="-122"/>
            </a:endParaRPr>
          </a:p>
        </p:txBody>
      </p:sp>
      <p:sp>
        <p:nvSpPr>
          <p:cNvPr id="48133" name="Rectangle 6"/>
          <p:cNvSpPr/>
          <p:nvPr/>
        </p:nvSpPr>
        <p:spPr>
          <a:xfrm>
            <a:off x="309563" y="1557338"/>
            <a:ext cx="8377237" cy="2165350"/>
          </a:xfrm>
          <a:prstGeom prst="rect">
            <a:avLst/>
          </a:prstGeom>
          <a:gradFill rotWithShape="0">
            <a:gsLst>
              <a:gs pos="0">
                <a:srgbClr val="CCFFFF"/>
              </a:gs>
              <a:gs pos="100000">
                <a:srgbClr val="FFFFFF"/>
              </a:gs>
            </a:gsLst>
            <a:path path="rect">
              <a:fillToRect l="100000" b="100000"/>
            </a:path>
            <a:tileRect/>
          </a:gradFill>
          <a:ln w="9525" cap="flat" cmpd="sng">
            <a:solidFill>
              <a:srgbClr val="808080"/>
            </a:solidFill>
            <a:prstDash val="solid"/>
            <a:miter/>
            <a:headEnd type="none" w="med" len="med"/>
            <a:tailEnd type="none" w="med" len="med"/>
          </a:ln>
        </p:spPr>
        <p:txBody>
          <a:bodyPr anchor="t" anchorCtr="0">
            <a:spAutoFit/>
          </a:bodyPr>
          <a:p>
            <a:pPr>
              <a:lnSpc>
                <a:spcPct val="120000"/>
              </a:lnSpc>
              <a:spcBef>
                <a:spcPct val="20000"/>
              </a:spcBef>
              <a:buClr>
                <a:schemeClr val="accent2"/>
              </a:buClr>
              <a:buFont typeface="Wingdings" panose="05000000000000000000" pitchFamily="2" charset="2"/>
              <a:buChar char="§"/>
            </a:pPr>
            <a:r>
              <a:rPr lang="en-US" altLang="zh-CN" sz="2400" b="1" dirty="0">
                <a:latin typeface="Arial" panose="020B0604020202090204" pitchFamily="34" charset="0"/>
                <a:ea typeface="宋体" pitchFamily="2" charset="-122"/>
              </a:rPr>
              <a:t>  </a:t>
            </a:r>
            <a:r>
              <a:rPr lang="zh-CN" altLang="en-US" sz="2600" dirty="0">
                <a:latin typeface="Times New Roman" panose="02020503050405090304" pitchFamily="18" charset="0"/>
                <a:ea typeface="宋体" pitchFamily="2" charset="-122"/>
              </a:rPr>
              <a:t>三元组表示：</a:t>
            </a:r>
            <a:r>
              <a:rPr lang="zh-CN" altLang="en-US" sz="2600" b="1" dirty="0">
                <a:latin typeface="Times New Roman" panose="02020503050405090304" pitchFamily="18" charset="0"/>
                <a:ea typeface="宋体" pitchFamily="2" charset="-122"/>
              </a:rPr>
              <a:t>（对象，属性，值）</a:t>
            </a:r>
            <a:endParaRPr lang="zh-CN" altLang="en-US" sz="2600" b="1" dirty="0">
              <a:latin typeface="Times New Roman" panose="02020503050405090304" pitchFamily="18" charset="0"/>
              <a:ea typeface="宋体" pitchFamily="2" charset="-122"/>
            </a:endParaRPr>
          </a:p>
          <a:p>
            <a:pPr>
              <a:lnSpc>
                <a:spcPct val="120000"/>
              </a:lnSpc>
              <a:spcBef>
                <a:spcPct val="20000"/>
              </a:spcBef>
              <a:buClr>
                <a:schemeClr val="accent2"/>
              </a:buClr>
              <a:buFont typeface="Wingdings" panose="05000000000000000000" pitchFamily="2" charset="2"/>
              <a:buNone/>
            </a:pPr>
            <a:r>
              <a:rPr lang="zh-CN" altLang="en-US" sz="2600" b="1" dirty="0">
                <a:latin typeface="Times New Roman" panose="02020503050405090304" pitchFamily="18" charset="0"/>
                <a:ea typeface="宋体" pitchFamily="2" charset="-122"/>
              </a:rPr>
              <a:t>                </a:t>
            </a:r>
            <a:r>
              <a:rPr lang="zh-CN" altLang="en-US" sz="2600" dirty="0">
                <a:latin typeface="Times New Roman" panose="02020503050405090304" pitchFamily="18" charset="0"/>
                <a:ea typeface="宋体" pitchFamily="2" charset="-122"/>
              </a:rPr>
              <a:t>或者：</a:t>
            </a:r>
            <a:r>
              <a:rPr lang="zh-CN" altLang="en-US" sz="2600" b="1" dirty="0">
                <a:latin typeface="Times New Roman" panose="02020503050405090304" pitchFamily="18" charset="0"/>
                <a:ea typeface="宋体" pitchFamily="2" charset="-122"/>
              </a:rPr>
              <a:t>（关系，对象</a:t>
            </a:r>
            <a:r>
              <a:rPr lang="en-US" altLang="zh-CN" sz="2600" b="1" dirty="0">
                <a:latin typeface="Times New Roman" panose="02020503050405090304" pitchFamily="18" charset="0"/>
                <a:ea typeface="宋体" pitchFamily="2" charset="-122"/>
              </a:rPr>
              <a:t>1</a:t>
            </a:r>
            <a:r>
              <a:rPr lang="zh-CN" altLang="en-US" sz="2600" b="1" dirty="0">
                <a:latin typeface="Times New Roman" panose="02020503050405090304" pitchFamily="18" charset="0"/>
                <a:ea typeface="宋体" pitchFamily="2" charset="-122"/>
              </a:rPr>
              <a:t>，对象</a:t>
            </a:r>
            <a:r>
              <a:rPr lang="en-US" altLang="zh-CN" sz="2600" b="1" dirty="0">
                <a:latin typeface="Times New Roman" panose="02020503050405090304" pitchFamily="18" charset="0"/>
                <a:ea typeface="宋体" pitchFamily="2" charset="-122"/>
              </a:rPr>
              <a:t>2</a:t>
            </a:r>
            <a:r>
              <a:rPr lang="zh-CN" altLang="en-US" sz="2600" b="1" dirty="0">
                <a:latin typeface="Times New Roman" panose="02020503050405090304" pitchFamily="18" charset="0"/>
                <a:ea typeface="宋体" pitchFamily="2" charset="-122"/>
              </a:rPr>
              <a:t>） </a:t>
            </a:r>
            <a:endParaRPr lang="zh-CN" altLang="en-US" sz="2600" b="1" dirty="0">
              <a:latin typeface="Times New Roman" panose="02020503050405090304" pitchFamily="18" charset="0"/>
              <a:ea typeface="宋体" pitchFamily="2" charset="-122"/>
            </a:endParaRPr>
          </a:p>
          <a:p>
            <a:pPr algn="just">
              <a:lnSpc>
                <a:spcPct val="110000"/>
              </a:lnSpc>
              <a:spcBef>
                <a:spcPct val="20000"/>
              </a:spcBef>
              <a:buClr>
                <a:schemeClr val="accent2"/>
              </a:buClr>
              <a:buFont typeface="Wingdings" panose="05000000000000000000" pitchFamily="2" charset="2"/>
              <a:buChar char="§"/>
            </a:pPr>
            <a:r>
              <a:rPr lang="zh-CN" altLang="en-US" sz="2600" dirty="0">
                <a:latin typeface="Times New Roman" panose="02020503050405090304" pitchFamily="18" charset="0"/>
                <a:ea typeface="宋体" pitchFamily="2" charset="-122"/>
              </a:rPr>
              <a:t> 例：  老李年龄是</a:t>
            </a:r>
            <a:r>
              <a:rPr lang="en-US" altLang="zh-CN" sz="2600" dirty="0">
                <a:latin typeface="Times New Roman" panose="02020503050405090304" pitchFamily="18" charset="0"/>
                <a:ea typeface="宋体" pitchFamily="2" charset="-122"/>
              </a:rPr>
              <a:t>40</a:t>
            </a:r>
            <a:r>
              <a:rPr lang="zh-CN" altLang="en-US" sz="2600" dirty="0">
                <a:latin typeface="Times New Roman" panose="02020503050405090304" pitchFamily="18" charset="0"/>
                <a:ea typeface="宋体" pitchFamily="2" charset="-122"/>
              </a:rPr>
              <a:t>岁：    （</a:t>
            </a:r>
            <a:r>
              <a:rPr lang="en-US" altLang="zh-CN" sz="2600" i="1" dirty="0">
                <a:latin typeface="Times New Roman" panose="02020503050405090304" pitchFamily="18" charset="0"/>
                <a:ea typeface="宋体" pitchFamily="2" charset="-122"/>
              </a:rPr>
              <a:t>Li</a:t>
            </a:r>
            <a:r>
              <a:rPr lang="zh-CN" altLang="en-US" sz="2600" dirty="0">
                <a:latin typeface="Times New Roman" panose="02020503050405090304" pitchFamily="18" charset="0"/>
                <a:ea typeface="宋体" pitchFamily="2" charset="-122"/>
              </a:rPr>
              <a:t>，</a:t>
            </a:r>
            <a:r>
              <a:rPr lang="en-US" altLang="zh-CN" sz="2600" i="1" dirty="0">
                <a:latin typeface="Times New Roman" panose="02020503050405090304" pitchFamily="18" charset="0"/>
                <a:ea typeface="宋体" pitchFamily="2" charset="-122"/>
              </a:rPr>
              <a:t>age</a:t>
            </a:r>
            <a:r>
              <a:rPr lang="zh-CN" altLang="en-US" sz="2600" dirty="0">
                <a:latin typeface="Times New Roman" panose="02020503050405090304" pitchFamily="18" charset="0"/>
                <a:ea typeface="宋体" pitchFamily="2" charset="-122"/>
              </a:rPr>
              <a:t>，</a:t>
            </a:r>
            <a:r>
              <a:rPr lang="en-US" altLang="zh-CN" sz="2600" dirty="0">
                <a:latin typeface="Times New Roman" panose="02020503050405090304" pitchFamily="18" charset="0"/>
                <a:ea typeface="宋体" pitchFamily="2" charset="-122"/>
              </a:rPr>
              <a:t>40</a:t>
            </a:r>
            <a:r>
              <a:rPr lang="zh-CN" altLang="en-US" sz="2600" dirty="0">
                <a:latin typeface="Times New Roman" panose="02020503050405090304" pitchFamily="18" charset="0"/>
                <a:ea typeface="宋体" pitchFamily="2" charset="-122"/>
              </a:rPr>
              <a:t>）      </a:t>
            </a:r>
            <a:endParaRPr lang="zh-CN" altLang="en-US" sz="2600" dirty="0">
              <a:latin typeface="Times New Roman" panose="02020503050405090304" pitchFamily="18" charset="0"/>
              <a:ea typeface="宋体" pitchFamily="2" charset="-122"/>
            </a:endParaRPr>
          </a:p>
          <a:p>
            <a:pPr algn="just">
              <a:lnSpc>
                <a:spcPct val="110000"/>
              </a:lnSpc>
              <a:spcBef>
                <a:spcPct val="20000"/>
              </a:spcBef>
              <a:buClr>
                <a:schemeClr val="accent2"/>
              </a:buClr>
              <a:buFont typeface="Wingdings" panose="05000000000000000000" pitchFamily="2" charset="2"/>
              <a:buNone/>
            </a:pPr>
            <a:r>
              <a:rPr lang="zh-CN" altLang="en-US" sz="2600" dirty="0">
                <a:latin typeface="Times New Roman" panose="02020503050405090304" pitchFamily="18" charset="0"/>
                <a:ea typeface="宋体" pitchFamily="2" charset="-122"/>
              </a:rPr>
              <a:t>             老李和老王是朋友：（</a:t>
            </a:r>
            <a:r>
              <a:rPr lang="en-US" altLang="zh-CN" sz="2600" i="1" dirty="0">
                <a:latin typeface="Times New Roman" panose="02020503050405090304" pitchFamily="18" charset="0"/>
                <a:ea typeface="宋体" pitchFamily="2" charset="-122"/>
              </a:rPr>
              <a:t>friend</a:t>
            </a:r>
            <a:r>
              <a:rPr lang="zh-CN" altLang="en-US" sz="2600" dirty="0">
                <a:latin typeface="Times New Roman" panose="02020503050405090304" pitchFamily="18" charset="0"/>
                <a:ea typeface="宋体" pitchFamily="2" charset="-122"/>
              </a:rPr>
              <a:t>，</a:t>
            </a:r>
            <a:r>
              <a:rPr lang="en-US" altLang="zh-CN" sz="2600" i="1" dirty="0">
                <a:latin typeface="Times New Roman" panose="02020503050405090304" pitchFamily="18" charset="0"/>
                <a:ea typeface="宋体" pitchFamily="2" charset="-122"/>
              </a:rPr>
              <a:t>Li</a:t>
            </a:r>
            <a:r>
              <a:rPr lang="zh-CN" altLang="en-US" sz="2600" dirty="0">
                <a:latin typeface="Times New Roman" panose="02020503050405090304" pitchFamily="18" charset="0"/>
                <a:ea typeface="宋体" pitchFamily="2" charset="-122"/>
              </a:rPr>
              <a:t>，</a:t>
            </a:r>
            <a:r>
              <a:rPr lang="en-US" altLang="zh-CN" sz="2600" i="1" dirty="0">
                <a:latin typeface="Times New Roman" panose="02020503050405090304" pitchFamily="18" charset="0"/>
                <a:ea typeface="宋体" pitchFamily="2" charset="-122"/>
              </a:rPr>
              <a:t>Wang</a:t>
            </a:r>
            <a:r>
              <a:rPr lang="zh-CN" altLang="en-US" sz="2600" dirty="0">
                <a:latin typeface="Times New Roman" panose="02020503050405090304" pitchFamily="18" charset="0"/>
                <a:ea typeface="宋体" pitchFamily="2" charset="-122"/>
              </a:rPr>
              <a:t>）</a:t>
            </a:r>
            <a:endParaRPr lang="zh-CN" altLang="en-US" sz="2600" dirty="0">
              <a:latin typeface="Times New Roman" panose="02020503050405090304" pitchFamily="18" charset="0"/>
              <a:ea typeface="宋体" pitchFamily="2" charset="-122"/>
            </a:endParaRPr>
          </a:p>
        </p:txBody>
      </p:sp>
      <p:sp>
        <p:nvSpPr>
          <p:cNvPr id="48134" name="Rectangle 8"/>
          <p:cNvSpPr>
            <a:spLocks noGrp="1"/>
          </p:cNvSpPr>
          <p:nvPr>
            <p:ph idx="1"/>
          </p:nvPr>
        </p:nvSpPr>
        <p:spPr>
          <a:xfrm>
            <a:off x="279400" y="4365625"/>
            <a:ext cx="8836025" cy="2193925"/>
          </a:xfrm>
          <a:gradFill rotWithShape="0">
            <a:gsLst>
              <a:gs pos="0">
                <a:srgbClr val="CCFFCC"/>
              </a:gs>
              <a:gs pos="100000">
                <a:schemeClr val="bg1"/>
              </a:gs>
            </a:gsLst>
            <a:path path="rect">
              <a:fillToRect l="100000" t="100000"/>
            </a:path>
            <a:tileRect/>
          </a:gradFill>
          <a:ln>
            <a:solidFill>
              <a:srgbClr val="808080"/>
            </a:solidFill>
            <a:miter/>
          </a:ln>
        </p:spPr>
        <p:txBody>
          <a:bodyPr vert="horz" wrap="square" lIns="91440" tIns="45720" rIns="91440" bIns="45720" anchor="t" anchorCtr="0"/>
          <a:p>
            <a:pPr marL="0" indent="0" eaLnBrk="1" hangingPunct="1">
              <a:lnSpc>
                <a:spcPct val="110000"/>
              </a:lnSpc>
              <a:buFont typeface="Wingdings" panose="05000000000000000000" pitchFamily="2" charset="2"/>
              <a:buChar char="§"/>
            </a:pPr>
            <a:r>
              <a:rPr lang="en-US" altLang="zh-CN" sz="2600" dirty="0">
                <a:latin typeface="宋体" pitchFamily="2" charset="-122"/>
              </a:rPr>
              <a:t> </a:t>
            </a:r>
            <a:r>
              <a:rPr lang="zh-CN" altLang="en-US" sz="2600" dirty="0">
                <a:latin typeface="Times New Roman" panose="02020503050405090304" pitchFamily="18" charset="0"/>
              </a:rPr>
              <a:t>四元组表示：</a:t>
            </a:r>
            <a:r>
              <a:rPr lang="zh-CN" altLang="en-US" sz="2600" b="1" dirty="0">
                <a:latin typeface="Times New Roman" panose="02020503050405090304" pitchFamily="18" charset="0"/>
              </a:rPr>
              <a:t>（对象，属性，值，置信度）</a:t>
            </a:r>
            <a:r>
              <a:rPr lang="zh-CN" altLang="en-US" sz="2600" dirty="0">
                <a:latin typeface="Times New Roman" panose="02020503050405090304" pitchFamily="18" charset="0"/>
              </a:rPr>
              <a:t> </a:t>
            </a:r>
            <a:endParaRPr lang="zh-CN" altLang="en-US" sz="2600" dirty="0">
              <a:latin typeface="Times New Roman" panose="02020503050405090304" pitchFamily="18" charset="0"/>
            </a:endParaRPr>
          </a:p>
          <a:p>
            <a:pPr marL="0" indent="0" eaLnBrk="1" hangingPunct="1">
              <a:lnSpc>
                <a:spcPct val="110000"/>
              </a:lnSpc>
              <a:buNone/>
            </a:pPr>
            <a:r>
              <a:rPr lang="zh-CN" altLang="en-US" sz="2600" dirty="0">
                <a:latin typeface="Times New Roman" panose="02020503050405090304" pitchFamily="18" charset="0"/>
              </a:rPr>
              <a:t>               或者： </a:t>
            </a:r>
            <a:r>
              <a:rPr lang="zh-CN" altLang="en-US" sz="2600" b="1" dirty="0">
                <a:latin typeface="Times New Roman" panose="02020503050405090304" pitchFamily="18" charset="0"/>
              </a:rPr>
              <a:t>（关系，对象</a:t>
            </a:r>
            <a:r>
              <a:rPr lang="en-US" altLang="zh-CN" sz="2600" b="1" dirty="0">
                <a:latin typeface="Times New Roman" panose="02020503050405090304" pitchFamily="18" charset="0"/>
              </a:rPr>
              <a:t>1</a:t>
            </a:r>
            <a:r>
              <a:rPr lang="zh-CN" altLang="en-US" sz="2600" b="1" dirty="0">
                <a:latin typeface="Times New Roman" panose="02020503050405090304" pitchFamily="18" charset="0"/>
              </a:rPr>
              <a:t>，对象</a:t>
            </a:r>
            <a:r>
              <a:rPr lang="en-US" altLang="zh-CN" sz="2600" b="1" dirty="0">
                <a:latin typeface="Times New Roman" panose="02020503050405090304" pitchFamily="18" charset="0"/>
              </a:rPr>
              <a:t>2</a:t>
            </a:r>
            <a:r>
              <a:rPr lang="zh-CN" altLang="en-US" sz="2600" b="1" dirty="0">
                <a:latin typeface="Times New Roman" panose="02020503050405090304" pitchFamily="18" charset="0"/>
              </a:rPr>
              <a:t>，置信度）</a:t>
            </a:r>
            <a:endParaRPr lang="zh-CN" altLang="en-US" sz="2600" b="1" dirty="0">
              <a:latin typeface="Times New Roman" panose="02020503050405090304" pitchFamily="18" charset="0"/>
            </a:endParaRPr>
          </a:p>
          <a:p>
            <a:pPr marL="0" indent="0" algn="just" eaLnBrk="1" hangingPunct="1">
              <a:lnSpc>
                <a:spcPct val="110000"/>
              </a:lnSpc>
              <a:buFont typeface="Wingdings" panose="05000000000000000000" pitchFamily="2" charset="2"/>
              <a:buChar char="§"/>
            </a:pPr>
            <a:r>
              <a:rPr lang="zh-CN" altLang="en-US" sz="2600" dirty="0">
                <a:latin typeface="Times New Roman" panose="02020503050405090304" pitchFamily="18" charset="0"/>
              </a:rPr>
              <a:t>例：老李年龄很可能是</a:t>
            </a:r>
            <a:r>
              <a:rPr lang="en-US" altLang="zh-CN" sz="2600" dirty="0">
                <a:latin typeface="Times New Roman" panose="02020503050405090304" pitchFamily="18" charset="0"/>
              </a:rPr>
              <a:t>40</a:t>
            </a:r>
            <a:r>
              <a:rPr lang="zh-CN" altLang="en-US" sz="2600" dirty="0">
                <a:latin typeface="Times New Roman" panose="02020503050405090304" pitchFamily="18" charset="0"/>
              </a:rPr>
              <a:t>岁：</a:t>
            </a:r>
            <a:r>
              <a:rPr lang="zh-CN" altLang="en-US" sz="2600" dirty="0">
                <a:latin typeface="Times New Roman" panose="02020503050405090304" pitchFamily="18" charset="0"/>
                <a:sym typeface="Wingdings" panose="05000000000000000000" pitchFamily="2" charset="2"/>
              </a:rPr>
              <a:t>（</a:t>
            </a:r>
            <a:r>
              <a:rPr lang="en-US" altLang="zh-CN" sz="2600" i="1" dirty="0">
                <a:latin typeface="Times New Roman" panose="02020503050405090304" pitchFamily="18" charset="0"/>
              </a:rPr>
              <a:t>Li</a:t>
            </a:r>
            <a:r>
              <a:rPr lang="zh-CN" altLang="en-US" sz="2600" dirty="0">
                <a:latin typeface="Times New Roman" panose="02020503050405090304" pitchFamily="18" charset="0"/>
              </a:rPr>
              <a:t>，</a:t>
            </a:r>
            <a:r>
              <a:rPr lang="en-US" altLang="zh-CN" sz="2600" i="1" dirty="0">
                <a:latin typeface="Times New Roman" panose="02020503050405090304" pitchFamily="18" charset="0"/>
              </a:rPr>
              <a:t>age</a:t>
            </a:r>
            <a:r>
              <a:rPr lang="zh-CN" altLang="en-US" sz="2600" dirty="0">
                <a:latin typeface="Times New Roman" panose="02020503050405090304" pitchFamily="18" charset="0"/>
              </a:rPr>
              <a:t>，</a:t>
            </a:r>
            <a:r>
              <a:rPr lang="en-US" altLang="zh-CN" sz="2600" dirty="0">
                <a:latin typeface="Times New Roman" panose="02020503050405090304" pitchFamily="18" charset="0"/>
              </a:rPr>
              <a:t>40</a:t>
            </a:r>
            <a:r>
              <a:rPr lang="zh-CN" altLang="en-US" sz="2600" dirty="0">
                <a:latin typeface="Times New Roman" panose="02020503050405090304" pitchFamily="18" charset="0"/>
              </a:rPr>
              <a:t>，</a:t>
            </a:r>
            <a:r>
              <a:rPr lang="en-US" altLang="zh-CN" sz="2600" dirty="0">
                <a:latin typeface="Times New Roman" panose="02020503050405090304" pitchFamily="18" charset="0"/>
              </a:rPr>
              <a:t>0.8</a:t>
            </a:r>
            <a:r>
              <a:rPr lang="zh-CN" altLang="en-US" sz="2600" dirty="0">
                <a:latin typeface="Times New Roman" panose="02020503050405090304" pitchFamily="18" charset="0"/>
              </a:rPr>
              <a:t>）</a:t>
            </a:r>
            <a:endParaRPr lang="zh-CN" altLang="en-US" sz="2600" dirty="0">
              <a:latin typeface="Times New Roman" panose="02020503050405090304" pitchFamily="18" charset="0"/>
            </a:endParaRPr>
          </a:p>
          <a:p>
            <a:pPr marL="0" indent="0" algn="just" eaLnBrk="1" hangingPunct="1">
              <a:lnSpc>
                <a:spcPct val="110000"/>
              </a:lnSpc>
              <a:buNone/>
            </a:pPr>
            <a:r>
              <a:rPr lang="zh-CN" altLang="en-US" sz="2600" dirty="0">
                <a:latin typeface="Times New Roman" panose="02020503050405090304" pitchFamily="18" charset="0"/>
              </a:rPr>
              <a:t>  老李和老王不大可能是朋友：（</a:t>
            </a:r>
            <a:r>
              <a:rPr lang="en-US" altLang="zh-CN" sz="2600" i="1" dirty="0">
                <a:latin typeface="Times New Roman" panose="02020503050405090304" pitchFamily="18" charset="0"/>
              </a:rPr>
              <a:t>friend</a:t>
            </a:r>
            <a:r>
              <a:rPr lang="zh-CN" altLang="en-US" sz="2600" dirty="0">
                <a:latin typeface="Times New Roman" panose="02020503050405090304" pitchFamily="18" charset="0"/>
              </a:rPr>
              <a:t>，</a:t>
            </a:r>
            <a:r>
              <a:rPr lang="en-US" altLang="zh-CN" sz="2600" i="1" dirty="0">
                <a:latin typeface="Times New Roman" panose="02020503050405090304" pitchFamily="18" charset="0"/>
              </a:rPr>
              <a:t>Li</a:t>
            </a:r>
            <a:r>
              <a:rPr lang="zh-CN" altLang="en-US" sz="2600" dirty="0">
                <a:latin typeface="Times New Roman" panose="02020503050405090304" pitchFamily="18" charset="0"/>
              </a:rPr>
              <a:t>，</a:t>
            </a:r>
            <a:r>
              <a:rPr lang="en-US" altLang="zh-CN" sz="2600" i="1" dirty="0">
                <a:latin typeface="Times New Roman" panose="02020503050405090304" pitchFamily="18" charset="0"/>
              </a:rPr>
              <a:t>Wang</a:t>
            </a:r>
            <a:r>
              <a:rPr lang="zh-CN" altLang="en-US" sz="2600" dirty="0">
                <a:latin typeface="Times New Roman" panose="02020503050405090304" pitchFamily="18" charset="0"/>
              </a:rPr>
              <a:t>，</a:t>
            </a:r>
            <a:r>
              <a:rPr lang="en-US" altLang="zh-CN" sz="2600" dirty="0">
                <a:latin typeface="Times New Roman" panose="02020503050405090304" pitchFamily="18" charset="0"/>
              </a:rPr>
              <a:t>0.1</a:t>
            </a:r>
            <a:r>
              <a:rPr lang="zh-CN" altLang="en-US" sz="2600" dirty="0">
                <a:latin typeface="Times New Roman" panose="02020503050405090304" pitchFamily="18" charset="0"/>
              </a:rPr>
              <a:t>）</a:t>
            </a:r>
            <a:endParaRPr lang="zh-CN" altLang="en-US" sz="2600" b="1" dirty="0">
              <a:latin typeface="Times New Roman" panose="02020503050405090304" pitchFamily="18" charset="0"/>
            </a:endParaRPr>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9154"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2.3.1  </a:t>
            </a:r>
            <a:r>
              <a:rPr lang="zh-CN" altLang="en-US" dirty="0">
                <a:latin typeface="Times New Roman" panose="02020503050405090304" pitchFamily="18" charset="0"/>
              </a:rPr>
              <a:t>产生式</a:t>
            </a:r>
            <a:endParaRPr lang="zh-CN" altLang="en-US" dirty="0">
              <a:latin typeface="Times New Roman" panose="02020503050405090304" pitchFamily="18" charset="0"/>
            </a:endParaRPr>
          </a:p>
        </p:txBody>
      </p:sp>
      <p:sp>
        <p:nvSpPr>
          <p:cNvPr id="49155" name="Rectangle 3"/>
          <p:cNvSpPr>
            <a:spLocks noGrp="1"/>
          </p:cNvSpPr>
          <p:nvPr>
            <p:ph idx="1"/>
          </p:nvPr>
        </p:nvSpPr>
        <p:spPr>
          <a:xfrm>
            <a:off x="222250" y="881063"/>
            <a:ext cx="8659813" cy="5545137"/>
          </a:xfrm>
        </p:spPr>
        <p:txBody>
          <a:bodyPr vert="horz" wrap="square" lIns="91440" tIns="45720" rIns="91440" bIns="45720" anchor="t" anchorCtr="0"/>
          <a:p>
            <a:pPr marL="495300" indent="-495300" algn="just" eaLnBrk="1" hangingPunct="1"/>
            <a:r>
              <a:rPr lang="zh-CN" altLang="en-US" b="1" dirty="0"/>
              <a:t>产生式与谓词逻辑中的蕴含式的区别：</a:t>
            </a:r>
            <a:endParaRPr lang="zh-CN" altLang="en-US" b="1" dirty="0"/>
          </a:p>
          <a:p>
            <a:pPr marL="495300" indent="-495300" algn="just" eaLnBrk="1" hangingPunct="1">
              <a:spcBef>
                <a:spcPct val="50000"/>
              </a:spcBef>
              <a:buNone/>
            </a:pPr>
            <a:r>
              <a:rPr lang="zh-CN" altLang="en-US" b="1" dirty="0">
                <a:latin typeface="宋体" pitchFamily="2" charset="-122"/>
              </a:rPr>
              <a:t>（</a:t>
            </a:r>
            <a:r>
              <a:rPr lang="en-US" altLang="zh-CN" b="1" dirty="0">
                <a:latin typeface="Times New Roman" panose="02020503050405090304" pitchFamily="18" charset="0"/>
              </a:rPr>
              <a:t>1</a:t>
            </a:r>
            <a:r>
              <a:rPr lang="zh-CN" altLang="en-US" b="1" dirty="0">
                <a:latin typeface="宋体" pitchFamily="2" charset="-122"/>
              </a:rPr>
              <a:t>）除逻辑蕴含外，产生式还包括各种操作、规则、变换、算子、函数等。例如，</a:t>
            </a:r>
            <a:r>
              <a:rPr lang="zh-CN" altLang="en-US" b="1" dirty="0">
                <a:latin typeface="Times New Roman" panose="02020503050405090304" pitchFamily="18" charset="0"/>
              </a:rPr>
              <a:t>“</a:t>
            </a:r>
            <a:r>
              <a:rPr lang="zh-CN" altLang="en-US" b="1" dirty="0">
                <a:latin typeface="宋体" pitchFamily="2" charset="-122"/>
              </a:rPr>
              <a:t>如果炉温超过上限，则立即关闭风门</a:t>
            </a:r>
            <a:r>
              <a:rPr lang="zh-CN" altLang="en-US" b="1" dirty="0">
                <a:latin typeface="Times New Roman" panose="02020503050405090304" pitchFamily="18" charset="0"/>
              </a:rPr>
              <a:t>”</a:t>
            </a:r>
            <a:r>
              <a:rPr lang="zh-CN" altLang="en-US" b="1" dirty="0">
                <a:latin typeface="宋体" pitchFamily="2" charset="-122"/>
              </a:rPr>
              <a:t>是一个产生式，但不是蕴含式。</a:t>
            </a:r>
            <a:endParaRPr lang="zh-CN" altLang="en-US" b="1" dirty="0">
              <a:latin typeface="宋体" pitchFamily="2" charset="-122"/>
            </a:endParaRPr>
          </a:p>
          <a:p>
            <a:pPr marL="495300" indent="-495300" algn="just" eaLnBrk="1" hangingPunct="1">
              <a:spcBef>
                <a:spcPct val="50000"/>
              </a:spcBef>
              <a:buNone/>
            </a:pPr>
            <a:r>
              <a:rPr lang="zh-CN" altLang="en-US" b="1" dirty="0">
                <a:latin typeface="宋体" pitchFamily="2" charset="-122"/>
              </a:rPr>
              <a:t>（</a:t>
            </a:r>
            <a:r>
              <a:rPr lang="en-US" altLang="zh-CN" b="1" dirty="0">
                <a:latin typeface="Times New Roman" panose="02020503050405090304" pitchFamily="18" charset="0"/>
              </a:rPr>
              <a:t>2</a:t>
            </a:r>
            <a:r>
              <a:rPr lang="zh-CN" altLang="en-US" b="1" dirty="0">
                <a:latin typeface="宋体" pitchFamily="2" charset="-122"/>
              </a:rPr>
              <a:t>）蕴含式只能表示精确知识，而产生式不仅可以表示精确的知识，还可以表示不精确知识。蕴含式的匹配总要求是精确的。产生式匹配可以是精确的，也可以是不精确的，只要按某种算法求出的相似度落在预先指定的范围内就认为是可匹配的。</a:t>
            </a:r>
            <a:endParaRPr lang="zh-CN" altLang="en-US" b="1" dirty="0">
              <a:latin typeface="宋体" pitchFamily="2" charset="-122"/>
            </a:endParaRPr>
          </a:p>
        </p:txBody>
      </p:sp>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0178"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2.3.1  </a:t>
            </a:r>
            <a:r>
              <a:rPr lang="zh-CN" altLang="en-US" dirty="0">
                <a:latin typeface="Times New Roman" panose="02020503050405090304" pitchFamily="18" charset="0"/>
              </a:rPr>
              <a:t>产生式</a:t>
            </a:r>
            <a:endParaRPr lang="zh-CN" altLang="en-US" dirty="0">
              <a:latin typeface="Times New Roman" panose="02020503050405090304" pitchFamily="18" charset="0"/>
            </a:endParaRPr>
          </a:p>
        </p:txBody>
      </p:sp>
      <p:sp>
        <p:nvSpPr>
          <p:cNvPr id="50179" name="Rectangle 3"/>
          <p:cNvSpPr>
            <a:spLocks noGrp="1"/>
          </p:cNvSpPr>
          <p:nvPr>
            <p:ph idx="1"/>
          </p:nvPr>
        </p:nvSpPr>
        <p:spPr/>
        <p:txBody>
          <a:bodyPr vert="horz" wrap="square" lIns="91440" tIns="45720" rIns="91440" bIns="45720" anchor="t" anchorCtr="0"/>
          <a:p>
            <a:pPr algn="just" eaLnBrk="1" hangingPunct="1"/>
            <a:r>
              <a:rPr lang="zh-CN" altLang="en-US" b="1" dirty="0">
                <a:latin typeface="宋体" pitchFamily="2" charset="-122"/>
              </a:rPr>
              <a:t>产生式的形式描述及语义</a:t>
            </a:r>
            <a:r>
              <a:rPr lang="en-US" altLang="zh-CN" dirty="0">
                <a:latin typeface="Times New Roman" panose="02020503050405090304" pitchFamily="18" charset="0"/>
              </a:rPr>
              <a:t>——</a:t>
            </a:r>
            <a:r>
              <a:rPr lang="zh-CN" altLang="en-US" b="1" dirty="0">
                <a:latin typeface="宋体" pitchFamily="2" charset="-122"/>
              </a:rPr>
              <a:t>巴科斯范式</a:t>
            </a:r>
            <a:r>
              <a:rPr lang="en-US" altLang="zh-CN" dirty="0">
                <a:latin typeface="Times New Roman" panose="02020503050405090304" pitchFamily="18" charset="0"/>
              </a:rPr>
              <a:t>BNF</a:t>
            </a:r>
            <a:r>
              <a:rPr lang="zh-CN" altLang="en-US" dirty="0">
                <a:latin typeface="Times New Roman" panose="02020503050405090304" pitchFamily="18" charset="0"/>
              </a:rPr>
              <a:t>（</a:t>
            </a:r>
            <a:r>
              <a:rPr lang="en-US" altLang="zh-CN" dirty="0">
                <a:latin typeface="Times New Roman" panose="02020503050405090304" pitchFamily="18" charset="0"/>
              </a:rPr>
              <a:t>backus normal form</a:t>
            </a:r>
            <a:r>
              <a:rPr lang="zh-CN" altLang="en-US" dirty="0">
                <a:latin typeface="Times New Roman" panose="02020503050405090304" pitchFamily="18" charset="0"/>
              </a:rPr>
              <a:t>）</a:t>
            </a:r>
            <a:endParaRPr lang="zh-CN" altLang="en-US" dirty="0"/>
          </a:p>
        </p:txBody>
      </p:sp>
      <p:sp>
        <p:nvSpPr>
          <p:cNvPr id="50180" name="Text Box 4"/>
          <p:cNvSpPr txBox="1"/>
          <p:nvPr/>
        </p:nvSpPr>
        <p:spPr>
          <a:xfrm>
            <a:off x="71438" y="2170113"/>
            <a:ext cx="8969375" cy="2768600"/>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a:spcBef>
                <a:spcPct val="20000"/>
              </a:spcBef>
              <a:buClrTx/>
              <a:buFontTx/>
              <a:buNone/>
            </a:pPr>
            <a:r>
              <a:rPr lang="en-US" altLang="zh-CN" sz="2500" b="1" dirty="0">
                <a:latin typeface="宋体" pitchFamily="2" charset="-122"/>
                <a:ea typeface="宋体" pitchFamily="2" charset="-122"/>
              </a:rPr>
              <a:t>&lt;</a:t>
            </a:r>
            <a:r>
              <a:rPr lang="zh-CN" altLang="en-US" sz="2500" b="1" dirty="0">
                <a:latin typeface="宋体" pitchFamily="2" charset="-122"/>
                <a:ea typeface="宋体" pitchFamily="2" charset="-122"/>
              </a:rPr>
              <a:t>产生式</a:t>
            </a:r>
            <a:r>
              <a:rPr lang="en-US" altLang="zh-CN" sz="2500" b="1" dirty="0">
                <a:latin typeface="Times New Roman" panose="02020503050405090304" pitchFamily="18" charset="0"/>
                <a:ea typeface="宋体" pitchFamily="2" charset="-122"/>
              </a:rPr>
              <a:t>&gt;::=&lt;</a:t>
            </a:r>
            <a:r>
              <a:rPr lang="zh-CN" altLang="en-US" sz="2500" b="1" dirty="0">
                <a:latin typeface="Times New Roman" panose="02020503050405090304" pitchFamily="18" charset="0"/>
                <a:ea typeface="宋体" pitchFamily="2" charset="-122"/>
              </a:rPr>
              <a:t>前提</a:t>
            </a:r>
            <a:r>
              <a:rPr lang="en-US" altLang="zh-CN" sz="2500" b="1" dirty="0">
                <a:latin typeface="Times New Roman" panose="02020503050405090304" pitchFamily="18" charset="0"/>
                <a:ea typeface="宋体" pitchFamily="2" charset="-122"/>
              </a:rPr>
              <a:t>&gt;    &lt;</a:t>
            </a:r>
            <a:r>
              <a:rPr lang="zh-CN" altLang="en-US" sz="2500" b="1" dirty="0">
                <a:latin typeface="Times New Roman" panose="02020503050405090304" pitchFamily="18" charset="0"/>
                <a:ea typeface="宋体" pitchFamily="2" charset="-122"/>
              </a:rPr>
              <a:t>结论</a:t>
            </a:r>
            <a:r>
              <a:rPr lang="en-US" altLang="zh-CN" sz="2500" b="1" dirty="0">
                <a:latin typeface="Times New Roman" panose="02020503050405090304" pitchFamily="18" charset="0"/>
                <a:ea typeface="宋体" pitchFamily="2" charset="-122"/>
              </a:rPr>
              <a:t>&gt;</a:t>
            </a:r>
            <a:endParaRPr lang="en-US" altLang="zh-CN" sz="2500" b="1" dirty="0">
              <a:latin typeface="Times New Roman" panose="02020503050405090304" pitchFamily="18" charset="0"/>
              <a:ea typeface="宋体" pitchFamily="2" charset="-122"/>
            </a:endParaRPr>
          </a:p>
          <a:p>
            <a:pPr algn="just">
              <a:spcBef>
                <a:spcPct val="20000"/>
              </a:spcBef>
              <a:buClrTx/>
              <a:buFontTx/>
              <a:buNone/>
            </a:pPr>
            <a:r>
              <a:rPr lang="en-US" altLang="zh-CN" sz="2500" b="1" dirty="0">
                <a:latin typeface="Times New Roman" panose="02020503050405090304" pitchFamily="18" charset="0"/>
                <a:ea typeface="宋体" pitchFamily="2" charset="-122"/>
              </a:rPr>
              <a:t>&lt;</a:t>
            </a:r>
            <a:r>
              <a:rPr lang="zh-CN" altLang="en-US" sz="2500" b="1" dirty="0">
                <a:latin typeface="Times New Roman" panose="02020503050405090304" pitchFamily="18" charset="0"/>
                <a:ea typeface="宋体" pitchFamily="2" charset="-122"/>
              </a:rPr>
              <a:t>前 提</a:t>
            </a:r>
            <a:r>
              <a:rPr lang="en-US" altLang="zh-CN" sz="2500" b="1" dirty="0">
                <a:latin typeface="Times New Roman" panose="02020503050405090304" pitchFamily="18" charset="0"/>
                <a:ea typeface="宋体" pitchFamily="2" charset="-122"/>
              </a:rPr>
              <a:t>&gt;::=&lt;</a:t>
            </a:r>
            <a:r>
              <a:rPr lang="zh-CN" altLang="en-US" sz="2500" b="1" dirty="0">
                <a:latin typeface="Times New Roman" panose="02020503050405090304" pitchFamily="18" charset="0"/>
                <a:ea typeface="宋体" pitchFamily="2" charset="-122"/>
              </a:rPr>
              <a:t>简单条件</a:t>
            </a:r>
            <a:r>
              <a:rPr lang="en-US" altLang="zh-CN" sz="2500" b="1" dirty="0">
                <a:latin typeface="Times New Roman" panose="02020503050405090304" pitchFamily="18" charset="0"/>
                <a:ea typeface="宋体" pitchFamily="2" charset="-122"/>
              </a:rPr>
              <a:t>&gt;|&lt;</a:t>
            </a:r>
            <a:r>
              <a:rPr lang="zh-CN" altLang="en-US" sz="2500" b="1" dirty="0">
                <a:latin typeface="Times New Roman" panose="02020503050405090304" pitchFamily="18" charset="0"/>
                <a:ea typeface="宋体" pitchFamily="2" charset="-122"/>
              </a:rPr>
              <a:t>复合条件</a:t>
            </a:r>
            <a:r>
              <a:rPr lang="en-US" altLang="zh-CN" sz="2500" b="1" dirty="0">
                <a:latin typeface="Times New Roman" panose="02020503050405090304" pitchFamily="18" charset="0"/>
                <a:ea typeface="宋体" pitchFamily="2" charset="-122"/>
              </a:rPr>
              <a:t>&gt;</a:t>
            </a:r>
            <a:endParaRPr lang="en-US" altLang="zh-CN" sz="2500" b="1" dirty="0">
              <a:latin typeface="Times New Roman" panose="02020503050405090304" pitchFamily="18" charset="0"/>
              <a:ea typeface="宋体" pitchFamily="2" charset="-122"/>
            </a:endParaRPr>
          </a:p>
          <a:p>
            <a:pPr algn="just">
              <a:spcBef>
                <a:spcPct val="20000"/>
              </a:spcBef>
              <a:buClrTx/>
              <a:buFontTx/>
              <a:buNone/>
            </a:pPr>
            <a:r>
              <a:rPr lang="en-US" altLang="zh-CN" sz="2500" b="1" dirty="0">
                <a:latin typeface="Times New Roman" panose="02020503050405090304" pitchFamily="18" charset="0"/>
                <a:ea typeface="宋体" pitchFamily="2" charset="-122"/>
              </a:rPr>
              <a:t>&lt;</a:t>
            </a:r>
            <a:r>
              <a:rPr lang="zh-CN" altLang="en-US" sz="2500" b="1" dirty="0">
                <a:latin typeface="Times New Roman" panose="02020503050405090304" pitchFamily="18" charset="0"/>
                <a:ea typeface="宋体" pitchFamily="2" charset="-122"/>
              </a:rPr>
              <a:t>结 论</a:t>
            </a:r>
            <a:r>
              <a:rPr lang="en-US" altLang="zh-CN" sz="2500" b="1" dirty="0">
                <a:latin typeface="Times New Roman" panose="02020503050405090304" pitchFamily="18" charset="0"/>
                <a:ea typeface="宋体" pitchFamily="2" charset="-122"/>
              </a:rPr>
              <a:t>&gt;::=&lt;</a:t>
            </a:r>
            <a:r>
              <a:rPr lang="zh-CN" altLang="en-US" sz="2500" b="1" dirty="0">
                <a:latin typeface="Times New Roman" panose="02020503050405090304" pitchFamily="18" charset="0"/>
                <a:ea typeface="宋体" pitchFamily="2" charset="-122"/>
              </a:rPr>
              <a:t>事实</a:t>
            </a:r>
            <a:r>
              <a:rPr lang="en-US" altLang="zh-CN" sz="2500" b="1" dirty="0">
                <a:latin typeface="Times New Roman" panose="02020503050405090304" pitchFamily="18" charset="0"/>
                <a:ea typeface="宋体" pitchFamily="2" charset="-122"/>
              </a:rPr>
              <a:t>&gt;|&lt;</a:t>
            </a:r>
            <a:r>
              <a:rPr lang="zh-CN" altLang="en-US" sz="2500" b="1" dirty="0">
                <a:latin typeface="Times New Roman" panose="02020503050405090304" pitchFamily="18" charset="0"/>
                <a:ea typeface="宋体" pitchFamily="2" charset="-122"/>
              </a:rPr>
              <a:t>操作</a:t>
            </a:r>
            <a:r>
              <a:rPr lang="en-US" altLang="zh-CN" sz="2500" b="1" dirty="0">
                <a:latin typeface="Times New Roman" panose="02020503050405090304" pitchFamily="18" charset="0"/>
                <a:ea typeface="宋体" pitchFamily="2" charset="-122"/>
              </a:rPr>
              <a:t>&gt;</a:t>
            </a:r>
            <a:endParaRPr lang="en-US" altLang="zh-CN" sz="2500" b="1" dirty="0">
              <a:latin typeface="Times New Roman" panose="02020503050405090304" pitchFamily="18" charset="0"/>
              <a:ea typeface="宋体" pitchFamily="2" charset="-122"/>
            </a:endParaRPr>
          </a:p>
          <a:p>
            <a:pPr algn="just">
              <a:spcBef>
                <a:spcPct val="20000"/>
              </a:spcBef>
              <a:buClrTx/>
              <a:buFontTx/>
              <a:buNone/>
            </a:pPr>
            <a:r>
              <a:rPr lang="en-US" altLang="zh-CN" sz="2500" b="1" dirty="0">
                <a:latin typeface="Times New Roman" panose="02020503050405090304" pitchFamily="18" charset="0"/>
                <a:ea typeface="宋体" pitchFamily="2" charset="-122"/>
              </a:rPr>
              <a:t>&lt;</a:t>
            </a:r>
            <a:r>
              <a:rPr lang="zh-CN" altLang="en-US" sz="2500" b="1" dirty="0">
                <a:latin typeface="Times New Roman" panose="02020503050405090304" pitchFamily="18" charset="0"/>
                <a:ea typeface="宋体" pitchFamily="2" charset="-122"/>
              </a:rPr>
              <a:t>复合条件</a:t>
            </a:r>
            <a:r>
              <a:rPr lang="en-US" altLang="zh-CN" sz="2500" b="1" dirty="0">
                <a:latin typeface="Times New Roman" panose="02020503050405090304" pitchFamily="18" charset="0"/>
                <a:ea typeface="宋体" pitchFamily="2" charset="-122"/>
              </a:rPr>
              <a:t>&gt;::=&lt;</a:t>
            </a:r>
            <a:r>
              <a:rPr lang="zh-CN" altLang="en-US" sz="2500" b="1" dirty="0">
                <a:latin typeface="Times New Roman" panose="02020503050405090304" pitchFamily="18" charset="0"/>
                <a:ea typeface="宋体" pitchFamily="2" charset="-122"/>
              </a:rPr>
              <a:t>简单条件</a:t>
            </a:r>
            <a:r>
              <a:rPr lang="en-US" altLang="zh-CN" sz="2500" b="1" dirty="0">
                <a:latin typeface="Times New Roman" panose="02020503050405090304" pitchFamily="18" charset="0"/>
                <a:ea typeface="宋体" pitchFamily="2" charset="-122"/>
              </a:rPr>
              <a:t>&gt;AND&lt;</a:t>
            </a:r>
            <a:r>
              <a:rPr lang="zh-CN" altLang="en-US" sz="2500" b="1" dirty="0">
                <a:latin typeface="Times New Roman" panose="02020503050405090304" pitchFamily="18" charset="0"/>
                <a:ea typeface="宋体" pitchFamily="2" charset="-122"/>
              </a:rPr>
              <a:t>简单条件</a:t>
            </a:r>
            <a:r>
              <a:rPr lang="en-US" altLang="zh-CN" sz="2500" b="1" dirty="0">
                <a:latin typeface="Times New Roman" panose="02020503050405090304" pitchFamily="18" charset="0"/>
                <a:ea typeface="宋体" pitchFamily="2" charset="-122"/>
              </a:rPr>
              <a:t>&gt;[AND&lt;</a:t>
            </a:r>
            <a:r>
              <a:rPr lang="zh-CN" altLang="en-US" sz="2500" b="1" dirty="0">
                <a:latin typeface="Times New Roman" panose="02020503050405090304" pitchFamily="18" charset="0"/>
                <a:ea typeface="宋体" pitchFamily="2" charset="-122"/>
              </a:rPr>
              <a:t>简单条件</a:t>
            </a:r>
            <a:r>
              <a:rPr lang="en-US" altLang="zh-CN" sz="2500" b="1" dirty="0">
                <a:latin typeface="Times New Roman" panose="02020503050405090304" pitchFamily="18" charset="0"/>
                <a:ea typeface="宋体" pitchFamily="2" charset="-122"/>
              </a:rPr>
              <a:t>&gt;</a:t>
            </a:r>
            <a:r>
              <a:rPr lang="en-US" altLang="zh-CN" sz="3200" b="1" baseline="22000" dirty="0">
                <a:latin typeface="Times New Roman" panose="02020503050405090304" pitchFamily="18" charset="0"/>
                <a:ea typeface="宋体" pitchFamily="2" charset="-122"/>
              </a:rPr>
              <a:t>…</a:t>
            </a:r>
            <a:endParaRPr lang="en-US" altLang="zh-CN" sz="3200" b="1" baseline="22000" dirty="0">
              <a:latin typeface="Times New Roman" panose="02020503050405090304" pitchFamily="18" charset="0"/>
              <a:ea typeface="宋体" pitchFamily="2" charset="-122"/>
            </a:endParaRPr>
          </a:p>
          <a:p>
            <a:pPr algn="just">
              <a:spcBef>
                <a:spcPct val="20000"/>
              </a:spcBef>
              <a:buClrTx/>
              <a:buFontTx/>
              <a:buNone/>
            </a:pPr>
            <a:r>
              <a:rPr lang="en-US" altLang="zh-CN" sz="2500" b="1" dirty="0">
                <a:latin typeface="Times New Roman" panose="02020503050405090304" pitchFamily="18" charset="0"/>
                <a:ea typeface="宋体" pitchFamily="2" charset="-122"/>
              </a:rPr>
              <a:t>                          |&lt;</a:t>
            </a:r>
            <a:r>
              <a:rPr lang="zh-CN" altLang="en-US" sz="2500" b="1" dirty="0">
                <a:latin typeface="Times New Roman" panose="02020503050405090304" pitchFamily="18" charset="0"/>
                <a:ea typeface="宋体" pitchFamily="2" charset="-122"/>
              </a:rPr>
              <a:t>简单条件</a:t>
            </a:r>
            <a:r>
              <a:rPr lang="en-US" altLang="zh-CN" sz="2500" b="1" dirty="0">
                <a:latin typeface="Times New Roman" panose="02020503050405090304" pitchFamily="18" charset="0"/>
                <a:ea typeface="宋体" pitchFamily="2" charset="-122"/>
              </a:rPr>
              <a:t>&gt;OR&lt;</a:t>
            </a:r>
            <a:r>
              <a:rPr lang="zh-CN" altLang="en-US" sz="2500" b="1" dirty="0">
                <a:latin typeface="Times New Roman" panose="02020503050405090304" pitchFamily="18" charset="0"/>
                <a:ea typeface="宋体" pitchFamily="2" charset="-122"/>
              </a:rPr>
              <a:t>简单条件</a:t>
            </a:r>
            <a:r>
              <a:rPr lang="en-US" altLang="zh-CN" sz="2500" b="1" dirty="0">
                <a:latin typeface="Times New Roman" panose="02020503050405090304" pitchFamily="18" charset="0"/>
                <a:ea typeface="宋体" pitchFamily="2" charset="-122"/>
              </a:rPr>
              <a:t>&gt;[OR&lt;</a:t>
            </a:r>
            <a:r>
              <a:rPr lang="zh-CN" altLang="en-US" sz="2500" b="1" dirty="0">
                <a:latin typeface="Times New Roman" panose="02020503050405090304" pitchFamily="18" charset="0"/>
                <a:ea typeface="宋体" pitchFamily="2" charset="-122"/>
              </a:rPr>
              <a:t>简单条件</a:t>
            </a:r>
            <a:r>
              <a:rPr lang="en-US" altLang="zh-CN" sz="2500" b="1" dirty="0">
                <a:latin typeface="Times New Roman" panose="02020503050405090304" pitchFamily="18" charset="0"/>
                <a:ea typeface="宋体" pitchFamily="2" charset="-122"/>
              </a:rPr>
              <a:t>&gt;</a:t>
            </a:r>
            <a:r>
              <a:rPr lang="en-US" altLang="zh-CN" sz="3200" b="1" baseline="22000" dirty="0">
                <a:latin typeface="Times New Roman" panose="02020503050405090304" pitchFamily="18" charset="0"/>
                <a:ea typeface="宋体" pitchFamily="2" charset="-122"/>
              </a:rPr>
              <a:t>…</a:t>
            </a:r>
            <a:endParaRPr lang="en-US" altLang="zh-CN" sz="3200" b="1" baseline="22000" dirty="0">
              <a:latin typeface="Times New Roman" panose="02020503050405090304" pitchFamily="18" charset="0"/>
              <a:ea typeface="宋体" pitchFamily="2" charset="-122"/>
            </a:endParaRPr>
          </a:p>
          <a:p>
            <a:pPr algn="just">
              <a:spcBef>
                <a:spcPct val="20000"/>
              </a:spcBef>
              <a:buClrTx/>
              <a:buFontTx/>
              <a:buNone/>
            </a:pPr>
            <a:r>
              <a:rPr lang="en-US" altLang="zh-CN" sz="2500" b="1" dirty="0">
                <a:latin typeface="Times New Roman" panose="02020503050405090304" pitchFamily="18" charset="0"/>
                <a:ea typeface="宋体" pitchFamily="2" charset="-122"/>
              </a:rPr>
              <a:t>&lt;</a:t>
            </a:r>
            <a:r>
              <a:rPr lang="zh-CN" altLang="en-US" sz="2500" b="1" dirty="0">
                <a:latin typeface="Times New Roman" panose="02020503050405090304" pitchFamily="18" charset="0"/>
                <a:ea typeface="宋体" pitchFamily="2" charset="-122"/>
              </a:rPr>
              <a:t>操  作</a:t>
            </a:r>
            <a:r>
              <a:rPr lang="en-US" altLang="zh-CN" sz="2500" b="1" dirty="0">
                <a:latin typeface="Times New Roman" panose="02020503050405090304" pitchFamily="18" charset="0"/>
                <a:ea typeface="宋体" pitchFamily="2" charset="-122"/>
              </a:rPr>
              <a:t>&gt;::=&lt;</a:t>
            </a:r>
            <a:r>
              <a:rPr lang="zh-CN" altLang="en-US" sz="2500" b="1" dirty="0">
                <a:latin typeface="Times New Roman" panose="02020503050405090304" pitchFamily="18" charset="0"/>
                <a:ea typeface="宋体" pitchFamily="2" charset="-122"/>
              </a:rPr>
              <a:t>操作名</a:t>
            </a:r>
            <a:r>
              <a:rPr lang="en-US" altLang="zh-CN" sz="2500" b="1" dirty="0">
                <a:latin typeface="Times New Roman" panose="02020503050405090304" pitchFamily="18" charset="0"/>
                <a:ea typeface="宋体" pitchFamily="2" charset="-122"/>
              </a:rPr>
              <a:t>&gt;[(&lt;</a:t>
            </a:r>
            <a:r>
              <a:rPr lang="zh-CN" altLang="en-US" sz="2500" b="1" dirty="0">
                <a:latin typeface="Times New Roman" panose="02020503050405090304" pitchFamily="18" charset="0"/>
                <a:ea typeface="宋体" pitchFamily="2" charset="-122"/>
              </a:rPr>
              <a:t>变元</a:t>
            </a:r>
            <a:r>
              <a:rPr lang="en-US" altLang="zh-CN" sz="2500" b="1" dirty="0">
                <a:latin typeface="Times New Roman" panose="02020503050405090304" pitchFamily="18" charset="0"/>
                <a:ea typeface="宋体" pitchFamily="2" charset="-122"/>
              </a:rPr>
              <a:t>&gt;</a:t>
            </a:r>
            <a:r>
              <a:rPr lang="zh-CN" altLang="en-US" sz="2500" b="1" dirty="0">
                <a:latin typeface="Times New Roman" panose="02020503050405090304" pitchFamily="18" charset="0"/>
                <a:ea typeface="宋体" pitchFamily="2" charset="-122"/>
              </a:rPr>
              <a:t>，</a:t>
            </a:r>
            <a:r>
              <a:rPr lang="en-US" altLang="zh-CN" sz="3200" b="1" baseline="22000" dirty="0">
                <a:latin typeface="Times New Roman" panose="02020503050405090304" pitchFamily="18" charset="0"/>
                <a:ea typeface="宋体" pitchFamily="2" charset="-122"/>
              </a:rPr>
              <a:t>…</a:t>
            </a:r>
            <a:r>
              <a:rPr lang="en-US" altLang="zh-CN" sz="2500" b="1" dirty="0">
                <a:latin typeface="Times New Roman" panose="02020503050405090304" pitchFamily="18" charset="0"/>
                <a:ea typeface="宋体" pitchFamily="2" charset="-122"/>
              </a:rPr>
              <a:t>)]</a:t>
            </a:r>
            <a:endParaRPr lang="en-US" altLang="zh-CN" sz="2500" b="1" dirty="0">
              <a:latin typeface="Times New Roman" panose="02020503050405090304" pitchFamily="18" charset="0"/>
              <a:ea typeface="宋体" pitchFamily="2" charset="-122"/>
            </a:endParaRPr>
          </a:p>
        </p:txBody>
      </p:sp>
      <p:sp>
        <p:nvSpPr>
          <p:cNvPr id="50181" name="Text Box 5"/>
          <p:cNvSpPr txBox="1"/>
          <p:nvPr/>
        </p:nvSpPr>
        <p:spPr>
          <a:xfrm>
            <a:off x="373063" y="5210175"/>
            <a:ext cx="8180387" cy="1117600"/>
          </a:xfrm>
          <a:prstGeom prst="rect">
            <a:avLst/>
          </a:prstGeom>
          <a:noFill/>
          <a:ln w="9525">
            <a:noFill/>
          </a:ln>
        </p:spPr>
        <p:txBody>
          <a:bodyPr anchor="t" anchorCtr="0">
            <a:spAutoFit/>
          </a:bodyPr>
          <a:p>
            <a:pPr>
              <a:lnSpc>
                <a:spcPct val="120000"/>
              </a:lnSpc>
              <a:buClrTx/>
              <a:buFontTx/>
              <a:buNone/>
            </a:pPr>
            <a:r>
              <a:rPr lang="zh-CN" altLang="en-US" sz="2800" b="1" dirty="0">
                <a:solidFill>
                  <a:srgbClr val="0000FF"/>
                </a:solidFill>
                <a:latin typeface="宋体" pitchFamily="2" charset="-122"/>
                <a:ea typeface="宋体" pitchFamily="2" charset="-122"/>
              </a:rPr>
              <a:t>符号</a:t>
            </a:r>
            <a:r>
              <a:rPr lang="zh-CN" altLang="en-US" sz="2800" b="1" dirty="0">
                <a:solidFill>
                  <a:srgbClr val="0000FF"/>
                </a:solidFill>
                <a:latin typeface="Times New Roman" panose="02020503050405090304" pitchFamily="18" charset="0"/>
                <a:ea typeface="宋体" pitchFamily="2" charset="-122"/>
              </a:rPr>
              <a:t>“</a:t>
            </a:r>
            <a:r>
              <a:rPr lang="en-US" altLang="zh-CN" sz="2800" b="1" dirty="0">
                <a:solidFill>
                  <a:srgbClr val="0000FF"/>
                </a:solidFill>
                <a:latin typeface="宋体" pitchFamily="2" charset="-122"/>
                <a:ea typeface="宋体" pitchFamily="2" charset="-122"/>
              </a:rPr>
              <a:t>::</a:t>
            </a:r>
            <a:r>
              <a:rPr lang="en-US" altLang="zh-CN" sz="2800" b="1" dirty="0">
                <a:solidFill>
                  <a:srgbClr val="0000FF"/>
                </a:solidFill>
                <a:latin typeface="Times New Roman" panose="02020503050405090304" pitchFamily="18" charset="0"/>
                <a:ea typeface="宋体" pitchFamily="2" charset="-122"/>
              </a:rPr>
              <a:t>=”</a:t>
            </a:r>
            <a:r>
              <a:rPr lang="zh-CN" altLang="en-US" sz="2800" b="1" dirty="0">
                <a:solidFill>
                  <a:srgbClr val="0000FF"/>
                </a:solidFill>
                <a:latin typeface="宋体" pitchFamily="2" charset="-122"/>
                <a:ea typeface="宋体" pitchFamily="2" charset="-122"/>
              </a:rPr>
              <a:t>表示</a:t>
            </a:r>
            <a:r>
              <a:rPr lang="zh-CN" altLang="en-US" sz="2800" b="1" dirty="0">
                <a:solidFill>
                  <a:srgbClr val="0000FF"/>
                </a:solidFill>
                <a:latin typeface="Times New Roman" panose="02020503050405090304" pitchFamily="18" charset="0"/>
                <a:ea typeface="宋体" pitchFamily="2" charset="-122"/>
              </a:rPr>
              <a:t>“</a:t>
            </a:r>
            <a:r>
              <a:rPr lang="zh-CN" altLang="en-US" sz="2800" b="1" dirty="0">
                <a:solidFill>
                  <a:srgbClr val="0000FF"/>
                </a:solidFill>
                <a:latin typeface="宋体" pitchFamily="2" charset="-122"/>
                <a:ea typeface="宋体" pitchFamily="2" charset="-122"/>
              </a:rPr>
              <a:t>定义为</a:t>
            </a:r>
            <a:r>
              <a:rPr lang="zh-CN" altLang="en-US" sz="2800" b="1" dirty="0">
                <a:solidFill>
                  <a:srgbClr val="0000FF"/>
                </a:solidFill>
                <a:latin typeface="Times New Roman" panose="02020503050405090304" pitchFamily="18" charset="0"/>
                <a:ea typeface="宋体" pitchFamily="2" charset="-122"/>
              </a:rPr>
              <a:t>”</a:t>
            </a:r>
            <a:r>
              <a:rPr lang="zh-CN" altLang="en-US" sz="2800" b="1" dirty="0">
                <a:solidFill>
                  <a:srgbClr val="0000FF"/>
                </a:solidFill>
                <a:latin typeface="宋体" pitchFamily="2" charset="-122"/>
                <a:ea typeface="宋体" pitchFamily="2" charset="-122"/>
              </a:rPr>
              <a:t>；符号</a:t>
            </a:r>
            <a:r>
              <a:rPr lang="zh-CN" altLang="en-US" sz="2800" b="1" dirty="0">
                <a:solidFill>
                  <a:srgbClr val="0000FF"/>
                </a:solidFill>
                <a:latin typeface="Times New Roman" panose="02020503050405090304" pitchFamily="18" charset="0"/>
                <a:ea typeface="宋体" pitchFamily="2" charset="-122"/>
              </a:rPr>
              <a:t>“</a:t>
            </a:r>
            <a:r>
              <a:rPr lang="en-US" altLang="zh-CN" sz="2800" b="1" dirty="0">
                <a:solidFill>
                  <a:srgbClr val="0000FF"/>
                </a:solidFill>
                <a:latin typeface="宋体" pitchFamily="2" charset="-122"/>
                <a:ea typeface="宋体" pitchFamily="2" charset="-122"/>
              </a:rPr>
              <a:t>|</a:t>
            </a:r>
            <a:r>
              <a:rPr lang="en-US" altLang="zh-CN" sz="2800" b="1" dirty="0">
                <a:solidFill>
                  <a:srgbClr val="0000FF"/>
                </a:solidFill>
                <a:latin typeface="Times New Roman" panose="02020503050405090304" pitchFamily="18" charset="0"/>
                <a:ea typeface="宋体" pitchFamily="2" charset="-122"/>
              </a:rPr>
              <a:t>”</a:t>
            </a:r>
            <a:r>
              <a:rPr lang="zh-CN" altLang="en-US" sz="2800" b="1" dirty="0">
                <a:solidFill>
                  <a:srgbClr val="0000FF"/>
                </a:solidFill>
                <a:latin typeface="宋体" pitchFamily="2" charset="-122"/>
                <a:ea typeface="宋体" pitchFamily="2" charset="-122"/>
              </a:rPr>
              <a:t>表示</a:t>
            </a:r>
            <a:r>
              <a:rPr lang="zh-CN" altLang="en-US" sz="2800" b="1" dirty="0">
                <a:solidFill>
                  <a:srgbClr val="0000FF"/>
                </a:solidFill>
                <a:latin typeface="Times New Roman" panose="02020503050405090304" pitchFamily="18" charset="0"/>
                <a:ea typeface="宋体" pitchFamily="2" charset="-122"/>
              </a:rPr>
              <a:t>“</a:t>
            </a:r>
            <a:r>
              <a:rPr lang="zh-CN" altLang="en-US" sz="2800" b="1" dirty="0">
                <a:solidFill>
                  <a:srgbClr val="0000FF"/>
                </a:solidFill>
                <a:latin typeface="宋体" pitchFamily="2" charset="-122"/>
                <a:ea typeface="宋体" pitchFamily="2" charset="-122"/>
              </a:rPr>
              <a:t>或者是</a:t>
            </a:r>
            <a:r>
              <a:rPr lang="zh-CN" altLang="en-US" sz="2800" b="1" dirty="0">
                <a:solidFill>
                  <a:srgbClr val="0000FF"/>
                </a:solidFill>
                <a:latin typeface="Times New Roman" panose="02020503050405090304" pitchFamily="18" charset="0"/>
                <a:ea typeface="宋体" pitchFamily="2" charset="-122"/>
              </a:rPr>
              <a:t>”</a:t>
            </a:r>
            <a:r>
              <a:rPr lang="zh-CN" altLang="en-US" sz="2800" b="1" dirty="0">
                <a:solidFill>
                  <a:srgbClr val="0000FF"/>
                </a:solidFill>
                <a:latin typeface="宋体" pitchFamily="2" charset="-122"/>
                <a:ea typeface="宋体" pitchFamily="2" charset="-122"/>
              </a:rPr>
              <a:t>；符号</a:t>
            </a:r>
            <a:r>
              <a:rPr lang="zh-CN" altLang="en-US" sz="2800" b="1" dirty="0">
                <a:solidFill>
                  <a:srgbClr val="0000FF"/>
                </a:solidFill>
                <a:latin typeface="Times New Roman" panose="02020503050405090304" pitchFamily="18" charset="0"/>
                <a:ea typeface="宋体" pitchFamily="2" charset="-122"/>
              </a:rPr>
              <a:t>“</a:t>
            </a:r>
            <a:r>
              <a:rPr lang="en-US" altLang="zh-CN" sz="2800" b="1" dirty="0">
                <a:solidFill>
                  <a:srgbClr val="0000FF"/>
                </a:solidFill>
                <a:latin typeface="宋体" pitchFamily="2" charset="-122"/>
                <a:ea typeface="宋体" pitchFamily="2" charset="-122"/>
              </a:rPr>
              <a:t>[ ]</a:t>
            </a:r>
            <a:r>
              <a:rPr lang="en-US" altLang="zh-CN" sz="2800" b="1" dirty="0">
                <a:solidFill>
                  <a:srgbClr val="0000FF"/>
                </a:solidFill>
                <a:latin typeface="Times New Roman" panose="02020503050405090304" pitchFamily="18" charset="0"/>
                <a:ea typeface="宋体" pitchFamily="2" charset="-122"/>
              </a:rPr>
              <a:t>”</a:t>
            </a:r>
            <a:r>
              <a:rPr lang="zh-CN" altLang="en-US" sz="2800" b="1" dirty="0">
                <a:solidFill>
                  <a:srgbClr val="0000FF"/>
                </a:solidFill>
                <a:latin typeface="宋体" pitchFamily="2" charset="-122"/>
                <a:ea typeface="宋体" pitchFamily="2" charset="-122"/>
              </a:rPr>
              <a:t>表示</a:t>
            </a:r>
            <a:r>
              <a:rPr lang="zh-CN" altLang="en-US" sz="2800" b="1" dirty="0">
                <a:solidFill>
                  <a:srgbClr val="0000FF"/>
                </a:solidFill>
                <a:latin typeface="Times New Roman" panose="02020503050405090304" pitchFamily="18" charset="0"/>
                <a:ea typeface="宋体" pitchFamily="2" charset="-122"/>
              </a:rPr>
              <a:t>“</a:t>
            </a:r>
            <a:r>
              <a:rPr lang="zh-CN" altLang="en-US" sz="2800" b="1" dirty="0">
                <a:solidFill>
                  <a:srgbClr val="0000FF"/>
                </a:solidFill>
                <a:latin typeface="宋体" pitchFamily="2" charset="-122"/>
                <a:ea typeface="宋体" pitchFamily="2" charset="-122"/>
              </a:rPr>
              <a:t>可缺省</a:t>
            </a:r>
            <a:r>
              <a:rPr lang="zh-CN" altLang="en-US" sz="2800" b="1" dirty="0">
                <a:solidFill>
                  <a:srgbClr val="0000FF"/>
                </a:solidFill>
                <a:latin typeface="Times New Roman" panose="02020503050405090304" pitchFamily="18" charset="0"/>
                <a:ea typeface="宋体" pitchFamily="2" charset="-122"/>
              </a:rPr>
              <a:t>”</a:t>
            </a:r>
            <a:r>
              <a:rPr lang="zh-CN" altLang="en-US" sz="2800" b="1" dirty="0">
                <a:solidFill>
                  <a:srgbClr val="0000FF"/>
                </a:solidFill>
                <a:latin typeface="宋体" pitchFamily="2" charset="-122"/>
                <a:ea typeface="宋体" pitchFamily="2" charset="-122"/>
              </a:rPr>
              <a:t>。</a:t>
            </a:r>
            <a:r>
              <a:rPr lang="zh-CN" altLang="en-US" sz="2800" dirty="0">
                <a:solidFill>
                  <a:srgbClr val="0000FF"/>
                </a:solidFill>
                <a:latin typeface="Arial" panose="020B0604020202090204" pitchFamily="34" charset="0"/>
                <a:ea typeface="宋体" pitchFamily="2" charset="-122"/>
              </a:rPr>
              <a:t> </a:t>
            </a:r>
            <a:endParaRPr lang="zh-CN" altLang="en-US" sz="2800" dirty="0">
              <a:solidFill>
                <a:srgbClr val="0000FF"/>
              </a:solidFill>
              <a:latin typeface="Arial" panose="020B0604020202090204" pitchFamily="34" charset="0"/>
              <a:ea typeface="宋体" pitchFamily="2" charset="-122"/>
            </a:endParaRPr>
          </a:p>
        </p:txBody>
      </p:sp>
      <p:graphicFrame>
        <p:nvGraphicFramePr>
          <p:cNvPr id="50182" name="Object 6"/>
          <p:cNvGraphicFramePr>
            <a:graphicFrameLocks noChangeAspect="1"/>
          </p:cNvGraphicFramePr>
          <p:nvPr/>
        </p:nvGraphicFramePr>
        <p:xfrm>
          <a:off x="3352800" y="2239963"/>
          <a:ext cx="434975" cy="311150"/>
        </p:xfrm>
        <a:graphic>
          <a:graphicData uri="http://schemas.openxmlformats.org/presentationml/2006/ole">
            <mc:AlternateContent xmlns:mc="http://schemas.openxmlformats.org/markup-compatibility/2006">
              <mc:Choice xmlns:v="urn:schemas-microsoft-com:vml" Requires="v">
                <p:oleObj spid="_x0000_s3109" name="" r:id="rId1" imgW="190500" imgH="139700" progId="Equation.3">
                  <p:embed/>
                </p:oleObj>
              </mc:Choice>
              <mc:Fallback>
                <p:oleObj name="" r:id="rId1" imgW="190500" imgH="139700" progId="Equation.3">
                  <p:embed/>
                  <p:pic>
                    <p:nvPicPr>
                      <p:cNvPr id="0" name="图片 3108"/>
                      <p:cNvPicPr/>
                      <p:nvPr/>
                    </p:nvPicPr>
                    <p:blipFill>
                      <a:blip r:embed="rId2"/>
                      <a:stretch>
                        <a:fillRect/>
                      </a:stretch>
                    </p:blipFill>
                    <p:spPr>
                      <a:xfrm>
                        <a:off x="3352800" y="2239963"/>
                        <a:ext cx="434975" cy="311150"/>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2.3.2  </a:t>
            </a:r>
            <a:r>
              <a:rPr lang="zh-CN" altLang="en-US" dirty="0">
                <a:latin typeface="Times New Roman" panose="02020503050405090304" pitchFamily="18" charset="0"/>
              </a:rPr>
              <a:t>产生式系统</a:t>
            </a:r>
            <a:endParaRPr lang="zh-CN" altLang="en-US" dirty="0">
              <a:latin typeface="Times New Roman" panose="02020503050405090304" pitchFamily="18" charset="0"/>
            </a:endParaRPr>
          </a:p>
        </p:txBody>
      </p:sp>
      <p:sp>
        <p:nvSpPr>
          <p:cNvPr id="51202" name="灯片编号占位符 3"/>
          <p:cNvSpPr>
            <a:spLocks noGrp="1"/>
          </p:cNvSpPr>
          <p:nvPr>
            <p:ph type="sldNum" sz="quarter" idx="10"/>
          </p:nvPr>
        </p:nvSpPr>
        <p:spPr>
          <a:xfrm>
            <a:off x="6726238" y="6381750"/>
            <a:ext cx="2133600" cy="476250"/>
          </a:xfrm>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2400" dirty="0">
                <a:solidFill>
                  <a:srgbClr val="A50021"/>
                </a:solidFill>
                <a:ea typeface="MS PGothic" panose="020B0600070205080204" pitchFamily="34" charset="-128"/>
              </a:rPr>
            </a:fld>
            <a:endParaRPr lang="ja-JP" altLang="en-US" sz="2400" dirty="0">
              <a:solidFill>
                <a:srgbClr val="A50021"/>
              </a:solidFill>
              <a:ea typeface="MS PGothic" panose="020B0600070205080204" pitchFamily="34" charset="-128"/>
            </a:endParaRPr>
          </a:p>
        </p:txBody>
      </p:sp>
      <p:sp>
        <p:nvSpPr>
          <p:cNvPr id="51203" name="Rectangle 8"/>
          <p:cNvSpPr/>
          <p:nvPr/>
        </p:nvSpPr>
        <p:spPr>
          <a:xfrm>
            <a:off x="3302000" y="1346200"/>
            <a:ext cx="1211263" cy="569913"/>
          </a:xfrm>
          <a:prstGeom prst="rect">
            <a:avLst/>
          </a:prstGeom>
          <a:noFill/>
          <a:ln w="22225" cap="flat" cmpd="sng">
            <a:solidFill>
              <a:srgbClr val="000000"/>
            </a:solidFill>
            <a:prstDash val="solid"/>
            <a:miter/>
            <a:headEnd type="none" w="med" len="med"/>
            <a:tailEnd type="none" w="med" len="med"/>
          </a:ln>
        </p:spPr>
        <p:txBody>
          <a:bodyPr anchor="t" anchorCtr="0"/>
          <a:p>
            <a:pPr>
              <a:buClrTx/>
              <a:buFontTx/>
              <a:buNone/>
            </a:pPr>
            <a:endParaRPr lang="zh-CN" altLang="en-US" sz="2400" dirty="0">
              <a:latin typeface="Arial" panose="020B0604020202090204" pitchFamily="34" charset="0"/>
              <a:ea typeface="宋体" pitchFamily="2" charset="-122"/>
            </a:endParaRPr>
          </a:p>
        </p:txBody>
      </p:sp>
      <p:sp>
        <p:nvSpPr>
          <p:cNvPr id="51204" name="Rectangle 9"/>
          <p:cNvSpPr/>
          <p:nvPr/>
        </p:nvSpPr>
        <p:spPr>
          <a:xfrm>
            <a:off x="3384550" y="869950"/>
            <a:ext cx="1474788" cy="684213"/>
          </a:xfrm>
          <a:prstGeom prst="rect">
            <a:avLst/>
          </a:prstGeom>
          <a:noFill/>
          <a:ln w="9525">
            <a:noFill/>
          </a:ln>
        </p:spPr>
        <p:txBody>
          <a:bodyPr anchor="t" anchorCtr="0"/>
          <a:p>
            <a:pPr>
              <a:buClrTx/>
              <a:buFontTx/>
              <a:buNone/>
            </a:pPr>
            <a:endParaRPr lang="zh-CN" altLang="en-US" sz="2400" dirty="0">
              <a:latin typeface="Arial" panose="020B0604020202090204" pitchFamily="34" charset="0"/>
              <a:ea typeface="宋体" pitchFamily="2" charset="-122"/>
            </a:endParaRPr>
          </a:p>
        </p:txBody>
      </p:sp>
      <p:grpSp>
        <p:nvGrpSpPr>
          <p:cNvPr id="51205" name="Group 14"/>
          <p:cNvGrpSpPr/>
          <p:nvPr/>
        </p:nvGrpSpPr>
        <p:grpSpPr>
          <a:xfrm>
            <a:off x="3762375" y="1960563"/>
            <a:ext cx="241300" cy="506412"/>
            <a:chOff x="2520" y="1419"/>
            <a:chExt cx="152" cy="594"/>
          </a:xfrm>
        </p:grpSpPr>
        <p:sp>
          <p:nvSpPr>
            <p:cNvPr id="51206" name="Line 12"/>
            <p:cNvSpPr/>
            <p:nvPr/>
          </p:nvSpPr>
          <p:spPr>
            <a:xfrm>
              <a:off x="2595" y="1419"/>
              <a:ext cx="1" cy="445"/>
            </a:xfrm>
            <a:prstGeom prst="line">
              <a:avLst/>
            </a:prstGeom>
            <a:ln w="22225" cap="flat" cmpd="sng">
              <a:solidFill>
                <a:srgbClr val="000000"/>
              </a:solidFill>
              <a:prstDash val="solid"/>
              <a:round/>
              <a:headEnd type="none" w="med" len="med"/>
              <a:tailEnd type="none" w="med" len="med"/>
            </a:ln>
          </p:spPr>
        </p:sp>
        <p:sp>
          <p:nvSpPr>
            <p:cNvPr id="51207" name="Freeform 13"/>
            <p:cNvSpPr/>
            <p:nvPr/>
          </p:nvSpPr>
          <p:spPr>
            <a:xfrm>
              <a:off x="2520" y="1859"/>
              <a:ext cx="152" cy="154"/>
            </a:xfrm>
            <a:custGeom>
              <a:avLst/>
              <a:gdLst/>
              <a:ahLst/>
              <a:cxnLst>
                <a:cxn ang="0">
                  <a:pos x="0" y="0"/>
                </a:cxn>
                <a:cxn ang="0">
                  <a:pos x="75" y="154"/>
                </a:cxn>
                <a:cxn ang="0">
                  <a:pos x="152" y="0"/>
                </a:cxn>
                <a:cxn ang="0">
                  <a:pos x="0" y="0"/>
                </a:cxn>
              </a:cxnLst>
              <a:pathLst>
                <a:path w="152" h="154">
                  <a:moveTo>
                    <a:pt x="0" y="0"/>
                  </a:moveTo>
                  <a:lnTo>
                    <a:pt x="75" y="154"/>
                  </a:lnTo>
                  <a:lnTo>
                    <a:pt x="152" y="0"/>
                  </a:lnTo>
                  <a:lnTo>
                    <a:pt x="0" y="0"/>
                  </a:lnTo>
                  <a:close/>
                </a:path>
              </a:pathLst>
            </a:custGeom>
            <a:solidFill>
              <a:srgbClr val="000000"/>
            </a:solidFill>
            <a:ln w="9525">
              <a:noFill/>
            </a:ln>
          </p:spPr>
          <p:txBody>
            <a:bodyPr/>
            <a:p>
              <a:endParaRPr lang="zh-CN" altLang="en-US"/>
            </a:p>
          </p:txBody>
        </p:sp>
      </p:grpSp>
      <p:grpSp>
        <p:nvGrpSpPr>
          <p:cNvPr id="51208" name="Group 17"/>
          <p:cNvGrpSpPr/>
          <p:nvPr/>
        </p:nvGrpSpPr>
        <p:grpSpPr>
          <a:xfrm>
            <a:off x="1652588" y="1654175"/>
            <a:ext cx="1589087" cy="828675"/>
            <a:chOff x="975" y="1301"/>
            <a:chExt cx="1041" cy="712"/>
          </a:xfrm>
        </p:grpSpPr>
        <p:sp>
          <p:nvSpPr>
            <p:cNvPr id="51209" name="Line 15"/>
            <p:cNvSpPr/>
            <p:nvPr/>
          </p:nvSpPr>
          <p:spPr>
            <a:xfrm flipH="1">
              <a:off x="1095" y="1301"/>
              <a:ext cx="921" cy="633"/>
            </a:xfrm>
            <a:prstGeom prst="line">
              <a:avLst/>
            </a:prstGeom>
            <a:ln w="22225" cap="flat" cmpd="sng">
              <a:solidFill>
                <a:srgbClr val="000000"/>
              </a:solidFill>
              <a:prstDash val="solid"/>
              <a:round/>
              <a:headEnd type="none" w="med" len="med"/>
              <a:tailEnd type="none" w="med" len="med"/>
            </a:ln>
          </p:spPr>
        </p:sp>
        <p:sp>
          <p:nvSpPr>
            <p:cNvPr id="51210" name="Freeform 16"/>
            <p:cNvSpPr/>
            <p:nvPr/>
          </p:nvSpPr>
          <p:spPr>
            <a:xfrm>
              <a:off x="975" y="1864"/>
              <a:ext cx="169" cy="149"/>
            </a:xfrm>
            <a:custGeom>
              <a:avLst/>
              <a:gdLst/>
              <a:ahLst/>
              <a:cxnLst>
                <a:cxn ang="0">
                  <a:pos x="87" y="0"/>
                </a:cxn>
                <a:cxn ang="0">
                  <a:pos x="0" y="149"/>
                </a:cxn>
                <a:cxn ang="0">
                  <a:pos x="169" y="129"/>
                </a:cxn>
                <a:cxn ang="0">
                  <a:pos x="87" y="0"/>
                </a:cxn>
              </a:cxnLst>
              <a:pathLst>
                <a:path w="169" h="149">
                  <a:moveTo>
                    <a:pt x="87" y="0"/>
                  </a:moveTo>
                  <a:lnTo>
                    <a:pt x="0" y="149"/>
                  </a:lnTo>
                  <a:lnTo>
                    <a:pt x="169" y="129"/>
                  </a:lnTo>
                  <a:lnTo>
                    <a:pt x="87" y="0"/>
                  </a:lnTo>
                  <a:close/>
                </a:path>
              </a:pathLst>
            </a:custGeom>
            <a:solidFill>
              <a:srgbClr val="000000"/>
            </a:solidFill>
            <a:ln w="9525">
              <a:noFill/>
            </a:ln>
          </p:spPr>
          <p:txBody>
            <a:bodyPr/>
            <a:p>
              <a:endParaRPr lang="zh-CN" altLang="en-US"/>
            </a:p>
          </p:txBody>
        </p:sp>
      </p:grpSp>
      <p:grpSp>
        <p:nvGrpSpPr>
          <p:cNvPr id="51211" name="Group 20"/>
          <p:cNvGrpSpPr/>
          <p:nvPr/>
        </p:nvGrpSpPr>
        <p:grpSpPr>
          <a:xfrm>
            <a:off x="4557713" y="1635125"/>
            <a:ext cx="1863725" cy="838200"/>
            <a:chOff x="3174" y="1301"/>
            <a:chExt cx="1273" cy="712"/>
          </a:xfrm>
        </p:grpSpPr>
        <p:sp>
          <p:nvSpPr>
            <p:cNvPr id="51212" name="Line 18"/>
            <p:cNvSpPr/>
            <p:nvPr/>
          </p:nvSpPr>
          <p:spPr>
            <a:xfrm>
              <a:off x="3174" y="1301"/>
              <a:ext cx="1148" cy="642"/>
            </a:xfrm>
            <a:prstGeom prst="line">
              <a:avLst/>
            </a:prstGeom>
            <a:ln w="22225" cap="flat" cmpd="sng">
              <a:solidFill>
                <a:srgbClr val="000000"/>
              </a:solidFill>
              <a:prstDash val="solid"/>
              <a:round/>
              <a:headEnd type="none" w="med" len="med"/>
              <a:tailEnd type="none" w="med" len="med"/>
            </a:ln>
          </p:spPr>
        </p:sp>
        <p:sp>
          <p:nvSpPr>
            <p:cNvPr id="51213" name="Freeform 19"/>
            <p:cNvSpPr/>
            <p:nvPr/>
          </p:nvSpPr>
          <p:spPr>
            <a:xfrm>
              <a:off x="4278" y="1869"/>
              <a:ext cx="169" cy="144"/>
            </a:xfrm>
            <a:custGeom>
              <a:avLst/>
              <a:gdLst/>
              <a:ahLst/>
              <a:cxnLst>
                <a:cxn ang="0">
                  <a:pos x="0" y="136"/>
                </a:cxn>
                <a:cxn ang="0">
                  <a:pos x="169" y="144"/>
                </a:cxn>
                <a:cxn ang="0">
                  <a:pos x="75" y="0"/>
                </a:cxn>
                <a:cxn ang="0">
                  <a:pos x="0" y="136"/>
                </a:cxn>
              </a:cxnLst>
              <a:pathLst>
                <a:path w="169" h="144">
                  <a:moveTo>
                    <a:pt x="0" y="136"/>
                  </a:moveTo>
                  <a:lnTo>
                    <a:pt x="169" y="144"/>
                  </a:lnTo>
                  <a:lnTo>
                    <a:pt x="75" y="0"/>
                  </a:lnTo>
                  <a:lnTo>
                    <a:pt x="0" y="136"/>
                  </a:lnTo>
                  <a:close/>
                </a:path>
              </a:pathLst>
            </a:custGeom>
            <a:solidFill>
              <a:srgbClr val="000000"/>
            </a:solidFill>
            <a:ln w="9525">
              <a:noFill/>
            </a:ln>
          </p:spPr>
          <p:txBody>
            <a:bodyPr/>
            <a:p>
              <a:endParaRPr lang="zh-CN" altLang="en-US"/>
            </a:p>
          </p:txBody>
        </p:sp>
      </p:grpSp>
      <p:sp>
        <p:nvSpPr>
          <p:cNvPr id="51214" name="Rectangle 21"/>
          <p:cNvSpPr/>
          <p:nvPr/>
        </p:nvSpPr>
        <p:spPr>
          <a:xfrm>
            <a:off x="1112838" y="2508250"/>
            <a:ext cx="1211262" cy="631825"/>
          </a:xfrm>
          <a:prstGeom prst="rect">
            <a:avLst/>
          </a:prstGeom>
          <a:noFill/>
          <a:ln w="22225" cap="flat" cmpd="sng">
            <a:solidFill>
              <a:srgbClr val="000000"/>
            </a:solidFill>
            <a:prstDash val="solid"/>
            <a:miter/>
            <a:headEnd type="none" w="med" len="med"/>
            <a:tailEnd type="none" w="med" len="med"/>
          </a:ln>
        </p:spPr>
        <p:txBody>
          <a:bodyPr anchor="t" anchorCtr="0"/>
          <a:p>
            <a:pPr>
              <a:buClrTx/>
              <a:buFontTx/>
              <a:buNone/>
            </a:pPr>
            <a:endParaRPr lang="zh-CN" altLang="en-US" sz="2400" dirty="0">
              <a:latin typeface="Arial" panose="020B0604020202090204" pitchFamily="34" charset="0"/>
              <a:ea typeface="宋体" pitchFamily="2" charset="-122"/>
            </a:endParaRPr>
          </a:p>
        </p:txBody>
      </p:sp>
      <p:sp>
        <p:nvSpPr>
          <p:cNvPr id="51215" name="Rectangle 22"/>
          <p:cNvSpPr/>
          <p:nvPr/>
        </p:nvSpPr>
        <p:spPr>
          <a:xfrm>
            <a:off x="1112838" y="2579688"/>
            <a:ext cx="1211262" cy="523875"/>
          </a:xfrm>
          <a:prstGeom prst="rect">
            <a:avLst/>
          </a:prstGeom>
          <a:noFill/>
          <a:ln w="9525">
            <a:noFill/>
          </a:ln>
        </p:spPr>
        <p:txBody>
          <a:bodyPr anchor="t" anchorCtr="0"/>
          <a:p>
            <a:pPr>
              <a:buClrTx/>
              <a:buFontTx/>
              <a:buNone/>
            </a:pPr>
            <a:endParaRPr lang="zh-CN" altLang="en-US" sz="2400" dirty="0">
              <a:latin typeface="Arial" panose="020B0604020202090204" pitchFamily="34" charset="0"/>
              <a:ea typeface="宋体" pitchFamily="2" charset="-122"/>
            </a:endParaRPr>
          </a:p>
        </p:txBody>
      </p:sp>
      <p:sp>
        <p:nvSpPr>
          <p:cNvPr id="51216" name="Rectangle 23"/>
          <p:cNvSpPr/>
          <p:nvPr/>
        </p:nvSpPr>
        <p:spPr>
          <a:xfrm>
            <a:off x="1252538" y="2606675"/>
            <a:ext cx="922337" cy="369888"/>
          </a:xfrm>
          <a:prstGeom prst="rect">
            <a:avLst/>
          </a:prstGeom>
          <a:noFill/>
          <a:ln w="9525">
            <a:noFill/>
          </a:ln>
        </p:spPr>
        <p:txBody>
          <a:bodyPr wrap="none" lIns="0" tIns="0" rIns="0" bIns="0" anchor="t" anchorCtr="0">
            <a:spAutoFit/>
          </a:bodyPr>
          <a:p>
            <a:pPr>
              <a:buClrTx/>
              <a:buFontTx/>
              <a:buNone/>
            </a:pPr>
            <a:r>
              <a:rPr lang="zh-CN" altLang="en-US" sz="2400" dirty="0">
                <a:solidFill>
                  <a:srgbClr val="000000"/>
                </a:solidFill>
                <a:latin typeface="宋体" pitchFamily="2" charset="-122"/>
                <a:ea typeface="宋体" pitchFamily="2" charset="-122"/>
              </a:rPr>
              <a:t>规则库</a:t>
            </a:r>
            <a:endParaRPr lang="zh-CN" altLang="en-US" sz="2400" dirty="0">
              <a:latin typeface="Arial" panose="020B0604020202090204" pitchFamily="34" charset="0"/>
              <a:ea typeface="宋体" pitchFamily="2" charset="-122"/>
            </a:endParaRPr>
          </a:p>
        </p:txBody>
      </p:sp>
      <p:sp>
        <p:nvSpPr>
          <p:cNvPr id="51217" name="Rectangle 25"/>
          <p:cNvSpPr/>
          <p:nvPr/>
        </p:nvSpPr>
        <p:spPr>
          <a:xfrm>
            <a:off x="3200400" y="2435225"/>
            <a:ext cx="979488" cy="682625"/>
          </a:xfrm>
          <a:prstGeom prst="rect">
            <a:avLst/>
          </a:prstGeom>
          <a:noFill/>
          <a:ln w="9525">
            <a:noFill/>
          </a:ln>
        </p:spPr>
        <p:txBody>
          <a:bodyPr anchor="t" anchorCtr="0"/>
          <a:p>
            <a:pPr>
              <a:buClrTx/>
              <a:buFontTx/>
              <a:buNone/>
            </a:pPr>
            <a:endParaRPr lang="zh-CN" altLang="en-US" sz="2400" dirty="0">
              <a:latin typeface="Arial" panose="020B0604020202090204" pitchFamily="34" charset="0"/>
              <a:ea typeface="宋体" pitchFamily="2" charset="-122"/>
            </a:endParaRPr>
          </a:p>
        </p:txBody>
      </p:sp>
      <p:sp>
        <p:nvSpPr>
          <p:cNvPr id="51218" name="Rectangle 26"/>
          <p:cNvSpPr/>
          <p:nvPr/>
        </p:nvSpPr>
        <p:spPr>
          <a:xfrm>
            <a:off x="3644900" y="2613025"/>
            <a:ext cx="615950" cy="369888"/>
          </a:xfrm>
          <a:prstGeom prst="rect">
            <a:avLst/>
          </a:prstGeom>
          <a:noFill/>
          <a:ln w="9525">
            <a:noFill/>
          </a:ln>
        </p:spPr>
        <p:txBody>
          <a:bodyPr wrap="none" lIns="0" tIns="0" rIns="0" bIns="0" anchor="t" anchorCtr="0">
            <a:spAutoFit/>
          </a:bodyPr>
          <a:p>
            <a:pPr>
              <a:buClrTx/>
              <a:buFontTx/>
              <a:buNone/>
            </a:pPr>
            <a:r>
              <a:rPr lang="zh-CN" altLang="en-US" sz="2400" dirty="0">
                <a:solidFill>
                  <a:srgbClr val="000000"/>
                </a:solidFill>
                <a:latin typeface="宋体" pitchFamily="2" charset="-122"/>
                <a:ea typeface="宋体" pitchFamily="2" charset="-122"/>
              </a:rPr>
              <a:t>推理</a:t>
            </a:r>
            <a:endParaRPr lang="zh-CN" altLang="en-US" sz="2400" dirty="0">
              <a:latin typeface="Arial" panose="020B0604020202090204" pitchFamily="34" charset="0"/>
              <a:ea typeface="宋体" pitchFamily="2" charset="-122"/>
            </a:endParaRPr>
          </a:p>
        </p:txBody>
      </p:sp>
      <p:sp>
        <p:nvSpPr>
          <p:cNvPr id="51219" name="Rectangle 28"/>
          <p:cNvSpPr/>
          <p:nvPr/>
        </p:nvSpPr>
        <p:spPr>
          <a:xfrm>
            <a:off x="5838825" y="830263"/>
            <a:ext cx="3127375" cy="682625"/>
          </a:xfrm>
          <a:prstGeom prst="rect">
            <a:avLst/>
          </a:prstGeom>
          <a:noFill/>
          <a:ln w="9525">
            <a:noFill/>
          </a:ln>
        </p:spPr>
        <p:txBody>
          <a:bodyPr anchor="t" anchorCtr="0"/>
          <a:p>
            <a:pPr>
              <a:buClrTx/>
              <a:buFontTx/>
              <a:buNone/>
            </a:pPr>
            <a:endParaRPr lang="zh-CN" altLang="en-US" sz="2400" dirty="0">
              <a:latin typeface="Arial" panose="020B0604020202090204" pitchFamily="34" charset="0"/>
              <a:ea typeface="宋体" pitchFamily="2" charset="-122"/>
            </a:endParaRPr>
          </a:p>
        </p:txBody>
      </p:sp>
      <p:sp>
        <p:nvSpPr>
          <p:cNvPr id="51220" name="Rectangle 29"/>
          <p:cNvSpPr/>
          <p:nvPr/>
        </p:nvSpPr>
        <p:spPr>
          <a:xfrm>
            <a:off x="5624513" y="2647950"/>
            <a:ext cx="1539875" cy="369888"/>
          </a:xfrm>
          <a:prstGeom prst="rect">
            <a:avLst/>
          </a:prstGeom>
          <a:noFill/>
          <a:ln w="9525">
            <a:noFill/>
          </a:ln>
        </p:spPr>
        <p:txBody>
          <a:bodyPr wrap="none" lIns="0" tIns="0" rIns="0" bIns="0" anchor="t" anchorCtr="0">
            <a:spAutoFit/>
          </a:bodyPr>
          <a:p>
            <a:pPr>
              <a:buClrTx/>
              <a:buFontTx/>
              <a:buNone/>
            </a:pPr>
            <a:r>
              <a:rPr lang="zh-CN" altLang="en-US" sz="2400" dirty="0">
                <a:solidFill>
                  <a:srgbClr val="000000"/>
                </a:solidFill>
                <a:latin typeface="宋体" pitchFamily="2" charset="-122"/>
                <a:ea typeface="宋体" pitchFamily="2" charset="-122"/>
              </a:rPr>
              <a:t>综合数据库</a:t>
            </a:r>
            <a:endParaRPr lang="zh-CN" altLang="en-US" sz="2400" dirty="0">
              <a:latin typeface="Arial" panose="020B0604020202090204" pitchFamily="34" charset="0"/>
              <a:ea typeface="宋体" pitchFamily="2" charset="-122"/>
            </a:endParaRPr>
          </a:p>
        </p:txBody>
      </p:sp>
      <p:grpSp>
        <p:nvGrpSpPr>
          <p:cNvPr id="51221" name="Group 32"/>
          <p:cNvGrpSpPr/>
          <p:nvPr/>
        </p:nvGrpSpPr>
        <p:grpSpPr>
          <a:xfrm>
            <a:off x="2325688" y="2632075"/>
            <a:ext cx="917575" cy="247650"/>
            <a:chOff x="1438" y="2173"/>
            <a:chExt cx="578" cy="156"/>
          </a:xfrm>
        </p:grpSpPr>
        <p:sp>
          <p:nvSpPr>
            <p:cNvPr id="51222" name="Line 30"/>
            <p:cNvSpPr/>
            <p:nvPr/>
          </p:nvSpPr>
          <p:spPr>
            <a:xfrm>
              <a:off x="1438" y="2250"/>
              <a:ext cx="434" cy="1"/>
            </a:xfrm>
            <a:prstGeom prst="line">
              <a:avLst/>
            </a:prstGeom>
            <a:ln w="22225" cap="flat" cmpd="sng">
              <a:solidFill>
                <a:srgbClr val="000000"/>
              </a:solidFill>
              <a:prstDash val="solid"/>
              <a:round/>
              <a:headEnd type="none" w="med" len="med"/>
              <a:tailEnd type="none" w="med" len="med"/>
            </a:ln>
          </p:spPr>
        </p:sp>
        <p:sp>
          <p:nvSpPr>
            <p:cNvPr id="51223" name="Freeform 31"/>
            <p:cNvSpPr/>
            <p:nvPr/>
          </p:nvSpPr>
          <p:spPr>
            <a:xfrm>
              <a:off x="1867" y="2173"/>
              <a:ext cx="149" cy="156"/>
            </a:xfrm>
            <a:custGeom>
              <a:avLst/>
              <a:gdLst/>
              <a:ahLst/>
              <a:cxnLst>
                <a:cxn ang="0">
                  <a:pos x="0" y="156"/>
                </a:cxn>
                <a:cxn ang="0">
                  <a:pos x="149" y="77"/>
                </a:cxn>
                <a:cxn ang="0">
                  <a:pos x="0" y="0"/>
                </a:cxn>
                <a:cxn ang="0">
                  <a:pos x="0" y="156"/>
                </a:cxn>
              </a:cxnLst>
              <a:pathLst>
                <a:path w="149" h="156">
                  <a:moveTo>
                    <a:pt x="0" y="156"/>
                  </a:moveTo>
                  <a:lnTo>
                    <a:pt x="149" y="77"/>
                  </a:lnTo>
                  <a:lnTo>
                    <a:pt x="0" y="0"/>
                  </a:lnTo>
                  <a:lnTo>
                    <a:pt x="0" y="156"/>
                  </a:lnTo>
                  <a:close/>
                </a:path>
              </a:pathLst>
            </a:custGeom>
            <a:solidFill>
              <a:srgbClr val="000000"/>
            </a:solidFill>
            <a:ln w="9525">
              <a:noFill/>
            </a:ln>
          </p:spPr>
          <p:txBody>
            <a:bodyPr/>
            <a:p>
              <a:endParaRPr lang="zh-CN" altLang="en-US"/>
            </a:p>
          </p:txBody>
        </p:sp>
      </p:grpSp>
      <p:sp>
        <p:nvSpPr>
          <p:cNvPr id="51224" name="Line 33"/>
          <p:cNvSpPr/>
          <p:nvPr/>
        </p:nvSpPr>
        <p:spPr>
          <a:xfrm>
            <a:off x="3895725" y="3098800"/>
            <a:ext cx="1588" cy="565150"/>
          </a:xfrm>
          <a:prstGeom prst="line">
            <a:avLst/>
          </a:prstGeom>
          <a:ln w="22225" cap="flat" cmpd="sng">
            <a:solidFill>
              <a:srgbClr val="000000"/>
            </a:solidFill>
            <a:prstDash val="solid"/>
            <a:round/>
            <a:headEnd type="none" w="med" len="med"/>
            <a:tailEnd type="none" w="med" len="med"/>
          </a:ln>
        </p:spPr>
      </p:sp>
      <p:sp>
        <p:nvSpPr>
          <p:cNvPr id="51225" name="Line 34"/>
          <p:cNvSpPr/>
          <p:nvPr/>
        </p:nvSpPr>
        <p:spPr>
          <a:xfrm>
            <a:off x="3916363" y="3663950"/>
            <a:ext cx="2520950" cy="11113"/>
          </a:xfrm>
          <a:prstGeom prst="line">
            <a:avLst/>
          </a:prstGeom>
          <a:ln w="22225" cap="flat" cmpd="sng">
            <a:solidFill>
              <a:srgbClr val="000000"/>
            </a:solidFill>
            <a:prstDash val="solid"/>
            <a:round/>
            <a:headEnd type="none" w="med" len="med"/>
            <a:tailEnd type="none" w="med" len="med"/>
          </a:ln>
        </p:spPr>
      </p:sp>
      <p:grpSp>
        <p:nvGrpSpPr>
          <p:cNvPr id="51226" name="Group 37"/>
          <p:cNvGrpSpPr/>
          <p:nvPr/>
        </p:nvGrpSpPr>
        <p:grpSpPr>
          <a:xfrm>
            <a:off x="6300788" y="3130550"/>
            <a:ext cx="241300" cy="565150"/>
            <a:chOff x="4141" y="2487"/>
            <a:chExt cx="152" cy="356"/>
          </a:xfrm>
        </p:grpSpPr>
        <p:sp>
          <p:nvSpPr>
            <p:cNvPr id="51227" name="Line 35"/>
            <p:cNvSpPr/>
            <p:nvPr/>
          </p:nvSpPr>
          <p:spPr>
            <a:xfrm flipV="1">
              <a:off x="4216" y="2636"/>
              <a:ext cx="1" cy="207"/>
            </a:xfrm>
            <a:prstGeom prst="line">
              <a:avLst/>
            </a:prstGeom>
            <a:ln w="22225" cap="flat" cmpd="sng">
              <a:solidFill>
                <a:srgbClr val="000000"/>
              </a:solidFill>
              <a:prstDash val="solid"/>
              <a:round/>
              <a:headEnd type="none" w="med" len="med"/>
              <a:tailEnd type="none" w="med" len="med"/>
            </a:ln>
          </p:spPr>
        </p:sp>
        <p:sp>
          <p:nvSpPr>
            <p:cNvPr id="51228" name="Freeform 36"/>
            <p:cNvSpPr/>
            <p:nvPr/>
          </p:nvSpPr>
          <p:spPr>
            <a:xfrm>
              <a:off x="4141" y="2487"/>
              <a:ext cx="152" cy="156"/>
            </a:xfrm>
            <a:custGeom>
              <a:avLst/>
              <a:gdLst/>
              <a:ahLst/>
              <a:cxnLst>
                <a:cxn ang="0">
                  <a:pos x="152" y="156"/>
                </a:cxn>
                <a:cxn ang="0">
                  <a:pos x="75" y="0"/>
                </a:cxn>
                <a:cxn ang="0">
                  <a:pos x="0" y="156"/>
                </a:cxn>
                <a:cxn ang="0">
                  <a:pos x="152" y="156"/>
                </a:cxn>
              </a:cxnLst>
              <a:pathLst>
                <a:path w="152" h="156">
                  <a:moveTo>
                    <a:pt x="152" y="156"/>
                  </a:moveTo>
                  <a:lnTo>
                    <a:pt x="75" y="0"/>
                  </a:lnTo>
                  <a:lnTo>
                    <a:pt x="0" y="156"/>
                  </a:lnTo>
                  <a:lnTo>
                    <a:pt x="152" y="156"/>
                  </a:lnTo>
                  <a:close/>
                </a:path>
              </a:pathLst>
            </a:custGeom>
            <a:solidFill>
              <a:srgbClr val="000000"/>
            </a:solidFill>
            <a:ln w="9525">
              <a:noFill/>
            </a:ln>
          </p:spPr>
          <p:txBody>
            <a:bodyPr/>
            <a:p>
              <a:endParaRPr lang="zh-CN" altLang="en-US"/>
            </a:p>
          </p:txBody>
        </p:sp>
      </p:grpSp>
      <p:grpSp>
        <p:nvGrpSpPr>
          <p:cNvPr id="51229" name="Group 40"/>
          <p:cNvGrpSpPr/>
          <p:nvPr/>
        </p:nvGrpSpPr>
        <p:grpSpPr>
          <a:xfrm>
            <a:off x="4557713" y="2684463"/>
            <a:ext cx="919162" cy="247650"/>
            <a:chOff x="3058" y="2173"/>
            <a:chExt cx="579" cy="156"/>
          </a:xfrm>
        </p:grpSpPr>
        <p:sp>
          <p:nvSpPr>
            <p:cNvPr id="51230" name="Line 38"/>
            <p:cNvSpPr/>
            <p:nvPr/>
          </p:nvSpPr>
          <p:spPr>
            <a:xfrm flipH="1">
              <a:off x="3203" y="2250"/>
              <a:ext cx="434" cy="1"/>
            </a:xfrm>
            <a:prstGeom prst="line">
              <a:avLst/>
            </a:prstGeom>
            <a:ln w="22225" cap="flat" cmpd="sng">
              <a:solidFill>
                <a:srgbClr val="000000"/>
              </a:solidFill>
              <a:prstDash val="solid"/>
              <a:round/>
              <a:headEnd type="none" w="med" len="med"/>
              <a:tailEnd type="none" w="med" len="med"/>
            </a:ln>
          </p:spPr>
        </p:sp>
        <p:sp>
          <p:nvSpPr>
            <p:cNvPr id="51231" name="Freeform 39"/>
            <p:cNvSpPr/>
            <p:nvPr/>
          </p:nvSpPr>
          <p:spPr>
            <a:xfrm>
              <a:off x="3058" y="2173"/>
              <a:ext cx="152" cy="156"/>
            </a:xfrm>
            <a:custGeom>
              <a:avLst/>
              <a:gdLst/>
              <a:ahLst/>
              <a:cxnLst>
                <a:cxn ang="0">
                  <a:pos x="152" y="0"/>
                </a:cxn>
                <a:cxn ang="0">
                  <a:pos x="0" y="77"/>
                </a:cxn>
                <a:cxn ang="0">
                  <a:pos x="152" y="156"/>
                </a:cxn>
                <a:cxn ang="0">
                  <a:pos x="152" y="0"/>
                </a:cxn>
              </a:cxnLst>
              <a:pathLst>
                <a:path w="152" h="156">
                  <a:moveTo>
                    <a:pt x="152" y="0"/>
                  </a:moveTo>
                  <a:lnTo>
                    <a:pt x="0" y="77"/>
                  </a:lnTo>
                  <a:lnTo>
                    <a:pt x="152" y="156"/>
                  </a:lnTo>
                  <a:lnTo>
                    <a:pt x="152" y="0"/>
                  </a:lnTo>
                  <a:close/>
                </a:path>
              </a:pathLst>
            </a:custGeom>
            <a:solidFill>
              <a:srgbClr val="000000"/>
            </a:solidFill>
            <a:ln w="9525">
              <a:noFill/>
            </a:ln>
          </p:spPr>
          <p:txBody>
            <a:bodyPr/>
            <a:p>
              <a:endParaRPr lang="zh-CN" altLang="en-US"/>
            </a:p>
          </p:txBody>
        </p:sp>
      </p:grpSp>
      <p:sp>
        <p:nvSpPr>
          <p:cNvPr id="51232" name="Rectangle 5"/>
          <p:cNvSpPr/>
          <p:nvPr/>
        </p:nvSpPr>
        <p:spPr>
          <a:xfrm>
            <a:off x="323850" y="3984625"/>
            <a:ext cx="8377238" cy="492125"/>
          </a:xfrm>
          <a:prstGeom prst="rect">
            <a:avLst/>
          </a:prstGeom>
          <a:gradFill rotWithShape="0">
            <a:gsLst>
              <a:gs pos="0">
                <a:srgbClr val="CCFFFF"/>
              </a:gs>
              <a:gs pos="100000">
                <a:srgbClr val="FFFFFF"/>
              </a:gs>
            </a:gsLst>
            <a:path path="rect">
              <a:fillToRect l="100000" b="100000"/>
            </a:path>
            <a:tileRect/>
          </a:gradFill>
          <a:ln w="9525" cap="flat" cmpd="sng">
            <a:solidFill>
              <a:srgbClr val="808080"/>
            </a:solidFill>
            <a:prstDash val="solid"/>
            <a:miter/>
            <a:headEnd type="none" w="med" len="med"/>
            <a:tailEnd type="none" w="med" len="med"/>
          </a:ln>
        </p:spPr>
        <p:txBody>
          <a:bodyPr anchor="t" anchorCtr="0">
            <a:spAutoFit/>
          </a:bodyPr>
          <a:p>
            <a:pPr>
              <a:lnSpc>
                <a:spcPct val="120000"/>
              </a:lnSpc>
              <a:spcBef>
                <a:spcPct val="20000"/>
              </a:spcBef>
              <a:buClr>
                <a:schemeClr val="accent2"/>
              </a:buClr>
              <a:buFont typeface="Wingdings" panose="05000000000000000000" pitchFamily="2" charset="2"/>
              <a:buChar char="§"/>
            </a:pPr>
            <a:r>
              <a:rPr lang="en-US" altLang="zh-CN" sz="2400" b="1" dirty="0">
                <a:latin typeface="宋体" pitchFamily="2" charset="-122"/>
                <a:ea typeface="宋体" pitchFamily="2" charset="-122"/>
              </a:rPr>
              <a:t> </a:t>
            </a:r>
            <a:r>
              <a:rPr lang="zh-CN" altLang="en-US" sz="2400" b="1" dirty="0">
                <a:solidFill>
                  <a:srgbClr val="0000FF"/>
                </a:solidFill>
                <a:latin typeface="宋体" pitchFamily="2" charset="-122"/>
                <a:ea typeface="宋体" pitchFamily="2" charset="-122"/>
              </a:rPr>
              <a:t>规则库</a:t>
            </a:r>
            <a:r>
              <a:rPr lang="en-US" altLang="zh-CN" sz="2400" b="1" dirty="0">
                <a:latin typeface="宋体" pitchFamily="2" charset="-122"/>
                <a:ea typeface="宋体" pitchFamily="2" charset="-122"/>
              </a:rPr>
              <a:t>: </a:t>
            </a:r>
            <a:r>
              <a:rPr lang="zh-CN" altLang="en-US" sz="2400" dirty="0">
                <a:latin typeface="宋体" pitchFamily="2" charset="-122"/>
                <a:ea typeface="宋体" pitchFamily="2" charset="-122"/>
              </a:rPr>
              <a:t>用于描述相应领域内知识的产生式集合。</a:t>
            </a:r>
            <a:r>
              <a:rPr lang="zh-CN" altLang="en-US" sz="2400" b="1" dirty="0">
                <a:latin typeface="Arial" panose="020B0604020202090204" pitchFamily="34" charset="0"/>
                <a:ea typeface="宋体" pitchFamily="2" charset="-122"/>
              </a:rPr>
              <a:t> </a:t>
            </a:r>
            <a:endParaRPr lang="zh-CN" altLang="en-US" sz="2400" b="1" dirty="0">
              <a:latin typeface="Arial" panose="020B0604020202090204" pitchFamily="34" charset="0"/>
              <a:ea typeface="宋体" pitchFamily="2" charset="-122"/>
            </a:endParaRPr>
          </a:p>
        </p:txBody>
      </p:sp>
      <p:sp>
        <p:nvSpPr>
          <p:cNvPr id="51233" name="Rectangle 6"/>
          <p:cNvSpPr txBox="1"/>
          <p:nvPr/>
        </p:nvSpPr>
        <p:spPr>
          <a:xfrm>
            <a:off x="328613" y="4613275"/>
            <a:ext cx="8416925" cy="1060450"/>
          </a:xfrm>
          <a:prstGeom prst="rect">
            <a:avLst/>
          </a:prstGeom>
          <a:gradFill rotWithShape="0">
            <a:gsLst>
              <a:gs pos="0">
                <a:srgbClr val="CCFFCC"/>
              </a:gs>
              <a:gs pos="100000">
                <a:schemeClr val="bg1"/>
              </a:gs>
            </a:gsLst>
            <a:path path="rect">
              <a:fillToRect l="100000" t="100000"/>
            </a:path>
            <a:tileRect/>
          </a:gradFill>
          <a:ln w="9525" cap="flat" cmpd="sng">
            <a:solidFill>
              <a:srgbClr val="808080"/>
            </a:solidFill>
            <a:prstDash val="solid"/>
            <a:miter/>
            <a:headEnd type="none" w="med" len="med"/>
            <a:tailEnd type="none" w="med" len="med"/>
          </a:ln>
        </p:spPr>
        <p:txBody>
          <a:bodyPr anchor="t" anchorCtr="0"/>
          <a:p>
            <a:pPr>
              <a:lnSpc>
                <a:spcPct val="120000"/>
              </a:lnSpc>
              <a:spcBef>
                <a:spcPct val="20000"/>
              </a:spcBef>
              <a:buClr>
                <a:schemeClr val="accent2"/>
              </a:buClr>
              <a:buFont typeface="Wingdings" panose="05000000000000000000" pitchFamily="2" charset="2"/>
              <a:buChar char="§"/>
            </a:pPr>
            <a:r>
              <a:rPr lang="en-US" altLang="zh-CN" sz="2400" dirty="0">
                <a:latin typeface="宋体" pitchFamily="2" charset="-122"/>
                <a:ea typeface="宋体" pitchFamily="2" charset="-122"/>
              </a:rPr>
              <a:t> </a:t>
            </a:r>
            <a:r>
              <a:rPr lang="zh-CN" altLang="en-US" sz="2400" b="1" dirty="0">
                <a:solidFill>
                  <a:srgbClr val="0000FF"/>
                </a:solidFill>
                <a:latin typeface="宋体" pitchFamily="2" charset="-122"/>
                <a:ea typeface="宋体" pitchFamily="2" charset="-122"/>
              </a:rPr>
              <a:t>综合数据库</a:t>
            </a: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事实库、上下文、黑板等</a:t>
            </a: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：一个用于存放问题求解过程中各种当前信息的数据结构。</a:t>
            </a:r>
            <a:r>
              <a:rPr lang="zh-CN" altLang="en-US" sz="2400" dirty="0">
                <a:latin typeface="Arial" panose="020B0604020202090204" pitchFamily="34" charset="0"/>
                <a:ea typeface="宋体" pitchFamily="2" charset="-122"/>
              </a:rPr>
              <a:t> </a:t>
            </a:r>
            <a:endParaRPr lang="zh-CN" altLang="en-US" sz="2400" dirty="0">
              <a:latin typeface="Arial" panose="020B0604020202090204" pitchFamily="34" charset="0"/>
              <a:ea typeface="宋体" pitchFamily="2" charset="-122"/>
            </a:endParaRPr>
          </a:p>
        </p:txBody>
      </p:sp>
      <p:sp>
        <p:nvSpPr>
          <p:cNvPr id="51234" name="Rectangle 8"/>
          <p:cNvSpPr/>
          <p:nvPr/>
        </p:nvSpPr>
        <p:spPr>
          <a:xfrm>
            <a:off x="334963" y="5762625"/>
            <a:ext cx="8416925" cy="965200"/>
          </a:xfrm>
          <a:prstGeom prst="rect">
            <a:avLst/>
          </a:prstGeom>
          <a:gradFill rotWithShape="0">
            <a:gsLst>
              <a:gs pos="0">
                <a:srgbClr val="CCFFCC"/>
              </a:gs>
              <a:gs pos="100000">
                <a:schemeClr val="bg1"/>
              </a:gs>
            </a:gsLst>
            <a:path path="rect">
              <a:fillToRect l="100000" t="100000"/>
            </a:path>
            <a:tileRect/>
          </a:gradFill>
          <a:ln w="9525" cap="flat" cmpd="sng">
            <a:solidFill>
              <a:srgbClr val="808080"/>
            </a:solidFill>
            <a:prstDash val="solid"/>
            <a:miter/>
            <a:headEnd type="none" w="med" len="med"/>
            <a:tailEnd type="none" w="med" len="med"/>
          </a:ln>
        </p:spPr>
        <p:txBody>
          <a:bodyPr anchor="t" anchorCtr="0"/>
          <a:p>
            <a:pPr>
              <a:lnSpc>
                <a:spcPct val="120000"/>
              </a:lnSpc>
              <a:spcBef>
                <a:spcPct val="20000"/>
              </a:spcBef>
              <a:buClr>
                <a:schemeClr val="accent2"/>
              </a:buClr>
              <a:buFont typeface="Wingdings" panose="05000000000000000000" pitchFamily="2" charset="2"/>
              <a:buChar char="§"/>
            </a:pPr>
            <a:r>
              <a:rPr lang="en-US" altLang="zh-CN" sz="2400" dirty="0">
                <a:latin typeface="宋体" pitchFamily="2" charset="-122"/>
                <a:ea typeface="宋体" pitchFamily="2" charset="-122"/>
              </a:rPr>
              <a:t> </a:t>
            </a:r>
            <a:r>
              <a:rPr lang="zh-CN" altLang="en-US" sz="2400" b="1" dirty="0">
                <a:solidFill>
                  <a:srgbClr val="0000FF"/>
                </a:solidFill>
                <a:latin typeface="宋体" pitchFamily="2" charset="-122"/>
                <a:ea typeface="宋体" pitchFamily="2" charset="-122"/>
              </a:rPr>
              <a:t>控制系统（推理机）</a:t>
            </a:r>
            <a:r>
              <a:rPr lang="zh-CN" altLang="en-US" sz="2400" dirty="0">
                <a:latin typeface="宋体" pitchFamily="2" charset="-122"/>
                <a:ea typeface="宋体" pitchFamily="2" charset="-122"/>
              </a:rPr>
              <a:t>：由一组程序组成，负责整个产生式系统的运行，实现对问题的求解，包括控制和推理两部分。 </a:t>
            </a:r>
            <a:endParaRPr lang="zh-CN" altLang="en-US" sz="2400" dirty="0">
              <a:latin typeface="宋体" pitchFamily="2" charset="-122"/>
              <a:ea typeface="宋体" pitchFamily="2" charset="-122"/>
            </a:endParaRPr>
          </a:p>
        </p:txBody>
      </p:sp>
      <p:sp>
        <p:nvSpPr>
          <p:cNvPr id="51235" name="Rectangle 21"/>
          <p:cNvSpPr/>
          <p:nvPr/>
        </p:nvSpPr>
        <p:spPr>
          <a:xfrm>
            <a:off x="3302000" y="2481263"/>
            <a:ext cx="1211263" cy="631825"/>
          </a:xfrm>
          <a:prstGeom prst="rect">
            <a:avLst/>
          </a:prstGeom>
          <a:noFill/>
          <a:ln w="22225" cap="flat" cmpd="sng">
            <a:solidFill>
              <a:srgbClr val="000000"/>
            </a:solidFill>
            <a:prstDash val="solid"/>
            <a:miter/>
            <a:headEnd type="none" w="med" len="med"/>
            <a:tailEnd type="none" w="med" len="med"/>
          </a:ln>
        </p:spPr>
        <p:txBody>
          <a:bodyPr anchor="t" anchorCtr="0"/>
          <a:p>
            <a:pPr>
              <a:buClrTx/>
              <a:buFontTx/>
              <a:buNone/>
            </a:pPr>
            <a:endParaRPr lang="zh-CN" altLang="en-US" sz="2400" dirty="0">
              <a:latin typeface="Arial" panose="020B0604020202090204" pitchFamily="34" charset="0"/>
              <a:ea typeface="宋体" pitchFamily="2" charset="-122"/>
            </a:endParaRPr>
          </a:p>
        </p:txBody>
      </p:sp>
      <p:sp>
        <p:nvSpPr>
          <p:cNvPr id="51236" name="Rectangle 21"/>
          <p:cNvSpPr/>
          <p:nvPr/>
        </p:nvSpPr>
        <p:spPr>
          <a:xfrm>
            <a:off x="5543550" y="2508250"/>
            <a:ext cx="1690688" cy="631825"/>
          </a:xfrm>
          <a:prstGeom prst="rect">
            <a:avLst/>
          </a:prstGeom>
          <a:noFill/>
          <a:ln w="22225" cap="flat" cmpd="sng">
            <a:solidFill>
              <a:srgbClr val="000000"/>
            </a:solidFill>
            <a:prstDash val="solid"/>
            <a:miter/>
            <a:headEnd type="none" w="med" len="med"/>
            <a:tailEnd type="none" w="med" len="med"/>
          </a:ln>
        </p:spPr>
        <p:txBody>
          <a:bodyPr anchor="t" anchorCtr="0"/>
          <a:p>
            <a:pPr>
              <a:buClrTx/>
              <a:buFontTx/>
              <a:buNone/>
            </a:pPr>
            <a:endParaRPr lang="zh-CN" altLang="en-US" sz="2400" dirty="0">
              <a:latin typeface="Arial" panose="020B0604020202090204" pitchFamily="34" charset="0"/>
              <a:ea typeface="宋体" pitchFamily="2" charset="-122"/>
            </a:endParaRPr>
          </a:p>
        </p:txBody>
      </p:sp>
      <p:sp>
        <p:nvSpPr>
          <p:cNvPr id="51237" name="Rectangle 26"/>
          <p:cNvSpPr/>
          <p:nvPr/>
        </p:nvSpPr>
        <p:spPr>
          <a:xfrm>
            <a:off x="3625850" y="1462088"/>
            <a:ext cx="615950" cy="368300"/>
          </a:xfrm>
          <a:prstGeom prst="rect">
            <a:avLst/>
          </a:prstGeom>
          <a:noFill/>
          <a:ln w="9525">
            <a:noFill/>
          </a:ln>
        </p:spPr>
        <p:txBody>
          <a:bodyPr wrap="none" lIns="0" tIns="0" rIns="0" bIns="0" anchor="t" anchorCtr="0">
            <a:spAutoFit/>
          </a:bodyPr>
          <a:p>
            <a:pPr>
              <a:buClrTx/>
              <a:buFontTx/>
              <a:buNone/>
            </a:pPr>
            <a:r>
              <a:rPr lang="zh-CN" altLang="en-US" sz="2400" dirty="0">
                <a:solidFill>
                  <a:srgbClr val="000000"/>
                </a:solidFill>
                <a:latin typeface="宋体" pitchFamily="2" charset="-122"/>
                <a:ea typeface="宋体" pitchFamily="2" charset="-122"/>
              </a:rPr>
              <a:t>控制</a:t>
            </a:r>
            <a:endParaRPr lang="zh-CN" altLang="en-US" sz="2400" dirty="0">
              <a:latin typeface="Arial" panose="020B0604020202090204" pitchFamily="34" charset="0"/>
              <a:ea typeface="宋体" pitchFamily="2" charset="-122"/>
            </a:endParaRPr>
          </a:p>
        </p:txBody>
      </p:sp>
      <p:sp>
        <p:nvSpPr>
          <p:cNvPr id="51238" name="Rectangle 26"/>
          <p:cNvSpPr/>
          <p:nvPr/>
        </p:nvSpPr>
        <p:spPr>
          <a:xfrm>
            <a:off x="3454400" y="914400"/>
            <a:ext cx="922338" cy="369888"/>
          </a:xfrm>
          <a:prstGeom prst="rect">
            <a:avLst/>
          </a:prstGeom>
          <a:noFill/>
          <a:ln w="9525">
            <a:noFill/>
          </a:ln>
        </p:spPr>
        <p:txBody>
          <a:bodyPr wrap="none" lIns="0" tIns="0" rIns="0" bIns="0" anchor="t" anchorCtr="0">
            <a:spAutoFit/>
          </a:bodyPr>
          <a:p>
            <a:pPr>
              <a:buClrTx/>
              <a:buFontTx/>
              <a:buNone/>
            </a:pPr>
            <a:r>
              <a:rPr lang="zh-CN" altLang="en-US" sz="2400" dirty="0">
                <a:solidFill>
                  <a:srgbClr val="0000FF"/>
                </a:solidFill>
                <a:latin typeface="宋体" pitchFamily="2" charset="-122"/>
                <a:ea typeface="宋体" pitchFamily="2" charset="-122"/>
              </a:rPr>
              <a:t>推理机</a:t>
            </a:r>
            <a:endParaRPr lang="zh-CN" altLang="en-US" sz="2400" dirty="0">
              <a:solidFill>
                <a:srgbClr val="0000FF"/>
              </a:solidFill>
              <a:latin typeface="Arial" panose="020B0604020202090204" pitchFamily="34" charset="0"/>
              <a:ea typeface="宋体" pitchFamily="2" charset="-122"/>
            </a:endParaRPr>
          </a:p>
        </p:txBody>
      </p:sp>
      <p:sp>
        <p:nvSpPr>
          <p:cNvPr id="88" name="矩形 87"/>
          <p:cNvSpPr/>
          <p:nvPr/>
        </p:nvSpPr>
        <p:spPr>
          <a:xfrm>
            <a:off x="2895600" y="830263"/>
            <a:ext cx="2103438" cy="2509838"/>
          </a:xfrm>
          <a:prstGeom prst="rect">
            <a:avLst/>
          </a:prstGeom>
          <a:noFill/>
          <a:ln>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2226"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2.3.2  </a:t>
            </a:r>
            <a:r>
              <a:rPr lang="zh-CN" altLang="en-US" dirty="0">
                <a:latin typeface="Times New Roman" panose="02020503050405090304" pitchFamily="18" charset="0"/>
              </a:rPr>
              <a:t>产生式系统</a:t>
            </a:r>
            <a:endParaRPr lang="zh-CN" altLang="en-US" dirty="0">
              <a:latin typeface="Times New Roman" panose="02020503050405090304" pitchFamily="18" charset="0"/>
            </a:endParaRPr>
          </a:p>
        </p:txBody>
      </p:sp>
      <p:sp>
        <p:nvSpPr>
          <p:cNvPr id="52227" name="Rectangle 7"/>
          <p:cNvSpPr/>
          <p:nvPr/>
        </p:nvSpPr>
        <p:spPr>
          <a:xfrm>
            <a:off x="466725" y="1025525"/>
            <a:ext cx="6405563" cy="527050"/>
          </a:xfrm>
          <a:prstGeom prst="rect">
            <a:avLst/>
          </a:prstGeom>
          <a:noFill/>
          <a:ln w="9525">
            <a:noFill/>
          </a:ln>
        </p:spPr>
        <p:txBody>
          <a:bodyPr wrap="none" anchor="t" anchorCtr="0">
            <a:spAutoFit/>
          </a:bodyPr>
          <a:p>
            <a:pPr marL="342900" indent="-342900">
              <a:lnSpc>
                <a:spcPct val="110000"/>
              </a:lnSpc>
              <a:spcBef>
                <a:spcPct val="20000"/>
              </a:spcBef>
              <a:buClr>
                <a:schemeClr val="tx1"/>
              </a:buClr>
              <a:buFont typeface="Wingdings" panose="05000000000000000000" pitchFamily="2" charset="2"/>
              <a:buNone/>
            </a:pPr>
            <a:r>
              <a:rPr lang="zh-CN" altLang="en-US" sz="2800" b="1" dirty="0">
                <a:solidFill>
                  <a:srgbClr val="0000FF"/>
                </a:solidFill>
                <a:latin typeface="Times New Roman" panose="02020503050405090304" pitchFamily="18" charset="0"/>
                <a:ea typeface="宋体" pitchFamily="2" charset="-122"/>
              </a:rPr>
              <a:t>控制系统（推理机）</a:t>
            </a:r>
            <a:r>
              <a:rPr lang="zh-CN" altLang="en-US" sz="2800" b="1" dirty="0">
                <a:latin typeface="Times New Roman" panose="02020503050405090304" pitchFamily="18" charset="0"/>
                <a:ea typeface="宋体" pitchFamily="2" charset="-122"/>
              </a:rPr>
              <a:t>做以下几项工作： </a:t>
            </a:r>
            <a:endParaRPr lang="zh-CN" altLang="en-US" sz="2800" b="1" dirty="0">
              <a:latin typeface="Arial" panose="020B0604020202090204" pitchFamily="34" charset="0"/>
              <a:ea typeface="宋体" pitchFamily="2" charset="-122"/>
            </a:endParaRPr>
          </a:p>
        </p:txBody>
      </p:sp>
      <p:sp>
        <p:nvSpPr>
          <p:cNvPr id="52228" name="Rectangle 8"/>
          <p:cNvSpPr/>
          <p:nvPr/>
        </p:nvSpPr>
        <p:spPr>
          <a:xfrm>
            <a:off x="268288" y="1812925"/>
            <a:ext cx="8501062" cy="4400550"/>
          </a:xfrm>
          <a:prstGeom prst="rect">
            <a:avLst/>
          </a:prstGeom>
          <a:gradFill rotWithShape="0">
            <a:gsLst>
              <a:gs pos="0">
                <a:srgbClr val="CCFFCC"/>
              </a:gs>
              <a:gs pos="100000">
                <a:schemeClr val="bg1"/>
              </a:gs>
            </a:gsLst>
            <a:path path="rect">
              <a:fillToRect l="100000" t="100000"/>
            </a:path>
            <a:tileRect/>
          </a:gradFill>
          <a:ln w="9525" cap="flat" cmpd="sng">
            <a:solidFill>
              <a:srgbClr val="808080"/>
            </a:solidFill>
            <a:prstDash val="solid"/>
            <a:miter/>
            <a:headEnd type="none" w="med" len="med"/>
            <a:tailEnd type="none" w="med" len="med"/>
          </a:ln>
        </p:spPr>
        <p:txBody>
          <a:bodyPr anchor="t" anchorCtr="0"/>
          <a:p>
            <a:pPr>
              <a:lnSpc>
                <a:spcPct val="120000"/>
              </a:lnSpc>
              <a:spcBef>
                <a:spcPct val="20000"/>
              </a:spcBef>
              <a:buClr>
                <a:schemeClr val="accent2"/>
              </a:buClr>
              <a:buFont typeface="Wingdings" panose="05000000000000000000" pitchFamily="2" charset="2"/>
              <a:buNone/>
            </a:pPr>
            <a:r>
              <a:rPr lang="zh-CN" altLang="en-US" sz="2400" b="1" dirty="0">
                <a:latin typeface="Times New Roman" panose="02020503050405090304" pitchFamily="18" charset="0"/>
                <a:ea typeface="宋体" pitchFamily="2" charset="-122"/>
              </a:rPr>
              <a:t>（</a:t>
            </a:r>
            <a:r>
              <a:rPr lang="en-US" altLang="zh-CN" sz="2400" b="1" dirty="0">
                <a:latin typeface="Times New Roman" panose="02020503050405090304" pitchFamily="18" charset="0"/>
                <a:ea typeface="宋体" pitchFamily="2" charset="-122"/>
              </a:rPr>
              <a:t>1</a:t>
            </a:r>
            <a:r>
              <a:rPr lang="zh-CN" altLang="en-US" sz="2400" b="1" dirty="0">
                <a:latin typeface="Times New Roman" panose="02020503050405090304" pitchFamily="18" charset="0"/>
                <a:ea typeface="宋体" pitchFamily="2" charset="-122"/>
              </a:rPr>
              <a:t>）</a:t>
            </a:r>
            <a:r>
              <a:rPr lang="zh-CN" altLang="en-US" sz="2400" b="1" dirty="0">
                <a:solidFill>
                  <a:srgbClr val="0000FF"/>
                </a:solidFill>
                <a:latin typeface="Times New Roman" panose="02020503050405090304" pitchFamily="18" charset="0"/>
                <a:ea typeface="宋体" pitchFamily="2" charset="-122"/>
              </a:rPr>
              <a:t>匹配。</a:t>
            </a:r>
            <a:r>
              <a:rPr lang="zh-CN" altLang="en-US" sz="2400" b="1" dirty="0">
                <a:latin typeface="Times New Roman" panose="02020503050405090304" pitchFamily="18" charset="0"/>
                <a:ea typeface="宋体" pitchFamily="2" charset="-122"/>
              </a:rPr>
              <a:t>从规则库中选择与综合数据库中的已知事实匹配。 </a:t>
            </a:r>
            <a:endParaRPr lang="zh-CN" altLang="en-US" sz="2400" b="1" dirty="0">
              <a:latin typeface="Times New Roman" panose="02020503050405090304" pitchFamily="18" charset="0"/>
              <a:ea typeface="宋体" pitchFamily="2" charset="-122"/>
            </a:endParaRPr>
          </a:p>
          <a:p>
            <a:pPr>
              <a:lnSpc>
                <a:spcPct val="120000"/>
              </a:lnSpc>
              <a:spcBef>
                <a:spcPct val="20000"/>
              </a:spcBef>
              <a:buClr>
                <a:schemeClr val="accent2"/>
              </a:buClr>
              <a:buFont typeface="Wingdings" panose="05000000000000000000" pitchFamily="2" charset="2"/>
              <a:buNone/>
            </a:pPr>
            <a:r>
              <a:rPr lang="zh-CN" altLang="en-US" sz="2400" b="1" dirty="0">
                <a:latin typeface="Times New Roman" panose="02020503050405090304" pitchFamily="18" charset="0"/>
                <a:ea typeface="宋体" pitchFamily="2" charset="-122"/>
              </a:rPr>
              <a:t>（</a:t>
            </a:r>
            <a:r>
              <a:rPr lang="en-US" altLang="zh-CN" sz="2400" b="1" dirty="0">
                <a:latin typeface="Times New Roman" panose="02020503050405090304" pitchFamily="18" charset="0"/>
                <a:ea typeface="宋体" pitchFamily="2" charset="-122"/>
              </a:rPr>
              <a:t>2</a:t>
            </a:r>
            <a:r>
              <a:rPr lang="zh-CN" altLang="en-US" sz="2400" b="1" dirty="0">
                <a:latin typeface="Times New Roman" panose="02020503050405090304" pitchFamily="18" charset="0"/>
                <a:ea typeface="宋体" pitchFamily="2" charset="-122"/>
              </a:rPr>
              <a:t>）</a:t>
            </a:r>
            <a:r>
              <a:rPr lang="zh-CN" altLang="en-US" sz="2400" b="1" dirty="0">
                <a:solidFill>
                  <a:srgbClr val="0000FF"/>
                </a:solidFill>
                <a:latin typeface="Times New Roman" panose="02020503050405090304" pitchFamily="18" charset="0"/>
                <a:ea typeface="宋体" pitchFamily="2" charset="-122"/>
              </a:rPr>
              <a:t>冲突消解。</a:t>
            </a:r>
            <a:r>
              <a:rPr lang="zh-CN" altLang="en-US" sz="2400" b="1" dirty="0">
                <a:latin typeface="Times New Roman" panose="02020503050405090304" pitchFamily="18" charset="0"/>
                <a:ea typeface="宋体" pitchFamily="2" charset="-122"/>
              </a:rPr>
              <a:t>如匹配成功的规则不止一条，进行冲突消解。</a:t>
            </a:r>
            <a:endParaRPr lang="zh-CN" altLang="en-US" sz="2400" b="1" dirty="0">
              <a:latin typeface="Times New Roman" panose="02020503050405090304" pitchFamily="18" charset="0"/>
              <a:ea typeface="宋体" pitchFamily="2" charset="-122"/>
            </a:endParaRPr>
          </a:p>
          <a:p>
            <a:pPr>
              <a:lnSpc>
                <a:spcPct val="120000"/>
              </a:lnSpc>
              <a:spcBef>
                <a:spcPct val="20000"/>
              </a:spcBef>
              <a:buClr>
                <a:schemeClr val="accent2"/>
              </a:buClr>
              <a:buFont typeface="Wingdings" panose="05000000000000000000" pitchFamily="2" charset="2"/>
              <a:buNone/>
            </a:pPr>
            <a:r>
              <a:rPr lang="zh-CN" altLang="en-US" sz="2400" b="1" dirty="0">
                <a:latin typeface="Arial" panose="020B0604020202090204" pitchFamily="34" charset="0"/>
                <a:ea typeface="宋体" pitchFamily="2" charset="-122"/>
              </a:rPr>
              <a:t>（ </a:t>
            </a:r>
            <a:r>
              <a:rPr lang="en-US" altLang="zh-CN" sz="2400" b="1" dirty="0">
                <a:latin typeface="Times New Roman" panose="02020503050405090304" pitchFamily="18" charset="0"/>
                <a:ea typeface="宋体" pitchFamily="2" charset="-122"/>
              </a:rPr>
              <a:t>3</a:t>
            </a:r>
            <a:r>
              <a:rPr lang="zh-CN" altLang="en-US" sz="2400" b="1" dirty="0">
                <a:latin typeface="Times New Roman" panose="02020503050405090304" pitchFamily="18" charset="0"/>
                <a:ea typeface="宋体" pitchFamily="2" charset="-122"/>
              </a:rPr>
              <a:t>）</a:t>
            </a:r>
            <a:r>
              <a:rPr lang="zh-CN" altLang="en-US" sz="2400" b="1" dirty="0">
                <a:solidFill>
                  <a:srgbClr val="0000FF"/>
                </a:solidFill>
                <a:latin typeface="Times New Roman" panose="02020503050405090304" pitchFamily="18" charset="0"/>
                <a:ea typeface="宋体" pitchFamily="2" charset="-122"/>
              </a:rPr>
              <a:t>执行规则。</a:t>
            </a:r>
            <a:r>
              <a:rPr lang="zh-CN" altLang="en-US" sz="2400" b="1" dirty="0">
                <a:latin typeface="Times New Roman" panose="02020503050405090304" pitchFamily="18" charset="0"/>
                <a:ea typeface="宋体" pitchFamily="2" charset="-122"/>
              </a:rPr>
              <a:t>如果其右部是一个或多个结论，则把这些结论加入到综合数据库中：如果其右部是一个或多个操作，则执行这些操作。 </a:t>
            </a:r>
            <a:endParaRPr lang="zh-CN" altLang="en-US" sz="2400" b="1" dirty="0">
              <a:latin typeface="Times New Roman" panose="02020503050405090304" pitchFamily="18" charset="0"/>
              <a:ea typeface="宋体" pitchFamily="2" charset="-122"/>
            </a:endParaRPr>
          </a:p>
          <a:p>
            <a:pPr algn="just">
              <a:lnSpc>
                <a:spcPct val="120000"/>
              </a:lnSpc>
              <a:spcBef>
                <a:spcPct val="20000"/>
              </a:spcBef>
              <a:buClr>
                <a:schemeClr val="accent2"/>
              </a:buClr>
              <a:buFont typeface="Wingdings" panose="05000000000000000000" pitchFamily="2" charset="2"/>
              <a:buNone/>
            </a:pPr>
            <a:r>
              <a:rPr lang="zh-CN" altLang="en-US" sz="2400" b="1" dirty="0">
                <a:latin typeface="Arial" panose="020B0604020202090204" pitchFamily="34" charset="0"/>
                <a:ea typeface="宋体" pitchFamily="2" charset="-122"/>
              </a:rPr>
              <a:t>（</a:t>
            </a:r>
            <a:r>
              <a:rPr lang="en-US" altLang="zh-CN" sz="2400" b="1" dirty="0">
                <a:latin typeface="Arial" panose="020B0604020202090204" pitchFamily="34" charset="0"/>
                <a:ea typeface="宋体" pitchFamily="2" charset="-122"/>
              </a:rPr>
              <a:t>4</a:t>
            </a:r>
            <a:r>
              <a:rPr lang="zh-CN" altLang="en-US" sz="2400" b="1" dirty="0">
                <a:latin typeface="Times New Roman" panose="02020503050405090304" pitchFamily="18" charset="0"/>
                <a:ea typeface="宋体" pitchFamily="2" charset="-122"/>
              </a:rPr>
              <a:t>）</a:t>
            </a:r>
            <a:r>
              <a:rPr lang="zh-CN" altLang="en-US" sz="2400" b="1" dirty="0">
                <a:solidFill>
                  <a:srgbClr val="0000FF"/>
                </a:solidFill>
                <a:latin typeface="Times New Roman" panose="02020503050405090304" pitchFamily="18" charset="0"/>
                <a:ea typeface="宋体" pitchFamily="2" charset="-122"/>
              </a:rPr>
              <a:t>检查推理终止条件。</a:t>
            </a:r>
            <a:r>
              <a:rPr lang="zh-CN" altLang="en-US" sz="2400" b="1" dirty="0">
                <a:latin typeface="Times New Roman" panose="02020503050405090304" pitchFamily="18" charset="0"/>
                <a:ea typeface="宋体" pitchFamily="2" charset="-122"/>
              </a:rPr>
              <a:t>检查综合数据库中是否包含了最终结论，决定是否停止系统的运行。</a:t>
            </a:r>
            <a:r>
              <a:rPr lang="zh-CN" altLang="en-US" sz="2400" b="1" dirty="0">
                <a:latin typeface="宋体" pitchFamily="2" charset="-122"/>
                <a:ea typeface="宋体" pitchFamily="2" charset="-122"/>
              </a:rPr>
              <a:t> </a:t>
            </a:r>
            <a:endParaRPr lang="zh-CN" altLang="en-US" sz="2400" b="1" dirty="0">
              <a:latin typeface="宋体" pitchFamily="2" charset="-122"/>
              <a:ea typeface="宋体" pitchFamily="2" charset="-122"/>
            </a:endParaRPr>
          </a:p>
        </p:txBody>
      </p:sp>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灯片编号占位符 1"/>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3250" name="Rectangle 2"/>
          <p:cNvSpPr/>
          <p:nvPr/>
        </p:nvSpPr>
        <p:spPr>
          <a:xfrm>
            <a:off x="-28575" y="0"/>
            <a:ext cx="9172575" cy="779463"/>
          </a:xfrm>
          <a:prstGeom prst="rect">
            <a:avLst/>
          </a:prstGeom>
          <a:solidFill>
            <a:srgbClr val="A50021"/>
          </a:solidFill>
          <a:ln w="9525">
            <a:noFill/>
          </a:ln>
        </p:spPr>
        <p:txBody>
          <a:bodyPr anchor="b" anchorCtr="0"/>
          <a:p>
            <a:pPr indent="176530">
              <a:buClrTx/>
              <a:buFontTx/>
              <a:buNone/>
            </a:pPr>
            <a:r>
              <a:rPr lang="en-US" altLang="zh-CN" sz="3600" dirty="0">
                <a:solidFill>
                  <a:schemeClr val="bg1"/>
                </a:solidFill>
                <a:latin typeface="Times New Roman" panose="02020503050405090304" pitchFamily="18" charset="0"/>
                <a:ea typeface="黑体" panose="02010609060101010101" pitchFamily="49" charset="-122"/>
              </a:rPr>
              <a:t>2.3.3  </a:t>
            </a:r>
            <a:r>
              <a:rPr lang="zh-CN" altLang="en-US" sz="3600" dirty="0">
                <a:solidFill>
                  <a:schemeClr val="bg1"/>
                </a:solidFill>
                <a:latin typeface="Times New Roman" panose="02020503050405090304" pitchFamily="18" charset="0"/>
                <a:ea typeface="黑体" panose="02010609060101010101" pitchFamily="49" charset="-122"/>
              </a:rPr>
              <a:t>产生式系统的例子</a:t>
            </a:r>
            <a:r>
              <a:rPr lang="en-US" altLang="zh-CN" sz="3600" dirty="0">
                <a:solidFill>
                  <a:schemeClr val="bg1"/>
                </a:solidFill>
                <a:latin typeface="Times New Roman" panose="02020503050405090304" pitchFamily="18" charset="0"/>
                <a:ea typeface="黑体" panose="02010609060101010101" pitchFamily="49" charset="-122"/>
              </a:rPr>
              <a:t>——</a:t>
            </a:r>
            <a:r>
              <a:rPr lang="zh-CN" altLang="en-US" sz="3600" dirty="0">
                <a:solidFill>
                  <a:schemeClr val="bg1"/>
                </a:solidFill>
                <a:latin typeface="Times New Roman" panose="02020503050405090304" pitchFamily="18" charset="0"/>
                <a:ea typeface="黑体" panose="02010609060101010101" pitchFamily="49" charset="-122"/>
              </a:rPr>
              <a:t>动物识别系统</a:t>
            </a:r>
            <a:endParaRPr lang="zh-CN" altLang="en-US" sz="3600" dirty="0">
              <a:solidFill>
                <a:schemeClr val="bg1"/>
              </a:solidFill>
              <a:latin typeface="Times New Roman" panose="02020503050405090304" pitchFamily="18" charset="0"/>
              <a:ea typeface="黑体" panose="02010609060101010101" pitchFamily="49" charset="-122"/>
            </a:endParaRPr>
          </a:p>
        </p:txBody>
      </p:sp>
      <p:sp>
        <p:nvSpPr>
          <p:cNvPr id="150531" name="Rectangle 3"/>
          <p:cNvSpPr/>
          <p:nvPr/>
        </p:nvSpPr>
        <p:spPr>
          <a:xfrm>
            <a:off x="236538" y="800100"/>
            <a:ext cx="8642350" cy="5400675"/>
          </a:xfrm>
          <a:prstGeom prst="rect">
            <a:avLst/>
          </a:prstGeom>
          <a:noFill/>
          <a:ln w="9525">
            <a:noFill/>
          </a:ln>
        </p:spPr>
        <p:txBody>
          <a:bodyPr anchor="t" anchorCtr="0"/>
          <a:p>
            <a:pPr marL="469900" indent="-469900">
              <a:lnSpc>
                <a:spcPct val="120000"/>
              </a:lnSpc>
              <a:spcBef>
                <a:spcPct val="20000"/>
              </a:spcBef>
              <a:buClr>
                <a:schemeClr val="accent2"/>
              </a:buClr>
              <a:buFont typeface="Wingdings" panose="05000000000000000000" pitchFamily="2" charset="2"/>
              <a:buChar char="•"/>
            </a:pPr>
            <a:r>
              <a:rPr lang="zh-CN" altLang="en-US" sz="2400" b="1" dirty="0">
                <a:latin typeface="Times New Roman" panose="02020503050405090304" pitchFamily="18" charset="0"/>
                <a:ea typeface="宋体" pitchFamily="2" charset="-122"/>
              </a:rPr>
              <a:t>例如：动物识别系统</a:t>
            </a:r>
            <a:r>
              <a:rPr lang="en-US" altLang="zh-CN" sz="2400" b="1" dirty="0">
                <a:latin typeface="Times New Roman" panose="02020503050405090304" pitchFamily="18" charset="0"/>
                <a:ea typeface="黑体" panose="02010609060101010101" pitchFamily="49" charset="-122"/>
              </a:rPr>
              <a:t>——</a:t>
            </a:r>
            <a:r>
              <a:rPr lang="zh-CN" altLang="en-US" sz="2400" b="1" dirty="0">
                <a:latin typeface="Times New Roman" panose="02020503050405090304" pitchFamily="18" charset="0"/>
                <a:ea typeface="宋体" pitchFamily="2" charset="-122"/>
              </a:rPr>
              <a:t>识别</a:t>
            </a:r>
            <a:r>
              <a:rPr lang="zh-CN" altLang="en-US" sz="2400" b="1" dirty="0">
                <a:solidFill>
                  <a:schemeClr val="accent2"/>
                </a:solidFill>
                <a:latin typeface="Times New Roman" panose="02020503050405090304" pitchFamily="18" charset="0"/>
                <a:ea typeface="宋体" pitchFamily="2" charset="-122"/>
              </a:rPr>
              <a:t>虎、金钱豹、斑马、长颈鹿、鸵鸟、企鹅、信天翁</a:t>
            </a:r>
            <a:r>
              <a:rPr lang="zh-CN" altLang="en-US" sz="2400" b="1" dirty="0">
                <a:latin typeface="Times New Roman" panose="02020503050405090304" pitchFamily="18" charset="0"/>
                <a:ea typeface="宋体" pitchFamily="2" charset="-122"/>
              </a:rPr>
              <a:t>等七种动物的产生式系统。</a:t>
            </a:r>
            <a:endParaRPr lang="zh-CN" altLang="en-US" sz="2400" b="1" dirty="0">
              <a:latin typeface="Times New Roman" panose="02020503050405090304" pitchFamily="18" charset="0"/>
              <a:ea typeface="宋体" pitchFamily="2" charset="-122"/>
            </a:endParaRPr>
          </a:p>
          <a:p>
            <a:pPr marL="469900" indent="-469900">
              <a:lnSpc>
                <a:spcPct val="120000"/>
              </a:lnSpc>
              <a:spcBef>
                <a:spcPct val="20000"/>
              </a:spcBef>
              <a:buClr>
                <a:schemeClr val="accent2"/>
              </a:buClr>
              <a:buFont typeface="Wingdings" panose="05000000000000000000" pitchFamily="2" charset="2"/>
              <a:buChar char="•"/>
            </a:pPr>
            <a:endParaRPr lang="en-US" altLang="zh-CN" sz="2400" dirty="0">
              <a:latin typeface="Times New Roman" panose="02020503050405090304" pitchFamily="18" charset="0"/>
              <a:ea typeface="宋体" pitchFamily="2" charset="-122"/>
            </a:endParaRPr>
          </a:p>
        </p:txBody>
      </p:sp>
      <p:grpSp>
        <p:nvGrpSpPr>
          <p:cNvPr id="2" name="Group 4"/>
          <p:cNvGrpSpPr/>
          <p:nvPr/>
        </p:nvGrpSpPr>
        <p:grpSpPr>
          <a:xfrm>
            <a:off x="222250" y="1935163"/>
            <a:ext cx="8612188" cy="4619625"/>
            <a:chOff x="189" y="1273"/>
            <a:chExt cx="5425" cy="2910"/>
          </a:xfrm>
        </p:grpSpPr>
        <p:pic>
          <p:nvPicPr>
            <p:cNvPr id="53253" name="Picture 5" descr="animal-4"/>
            <p:cNvPicPr>
              <a:picLocks noChangeAspect="1"/>
            </p:cNvPicPr>
            <p:nvPr/>
          </p:nvPicPr>
          <p:blipFill>
            <a:blip r:embed="rId1"/>
            <a:srcRect t="19098" b="11111"/>
            <a:stretch>
              <a:fillRect/>
            </a:stretch>
          </p:blipFill>
          <p:spPr>
            <a:xfrm>
              <a:off x="4051" y="1294"/>
              <a:ext cx="1563" cy="996"/>
            </a:xfrm>
            <a:prstGeom prst="rect">
              <a:avLst/>
            </a:prstGeom>
            <a:noFill/>
            <a:ln w="9525">
              <a:noFill/>
            </a:ln>
          </p:spPr>
        </p:pic>
        <p:pic>
          <p:nvPicPr>
            <p:cNvPr id="53254" name="Picture 6" descr="u=3462107839,4191927326&amp;gp=1"/>
            <p:cNvPicPr>
              <a:picLocks noChangeAspect="1"/>
            </p:cNvPicPr>
            <p:nvPr/>
          </p:nvPicPr>
          <p:blipFill>
            <a:blip r:embed="rId2"/>
            <a:stretch>
              <a:fillRect/>
            </a:stretch>
          </p:blipFill>
          <p:spPr>
            <a:xfrm>
              <a:off x="3074" y="2867"/>
              <a:ext cx="1268" cy="891"/>
            </a:xfrm>
            <a:prstGeom prst="rect">
              <a:avLst/>
            </a:prstGeom>
            <a:noFill/>
            <a:ln w="9525">
              <a:noFill/>
            </a:ln>
          </p:spPr>
        </p:pic>
        <p:pic>
          <p:nvPicPr>
            <p:cNvPr id="53255" name="Picture 7" descr="u=4288045908,359805928&amp;gp=1"/>
            <p:cNvPicPr>
              <a:picLocks noChangeAspect="1"/>
            </p:cNvPicPr>
            <p:nvPr/>
          </p:nvPicPr>
          <p:blipFill>
            <a:blip r:embed="rId3"/>
            <a:srcRect r="4817"/>
            <a:stretch>
              <a:fillRect/>
            </a:stretch>
          </p:blipFill>
          <p:spPr>
            <a:xfrm>
              <a:off x="1837" y="2586"/>
              <a:ext cx="917" cy="1404"/>
            </a:xfrm>
            <a:prstGeom prst="rect">
              <a:avLst/>
            </a:prstGeom>
            <a:noFill/>
            <a:ln w="9525">
              <a:noFill/>
            </a:ln>
          </p:spPr>
        </p:pic>
        <p:pic>
          <p:nvPicPr>
            <p:cNvPr id="53256" name="Picture 8" descr="wjqb"/>
            <p:cNvPicPr>
              <a:picLocks noChangeAspect="1"/>
            </p:cNvPicPr>
            <p:nvPr/>
          </p:nvPicPr>
          <p:blipFill>
            <a:blip r:embed="rId4"/>
            <a:srcRect l="21556" t="7434" b="14951"/>
            <a:stretch>
              <a:fillRect/>
            </a:stretch>
          </p:blipFill>
          <p:spPr>
            <a:xfrm>
              <a:off x="2148" y="1309"/>
              <a:ext cx="1765" cy="950"/>
            </a:xfrm>
            <a:prstGeom prst="rect">
              <a:avLst/>
            </a:prstGeom>
            <a:noFill/>
            <a:ln w="9525">
              <a:noFill/>
            </a:ln>
          </p:spPr>
        </p:pic>
        <p:pic>
          <p:nvPicPr>
            <p:cNvPr id="53257" name="Picture 9" descr="15_26_5967"/>
            <p:cNvPicPr>
              <a:picLocks noChangeAspect="1"/>
            </p:cNvPicPr>
            <p:nvPr/>
          </p:nvPicPr>
          <p:blipFill>
            <a:blip r:embed="rId5"/>
            <a:srcRect l="28880" t="11406" b="20319"/>
            <a:stretch>
              <a:fillRect/>
            </a:stretch>
          </p:blipFill>
          <p:spPr>
            <a:xfrm>
              <a:off x="212" y="1273"/>
              <a:ext cx="1801" cy="997"/>
            </a:xfrm>
            <a:prstGeom prst="rect">
              <a:avLst/>
            </a:prstGeom>
            <a:noFill/>
            <a:ln w="9525">
              <a:noFill/>
            </a:ln>
          </p:spPr>
        </p:pic>
        <p:pic>
          <p:nvPicPr>
            <p:cNvPr id="53258" name="Picture 10" descr="u=4070326354,3913713856&amp;gp=0"/>
            <p:cNvPicPr>
              <a:picLocks noChangeAspect="1"/>
            </p:cNvPicPr>
            <p:nvPr/>
          </p:nvPicPr>
          <p:blipFill>
            <a:blip r:embed="rId6"/>
            <a:stretch>
              <a:fillRect/>
            </a:stretch>
          </p:blipFill>
          <p:spPr>
            <a:xfrm>
              <a:off x="4541" y="2593"/>
              <a:ext cx="1001" cy="663"/>
            </a:xfrm>
            <a:prstGeom prst="rect">
              <a:avLst/>
            </a:prstGeom>
            <a:noFill/>
            <a:ln w="9525">
              <a:noFill/>
            </a:ln>
          </p:spPr>
        </p:pic>
        <p:pic>
          <p:nvPicPr>
            <p:cNvPr id="53259" name="Picture 11" descr="changjinglu2"/>
            <p:cNvPicPr>
              <a:picLocks noChangeAspect="1"/>
            </p:cNvPicPr>
            <p:nvPr/>
          </p:nvPicPr>
          <p:blipFill>
            <a:blip r:embed="rId7"/>
            <a:srcRect t="2428" b="5933"/>
            <a:stretch>
              <a:fillRect/>
            </a:stretch>
          </p:blipFill>
          <p:spPr>
            <a:xfrm>
              <a:off x="189" y="2374"/>
              <a:ext cx="1297" cy="1809"/>
            </a:xfrm>
            <a:prstGeom prst="rect">
              <a:avLst/>
            </a:prstGeom>
            <a:noFill/>
            <a:ln w="9525">
              <a:noFill/>
            </a:ln>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0531">
                                            <p:txEl>
                                              <p:charRg st="0" end="48"/>
                                            </p:txEl>
                                          </p:spTgt>
                                        </p:tgtEl>
                                        <p:attrNameLst>
                                          <p:attrName>style.visibility</p:attrName>
                                        </p:attrNameLst>
                                      </p:cBhvr>
                                      <p:to>
                                        <p:strVal val="visible"/>
                                      </p:to>
                                    </p:set>
                                    <p:anim calcmode="lin" valueType="num">
                                      <p:cBhvr additive="base">
                                        <p:cTn id="7" dur="500" fill="hold"/>
                                        <p:tgtEl>
                                          <p:spTgt spid="150531">
                                            <p:txEl>
                                              <p:charRg st="0" end="48"/>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0531">
                                            <p:txEl>
                                              <p:charRg st="0" end="48"/>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4274" name="Rectangle 7"/>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2.3.3  </a:t>
            </a:r>
            <a:r>
              <a:rPr lang="zh-CN" altLang="en-US" dirty="0">
                <a:latin typeface="Times New Roman" panose="02020503050405090304" pitchFamily="18" charset="0"/>
              </a:rPr>
              <a:t>产生式系统的例子</a:t>
            </a:r>
            <a:r>
              <a:rPr lang="en-US" altLang="zh-CN" dirty="0">
                <a:latin typeface="Times New Roman" panose="02020503050405090304" pitchFamily="18" charset="0"/>
              </a:rPr>
              <a:t>——</a:t>
            </a:r>
            <a:r>
              <a:rPr lang="zh-CN" altLang="en-US" dirty="0">
                <a:latin typeface="Times New Roman" panose="02020503050405090304" pitchFamily="18" charset="0"/>
              </a:rPr>
              <a:t>动物识别系统</a:t>
            </a:r>
            <a:endParaRPr lang="zh-CN" altLang="en-US" dirty="0">
              <a:latin typeface="Times New Roman" panose="02020503050405090304" pitchFamily="18" charset="0"/>
            </a:endParaRPr>
          </a:p>
        </p:txBody>
      </p:sp>
      <p:sp>
        <p:nvSpPr>
          <p:cNvPr id="54275" name="Rectangle 8"/>
          <p:cNvSpPr>
            <a:spLocks noGrp="1"/>
          </p:cNvSpPr>
          <p:nvPr>
            <p:ph idx="1"/>
          </p:nvPr>
        </p:nvSpPr>
        <p:spPr/>
        <p:txBody>
          <a:bodyPr vert="horz" wrap="square" lIns="91440" tIns="45720" rIns="91440" bIns="45720" anchor="t" anchorCtr="0"/>
          <a:p>
            <a:pPr eaLnBrk="1" hangingPunct="1"/>
            <a:r>
              <a:rPr lang="zh-CN" altLang="en-US" sz="2600" b="1" dirty="0">
                <a:latin typeface="Times New Roman" panose="02020503050405090304" pitchFamily="18" charset="0"/>
              </a:rPr>
              <a:t>规则库：</a:t>
            </a:r>
            <a:endParaRPr lang="zh-CN" altLang="en-US" sz="2600" b="1" dirty="0">
              <a:latin typeface="Times New Roman" panose="02020503050405090304" pitchFamily="18" charset="0"/>
            </a:endParaRPr>
          </a:p>
        </p:txBody>
      </p:sp>
      <p:sp>
        <p:nvSpPr>
          <p:cNvPr id="54276" name="Text Box 9"/>
          <p:cNvSpPr txBox="1"/>
          <p:nvPr/>
        </p:nvSpPr>
        <p:spPr>
          <a:xfrm>
            <a:off x="501650" y="1589088"/>
            <a:ext cx="8140700" cy="4403725"/>
          </a:xfrm>
          <a:prstGeom prst="rect">
            <a:avLst/>
          </a:prstGeom>
          <a:gradFill rotWithShape="0">
            <a:gsLst>
              <a:gs pos="0">
                <a:srgbClr val="CCFFCC"/>
              </a:gs>
              <a:gs pos="50000">
                <a:schemeClr val="bg1"/>
              </a:gs>
              <a:gs pos="100000">
                <a:srgbClr val="CCFFCC"/>
              </a:gs>
            </a:gsLst>
            <a:lin ang="18900000" scaled="1"/>
            <a:tileRect/>
          </a:gradFill>
          <a:ln w="9525" cap="flat" cmpd="sng">
            <a:solidFill>
              <a:srgbClr val="808080"/>
            </a:solidFill>
            <a:prstDash val="solid"/>
            <a:miter/>
            <a:headEnd type="none" w="med" len="med"/>
            <a:tailEnd type="none" w="med" len="med"/>
          </a:ln>
        </p:spPr>
        <p:txBody>
          <a:bodyPr anchor="t" anchorCtr="0">
            <a:spAutoFit/>
          </a:bodyPr>
          <a:p>
            <a:pPr algn="just">
              <a:lnSpc>
                <a:spcPct val="110000"/>
              </a:lnSpc>
              <a:spcBef>
                <a:spcPct val="20000"/>
              </a:spcBef>
              <a:buClrTx/>
              <a:buFontTx/>
            </a:pPr>
            <a:r>
              <a:rPr lang="en-US" altLang="zh-CN" sz="2000" b="1" i="1" dirty="0">
                <a:latin typeface="Times New Roman" panose="02020503050405090304" pitchFamily="18" charset="0"/>
                <a:ea typeface="宋体" pitchFamily="2" charset="-122"/>
              </a:rPr>
              <a:t>r</a:t>
            </a:r>
            <a:r>
              <a:rPr lang="en-US" altLang="zh-CN" sz="2000" b="1" baseline="-30000" dirty="0">
                <a:latin typeface="Times New Roman" panose="02020503050405090304" pitchFamily="18" charset="0"/>
                <a:ea typeface="宋体" pitchFamily="2" charset="-122"/>
              </a:rPr>
              <a:t>1</a:t>
            </a:r>
            <a:r>
              <a:rPr lang="zh-CN" altLang="en-US" sz="2000" b="1" dirty="0">
                <a:latin typeface="宋体" pitchFamily="2" charset="-122"/>
                <a:ea typeface="宋体" pitchFamily="2" charset="-122"/>
              </a:rPr>
              <a:t>：</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IF   </a:t>
            </a:r>
            <a:r>
              <a:rPr lang="zh-CN" altLang="en-US" sz="2000" b="1" dirty="0">
                <a:latin typeface="宋体" pitchFamily="2" charset="-122"/>
                <a:ea typeface="宋体" pitchFamily="2" charset="-122"/>
              </a:rPr>
              <a:t>该动物有毛发</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THEN  </a:t>
            </a:r>
            <a:r>
              <a:rPr lang="zh-CN" altLang="en-US" sz="2000" b="1" dirty="0">
                <a:latin typeface="宋体" pitchFamily="2" charset="-122"/>
                <a:ea typeface="宋体" pitchFamily="2" charset="-122"/>
              </a:rPr>
              <a:t>该动物是哺乳动物</a:t>
            </a:r>
            <a:endParaRPr lang="zh-CN" altLang="en-US" sz="2000" b="1" dirty="0">
              <a:latin typeface="Times New Roman" panose="02020503050405090304" pitchFamily="18" charset="0"/>
              <a:ea typeface="宋体" pitchFamily="2" charset="-122"/>
            </a:endParaRPr>
          </a:p>
          <a:p>
            <a:pPr algn="just">
              <a:lnSpc>
                <a:spcPct val="110000"/>
              </a:lnSpc>
              <a:spcBef>
                <a:spcPct val="20000"/>
              </a:spcBef>
              <a:buClrTx/>
              <a:buFontTx/>
            </a:pPr>
            <a:r>
              <a:rPr lang="en-US" altLang="zh-CN" sz="2000" b="1" i="1" dirty="0">
                <a:latin typeface="Times New Roman" panose="02020503050405090304" pitchFamily="18" charset="0"/>
                <a:ea typeface="宋体" pitchFamily="2" charset="-122"/>
              </a:rPr>
              <a:t>r</a:t>
            </a:r>
            <a:r>
              <a:rPr lang="en-US" altLang="zh-CN" sz="2000" b="1" baseline="-30000" dirty="0">
                <a:latin typeface="Times New Roman" panose="02020503050405090304" pitchFamily="18" charset="0"/>
                <a:ea typeface="宋体" pitchFamily="2" charset="-122"/>
              </a:rPr>
              <a:t>2</a:t>
            </a:r>
            <a:r>
              <a:rPr lang="zh-CN" altLang="en-US" sz="2000" b="1" dirty="0">
                <a:latin typeface="宋体" pitchFamily="2" charset="-122"/>
                <a:ea typeface="宋体" pitchFamily="2" charset="-122"/>
              </a:rPr>
              <a:t>：</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IF   </a:t>
            </a:r>
            <a:r>
              <a:rPr lang="zh-CN" altLang="en-US" sz="2000" b="1" dirty="0">
                <a:latin typeface="宋体" pitchFamily="2" charset="-122"/>
                <a:ea typeface="宋体" pitchFamily="2" charset="-122"/>
              </a:rPr>
              <a:t>该动物有奶</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THEN  </a:t>
            </a:r>
            <a:r>
              <a:rPr lang="zh-CN" altLang="en-US" sz="2000" b="1" dirty="0">
                <a:latin typeface="宋体" pitchFamily="2" charset="-122"/>
                <a:ea typeface="宋体" pitchFamily="2" charset="-122"/>
              </a:rPr>
              <a:t>该动物是哺乳动物</a:t>
            </a:r>
            <a:endParaRPr lang="zh-CN" altLang="en-US" sz="2000" b="1" dirty="0">
              <a:latin typeface="Times New Roman" panose="02020503050405090304" pitchFamily="18" charset="0"/>
              <a:ea typeface="宋体" pitchFamily="2" charset="-122"/>
            </a:endParaRPr>
          </a:p>
          <a:p>
            <a:pPr algn="just">
              <a:lnSpc>
                <a:spcPct val="110000"/>
              </a:lnSpc>
              <a:spcBef>
                <a:spcPct val="20000"/>
              </a:spcBef>
              <a:buClrTx/>
              <a:buFontTx/>
            </a:pPr>
            <a:r>
              <a:rPr lang="en-US" altLang="zh-CN" sz="2000" b="1" i="1" dirty="0">
                <a:latin typeface="Times New Roman" panose="02020503050405090304" pitchFamily="18" charset="0"/>
                <a:ea typeface="宋体" pitchFamily="2" charset="-122"/>
              </a:rPr>
              <a:t>r</a:t>
            </a:r>
            <a:r>
              <a:rPr lang="en-US" altLang="zh-CN" sz="2000" b="1" baseline="-30000" dirty="0">
                <a:solidFill>
                  <a:srgbClr val="0000FF"/>
                </a:solidFill>
                <a:latin typeface="Times New Roman" panose="02020503050405090304" pitchFamily="18" charset="0"/>
                <a:ea typeface="宋体" pitchFamily="2" charset="-122"/>
              </a:rPr>
              <a:t>3</a:t>
            </a:r>
            <a:r>
              <a:rPr lang="zh-CN" altLang="en-US" sz="2000" b="1" dirty="0">
                <a:latin typeface="宋体" pitchFamily="2" charset="-122"/>
                <a:ea typeface="宋体" pitchFamily="2" charset="-122"/>
              </a:rPr>
              <a:t>：</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IF   </a:t>
            </a:r>
            <a:r>
              <a:rPr lang="zh-CN" altLang="en-US" sz="2000" b="1" dirty="0">
                <a:latin typeface="宋体" pitchFamily="2" charset="-122"/>
                <a:ea typeface="宋体" pitchFamily="2" charset="-122"/>
              </a:rPr>
              <a:t>该动物有羽毛</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THEN  </a:t>
            </a:r>
            <a:r>
              <a:rPr lang="zh-CN" altLang="en-US" sz="2000" b="1" dirty="0">
                <a:latin typeface="宋体" pitchFamily="2" charset="-122"/>
                <a:ea typeface="宋体" pitchFamily="2" charset="-122"/>
              </a:rPr>
              <a:t>该动物是</a:t>
            </a:r>
            <a:r>
              <a:rPr lang="zh-CN" altLang="en-US" sz="2000" b="1" dirty="0">
                <a:solidFill>
                  <a:srgbClr val="0000FF"/>
                </a:solidFill>
                <a:latin typeface="宋体" pitchFamily="2" charset="-122"/>
                <a:ea typeface="宋体" pitchFamily="2" charset="-122"/>
              </a:rPr>
              <a:t>鸟</a:t>
            </a:r>
            <a:endParaRPr lang="zh-CN" altLang="en-US" sz="2000" b="1" dirty="0">
              <a:solidFill>
                <a:srgbClr val="0000FF"/>
              </a:solidFill>
              <a:latin typeface="Times New Roman" panose="02020503050405090304" pitchFamily="18" charset="0"/>
              <a:ea typeface="宋体" pitchFamily="2" charset="-122"/>
            </a:endParaRPr>
          </a:p>
          <a:p>
            <a:pPr algn="just">
              <a:lnSpc>
                <a:spcPct val="110000"/>
              </a:lnSpc>
              <a:spcBef>
                <a:spcPct val="20000"/>
              </a:spcBef>
              <a:buClrTx/>
              <a:buFontTx/>
            </a:pPr>
            <a:r>
              <a:rPr lang="en-US" altLang="zh-CN" sz="2000" b="1" i="1" dirty="0">
                <a:latin typeface="Times New Roman" panose="02020503050405090304" pitchFamily="18" charset="0"/>
                <a:ea typeface="宋体" pitchFamily="2" charset="-122"/>
              </a:rPr>
              <a:t>r</a:t>
            </a:r>
            <a:r>
              <a:rPr lang="en-US" altLang="zh-CN" sz="2000" b="1" baseline="-30000" dirty="0">
                <a:solidFill>
                  <a:srgbClr val="0000FF"/>
                </a:solidFill>
                <a:latin typeface="Times New Roman" panose="02020503050405090304" pitchFamily="18" charset="0"/>
                <a:ea typeface="宋体" pitchFamily="2" charset="-122"/>
              </a:rPr>
              <a:t>4</a:t>
            </a:r>
            <a:r>
              <a:rPr lang="zh-CN" altLang="en-US" sz="2000" b="1" dirty="0">
                <a:latin typeface="宋体" pitchFamily="2" charset="-122"/>
                <a:ea typeface="宋体" pitchFamily="2" charset="-122"/>
              </a:rPr>
              <a:t>：</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IF   </a:t>
            </a:r>
            <a:r>
              <a:rPr lang="zh-CN" altLang="en-US" sz="2000" b="1" dirty="0">
                <a:latin typeface="宋体" pitchFamily="2" charset="-122"/>
                <a:ea typeface="宋体" pitchFamily="2" charset="-122"/>
              </a:rPr>
              <a:t>该动物会飞</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AND  </a:t>
            </a:r>
            <a:r>
              <a:rPr lang="zh-CN" altLang="en-US" sz="2000" b="1" dirty="0">
                <a:latin typeface="宋体" pitchFamily="2" charset="-122"/>
                <a:ea typeface="宋体" pitchFamily="2" charset="-122"/>
              </a:rPr>
              <a:t>会下蛋</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THEN  </a:t>
            </a:r>
            <a:r>
              <a:rPr lang="zh-CN" altLang="en-US" sz="2000" b="1" dirty="0">
                <a:latin typeface="宋体" pitchFamily="2" charset="-122"/>
                <a:ea typeface="宋体" pitchFamily="2" charset="-122"/>
              </a:rPr>
              <a:t>该动物是</a:t>
            </a:r>
            <a:r>
              <a:rPr lang="zh-CN" altLang="en-US" sz="2000" b="1" dirty="0">
                <a:solidFill>
                  <a:srgbClr val="0000FF"/>
                </a:solidFill>
                <a:latin typeface="宋体" pitchFamily="2" charset="-122"/>
                <a:ea typeface="宋体" pitchFamily="2" charset="-122"/>
              </a:rPr>
              <a:t>鸟</a:t>
            </a:r>
            <a:endParaRPr lang="zh-CN" altLang="en-US" sz="2000" b="1" dirty="0">
              <a:solidFill>
                <a:srgbClr val="0000FF"/>
              </a:solidFill>
              <a:latin typeface="Times New Roman" panose="02020503050405090304" pitchFamily="18" charset="0"/>
              <a:ea typeface="宋体" pitchFamily="2" charset="-122"/>
            </a:endParaRPr>
          </a:p>
          <a:p>
            <a:pPr algn="just">
              <a:lnSpc>
                <a:spcPct val="110000"/>
              </a:lnSpc>
              <a:spcBef>
                <a:spcPct val="20000"/>
              </a:spcBef>
              <a:buClrTx/>
              <a:buFontTx/>
            </a:pPr>
            <a:r>
              <a:rPr lang="en-US" altLang="zh-CN" sz="2000" b="1" i="1" dirty="0">
                <a:latin typeface="Times New Roman" panose="02020503050405090304" pitchFamily="18" charset="0"/>
                <a:ea typeface="宋体" pitchFamily="2" charset="-122"/>
              </a:rPr>
              <a:t>r</a:t>
            </a:r>
            <a:r>
              <a:rPr lang="en-US" altLang="zh-CN" sz="2000" b="1" baseline="-30000" dirty="0">
                <a:solidFill>
                  <a:schemeClr val="accent2"/>
                </a:solidFill>
                <a:latin typeface="Times New Roman" panose="02020503050405090304" pitchFamily="18" charset="0"/>
                <a:ea typeface="宋体" pitchFamily="2" charset="-122"/>
              </a:rPr>
              <a:t>5</a:t>
            </a:r>
            <a:r>
              <a:rPr lang="zh-CN" altLang="en-US" sz="2000" b="1" dirty="0">
                <a:latin typeface="宋体" pitchFamily="2" charset="-122"/>
                <a:ea typeface="宋体" pitchFamily="2" charset="-122"/>
              </a:rPr>
              <a:t>：</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IF   </a:t>
            </a:r>
            <a:r>
              <a:rPr lang="zh-CN" altLang="en-US" sz="2000" b="1" dirty="0">
                <a:latin typeface="宋体" pitchFamily="2" charset="-122"/>
                <a:ea typeface="宋体" pitchFamily="2" charset="-122"/>
              </a:rPr>
              <a:t>该动物吃肉</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THEN  </a:t>
            </a:r>
            <a:r>
              <a:rPr lang="zh-CN" altLang="en-US" sz="2000" b="1" dirty="0">
                <a:latin typeface="宋体" pitchFamily="2" charset="-122"/>
                <a:ea typeface="宋体" pitchFamily="2" charset="-122"/>
              </a:rPr>
              <a:t>该动物是</a:t>
            </a:r>
            <a:r>
              <a:rPr lang="zh-CN" altLang="en-US" sz="2000" b="1" dirty="0">
                <a:solidFill>
                  <a:schemeClr val="accent2"/>
                </a:solidFill>
                <a:latin typeface="宋体" pitchFamily="2" charset="-122"/>
                <a:ea typeface="宋体" pitchFamily="2" charset="-122"/>
              </a:rPr>
              <a:t>食肉动物</a:t>
            </a:r>
            <a:endParaRPr lang="zh-CN" altLang="en-US" sz="2000" b="1" dirty="0">
              <a:solidFill>
                <a:schemeClr val="accent2"/>
              </a:solidFill>
              <a:latin typeface="Times New Roman" panose="02020503050405090304" pitchFamily="18" charset="0"/>
              <a:ea typeface="宋体" pitchFamily="2" charset="-122"/>
            </a:endParaRPr>
          </a:p>
          <a:p>
            <a:pPr algn="just">
              <a:lnSpc>
                <a:spcPct val="110000"/>
              </a:lnSpc>
              <a:spcBef>
                <a:spcPct val="20000"/>
              </a:spcBef>
              <a:buClrTx/>
              <a:buFontTx/>
            </a:pPr>
            <a:r>
              <a:rPr lang="en-US" altLang="zh-CN" sz="2000" b="1" i="1" dirty="0">
                <a:latin typeface="Times New Roman" panose="02020503050405090304" pitchFamily="18" charset="0"/>
                <a:ea typeface="宋体" pitchFamily="2" charset="-122"/>
              </a:rPr>
              <a:t>r</a:t>
            </a:r>
            <a:r>
              <a:rPr lang="en-US" altLang="zh-CN" sz="2000" b="1" baseline="-30000" dirty="0">
                <a:solidFill>
                  <a:schemeClr val="accent2"/>
                </a:solidFill>
                <a:latin typeface="Times New Roman" panose="02020503050405090304" pitchFamily="18" charset="0"/>
                <a:ea typeface="宋体" pitchFamily="2" charset="-122"/>
              </a:rPr>
              <a:t>6</a:t>
            </a:r>
            <a:r>
              <a:rPr lang="zh-CN" altLang="en-US" sz="2000" b="1" dirty="0">
                <a:latin typeface="宋体" pitchFamily="2" charset="-122"/>
                <a:ea typeface="宋体" pitchFamily="2" charset="-122"/>
              </a:rPr>
              <a:t>：</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IF   </a:t>
            </a:r>
            <a:r>
              <a:rPr lang="zh-CN" altLang="en-US" sz="2000" b="1" dirty="0">
                <a:latin typeface="宋体" pitchFamily="2" charset="-122"/>
                <a:ea typeface="宋体" pitchFamily="2" charset="-122"/>
              </a:rPr>
              <a:t>该动物有犬齿</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AND  </a:t>
            </a:r>
            <a:r>
              <a:rPr lang="zh-CN" altLang="en-US" sz="2000" b="1" dirty="0">
                <a:latin typeface="宋体" pitchFamily="2" charset="-122"/>
                <a:ea typeface="宋体" pitchFamily="2" charset="-122"/>
              </a:rPr>
              <a:t>有爪</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AND  </a:t>
            </a:r>
            <a:r>
              <a:rPr lang="zh-CN" altLang="en-US" sz="2000" b="1" dirty="0">
                <a:latin typeface="宋体" pitchFamily="2" charset="-122"/>
                <a:ea typeface="宋体" pitchFamily="2" charset="-122"/>
              </a:rPr>
              <a:t>眼盯前方</a:t>
            </a:r>
            <a:endParaRPr lang="zh-CN" altLang="en-US" sz="2000" b="1" dirty="0">
              <a:latin typeface="Times New Roman" panose="02020503050405090304" pitchFamily="18" charset="0"/>
              <a:ea typeface="宋体" pitchFamily="2" charset="-122"/>
            </a:endParaRPr>
          </a:p>
          <a:p>
            <a:pPr algn="just">
              <a:lnSpc>
                <a:spcPct val="110000"/>
              </a:lnSpc>
              <a:spcBef>
                <a:spcPct val="20000"/>
              </a:spcBef>
              <a:buClrTx/>
              <a:buFontTx/>
            </a:pP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THEN  </a:t>
            </a:r>
            <a:r>
              <a:rPr lang="zh-CN" altLang="en-US" sz="2000" b="1" dirty="0">
                <a:latin typeface="宋体" pitchFamily="2" charset="-122"/>
                <a:ea typeface="宋体" pitchFamily="2" charset="-122"/>
              </a:rPr>
              <a:t>该动物是</a:t>
            </a:r>
            <a:r>
              <a:rPr lang="zh-CN" altLang="en-US" sz="2000" b="1" dirty="0">
                <a:solidFill>
                  <a:schemeClr val="accent2"/>
                </a:solidFill>
                <a:latin typeface="宋体" pitchFamily="2" charset="-122"/>
                <a:ea typeface="宋体" pitchFamily="2" charset="-122"/>
              </a:rPr>
              <a:t>食肉动物</a:t>
            </a:r>
            <a:endParaRPr lang="zh-CN" altLang="en-US" sz="2000" b="1" dirty="0">
              <a:solidFill>
                <a:schemeClr val="accent2"/>
              </a:solidFill>
              <a:latin typeface="宋体" pitchFamily="2" charset="-122"/>
              <a:ea typeface="宋体" pitchFamily="2" charset="-122"/>
            </a:endParaRPr>
          </a:p>
          <a:p>
            <a:pPr algn="just">
              <a:lnSpc>
                <a:spcPct val="110000"/>
              </a:lnSpc>
              <a:spcBef>
                <a:spcPct val="20000"/>
              </a:spcBef>
              <a:buClrTx/>
              <a:buFontTx/>
            </a:pPr>
            <a:r>
              <a:rPr lang="en-US" altLang="zh-CN" sz="2000" b="1" i="1" dirty="0">
                <a:latin typeface="Times New Roman" panose="02020503050405090304" pitchFamily="18" charset="0"/>
                <a:ea typeface="宋体" pitchFamily="2" charset="-122"/>
              </a:rPr>
              <a:t>r</a:t>
            </a:r>
            <a:r>
              <a:rPr lang="en-US" altLang="zh-CN" sz="2000" b="1" baseline="-30000" dirty="0">
                <a:solidFill>
                  <a:srgbClr val="006666"/>
                </a:solidFill>
                <a:latin typeface="Times New Roman" panose="02020503050405090304" pitchFamily="18" charset="0"/>
                <a:ea typeface="宋体" pitchFamily="2" charset="-122"/>
              </a:rPr>
              <a:t>7</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IF   </a:t>
            </a:r>
            <a:r>
              <a:rPr lang="zh-CN" altLang="en-US" sz="2000" b="1" dirty="0">
                <a:latin typeface="Times New Roman" panose="02020503050405090304" pitchFamily="18" charset="0"/>
                <a:ea typeface="宋体" pitchFamily="2" charset="-122"/>
              </a:rPr>
              <a:t>该动物是哺乳动物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有蹄  </a:t>
            </a:r>
            <a:endParaRPr lang="zh-CN" altLang="en-US" sz="2000" b="1" dirty="0">
              <a:latin typeface="Times New Roman" panose="02020503050405090304" pitchFamily="18" charset="0"/>
              <a:ea typeface="宋体" pitchFamily="2" charset="-122"/>
            </a:endParaRPr>
          </a:p>
          <a:p>
            <a:pPr algn="just">
              <a:lnSpc>
                <a:spcPct val="110000"/>
              </a:lnSpc>
              <a:spcBef>
                <a:spcPct val="20000"/>
              </a:spcBef>
              <a:buClrTx/>
              <a:buFontTx/>
            </a:pP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THEN  </a:t>
            </a:r>
            <a:r>
              <a:rPr lang="zh-CN" altLang="en-US" sz="2000" b="1" dirty="0">
                <a:latin typeface="Times New Roman" panose="02020503050405090304" pitchFamily="18" charset="0"/>
                <a:ea typeface="宋体" pitchFamily="2" charset="-122"/>
              </a:rPr>
              <a:t>该动物是</a:t>
            </a:r>
            <a:r>
              <a:rPr lang="zh-CN" altLang="en-US" sz="2000" b="1" dirty="0">
                <a:solidFill>
                  <a:srgbClr val="006666"/>
                </a:solidFill>
                <a:latin typeface="Times New Roman" panose="02020503050405090304" pitchFamily="18" charset="0"/>
                <a:ea typeface="宋体" pitchFamily="2" charset="-122"/>
              </a:rPr>
              <a:t>有蹄类动物</a:t>
            </a:r>
            <a:endParaRPr lang="zh-CN" altLang="en-US" sz="2000" b="1" dirty="0">
              <a:solidFill>
                <a:srgbClr val="006666"/>
              </a:solidFill>
              <a:latin typeface="Times New Roman" panose="02020503050405090304" pitchFamily="18" charset="0"/>
              <a:ea typeface="宋体" pitchFamily="2" charset="-122"/>
            </a:endParaRPr>
          </a:p>
          <a:p>
            <a:pPr algn="just">
              <a:lnSpc>
                <a:spcPct val="110000"/>
              </a:lnSpc>
              <a:spcBef>
                <a:spcPct val="20000"/>
              </a:spcBef>
              <a:buClrTx/>
              <a:buFontTx/>
            </a:pPr>
            <a:r>
              <a:rPr lang="en-US" altLang="zh-CN" sz="2000" b="1" i="1" dirty="0">
                <a:latin typeface="Times New Roman" panose="02020503050405090304" pitchFamily="18" charset="0"/>
                <a:ea typeface="宋体" pitchFamily="2" charset="-122"/>
              </a:rPr>
              <a:t>r</a:t>
            </a:r>
            <a:r>
              <a:rPr lang="en-US" altLang="zh-CN" sz="2000" b="1" baseline="-30000" dirty="0">
                <a:solidFill>
                  <a:srgbClr val="006666"/>
                </a:solidFill>
                <a:latin typeface="Times New Roman" panose="02020503050405090304" pitchFamily="18" charset="0"/>
                <a:ea typeface="宋体" pitchFamily="2" charset="-122"/>
              </a:rPr>
              <a:t> 8</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IF   </a:t>
            </a:r>
            <a:r>
              <a:rPr lang="zh-CN" altLang="en-US" sz="2000" b="1" dirty="0">
                <a:latin typeface="Times New Roman" panose="02020503050405090304" pitchFamily="18" charset="0"/>
                <a:ea typeface="宋体" pitchFamily="2" charset="-122"/>
              </a:rPr>
              <a:t>该动物是哺乳动物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是反刍动物  </a:t>
            </a:r>
            <a:endParaRPr lang="zh-CN" altLang="en-US" sz="2000" b="1" dirty="0">
              <a:latin typeface="Times New Roman" panose="02020503050405090304" pitchFamily="18" charset="0"/>
              <a:ea typeface="宋体" pitchFamily="2" charset="-122"/>
            </a:endParaRPr>
          </a:p>
          <a:p>
            <a:pPr algn="just">
              <a:lnSpc>
                <a:spcPct val="110000"/>
              </a:lnSpc>
              <a:spcBef>
                <a:spcPct val="20000"/>
              </a:spcBef>
              <a:buClrTx/>
              <a:buFontTx/>
            </a:pP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THEN  </a:t>
            </a:r>
            <a:r>
              <a:rPr lang="zh-CN" altLang="en-US" sz="2000" b="1" dirty="0">
                <a:latin typeface="Times New Roman" panose="02020503050405090304" pitchFamily="18" charset="0"/>
                <a:ea typeface="宋体" pitchFamily="2" charset="-122"/>
              </a:rPr>
              <a:t>该动物是</a:t>
            </a:r>
            <a:r>
              <a:rPr lang="zh-CN" altLang="en-US" sz="2000" b="1" dirty="0">
                <a:solidFill>
                  <a:srgbClr val="006666"/>
                </a:solidFill>
                <a:latin typeface="Times New Roman" panose="02020503050405090304" pitchFamily="18" charset="0"/>
                <a:ea typeface="宋体" pitchFamily="2" charset="-122"/>
              </a:rPr>
              <a:t>有蹄类动物</a:t>
            </a:r>
            <a:endParaRPr lang="zh-CN" altLang="en-US" sz="2000" b="1" dirty="0">
              <a:solidFill>
                <a:srgbClr val="006666"/>
              </a:solidFill>
              <a:latin typeface="Arial" panose="020B0604020202090204" pitchFamily="34" charset="0"/>
              <a:ea typeface="宋体" pitchFamily="2" charset="-122"/>
            </a:endParaRPr>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5298" name="Rectangle 7"/>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2.3.3  </a:t>
            </a:r>
            <a:r>
              <a:rPr lang="zh-CN" altLang="en-US" dirty="0">
                <a:latin typeface="Times New Roman" panose="02020503050405090304" pitchFamily="18" charset="0"/>
              </a:rPr>
              <a:t>产生式系统的例子</a:t>
            </a:r>
            <a:r>
              <a:rPr lang="en-US" altLang="zh-CN" dirty="0">
                <a:latin typeface="Times New Roman" panose="02020503050405090304" pitchFamily="18" charset="0"/>
              </a:rPr>
              <a:t>——</a:t>
            </a:r>
            <a:r>
              <a:rPr lang="zh-CN" altLang="en-US" dirty="0">
                <a:latin typeface="Times New Roman" panose="02020503050405090304" pitchFamily="18" charset="0"/>
              </a:rPr>
              <a:t>动物识别系统</a:t>
            </a:r>
            <a:endParaRPr lang="zh-CN" altLang="en-US" dirty="0">
              <a:latin typeface="Times New Roman" panose="02020503050405090304" pitchFamily="18" charset="0"/>
            </a:endParaRPr>
          </a:p>
        </p:txBody>
      </p:sp>
      <p:sp>
        <p:nvSpPr>
          <p:cNvPr id="55299" name="Text Box 8"/>
          <p:cNvSpPr txBox="1"/>
          <p:nvPr/>
        </p:nvSpPr>
        <p:spPr>
          <a:xfrm>
            <a:off x="349250" y="923925"/>
            <a:ext cx="8547100" cy="5203825"/>
          </a:xfrm>
          <a:prstGeom prst="rect">
            <a:avLst/>
          </a:prstGeom>
          <a:gradFill rotWithShape="0">
            <a:gsLst>
              <a:gs pos="0">
                <a:srgbClr val="CCFFCC"/>
              </a:gs>
              <a:gs pos="50000">
                <a:schemeClr val="bg1"/>
              </a:gs>
              <a:gs pos="100000">
                <a:srgbClr val="CCFFCC"/>
              </a:gs>
            </a:gsLst>
            <a:lin ang="18900000" scaled="1"/>
            <a:tileRect/>
          </a:gradFill>
          <a:ln w="9525" cap="flat" cmpd="sng">
            <a:solidFill>
              <a:srgbClr val="808080"/>
            </a:solidFill>
            <a:prstDash val="solid"/>
            <a:miter/>
            <a:headEnd type="none" w="med" len="med"/>
            <a:tailEnd type="none" w="med" len="med"/>
          </a:ln>
        </p:spPr>
        <p:txBody>
          <a:bodyPr anchor="t" anchorCtr="0">
            <a:spAutoFit/>
          </a:bodyPr>
          <a:p>
            <a:pPr algn="just">
              <a:lnSpc>
                <a:spcPct val="110000"/>
              </a:lnSpc>
              <a:spcBef>
                <a:spcPct val="20000"/>
              </a:spcBef>
              <a:buClrTx/>
              <a:buFontTx/>
            </a:pPr>
            <a:r>
              <a:rPr lang="en-US" altLang="zh-CN" sz="2000" b="1" i="1" dirty="0">
                <a:latin typeface="Times New Roman" panose="02020503050405090304" pitchFamily="18" charset="0"/>
                <a:ea typeface="宋体" pitchFamily="2" charset="-122"/>
              </a:rPr>
              <a:t>r</a:t>
            </a:r>
            <a:r>
              <a:rPr lang="en-US" altLang="zh-CN" sz="2000" b="1" baseline="-30000" dirty="0">
                <a:solidFill>
                  <a:schemeClr val="accent2"/>
                </a:solidFill>
                <a:latin typeface="Times New Roman" panose="02020503050405090304" pitchFamily="18" charset="0"/>
                <a:ea typeface="宋体" pitchFamily="2" charset="-122"/>
              </a:rPr>
              <a:t>9</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IF  </a:t>
            </a:r>
            <a:r>
              <a:rPr lang="zh-CN" altLang="en-US" sz="2000" b="1" dirty="0">
                <a:latin typeface="Times New Roman" panose="02020503050405090304" pitchFamily="18" charset="0"/>
                <a:ea typeface="宋体" pitchFamily="2" charset="-122"/>
              </a:rPr>
              <a:t>该动物是哺乳动物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是食肉动物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是黄褐色 </a:t>
            </a:r>
            <a:endParaRPr lang="zh-CN" altLang="en-US" sz="2000" b="1" dirty="0">
              <a:latin typeface="Times New Roman" panose="02020503050405090304" pitchFamily="18" charset="0"/>
              <a:ea typeface="宋体" pitchFamily="2" charset="-122"/>
            </a:endParaRPr>
          </a:p>
          <a:p>
            <a:pPr algn="just">
              <a:lnSpc>
                <a:spcPct val="110000"/>
              </a:lnSpc>
              <a:spcBef>
                <a:spcPct val="20000"/>
              </a:spcBef>
              <a:buClrTx/>
              <a:buFontTx/>
            </a:pP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身上有暗斑点           </a:t>
            </a:r>
            <a:r>
              <a:rPr lang="en-US" altLang="zh-CN" sz="2000" b="1" dirty="0">
                <a:latin typeface="Times New Roman" panose="02020503050405090304" pitchFamily="18" charset="0"/>
                <a:ea typeface="宋体" pitchFamily="2" charset="-122"/>
              </a:rPr>
              <a:t>THEN  </a:t>
            </a:r>
            <a:r>
              <a:rPr lang="zh-CN" altLang="en-US" sz="2000" b="1" dirty="0">
                <a:latin typeface="Times New Roman" panose="02020503050405090304" pitchFamily="18" charset="0"/>
                <a:ea typeface="宋体" pitchFamily="2" charset="-122"/>
              </a:rPr>
              <a:t>该动物是</a:t>
            </a:r>
            <a:r>
              <a:rPr lang="zh-CN" altLang="en-US" sz="2000" b="1" dirty="0">
                <a:solidFill>
                  <a:schemeClr val="accent2"/>
                </a:solidFill>
                <a:latin typeface="Times New Roman" panose="02020503050405090304" pitchFamily="18" charset="0"/>
                <a:ea typeface="宋体" pitchFamily="2" charset="-122"/>
              </a:rPr>
              <a:t>金钱豹</a:t>
            </a:r>
            <a:r>
              <a:rPr lang="zh-CN" altLang="en-US" sz="2000" b="1" dirty="0">
                <a:latin typeface="Times New Roman" panose="02020503050405090304" pitchFamily="18" charset="0"/>
                <a:ea typeface="宋体" pitchFamily="2" charset="-122"/>
              </a:rPr>
              <a:t>                                     </a:t>
            </a:r>
            <a:endParaRPr lang="zh-CN" altLang="en-US" sz="2000" b="1" dirty="0">
              <a:solidFill>
                <a:schemeClr val="accent2"/>
              </a:solidFill>
              <a:latin typeface="Times New Roman" panose="02020503050405090304" pitchFamily="18" charset="0"/>
              <a:ea typeface="宋体" pitchFamily="2" charset="-122"/>
            </a:endParaRPr>
          </a:p>
          <a:p>
            <a:pPr algn="just">
              <a:lnSpc>
                <a:spcPct val="110000"/>
              </a:lnSpc>
              <a:spcBef>
                <a:spcPct val="20000"/>
              </a:spcBef>
              <a:buClrTx/>
              <a:buFontTx/>
            </a:pPr>
            <a:r>
              <a:rPr lang="en-US" altLang="zh-CN" sz="2000" b="1" i="1" dirty="0">
                <a:latin typeface="Times New Roman" panose="02020503050405090304" pitchFamily="18" charset="0"/>
                <a:ea typeface="宋体" pitchFamily="2" charset="-122"/>
              </a:rPr>
              <a:t>r</a:t>
            </a:r>
            <a:r>
              <a:rPr lang="en-US" altLang="zh-CN" sz="2000" b="1" baseline="-30000" dirty="0">
                <a:solidFill>
                  <a:schemeClr val="accent2"/>
                </a:solidFill>
                <a:latin typeface="Times New Roman" panose="02020503050405090304" pitchFamily="18" charset="0"/>
                <a:ea typeface="宋体" pitchFamily="2" charset="-122"/>
              </a:rPr>
              <a:t>10</a:t>
            </a:r>
            <a:r>
              <a:rPr lang="zh-CN" altLang="en-US" sz="2000" b="1" dirty="0">
                <a:latin typeface="Times New Roman" panose="02020503050405090304" pitchFamily="18" charset="0"/>
                <a:ea typeface="宋体" pitchFamily="2" charset="-122"/>
              </a:rPr>
              <a:t>：</a:t>
            </a:r>
            <a:r>
              <a:rPr lang="en-US" altLang="zh-CN" sz="2000" b="1" dirty="0">
                <a:latin typeface="Times New Roman" panose="02020503050405090304" pitchFamily="18" charset="0"/>
                <a:ea typeface="宋体" pitchFamily="2" charset="-122"/>
              </a:rPr>
              <a:t>IF  </a:t>
            </a:r>
            <a:r>
              <a:rPr lang="zh-CN" altLang="en-US" sz="2000" b="1" dirty="0">
                <a:latin typeface="Times New Roman" panose="02020503050405090304" pitchFamily="18" charset="0"/>
                <a:ea typeface="宋体" pitchFamily="2" charset="-122"/>
              </a:rPr>
              <a:t>该动物是哺乳动物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是食肉动物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是黄褐色 </a:t>
            </a:r>
            <a:endParaRPr lang="zh-CN" altLang="en-US" sz="2000" b="1" dirty="0">
              <a:latin typeface="Times New Roman" panose="02020503050405090304" pitchFamily="18" charset="0"/>
              <a:ea typeface="宋体" pitchFamily="2" charset="-122"/>
            </a:endParaRPr>
          </a:p>
          <a:p>
            <a:pPr algn="just">
              <a:lnSpc>
                <a:spcPct val="110000"/>
              </a:lnSpc>
              <a:spcBef>
                <a:spcPct val="20000"/>
              </a:spcBef>
              <a:buClrTx/>
              <a:buFontTx/>
            </a:pP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身上有黑色条纹     </a:t>
            </a:r>
            <a:r>
              <a:rPr lang="en-US" altLang="zh-CN" sz="2000" b="1" dirty="0">
                <a:latin typeface="Times New Roman" panose="02020503050405090304" pitchFamily="18" charset="0"/>
                <a:ea typeface="宋体" pitchFamily="2" charset="-122"/>
              </a:rPr>
              <a:t>THEN  </a:t>
            </a:r>
            <a:r>
              <a:rPr lang="zh-CN" altLang="en-US" sz="2000" b="1" dirty="0">
                <a:latin typeface="Times New Roman" panose="02020503050405090304" pitchFamily="18" charset="0"/>
                <a:ea typeface="宋体" pitchFamily="2" charset="-122"/>
              </a:rPr>
              <a:t>该动物是</a:t>
            </a:r>
            <a:r>
              <a:rPr lang="zh-CN" altLang="en-US" sz="2000" b="1" dirty="0">
                <a:solidFill>
                  <a:schemeClr val="accent2"/>
                </a:solidFill>
                <a:latin typeface="Times New Roman" panose="02020503050405090304" pitchFamily="18" charset="0"/>
                <a:ea typeface="宋体" pitchFamily="2" charset="-122"/>
              </a:rPr>
              <a:t>虎</a:t>
            </a:r>
            <a:r>
              <a:rPr lang="zh-CN" altLang="en-US" sz="2000" b="1" dirty="0">
                <a:latin typeface="Times New Roman" panose="02020503050405090304" pitchFamily="18" charset="0"/>
                <a:ea typeface="宋体" pitchFamily="2" charset="-122"/>
              </a:rPr>
              <a:t>                                     </a:t>
            </a:r>
            <a:endParaRPr lang="zh-CN" altLang="en-US" sz="2000" b="1" dirty="0">
              <a:solidFill>
                <a:schemeClr val="accent2"/>
              </a:solidFill>
              <a:latin typeface="Times New Roman" panose="02020503050405090304" pitchFamily="18" charset="0"/>
              <a:ea typeface="宋体" pitchFamily="2" charset="-122"/>
            </a:endParaRPr>
          </a:p>
          <a:p>
            <a:pPr algn="just">
              <a:lnSpc>
                <a:spcPct val="110000"/>
              </a:lnSpc>
              <a:spcBef>
                <a:spcPct val="20000"/>
              </a:spcBef>
              <a:buClrTx/>
              <a:buFontTx/>
            </a:pPr>
            <a:r>
              <a:rPr lang="en-US" altLang="zh-CN" sz="2000" b="1" i="1" dirty="0">
                <a:latin typeface="Times New Roman" panose="02020503050405090304" pitchFamily="18" charset="0"/>
                <a:ea typeface="宋体" pitchFamily="2" charset="-122"/>
              </a:rPr>
              <a:t>r</a:t>
            </a:r>
            <a:r>
              <a:rPr lang="en-US" altLang="zh-CN" sz="2000" b="1" baseline="-30000" dirty="0">
                <a:solidFill>
                  <a:srgbClr val="006666"/>
                </a:solidFill>
                <a:latin typeface="Times New Roman" panose="02020503050405090304" pitchFamily="18" charset="0"/>
                <a:ea typeface="宋体" pitchFamily="2" charset="-122"/>
              </a:rPr>
              <a:t>11</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IF  </a:t>
            </a:r>
            <a:r>
              <a:rPr lang="zh-CN" altLang="en-US" sz="2000" b="1" dirty="0">
                <a:latin typeface="Times New Roman" panose="02020503050405090304" pitchFamily="18" charset="0"/>
                <a:ea typeface="宋体" pitchFamily="2" charset="-122"/>
              </a:rPr>
              <a:t>该动物是有蹄类动物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有长脖子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有长腿 </a:t>
            </a:r>
            <a:endParaRPr lang="zh-CN" altLang="en-US" sz="2000" b="1" dirty="0">
              <a:latin typeface="Times New Roman" panose="02020503050405090304" pitchFamily="18" charset="0"/>
              <a:ea typeface="宋体" pitchFamily="2" charset="-122"/>
            </a:endParaRPr>
          </a:p>
          <a:p>
            <a:pPr algn="just">
              <a:lnSpc>
                <a:spcPct val="110000"/>
              </a:lnSpc>
              <a:spcBef>
                <a:spcPct val="20000"/>
              </a:spcBef>
              <a:buClrTx/>
              <a:buFontTx/>
            </a:pP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身上有暗斑点      </a:t>
            </a:r>
            <a:r>
              <a:rPr lang="en-US" altLang="zh-CN" sz="2000" b="1" dirty="0">
                <a:latin typeface="Times New Roman" panose="02020503050405090304" pitchFamily="18" charset="0"/>
                <a:ea typeface="宋体" pitchFamily="2" charset="-122"/>
              </a:rPr>
              <a:t>THEN  </a:t>
            </a:r>
            <a:r>
              <a:rPr lang="zh-CN" altLang="en-US" sz="2000" b="1" dirty="0">
                <a:latin typeface="Times New Roman" panose="02020503050405090304" pitchFamily="18" charset="0"/>
                <a:ea typeface="宋体" pitchFamily="2" charset="-122"/>
              </a:rPr>
              <a:t>该动物是</a:t>
            </a:r>
            <a:r>
              <a:rPr lang="zh-CN" altLang="en-US" sz="2000" b="1" dirty="0">
                <a:solidFill>
                  <a:srgbClr val="006666"/>
                </a:solidFill>
                <a:latin typeface="Times New Roman" panose="02020503050405090304" pitchFamily="18" charset="0"/>
                <a:ea typeface="宋体" pitchFamily="2" charset="-122"/>
              </a:rPr>
              <a:t>长颈鹿</a:t>
            </a:r>
            <a:r>
              <a:rPr lang="zh-CN" altLang="en-US" sz="2000" b="1" dirty="0">
                <a:latin typeface="Times New Roman" panose="02020503050405090304" pitchFamily="18" charset="0"/>
                <a:ea typeface="宋体" pitchFamily="2" charset="-122"/>
              </a:rPr>
              <a:t>                                     </a:t>
            </a:r>
            <a:endParaRPr lang="zh-CN" altLang="en-US" sz="2000" b="1" dirty="0">
              <a:solidFill>
                <a:srgbClr val="006666"/>
              </a:solidFill>
              <a:latin typeface="Times New Roman" panose="02020503050405090304" pitchFamily="18" charset="0"/>
              <a:ea typeface="宋体" pitchFamily="2" charset="-122"/>
            </a:endParaRPr>
          </a:p>
          <a:p>
            <a:pPr algn="just">
              <a:lnSpc>
                <a:spcPct val="110000"/>
              </a:lnSpc>
              <a:spcBef>
                <a:spcPct val="20000"/>
              </a:spcBef>
              <a:buClrTx/>
              <a:buFontTx/>
            </a:pPr>
            <a:r>
              <a:rPr lang="en-US" altLang="zh-CN" sz="2000" b="1" i="1" dirty="0">
                <a:latin typeface="Times New Roman" panose="02020503050405090304" pitchFamily="18" charset="0"/>
                <a:ea typeface="宋体" pitchFamily="2" charset="-122"/>
              </a:rPr>
              <a:t>r</a:t>
            </a:r>
            <a:r>
              <a:rPr lang="en-US" altLang="zh-CN" sz="2000" b="1" baseline="-30000" dirty="0">
                <a:solidFill>
                  <a:srgbClr val="006666"/>
                </a:solidFill>
                <a:latin typeface="Times New Roman" panose="02020503050405090304" pitchFamily="18" charset="0"/>
                <a:ea typeface="宋体" pitchFamily="2" charset="-122"/>
              </a:rPr>
              <a:t> 12</a:t>
            </a:r>
            <a:r>
              <a:rPr lang="zh-CN" altLang="en-US" sz="2000" b="1" dirty="0">
                <a:latin typeface="Times New Roman" panose="02020503050405090304" pitchFamily="18" charset="0"/>
                <a:ea typeface="宋体" pitchFamily="2" charset="-122"/>
              </a:rPr>
              <a:t>：</a:t>
            </a:r>
            <a:r>
              <a:rPr lang="en-US" altLang="zh-CN" sz="2000" b="1" dirty="0">
                <a:latin typeface="Times New Roman" panose="02020503050405090304" pitchFamily="18" charset="0"/>
                <a:ea typeface="宋体" pitchFamily="2" charset="-122"/>
              </a:rPr>
              <a:t>IF  </a:t>
            </a:r>
            <a:r>
              <a:rPr lang="zh-CN" altLang="en-US" sz="2000" b="1" dirty="0">
                <a:latin typeface="Times New Roman" panose="02020503050405090304" pitchFamily="18" charset="0"/>
                <a:ea typeface="宋体" pitchFamily="2" charset="-122"/>
              </a:rPr>
              <a:t>该动物有蹄类动物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身上有黑色条纹  </a:t>
            </a:r>
            <a:endParaRPr lang="zh-CN" altLang="en-US" sz="2000" b="1" dirty="0">
              <a:latin typeface="Times New Roman" panose="02020503050405090304" pitchFamily="18" charset="0"/>
              <a:ea typeface="宋体" pitchFamily="2" charset="-122"/>
            </a:endParaRPr>
          </a:p>
          <a:p>
            <a:pPr algn="just">
              <a:lnSpc>
                <a:spcPct val="110000"/>
              </a:lnSpc>
              <a:spcBef>
                <a:spcPct val="20000"/>
              </a:spcBef>
              <a:buClrTx/>
              <a:buFontTx/>
            </a:pP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THEN  </a:t>
            </a:r>
            <a:r>
              <a:rPr lang="zh-CN" altLang="en-US" sz="2000" b="1" dirty="0">
                <a:latin typeface="Times New Roman" panose="02020503050405090304" pitchFamily="18" charset="0"/>
                <a:ea typeface="宋体" pitchFamily="2" charset="-122"/>
              </a:rPr>
              <a:t>该动物是</a:t>
            </a:r>
            <a:r>
              <a:rPr lang="zh-CN" altLang="en-US" sz="2000" b="1" dirty="0">
                <a:solidFill>
                  <a:srgbClr val="006666"/>
                </a:solidFill>
                <a:latin typeface="Times New Roman" panose="02020503050405090304" pitchFamily="18" charset="0"/>
                <a:ea typeface="宋体" pitchFamily="2" charset="-122"/>
              </a:rPr>
              <a:t>斑马</a:t>
            </a:r>
            <a:endParaRPr lang="zh-CN" altLang="en-US" sz="2000" b="1" dirty="0">
              <a:solidFill>
                <a:srgbClr val="006666"/>
              </a:solidFill>
              <a:latin typeface="Times New Roman" panose="02020503050405090304" pitchFamily="18" charset="0"/>
              <a:ea typeface="宋体" pitchFamily="2" charset="-122"/>
            </a:endParaRPr>
          </a:p>
          <a:p>
            <a:pPr algn="just">
              <a:lnSpc>
                <a:spcPct val="110000"/>
              </a:lnSpc>
              <a:spcBef>
                <a:spcPct val="20000"/>
              </a:spcBef>
              <a:buClrTx/>
              <a:buFontTx/>
            </a:pPr>
            <a:r>
              <a:rPr lang="en-US" altLang="zh-CN" sz="2000" b="1" i="1" dirty="0">
                <a:latin typeface="Times New Roman" panose="02020503050405090304" pitchFamily="18" charset="0"/>
                <a:ea typeface="宋体" pitchFamily="2" charset="-122"/>
              </a:rPr>
              <a:t>r</a:t>
            </a:r>
            <a:r>
              <a:rPr lang="en-US" altLang="zh-CN" sz="2000" b="1" baseline="-30000" dirty="0">
                <a:solidFill>
                  <a:srgbClr val="0000FF"/>
                </a:solidFill>
                <a:latin typeface="Times New Roman" panose="02020503050405090304" pitchFamily="18" charset="0"/>
                <a:ea typeface="宋体" pitchFamily="2" charset="-122"/>
              </a:rPr>
              <a:t>13</a:t>
            </a:r>
            <a:r>
              <a:rPr lang="zh-CN" altLang="en-US" sz="2000" b="1" dirty="0">
                <a:latin typeface="Times New Roman" panose="02020503050405090304" pitchFamily="18" charset="0"/>
                <a:ea typeface="宋体" pitchFamily="2" charset="-122"/>
              </a:rPr>
              <a:t>：</a:t>
            </a:r>
            <a:r>
              <a:rPr lang="en-US" altLang="zh-CN" sz="2000" b="1" dirty="0">
                <a:latin typeface="Times New Roman" panose="02020503050405090304" pitchFamily="18" charset="0"/>
                <a:ea typeface="宋体" pitchFamily="2" charset="-122"/>
              </a:rPr>
              <a:t>IF  </a:t>
            </a:r>
            <a:r>
              <a:rPr lang="zh-CN" altLang="en-US" sz="2000" b="1" dirty="0">
                <a:latin typeface="Times New Roman" panose="02020503050405090304" pitchFamily="18" charset="0"/>
                <a:ea typeface="宋体" pitchFamily="2" charset="-122"/>
              </a:rPr>
              <a:t>该动物是鸟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有长脖子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有长腿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不会飞 </a:t>
            </a:r>
            <a:endParaRPr lang="zh-CN" altLang="en-US" sz="2000" b="1" dirty="0">
              <a:latin typeface="Times New Roman" panose="02020503050405090304" pitchFamily="18" charset="0"/>
              <a:ea typeface="宋体" pitchFamily="2" charset="-122"/>
            </a:endParaRPr>
          </a:p>
          <a:p>
            <a:pPr algn="just">
              <a:lnSpc>
                <a:spcPct val="110000"/>
              </a:lnSpc>
              <a:spcBef>
                <a:spcPct val="20000"/>
              </a:spcBef>
              <a:buClrTx/>
              <a:buFontTx/>
            </a:pP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有黑白二色           </a:t>
            </a:r>
            <a:r>
              <a:rPr lang="en-US" altLang="zh-CN" sz="2000" b="1" dirty="0">
                <a:latin typeface="Times New Roman" panose="02020503050405090304" pitchFamily="18" charset="0"/>
                <a:ea typeface="宋体" pitchFamily="2" charset="-122"/>
              </a:rPr>
              <a:t>THEN  </a:t>
            </a:r>
            <a:r>
              <a:rPr lang="zh-CN" altLang="en-US" sz="2000" b="1" dirty="0">
                <a:latin typeface="Times New Roman" panose="02020503050405090304" pitchFamily="18" charset="0"/>
                <a:ea typeface="宋体" pitchFamily="2" charset="-122"/>
              </a:rPr>
              <a:t>该动物是</a:t>
            </a:r>
            <a:r>
              <a:rPr lang="zh-CN" altLang="en-US" sz="2000" b="1" dirty="0">
                <a:solidFill>
                  <a:srgbClr val="0000FF"/>
                </a:solidFill>
                <a:latin typeface="Times New Roman" panose="02020503050405090304" pitchFamily="18" charset="0"/>
                <a:ea typeface="宋体" pitchFamily="2" charset="-122"/>
              </a:rPr>
              <a:t>鸵鸟</a:t>
            </a:r>
            <a:endParaRPr lang="zh-CN" altLang="en-US" sz="2000" b="1" dirty="0">
              <a:latin typeface="Times New Roman" panose="02020503050405090304" pitchFamily="18" charset="0"/>
              <a:ea typeface="宋体" pitchFamily="2" charset="-122"/>
            </a:endParaRPr>
          </a:p>
          <a:p>
            <a:pPr algn="just">
              <a:lnSpc>
                <a:spcPct val="110000"/>
              </a:lnSpc>
              <a:spcBef>
                <a:spcPct val="20000"/>
              </a:spcBef>
              <a:buClrTx/>
              <a:buFontTx/>
            </a:pPr>
            <a:r>
              <a:rPr lang="en-US" altLang="zh-CN" sz="2000" b="1" i="1" dirty="0">
                <a:latin typeface="Times New Roman" panose="02020503050405090304" pitchFamily="18" charset="0"/>
                <a:ea typeface="宋体" pitchFamily="2" charset="-122"/>
              </a:rPr>
              <a:t>r</a:t>
            </a:r>
            <a:r>
              <a:rPr lang="en-US" altLang="zh-CN" sz="2000" b="1" baseline="-30000" dirty="0">
                <a:solidFill>
                  <a:srgbClr val="0000FF"/>
                </a:solidFill>
                <a:latin typeface="Times New Roman" panose="02020503050405090304" pitchFamily="18" charset="0"/>
                <a:ea typeface="宋体" pitchFamily="2" charset="-122"/>
              </a:rPr>
              <a:t>14</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IF  </a:t>
            </a:r>
            <a:r>
              <a:rPr lang="zh-CN" altLang="en-US" sz="2000" b="1" dirty="0">
                <a:latin typeface="Times New Roman" panose="02020503050405090304" pitchFamily="18" charset="0"/>
                <a:ea typeface="宋体" pitchFamily="2" charset="-122"/>
              </a:rPr>
              <a:t>该动物是鸟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会游泳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不会飞 </a:t>
            </a:r>
            <a:endParaRPr lang="zh-CN" altLang="en-US" sz="2000" b="1" dirty="0">
              <a:latin typeface="Times New Roman" panose="02020503050405090304" pitchFamily="18" charset="0"/>
              <a:ea typeface="宋体" pitchFamily="2" charset="-122"/>
            </a:endParaRPr>
          </a:p>
          <a:p>
            <a:pPr algn="just">
              <a:lnSpc>
                <a:spcPct val="110000"/>
              </a:lnSpc>
              <a:spcBef>
                <a:spcPct val="20000"/>
              </a:spcBef>
              <a:buClrTx/>
              <a:buFontTx/>
            </a:pP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有黑白二色             </a:t>
            </a:r>
            <a:r>
              <a:rPr lang="en-US" altLang="zh-CN" sz="2000" b="1" dirty="0">
                <a:latin typeface="Times New Roman" panose="02020503050405090304" pitchFamily="18" charset="0"/>
                <a:ea typeface="宋体" pitchFamily="2" charset="-122"/>
              </a:rPr>
              <a:t>THEN  </a:t>
            </a:r>
            <a:r>
              <a:rPr lang="zh-CN" altLang="en-US" sz="2000" b="1" dirty="0">
                <a:latin typeface="Times New Roman" panose="02020503050405090304" pitchFamily="18" charset="0"/>
                <a:ea typeface="宋体" pitchFamily="2" charset="-122"/>
              </a:rPr>
              <a:t>该动物是</a:t>
            </a:r>
            <a:r>
              <a:rPr lang="zh-CN" altLang="en-US" sz="2000" b="1" dirty="0">
                <a:solidFill>
                  <a:srgbClr val="0000FF"/>
                </a:solidFill>
                <a:latin typeface="Times New Roman" panose="02020503050405090304" pitchFamily="18" charset="0"/>
                <a:ea typeface="宋体" pitchFamily="2" charset="-122"/>
              </a:rPr>
              <a:t>企鹅</a:t>
            </a:r>
            <a:r>
              <a:rPr lang="zh-CN" altLang="en-US" sz="2000" b="1" dirty="0">
                <a:latin typeface="Times New Roman" panose="02020503050405090304" pitchFamily="18" charset="0"/>
                <a:ea typeface="宋体" pitchFamily="2" charset="-122"/>
              </a:rPr>
              <a:t>                         </a:t>
            </a:r>
            <a:endParaRPr lang="zh-CN" altLang="en-US" sz="2000" b="1" dirty="0">
              <a:latin typeface="Times New Roman" panose="02020503050405090304" pitchFamily="18" charset="0"/>
              <a:ea typeface="宋体" pitchFamily="2" charset="-122"/>
            </a:endParaRPr>
          </a:p>
          <a:p>
            <a:pPr algn="just">
              <a:lnSpc>
                <a:spcPct val="110000"/>
              </a:lnSpc>
              <a:spcBef>
                <a:spcPct val="20000"/>
              </a:spcBef>
              <a:buClrTx/>
              <a:buFontTx/>
            </a:pPr>
            <a:r>
              <a:rPr lang="en-US" altLang="zh-CN" sz="2000" b="1" i="1" dirty="0">
                <a:latin typeface="Times New Roman" panose="02020503050405090304" pitchFamily="18" charset="0"/>
                <a:ea typeface="宋体" pitchFamily="2" charset="-122"/>
              </a:rPr>
              <a:t>r</a:t>
            </a:r>
            <a:r>
              <a:rPr lang="en-US" altLang="zh-CN" sz="2000" b="1" baseline="-30000" dirty="0">
                <a:solidFill>
                  <a:srgbClr val="0000FF"/>
                </a:solidFill>
                <a:latin typeface="Times New Roman" panose="02020503050405090304" pitchFamily="18" charset="0"/>
                <a:ea typeface="宋体" pitchFamily="2" charset="-122"/>
              </a:rPr>
              <a:t>15</a:t>
            </a:r>
            <a:r>
              <a:rPr lang="zh-CN" altLang="en-US" sz="2000" b="1" dirty="0">
                <a:latin typeface="Times New Roman" panose="02020503050405090304" pitchFamily="18" charset="0"/>
                <a:ea typeface="宋体" pitchFamily="2" charset="-122"/>
              </a:rPr>
              <a:t>： </a:t>
            </a:r>
            <a:r>
              <a:rPr lang="en-US" altLang="zh-CN" sz="2000" b="1" dirty="0">
                <a:latin typeface="Times New Roman" panose="02020503050405090304" pitchFamily="18" charset="0"/>
                <a:ea typeface="宋体" pitchFamily="2" charset="-122"/>
              </a:rPr>
              <a:t>IF  </a:t>
            </a:r>
            <a:r>
              <a:rPr lang="zh-CN" altLang="en-US" sz="2000" b="1" dirty="0">
                <a:latin typeface="Times New Roman" panose="02020503050405090304" pitchFamily="18" charset="0"/>
                <a:ea typeface="宋体" pitchFamily="2" charset="-122"/>
              </a:rPr>
              <a:t>该动物是鸟   </a:t>
            </a:r>
            <a:r>
              <a:rPr lang="en-US" altLang="zh-CN" sz="2000" b="1" dirty="0">
                <a:latin typeface="Times New Roman" panose="02020503050405090304" pitchFamily="18" charset="0"/>
                <a:ea typeface="宋体" pitchFamily="2" charset="-122"/>
              </a:rPr>
              <a:t>AND  </a:t>
            </a:r>
            <a:r>
              <a:rPr lang="zh-CN" altLang="en-US" sz="2000" b="1" dirty="0">
                <a:latin typeface="Times New Roman" panose="02020503050405090304" pitchFamily="18" charset="0"/>
                <a:ea typeface="宋体" pitchFamily="2" charset="-122"/>
              </a:rPr>
              <a:t>善飞     </a:t>
            </a:r>
            <a:r>
              <a:rPr lang="en-US" altLang="zh-CN" sz="2000" b="1" dirty="0">
                <a:latin typeface="Times New Roman" panose="02020503050405090304" pitchFamily="18" charset="0"/>
                <a:ea typeface="宋体" pitchFamily="2" charset="-122"/>
              </a:rPr>
              <a:t>THEN  </a:t>
            </a:r>
            <a:r>
              <a:rPr lang="zh-CN" altLang="en-US" sz="2000" b="1" dirty="0">
                <a:latin typeface="宋体" pitchFamily="2" charset="-122"/>
                <a:ea typeface="宋体" pitchFamily="2" charset="-122"/>
              </a:rPr>
              <a:t>该动物是</a:t>
            </a:r>
            <a:r>
              <a:rPr lang="zh-CN" altLang="en-US" sz="2000" b="1" dirty="0">
                <a:solidFill>
                  <a:srgbClr val="0000FF"/>
                </a:solidFill>
                <a:latin typeface="宋体" pitchFamily="2" charset="-122"/>
                <a:ea typeface="宋体" pitchFamily="2" charset="-122"/>
              </a:rPr>
              <a:t>信天翁</a:t>
            </a:r>
            <a:endParaRPr lang="zh-CN" altLang="en-US" sz="2000" b="1" dirty="0">
              <a:solidFill>
                <a:srgbClr val="0000FF"/>
              </a:solidFill>
              <a:latin typeface="宋体" pitchFamily="2" charset="-122"/>
              <a:ea typeface="宋体" pitchFamily="2" charset="-122"/>
            </a:endParaRPr>
          </a:p>
        </p:txBody>
      </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6322"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2.3.3  </a:t>
            </a:r>
            <a:r>
              <a:rPr lang="zh-CN" altLang="en-US" dirty="0">
                <a:latin typeface="Times New Roman" panose="02020503050405090304" pitchFamily="18" charset="0"/>
              </a:rPr>
              <a:t>产生式系统的例子</a:t>
            </a:r>
            <a:r>
              <a:rPr lang="en-US" altLang="zh-CN" dirty="0">
                <a:latin typeface="Times New Roman" panose="02020503050405090304" pitchFamily="18" charset="0"/>
              </a:rPr>
              <a:t>——</a:t>
            </a:r>
            <a:r>
              <a:rPr lang="zh-CN" altLang="en-US" dirty="0">
                <a:latin typeface="Times New Roman" panose="02020503050405090304" pitchFamily="18" charset="0"/>
              </a:rPr>
              <a:t>动物识别系统</a:t>
            </a:r>
            <a:endParaRPr lang="zh-CN" altLang="en-US" dirty="0">
              <a:latin typeface="Times New Roman" panose="02020503050405090304" pitchFamily="18" charset="0"/>
            </a:endParaRPr>
          </a:p>
        </p:txBody>
      </p:sp>
      <p:sp>
        <p:nvSpPr>
          <p:cNvPr id="56323" name="Rectangle 3"/>
          <p:cNvSpPr>
            <a:spLocks noGrp="1"/>
          </p:cNvSpPr>
          <p:nvPr>
            <p:ph idx="1"/>
          </p:nvPr>
        </p:nvSpPr>
        <p:spPr>
          <a:xfrm>
            <a:off x="250825" y="1022350"/>
            <a:ext cx="8642350" cy="5835650"/>
          </a:xfrm>
        </p:spPr>
        <p:txBody>
          <a:bodyPr vert="horz" wrap="square" lIns="91440" tIns="45720" rIns="91440" bIns="45720" anchor="t" anchorCtr="0"/>
          <a:p>
            <a:pPr marL="190500" indent="-190500" eaLnBrk="1" hangingPunct="1"/>
            <a:r>
              <a:rPr lang="en-US" altLang="zh-CN" dirty="0"/>
              <a:t> </a:t>
            </a:r>
            <a:r>
              <a:rPr lang="zh-CN" altLang="en-US" dirty="0"/>
              <a:t>设已知初始事实存放在</a:t>
            </a:r>
            <a:r>
              <a:rPr lang="zh-CN" altLang="en-US" b="1" dirty="0">
                <a:solidFill>
                  <a:schemeClr val="folHlink"/>
                </a:solidFill>
              </a:rPr>
              <a:t>综合数据库</a:t>
            </a:r>
            <a:r>
              <a:rPr lang="zh-CN" altLang="en-US" dirty="0"/>
              <a:t>中：</a:t>
            </a:r>
            <a:endParaRPr lang="zh-CN" altLang="en-US" dirty="0"/>
          </a:p>
          <a:p>
            <a:pPr marL="190500" indent="-190500" eaLnBrk="1" hangingPunct="1">
              <a:buNone/>
            </a:pPr>
            <a:r>
              <a:rPr lang="zh-CN" altLang="en-US" b="1" dirty="0"/>
              <a:t>     </a:t>
            </a:r>
            <a:r>
              <a:rPr lang="zh-CN" altLang="en-US" b="1" dirty="0">
                <a:solidFill>
                  <a:schemeClr val="accent2"/>
                </a:solidFill>
              </a:rPr>
              <a:t>该动物身上有：暗斑点，长脖子，长腿，奶，蹄</a:t>
            </a:r>
            <a:endParaRPr lang="zh-CN" altLang="en-US" b="1" dirty="0">
              <a:solidFill>
                <a:schemeClr val="accent2"/>
              </a:solidFill>
            </a:endParaRPr>
          </a:p>
          <a:p>
            <a:pPr marL="190500" indent="-190500" eaLnBrk="1" hangingPunct="1">
              <a:spcBef>
                <a:spcPct val="40000"/>
              </a:spcBef>
            </a:pPr>
            <a:r>
              <a:rPr lang="zh-CN" altLang="en-US" b="1" dirty="0">
                <a:latin typeface="宋体" pitchFamily="2" charset="-122"/>
              </a:rPr>
              <a:t> 推理机构的工作过程</a:t>
            </a:r>
            <a:r>
              <a:rPr lang="zh-CN" altLang="en-US" b="1" dirty="0"/>
              <a:t> ：</a:t>
            </a:r>
            <a:endParaRPr lang="zh-CN" altLang="en-US" b="1" dirty="0"/>
          </a:p>
          <a:p>
            <a:pPr marL="190500" indent="-190500" eaLnBrk="1" hangingPunct="1">
              <a:buNone/>
            </a:pPr>
            <a:r>
              <a:rPr lang="zh-CN" altLang="en-US" dirty="0">
                <a:latin typeface="Times New Roman" panose="02020503050405090304" pitchFamily="18" charset="0"/>
              </a:rPr>
              <a:t>（</a:t>
            </a:r>
            <a:r>
              <a:rPr lang="en-US" altLang="zh-CN" dirty="0">
                <a:latin typeface="Times New Roman" panose="02020503050405090304" pitchFamily="18" charset="0"/>
              </a:rPr>
              <a:t>1</a:t>
            </a:r>
            <a:r>
              <a:rPr lang="zh-CN" altLang="en-US" dirty="0">
                <a:latin typeface="宋体" pitchFamily="2" charset="-122"/>
              </a:rPr>
              <a:t>）从规则库中取出</a:t>
            </a:r>
            <a:r>
              <a:rPr lang="en-US" altLang="zh-CN" i="1" dirty="0">
                <a:latin typeface="Times New Roman" panose="02020503050405090304" pitchFamily="18" charset="0"/>
              </a:rPr>
              <a:t>r</a:t>
            </a:r>
            <a:r>
              <a:rPr lang="en-US" altLang="zh-CN" baseline="-30000" dirty="0">
                <a:latin typeface="Times New Roman" panose="02020503050405090304" pitchFamily="18" charset="0"/>
              </a:rPr>
              <a:t>1</a:t>
            </a:r>
            <a:r>
              <a:rPr lang="zh-CN" altLang="en-US" dirty="0">
                <a:latin typeface="宋体" pitchFamily="2" charset="-122"/>
              </a:rPr>
              <a:t>，检查其前提是否可与综合数据库中的已知事实匹配。匹配失败则</a:t>
            </a:r>
            <a:r>
              <a:rPr lang="en-US" altLang="zh-CN" i="1" dirty="0">
                <a:latin typeface="Times New Roman" panose="02020503050405090304" pitchFamily="18" charset="0"/>
              </a:rPr>
              <a:t>r</a:t>
            </a:r>
            <a:r>
              <a:rPr lang="en-US" altLang="zh-CN" baseline="-30000" dirty="0">
                <a:latin typeface="宋体" pitchFamily="2" charset="-122"/>
              </a:rPr>
              <a:t>1</a:t>
            </a:r>
            <a:r>
              <a:rPr lang="zh-CN" altLang="en-US" dirty="0">
                <a:latin typeface="宋体" pitchFamily="2" charset="-122"/>
              </a:rPr>
              <a:t>不能被用于推理。然后取</a:t>
            </a:r>
            <a:r>
              <a:rPr lang="en-US" altLang="zh-CN" i="1" dirty="0">
                <a:latin typeface="Times New Roman" panose="02020503050405090304" pitchFamily="18" charset="0"/>
              </a:rPr>
              <a:t>r</a:t>
            </a:r>
            <a:r>
              <a:rPr lang="en-US" altLang="zh-CN" baseline="-30000" dirty="0">
                <a:latin typeface="宋体" pitchFamily="2" charset="-122"/>
              </a:rPr>
              <a:t>2</a:t>
            </a:r>
            <a:r>
              <a:rPr lang="zh-CN" altLang="en-US" dirty="0">
                <a:latin typeface="宋体" pitchFamily="2" charset="-122"/>
              </a:rPr>
              <a:t>进行同样的工作。匹配成功则</a:t>
            </a:r>
            <a:r>
              <a:rPr lang="en-US" altLang="zh-CN" i="1" dirty="0">
                <a:latin typeface="Times New Roman" panose="02020503050405090304" pitchFamily="18" charset="0"/>
              </a:rPr>
              <a:t>r</a:t>
            </a:r>
            <a:r>
              <a:rPr lang="en-US" altLang="zh-CN" baseline="-30000" dirty="0">
                <a:latin typeface="宋体" pitchFamily="2" charset="-122"/>
              </a:rPr>
              <a:t>2</a:t>
            </a:r>
            <a:r>
              <a:rPr lang="zh-CN" altLang="en-US" dirty="0">
                <a:latin typeface="宋体" pitchFamily="2" charset="-122"/>
              </a:rPr>
              <a:t>被执行。</a:t>
            </a:r>
            <a:endParaRPr lang="zh-CN" altLang="en-US" dirty="0">
              <a:latin typeface="宋体" pitchFamily="2" charset="-122"/>
            </a:endParaRPr>
          </a:p>
          <a:p>
            <a:pPr marL="190500" indent="-190500" eaLnBrk="1" hangingPunct="1">
              <a:buClr>
                <a:srgbClr val="0000FF"/>
              </a:buClr>
              <a:buFont typeface="Wingdings" panose="05000000000000000000" pitchFamily="2" charset="2"/>
              <a:buChar char="§"/>
            </a:pPr>
            <a:r>
              <a:rPr lang="zh-CN" altLang="en-US" b="1" dirty="0">
                <a:solidFill>
                  <a:schemeClr val="folHlink"/>
                </a:solidFill>
                <a:latin typeface="宋体" pitchFamily="2" charset="-122"/>
              </a:rPr>
              <a:t> 综合数据库</a:t>
            </a:r>
            <a:r>
              <a:rPr lang="zh-CN" altLang="en-US" b="1" dirty="0">
                <a:latin typeface="宋体" pitchFamily="2" charset="-122"/>
              </a:rPr>
              <a:t> ：</a:t>
            </a:r>
            <a:endParaRPr lang="zh-CN" altLang="en-US" b="1" dirty="0">
              <a:latin typeface="宋体" pitchFamily="2" charset="-122"/>
            </a:endParaRPr>
          </a:p>
          <a:p>
            <a:pPr marL="190500" indent="-190500" eaLnBrk="1" hangingPunct="1">
              <a:buNone/>
            </a:pPr>
            <a:r>
              <a:rPr lang="zh-CN" altLang="en-US" b="1" dirty="0">
                <a:latin typeface="宋体" pitchFamily="2" charset="-122"/>
              </a:rPr>
              <a:t> </a:t>
            </a:r>
            <a:r>
              <a:rPr lang="zh-CN" altLang="en-US" b="1" dirty="0">
                <a:solidFill>
                  <a:schemeClr val="accent2"/>
                </a:solidFill>
                <a:latin typeface="宋体" pitchFamily="2" charset="-122"/>
              </a:rPr>
              <a:t>该动物身上有：暗斑点，长脖子，长腿，奶，蹄，哺乳动物</a:t>
            </a:r>
            <a:r>
              <a:rPr lang="zh-CN" altLang="en-US" b="1" dirty="0">
                <a:latin typeface="宋体" pitchFamily="2" charset="-122"/>
              </a:rPr>
              <a:t>  </a:t>
            </a:r>
            <a:r>
              <a:rPr lang="zh-CN" altLang="en-US" b="1" dirty="0"/>
              <a:t> </a:t>
            </a:r>
            <a:endParaRPr lang="zh-CN" altLang="en-US" b="1" dirty="0"/>
          </a:p>
        </p:txBody>
      </p:sp>
    </p:spTree>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7346"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2.3.3  </a:t>
            </a:r>
            <a:r>
              <a:rPr lang="zh-CN" altLang="en-US" dirty="0">
                <a:latin typeface="Times New Roman" panose="02020503050405090304" pitchFamily="18" charset="0"/>
              </a:rPr>
              <a:t>产生式系统的例子</a:t>
            </a:r>
            <a:r>
              <a:rPr lang="en-US" altLang="zh-CN" dirty="0">
                <a:latin typeface="Times New Roman" panose="02020503050405090304" pitchFamily="18" charset="0"/>
              </a:rPr>
              <a:t>——</a:t>
            </a:r>
            <a:r>
              <a:rPr lang="zh-CN" altLang="en-US" dirty="0">
                <a:latin typeface="Times New Roman" panose="02020503050405090304" pitchFamily="18" charset="0"/>
              </a:rPr>
              <a:t>动物识别系统</a:t>
            </a:r>
            <a:endParaRPr lang="zh-CN" altLang="en-US" dirty="0">
              <a:latin typeface="Times New Roman" panose="02020503050405090304" pitchFamily="18" charset="0"/>
            </a:endParaRPr>
          </a:p>
        </p:txBody>
      </p:sp>
      <p:sp>
        <p:nvSpPr>
          <p:cNvPr id="57347" name="Rectangle 3"/>
          <p:cNvSpPr>
            <a:spLocks noGrp="1"/>
          </p:cNvSpPr>
          <p:nvPr>
            <p:ph idx="1"/>
          </p:nvPr>
        </p:nvSpPr>
        <p:spPr>
          <a:xfrm>
            <a:off x="250825" y="1733550"/>
            <a:ext cx="8642350" cy="4210050"/>
          </a:xfrm>
        </p:spPr>
        <p:txBody>
          <a:bodyPr vert="horz" wrap="square" lIns="91440" tIns="45720" rIns="91440" bIns="45720" anchor="t" anchorCtr="0"/>
          <a:p>
            <a:pPr marL="190500" indent="-190500" eaLnBrk="1" hangingPunct="1">
              <a:buNone/>
            </a:pPr>
            <a:r>
              <a:rPr lang="zh-CN" altLang="en-US" dirty="0">
                <a:latin typeface="Times New Roman" panose="02020503050405090304" pitchFamily="18" charset="0"/>
              </a:rPr>
              <a:t>（</a:t>
            </a:r>
            <a:r>
              <a:rPr lang="en-US" altLang="zh-CN" dirty="0">
                <a:latin typeface="Times New Roman" panose="02020503050405090304" pitchFamily="18" charset="0"/>
              </a:rPr>
              <a:t>2</a:t>
            </a:r>
            <a:r>
              <a:rPr lang="zh-CN" altLang="en-US" dirty="0">
                <a:latin typeface="Times New Roman" panose="02020503050405090304" pitchFamily="18" charset="0"/>
              </a:rPr>
              <a:t>）分别用</a:t>
            </a:r>
            <a:r>
              <a:rPr lang="en-US" altLang="zh-CN" i="1" dirty="0">
                <a:latin typeface="Times New Roman" panose="02020503050405090304" pitchFamily="18" charset="0"/>
              </a:rPr>
              <a:t>r</a:t>
            </a:r>
            <a:r>
              <a:rPr lang="en-US" altLang="zh-CN" baseline="-30000" dirty="0">
                <a:latin typeface="Times New Roman" panose="02020503050405090304" pitchFamily="18" charset="0"/>
              </a:rPr>
              <a:t>3</a:t>
            </a:r>
            <a:r>
              <a:rPr lang="zh-CN" altLang="en-US" dirty="0">
                <a:latin typeface="Times New Roman" panose="02020503050405090304" pitchFamily="18" charset="0"/>
              </a:rPr>
              <a:t>，</a:t>
            </a:r>
            <a:r>
              <a:rPr lang="en-US" altLang="zh-CN" i="1" dirty="0">
                <a:latin typeface="Times New Roman" panose="02020503050405090304" pitchFamily="18" charset="0"/>
              </a:rPr>
              <a:t>r</a:t>
            </a:r>
            <a:r>
              <a:rPr lang="en-US" altLang="zh-CN" baseline="-30000" dirty="0">
                <a:latin typeface="Times New Roman" panose="02020503050405090304" pitchFamily="18" charset="0"/>
              </a:rPr>
              <a:t>4</a:t>
            </a:r>
            <a:r>
              <a:rPr lang="zh-CN" altLang="en-US" dirty="0">
                <a:latin typeface="Times New Roman" panose="02020503050405090304" pitchFamily="18" charset="0"/>
              </a:rPr>
              <a:t>，</a:t>
            </a:r>
            <a:r>
              <a:rPr lang="en-US" altLang="zh-CN" i="1" dirty="0">
                <a:latin typeface="Times New Roman" panose="02020503050405090304" pitchFamily="18" charset="0"/>
              </a:rPr>
              <a:t>r</a:t>
            </a:r>
            <a:r>
              <a:rPr lang="en-US" altLang="zh-CN" baseline="-30000" dirty="0">
                <a:latin typeface="Times New Roman" panose="02020503050405090304" pitchFamily="18" charset="0"/>
              </a:rPr>
              <a:t>5</a:t>
            </a:r>
            <a:r>
              <a:rPr lang="zh-CN" altLang="en-US" dirty="0">
                <a:latin typeface="Times New Roman" panose="02020503050405090304" pitchFamily="18" charset="0"/>
              </a:rPr>
              <a:t>，</a:t>
            </a:r>
            <a:r>
              <a:rPr lang="en-US" altLang="zh-CN" i="1" dirty="0">
                <a:latin typeface="Times New Roman" panose="02020503050405090304" pitchFamily="18" charset="0"/>
              </a:rPr>
              <a:t>r</a:t>
            </a:r>
            <a:r>
              <a:rPr lang="en-US" altLang="zh-CN" baseline="-30000" dirty="0">
                <a:latin typeface="Times New Roman" panose="02020503050405090304" pitchFamily="18" charset="0"/>
              </a:rPr>
              <a:t>6</a:t>
            </a:r>
            <a:r>
              <a:rPr lang="zh-CN" altLang="en-US" dirty="0">
                <a:latin typeface="Times New Roman" panose="02020503050405090304" pitchFamily="18" charset="0"/>
              </a:rPr>
              <a:t>综合数据库中的已知事实进行匹配，均不成功。 </a:t>
            </a:r>
            <a:r>
              <a:rPr lang="en-US" altLang="zh-CN" i="1" dirty="0">
                <a:latin typeface="Times New Roman" panose="02020503050405090304" pitchFamily="18" charset="0"/>
              </a:rPr>
              <a:t>r</a:t>
            </a:r>
            <a:r>
              <a:rPr lang="en-US" altLang="zh-CN" baseline="-30000" dirty="0">
                <a:latin typeface="Times New Roman" panose="02020503050405090304" pitchFamily="18" charset="0"/>
              </a:rPr>
              <a:t>7</a:t>
            </a:r>
            <a:r>
              <a:rPr lang="zh-CN" altLang="en-US" dirty="0">
                <a:latin typeface="Times New Roman" panose="02020503050405090304" pitchFamily="18" charset="0"/>
              </a:rPr>
              <a:t>匹配成功，执行</a:t>
            </a:r>
            <a:r>
              <a:rPr lang="en-US" altLang="zh-CN" i="1" dirty="0">
                <a:latin typeface="Times New Roman" panose="02020503050405090304" pitchFamily="18" charset="0"/>
              </a:rPr>
              <a:t>r</a:t>
            </a:r>
            <a:r>
              <a:rPr lang="en-US" altLang="zh-CN" baseline="-30000" dirty="0">
                <a:latin typeface="Times New Roman" panose="02020503050405090304" pitchFamily="18" charset="0"/>
              </a:rPr>
              <a:t>7</a:t>
            </a:r>
            <a:r>
              <a:rPr lang="en-US" altLang="zh-CN" dirty="0">
                <a:latin typeface="Times New Roman" panose="02020503050405090304" pitchFamily="18" charset="0"/>
              </a:rPr>
              <a:t> </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marL="190500" indent="-190500" eaLnBrk="1" hangingPunct="1">
              <a:buClr>
                <a:srgbClr val="0000FF"/>
              </a:buClr>
              <a:buFont typeface="Wingdings" panose="05000000000000000000" pitchFamily="2" charset="2"/>
              <a:buChar char="§"/>
            </a:pPr>
            <a:r>
              <a:rPr lang="zh-CN" altLang="en-US" b="1" dirty="0">
                <a:latin typeface="Times New Roman" panose="02020503050405090304" pitchFamily="18" charset="0"/>
              </a:rPr>
              <a:t> </a:t>
            </a:r>
            <a:r>
              <a:rPr lang="zh-CN" altLang="en-US" b="1" dirty="0">
                <a:solidFill>
                  <a:schemeClr val="folHlink"/>
                </a:solidFill>
                <a:latin typeface="Times New Roman" panose="02020503050405090304" pitchFamily="18" charset="0"/>
              </a:rPr>
              <a:t>综合数据库：</a:t>
            </a:r>
            <a:endParaRPr lang="zh-CN" altLang="en-US" b="1" dirty="0">
              <a:solidFill>
                <a:schemeClr val="folHlink"/>
              </a:solidFill>
              <a:latin typeface="Times New Roman" panose="02020503050405090304" pitchFamily="18" charset="0"/>
            </a:endParaRPr>
          </a:p>
          <a:p>
            <a:pPr marL="190500" indent="-190500" eaLnBrk="1" hangingPunct="1">
              <a:buNone/>
            </a:pPr>
            <a:r>
              <a:rPr lang="zh-CN" altLang="en-US" b="1" dirty="0">
                <a:solidFill>
                  <a:schemeClr val="folHlink"/>
                </a:solidFill>
                <a:latin typeface="Times New Roman" panose="02020503050405090304" pitchFamily="18" charset="0"/>
              </a:rPr>
              <a:t> </a:t>
            </a:r>
            <a:r>
              <a:rPr lang="zh-CN" altLang="en-US" b="1" dirty="0">
                <a:solidFill>
                  <a:schemeClr val="accent2"/>
                </a:solidFill>
                <a:latin typeface="Times New Roman" panose="02020503050405090304" pitchFamily="18" charset="0"/>
              </a:rPr>
              <a:t>该动物身上有：暗斑点，长脖子，长腿，奶，蹄，哺乳动物，有蹄类动物</a:t>
            </a:r>
            <a:endParaRPr lang="zh-CN" altLang="en-US" b="1" dirty="0">
              <a:solidFill>
                <a:schemeClr val="folHlink"/>
              </a:solidFill>
              <a:latin typeface="Times New Roman" panose="02020503050405090304" pitchFamily="18" charset="0"/>
            </a:endParaRPr>
          </a:p>
          <a:p>
            <a:pPr marL="190500" indent="-190500" eaLnBrk="1" hangingPunct="1">
              <a:spcBef>
                <a:spcPct val="40000"/>
              </a:spcBef>
              <a:buNone/>
            </a:pPr>
            <a:r>
              <a:rPr lang="zh-CN" altLang="en-US" dirty="0">
                <a:latin typeface="Times New Roman" panose="02020503050405090304" pitchFamily="18" charset="0"/>
              </a:rPr>
              <a:t>（</a:t>
            </a:r>
            <a:r>
              <a:rPr lang="en-US" altLang="zh-CN" dirty="0">
                <a:latin typeface="Times New Roman" panose="02020503050405090304" pitchFamily="18" charset="0"/>
              </a:rPr>
              <a:t>3</a:t>
            </a:r>
            <a:r>
              <a:rPr lang="zh-CN" altLang="en-US" dirty="0">
                <a:latin typeface="Times New Roman" panose="02020503050405090304" pitchFamily="18" charset="0"/>
              </a:rPr>
              <a:t>）</a:t>
            </a:r>
            <a:r>
              <a:rPr lang="en-US" altLang="zh-CN" i="1" dirty="0">
                <a:latin typeface="Times New Roman" panose="02020503050405090304" pitchFamily="18" charset="0"/>
              </a:rPr>
              <a:t>r</a:t>
            </a:r>
            <a:r>
              <a:rPr lang="en-US" altLang="zh-CN" baseline="-30000" dirty="0">
                <a:latin typeface="Times New Roman" panose="02020503050405090304" pitchFamily="18" charset="0"/>
              </a:rPr>
              <a:t>11</a:t>
            </a:r>
            <a:r>
              <a:rPr lang="zh-CN" altLang="en-US" dirty="0">
                <a:latin typeface="Times New Roman" panose="02020503050405090304" pitchFamily="18" charset="0"/>
              </a:rPr>
              <a:t>匹配成功，并推出 “该动物是长颈鹿” 。</a:t>
            </a:r>
            <a:r>
              <a:rPr lang="zh-CN" altLang="en-US" b="1" dirty="0">
                <a:solidFill>
                  <a:schemeClr val="folHlink"/>
                </a:solidFill>
                <a:latin typeface="Times New Roman" panose="02020503050405090304" pitchFamily="18" charset="0"/>
              </a:rPr>
              <a:t> </a:t>
            </a:r>
            <a:r>
              <a:rPr lang="zh-CN" altLang="en-US" b="1" dirty="0">
                <a:latin typeface="Times New Roman" panose="02020503050405090304" pitchFamily="18" charset="0"/>
              </a:rPr>
              <a:t>  </a:t>
            </a:r>
            <a:endParaRPr lang="zh-CN" altLang="en-US" b="1" dirty="0">
              <a:latin typeface="Times New Roman" panose="02020503050405090304" pitchFamily="18" charset="0"/>
            </a:endParaRPr>
          </a:p>
        </p:txBody>
      </p:sp>
      <p:sp>
        <p:nvSpPr>
          <p:cNvPr id="57348" name="Rectangle 4"/>
          <p:cNvSpPr/>
          <p:nvPr/>
        </p:nvSpPr>
        <p:spPr>
          <a:xfrm>
            <a:off x="398463" y="1087438"/>
            <a:ext cx="4287837" cy="519112"/>
          </a:xfrm>
          <a:prstGeom prst="rect">
            <a:avLst/>
          </a:prstGeom>
          <a:noFill/>
          <a:ln w="9525">
            <a:noFill/>
          </a:ln>
        </p:spPr>
        <p:txBody>
          <a:bodyPr wrap="none" anchor="t" anchorCtr="0">
            <a:spAutoFit/>
          </a:bodyPr>
          <a:p>
            <a:pPr>
              <a:buClrTx/>
              <a:buFontTx/>
              <a:buBlip>
                <a:blip r:embed="rId1"/>
              </a:buBlip>
            </a:pPr>
            <a:r>
              <a:rPr lang="en-US" altLang="zh-CN" sz="2800" b="1" dirty="0">
                <a:latin typeface="宋体" pitchFamily="2" charset="-122"/>
                <a:ea typeface="宋体" pitchFamily="2" charset="-122"/>
              </a:rPr>
              <a:t> </a:t>
            </a:r>
            <a:r>
              <a:rPr lang="zh-CN" altLang="en-US" sz="2800" b="1" dirty="0">
                <a:latin typeface="宋体" pitchFamily="2" charset="-122"/>
                <a:ea typeface="宋体" pitchFamily="2" charset="-122"/>
              </a:rPr>
              <a:t>推理机构的工作过程</a:t>
            </a:r>
            <a:r>
              <a:rPr lang="zh-CN" altLang="en-US" sz="2800" b="1" dirty="0">
                <a:latin typeface="Arial" panose="020B0604020202090204" pitchFamily="34" charset="0"/>
                <a:ea typeface="宋体" pitchFamily="2" charset="-122"/>
              </a:rPr>
              <a:t> ：</a:t>
            </a:r>
            <a:endParaRPr lang="zh-CN" altLang="en-US" sz="2800" b="1" dirty="0">
              <a:latin typeface="Arial" panose="020B0604020202090204" pitchFamily="34" charset="0"/>
              <a:ea typeface="宋体" pitchFamily="2"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灯片编号占位符 1"/>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pic>
        <p:nvPicPr>
          <p:cNvPr id="58370" name="Picture 2" descr="changjinglu2"/>
          <p:cNvPicPr>
            <a:picLocks noChangeAspect="1"/>
          </p:cNvPicPr>
          <p:nvPr/>
        </p:nvPicPr>
        <p:blipFill>
          <a:blip r:embed="rId1"/>
          <a:stretch>
            <a:fillRect/>
          </a:stretch>
        </p:blipFill>
        <p:spPr>
          <a:xfrm>
            <a:off x="284163" y="915988"/>
            <a:ext cx="2713037" cy="4238625"/>
          </a:xfrm>
          <a:prstGeom prst="rect">
            <a:avLst/>
          </a:prstGeom>
          <a:noFill/>
          <a:ln w="9525">
            <a:noFill/>
          </a:ln>
        </p:spPr>
      </p:pic>
      <p:graphicFrame>
        <p:nvGraphicFramePr>
          <p:cNvPr id="58371" name="Object 3"/>
          <p:cNvGraphicFramePr>
            <a:graphicFrameLocks noChangeAspect="1"/>
          </p:cNvGraphicFramePr>
          <p:nvPr/>
        </p:nvGraphicFramePr>
        <p:xfrm>
          <a:off x="242888" y="1050925"/>
          <a:ext cx="8456612" cy="4894263"/>
        </p:xfrm>
        <a:graphic>
          <a:graphicData uri="http://schemas.openxmlformats.org/presentationml/2006/ole">
            <mc:AlternateContent xmlns:mc="http://schemas.openxmlformats.org/markup-compatibility/2006">
              <mc:Choice xmlns:v="urn:schemas-microsoft-com:vml" Requires="v">
                <p:oleObj spid="_x0000_s3114" name="" r:id="rId2" imgW="5492750" imgH="2953385" progId="SmartDraw.2">
                  <p:embed/>
                </p:oleObj>
              </mc:Choice>
              <mc:Fallback>
                <p:oleObj name="" r:id="rId2" imgW="5492750" imgH="2953385" progId="SmartDraw.2">
                  <p:embed/>
                  <p:pic>
                    <p:nvPicPr>
                      <p:cNvPr id="0" name="图片 3113"/>
                      <p:cNvPicPr/>
                      <p:nvPr/>
                    </p:nvPicPr>
                    <p:blipFill>
                      <a:blip r:embed="rId3"/>
                      <a:stretch>
                        <a:fillRect/>
                      </a:stretch>
                    </p:blipFill>
                    <p:spPr>
                      <a:xfrm>
                        <a:off x="242888" y="1050925"/>
                        <a:ext cx="8456612" cy="4894263"/>
                      </a:xfrm>
                      <a:prstGeom prst="rect">
                        <a:avLst/>
                      </a:prstGeom>
                      <a:noFill/>
                      <a:ln w="38100">
                        <a:noFill/>
                        <a:miter/>
                      </a:ln>
                    </p:spPr>
                  </p:pic>
                </p:oleObj>
              </mc:Fallback>
            </mc:AlternateContent>
          </a:graphicData>
        </a:graphic>
      </p:graphicFrame>
      <p:sp>
        <p:nvSpPr>
          <p:cNvPr id="58372" name="Rectangle 4"/>
          <p:cNvSpPr/>
          <p:nvPr/>
        </p:nvSpPr>
        <p:spPr>
          <a:xfrm>
            <a:off x="0" y="0"/>
            <a:ext cx="9144000" cy="765175"/>
          </a:xfrm>
          <a:prstGeom prst="rect">
            <a:avLst/>
          </a:prstGeom>
          <a:solidFill>
            <a:srgbClr val="A50021"/>
          </a:solidFill>
          <a:ln w="9525">
            <a:noFill/>
          </a:ln>
        </p:spPr>
        <p:txBody>
          <a:bodyPr anchor="b" anchorCtr="0"/>
          <a:p>
            <a:pPr indent="176530">
              <a:buClrTx/>
              <a:buFontTx/>
              <a:buNone/>
            </a:pPr>
            <a:r>
              <a:rPr lang="en-US" altLang="zh-CN" sz="3600" dirty="0">
                <a:solidFill>
                  <a:schemeClr val="bg1"/>
                </a:solidFill>
                <a:latin typeface="Times New Roman" panose="02020503050405090304" pitchFamily="18" charset="0"/>
                <a:ea typeface="黑体" panose="02010609060101010101" pitchFamily="49" charset="-122"/>
              </a:rPr>
              <a:t>2.3.3  </a:t>
            </a:r>
            <a:r>
              <a:rPr lang="zh-CN" altLang="en-US" sz="3600" dirty="0">
                <a:solidFill>
                  <a:schemeClr val="bg1"/>
                </a:solidFill>
                <a:latin typeface="Times New Roman" panose="02020503050405090304" pitchFamily="18" charset="0"/>
                <a:ea typeface="黑体" panose="02010609060101010101" pitchFamily="49" charset="-122"/>
              </a:rPr>
              <a:t>产生式系统的例子</a:t>
            </a:r>
            <a:r>
              <a:rPr lang="en-US" altLang="zh-CN" sz="3600" dirty="0">
                <a:solidFill>
                  <a:schemeClr val="bg1"/>
                </a:solidFill>
                <a:latin typeface="Times New Roman" panose="02020503050405090304" pitchFamily="18" charset="0"/>
                <a:ea typeface="黑体" panose="02010609060101010101" pitchFamily="49" charset="-122"/>
              </a:rPr>
              <a:t>——</a:t>
            </a:r>
            <a:r>
              <a:rPr lang="zh-CN" altLang="en-US" sz="3600" dirty="0">
                <a:solidFill>
                  <a:schemeClr val="bg1"/>
                </a:solidFill>
                <a:latin typeface="Times New Roman" panose="02020503050405090304" pitchFamily="18" charset="0"/>
                <a:ea typeface="黑体" panose="02010609060101010101" pitchFamily="49" charset="-122"/>
              </a:rPr>
              <a:t>动物识别系统</a:t>
            </a:r>
            <a:endParaRPr lang="zh-CN" altLang="en-US" sz="3600" dirty="0">
              <a:solidFill>
                <a:schemeClr val="bg1"/>
              </a:solidFill>
              <a:latin typeface="Times New Roman" panose="02020503050405090304" pitchFamily="18" charset="0"/>
              <a:ea typeface="黑体" panose="02010609060101010101" pitchFamily="49" charset="-122"/>
            </a:endParaRPr>
          </a:p>
        </p:txBody>
      </p:sp>
      <p:sp>
        <p:nvSpPr>
          <p:cNvPr id="151557" name="Rectangle 5"/>
          <p:cNvSpPr/>
          <p:nvPr/>
        </p:nvSpPr>
        <p:spPr>
          <a:xfrm>
            <a:off x="5324475" y="4075113"/>
            <a:ext cx="1727200" cy="552450"/>
          </a:xfrm>
          <a:prstGeom prst="rect">
            <a:avLst/>
          </a:prstGeom>
          <a:noFill/>
          <a:ln w="38100" cap="flat" cmpd="sng">
            <a:solidFill>
              <a:srgbClr val="0000FF"/>
            </a:solidFill>
            <a:prstDash val="solid"/>
            <a:miter/>
            <a:headEnd type="none" w="med" len="med"/>
            <a:tailEnd type="none" w="med" len="med"/>
          </a:ln>
        </p:spPr>
        <p:txBody>
          <a:bodyPr wrap="none" anchor="ctr" anchorCtr="0"/>
          <a:p>
            <a:pPr>
              <a:buClrTx/>
              <a:buFontTx/>
              <a:buNone/>
            </a:pPr>
            <a:endParaRPr lang="zh-CN" altLang="en-US" dirty="0">
              <a:latin typeface="Arial" panose="020B0604020202090204" pitchFamily="34" charset="0"/>
              <a:ea typeface="宋体" pitchFamily="2" charset="-122"/>
            </a:endParaRPr>
          </a:p>
        </p:txBody>
      </p:sp>
      <p:sp>
        <p:nvSpPr>
          <p:cNvPr id="151558" name="Rectangle 6"/>
          <p:cNvSpPr/>
          <p:nvPr/>
        </p:nvSpPr>
        <p:spPr>
          <a:xfrm>
            <a:off x="5765800" y="2725738"/>
            <a:ext cx="1727200" cy="552450"/>
          </a:xfrm>
          <a:prstGeom prst="rect">
            <a:avLst/>
          </a:prstGeom>
          <a:noFill/>
          <a:ln w="38100" cap="flat" cmpd="sng">
            <a:solidFill>
              <a:srgbClr val="0000FF"/>
            </a:solidFill>
            <a:prstDash val="solid"/>
            <a:miter/>
            <a:headEnd type="none" w="med" len="med"/>
            <a:tailEnd type="none" w="med" len="med"/>
          </a:ln>
        </p:spPr>
        <p:txBody>
          <a:bodyPr wrap="none" anchor="ctr" anchorCtr="0"/>
          <a:p>
            <a:pPr>
              <a:buClrTx/>
              <a:buFontTx/>
              <a:buNone/>
            </a:pPr>
            <a:endParaRPr lang="zh-CN" altLang="en-US" dirty="0">
              <a:latin typeface="Arial" panose="020B0604020202090204" pitchFamily="34" charset="0"/>
              <a:ea typeface="宋体" pitchFamily="2" charset="-122"/>
            </a:endParaRPr>
          </a:p>
        </p:txBody>
      </p:sp>
      <p:sp>
        <p:nvSpPr>
          <p:cNvPr id="151559" name="Rectangle 7"/>
          <p:cNvSpPr/>
          <p:nvPr/>
        </p:nvSpPr>
        <p:spPr>
          <a:xfrm>
            <a:off x="3663950" y="1150938"/>
            <a:ext cx="1727200" cy="552450"/>
          </a:xfrm>
          <a:prstGeom prst="rect">
            <a:avLst/>
          </a:prstGeom>
          <a:noFill/>
          <a:ln w="38100" cap="flat" cmpd="sng">
            <a:solidFill>
              <a:srgbClr val="0000FF"/>
            </a:solidFill>
            <a:prstDash val="solid"/>
            <a:miter/>
            <a:headEnd type="none" w="med" len="med"/>
            <a:tailEnd type="none" w="med" len="med"/>
          </a:ln>
        </p:spPr>
        <p:txBody>
          <a:bodyPr wrap="none" anchor="ctr" anchorCtr="0"/>
          <a:p>
            <a:pPr>
              <a:buClrTx/>
              <a:buFontTx/>
              <a:buNone/>
            </a:pPr>
            <a:endParaRPr lang="zh-CN" altLang="en-US" dirty="0">
              <a:latin typeface="Arial" panose="020B0604020202090204" pitchFamily="34"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1557"/>
                                        </p:tgtEl>
                                        <p:attrNameLst>
                                          <p:attrName>style.visibility</p:attrName>
                                        </p:attrNameLst>
                                      </p:cBhvr>
                                      <p:to>
                                        <p:strVal val="visible"/>
                                      </p:to>
                                    </p:set>
                                  </p:childTnLst>
                                  <p:subTnLst>
                                    <p:set>
                                      <p:cBhvr override="childStyle">
                                        <p:cTn dur="1" fill="hold" display="0" masterRel="nextClick" afterEffect="1"/>
                                        <p:tgtEl>
                                          <p:spTgt spid="151557"/>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1558"/>
                                        </p:tgtEl>
                                        <p:attrNameLst>
                                          <p:attrName>style.visibility</p:attrName>
                                        </p:attrNameLst>
                                      </p:cBhvr>
                                      <p:to>
                                        <p:strVal val="visible"/>
                                      </p:to>
                                    </p:set>
                                  </p:childTnLst>
                                  <p:subTnLst>
                                    <p:set>
                                      <p:cBhvr override="childStyle">
                                        <p:cTn dur="1" fill="hold" display="0" masterRel="nextClick" afterEffect="1"/>
                                        <p:tgtEl>
                                          <p:spTgt spid="151558"/>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15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7" grpId="0" animBg="1"/>
      <p:bldP spid="151558" grpId="0" animBg="1"/>
      <p:bldP spid="15155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9394" name="Rectangle 11"/>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2.3.4  </a:t>
            </a:r>
            <a:r>
              <a:rPr lang="zh-CN" altLang="en-US" dirty="0">
                <a:latin typeface="Times New Roman" panose="02020503050405090304" pitchFamily="18" charset="0"/>
              </a:rPr>
              <a:t>产生式表示法的特点</a:t>
            </a:r>
            <a:endParaRPr lang="zh-CN" altLang="en-US" dirty="0">
              <a:latin typeface="Times New Roman" panose="02020503050405090304" pitchFamily="18" charset="0"/>
            </a:endParaRPr>
          </a:p>
        </p:txBody>
      </p:sp>
      <p:sp>
        <p:nvSpPr>
          <p:cNvPr id="59395" name="Rectangle 12"/>
          <p:cNvSpPr/>
          <p:nvPr/>
        </p:nvSpPr>
        <p:spPr>
          <a:xfrm>
            <a:off x="290513" y="973138"/>
            <a:ext cx="3848100" cy="528637"/>
          </a:xfrm>
          <a:prstGeom prst="rect">
            <a:avLst/>
          </a:prstGeom>
          <a:noFill/>
          <a:ln w="9525">
            <a:noFill/>
          </a:ln>
        </p:spPr>
        <p:txBody>
          <a:bodyPr anchor="t" anchorCtr="0">
            <a:spAutoFit/>
          </a:bodyPr>
          <a:p>
            <a:pPr marL="342900" indent="-342900">
              <a:lnSpc>
                <a:spcPct val="110000"/>
              </a:lnSpc>
              <a:spcBef>
                <a:spcPct val="20000"/>
              </a:spcBef>
              <a:buClr>
                <a:schemeClr val="tx1"/>
              </a:buClr>
              <a:buFont typeface="Wingdings" panose="05000000000000000000" pitchFamily="2" charset="2"/>
              <a:buNone/>
            </a:pPr>
            <a:r>
              <a:rPr lang="en-US" altLang="zh-CN" sz="2600" b="1" dirty="0">
                <a:latin typeface="Times New Roman" panose="02020503050405090304" pitchFamily="18" charset="0"/>
                <a:ea typeface="宋体" pitchFamily="2" charset="-122"/>
              </a:rPr>
              <a:t>1. </a:t>
            </a:r>
            <a:r>
              <a:rPr lang="zh-CN" altLang="en-US" sz="2600" b="1" dirty="0">
                <a:latin typeface="Times New Roman" panose="02020503050405090304" pitchFamily="18" charset="0"/>
                <a:ea typeface="宋体" pitchFamily="2" charset="-122"/>
              </a:rPr>
              <a:t>产生式表示法的优点</a:t>
            </a:r>
            <a:endParaRPr lang="zh-CN" altLang="en-US" sz="2600" b="1" dirty="0">
              <a:latin typeface="Times New Roman" panose="02020503050405090304" pitchFamily="18" charset="0"/>
              <a:ea typeface="宋体" pitchFamily="2" charset="-122"/>
            </a:endParaRPr>
          </a:p>
        </p:txBody>
      </p:sp>
      <p:sp>
        <p:nvSpPr>
          <p:cNvPr id="59396" name="Rectangle 13"/>
          <p:cNvSpPr/>
          <p:nvPr/>
        </p:nvSpPr>
        <p:spPr>
          <a:xfrm>
            <a:off x="288925" y="1673225"/>
            <a:ext cx="3895725" cy="2281238"/>
          </a:xfrm>
          <a:prstGeom prst="rect">
            <a:avLst/>
          </a:prstGeom>
          <a:gradFill rotWithShape="0">
            <a:gsLst>
              <a:gs pos="0">
                <a:srgbClr val="CCFFCC"/>
              </a:gs>
              <a:gs pos="100000">
                <a:schemeClr val="bg1"/>
              </a:gs>
            </a:gsLst>
            <a:path path="rect">
              <a:fillToRect l="100000" t="100000"/>
            </a:path>
            <a:tileRect/>
          </a:gradFill>
          <a:ln w="9525" cap="flat" cmpd="sng">
            <a:solidFill>
              <a:srgbClr val="808080"/>
            </a:solidFill>
            <a:prstDash val="solid"/>
            <a:miter/>
            <a:headEnd type="none" w="med" len="med"/>
            <a:tailEnd type="none" w="med" len="med"/>
          </a:ln>
        </p:spPr>
        <p:txBody>
          <a:bodyPr anchor="t" anchorCtr="0"/>
          <a:p>
            <a:pPr marL="101600">
              <a:lnSpc>
                <a:spcPct val="120000"/>
              </a:lnSpc>
              <a:spcBef>
                <a:spcPct val="20000"/>
              </a:spcBef>
              <a:buClr>
                <a:schemeClr val="accent2"/>
              </a:buClr>
              <a:buFont typeface="Wingdings" panose="05000000000000000000" pitchFamily="2" charset="2"/>
              <a:buNone/>
            </a:pPr>
            <a:r>
              <a:rPr lang="zh-CN" altLang="en-US" sz="2500" b="1" dirty="0">
                <a:latin typeface="Times New Roman" panose="02020503050405090304" pitchFamily="18" charset="0"/>
                <a:ea typeface="宋体" pitchFamily="2" charset="-122"/>
              </a:rPr>
              <a:t>（</a:t>
            </a:r>
            <a:r>
              <a:rPr lang="en-US" altLang="zh-CN" sz="2500" b="1" dirty="0">
                <a:latin typeface="Times New Roman" panose="02020503050405090304" pitchFamily="18" charset="0"/>
                <a:ea typeface="宋体" pitchFamily="2" charset="-122"/>
              </a:rPr>
              <a:t>1</a:t>
            </a:r>
            <a:r>
              <a:rPr lang="zh-CN" altLang="en-US" sz="2500" b="1" dirty="0">
                <a:latin typeface="Times New Roman" panose="02020503050405090304" pitchFamily="18" charset="0"/>
                <a:ea typeface="宋体" pitchFamily="2" charset="-122"/>
              </a:rPr>
              <a:t>）自然性 </a:t>
            </a:r>
            <a:endParaRPr lang="zh-CN" altLang="en-US" sz="2500" b="1" dirty="0">
              <a:latin typeface="Times New Roman" panose="02020503050405090304" pitchFamily="18" charset="0"/>
              <a:ea typeface="宋体" pitchFamily="2" charset="-122"/>
            </a:endParaRPr>
          </a:p>
          <a:p>
            <a:pPr marL="101600">
              <a:lnSpc>
                <a:spcPct val="120000"/>
              </a:lnSpc>
              <a:spcBef>
                <a:spcPct val="20000"/>
              </a:spcBef>
              <a:buClr>
                <a:schemeClr val="accent2"/>
              </a:buClr>
              <a:buFont typeface="Wingdings" panose="05000000000000000000" pitchFamily="2" charset="2"/>
              <a:buNone/>
            </a:pPr>
            <a:r>
              <a:rPr lang="zh-CN" altLang="en-US" sz="2500" b="1" dirty="0">
                <a:latin typeface="Times New Roman" panose="02020503050405090304" pitchFamily="18" charset="0"/>
                <a:ea typeface="宋体" pitchFamily="2" charset="-122"/>
              </a:rPr>
              <a:t>（</a:t>
            </a:r>
            <a:r>
              <a:rPr lang="en-US" altLang="zh-CN" sz="2500" b="1" dirty="0">
                <a:latin typeface="Times New Roman" panose="02020503050405090304" pitchFamily="18" charset="0"/>
                <a:ea typeface="宋体" pitchFamily="2" charset="-122"/>
              </a:rPr>
              <a:t>2</a:t>
            </a:r>
            <a:r>
              <a:rPr lang="zh-CN" altLang="en-US" sz="2500" b="1" dirty="0">
                <a:latin typeface="Times New Roman" panose="02020503050405090304" pitchFamily="18" charset="0"/>
                <a:ea typeface="宋体" pitchFamily="2" charset="-122"/>
              </a:rPr>
              <a:t>）模块性 </a:t>
            </a:r>
            <a:endParaRPr lang="zh-CN" altLang="en-US" sz="2500" b="1" dirty="0">
              <a:latin typeface="Times New Roman" panose="02020503050405090304" pitchFamily="18" charset="0"/>
              <a:ea typeface="宋体" pitchFamily="2" charset="-122"/>
            </a:endParaRPr>
          </a:p>
          <a:p>
            <a:pPr marL="101600">
              <a:lnSpc>
                <a:spcPct val="120000"/>
              </a:lnSpc>
              <a:spcBef>
                <a:spcPct val="20000"/>
              </a:spcBef>
              <a:buClr>
                <a:schemeClr val="accent2"/>
              </a:buClr>
              <a:buFont typeface="Wingdings" panose="05000000000000000000" pitchFamily="2" charset="2"/>
              <a:buNone/>
            </a:pPr>
            <a:r>
              <a:rPr lang="zh-CN" altLang="en-US" sz="2500" b="1" dirty="0">
                <a:latin typeface="Times New Roman" panose="02020503050405090304" pitchFamily="18" charset="0"/>
                <a:ea typeface="宋体" pitchFamily="2" charset="-122"/>
              </a:rPr>
              <a:t>（</a:t>
            </a:r>
            <a:r>
              <a:rPr lang="en-US" altLang="zh-CN" sz="2500" b="1" dirty="0">
                <a:latin typeface="Times New Roman" panose="02020503050405090304" pitchFamily="18" charset="0"/>
                <a:ea typeface="宋体" pitchFamily="2" charset="-122"/>
              </a:rPr>
              <a:t>3</a:t>
            </a:r>
            <a:r>
              <a:rPr lang="zh-CN" altLang="en-US" sz="2500" b="1" dirty="0">
                <a:latin typeface="Times New Roman" panose="02020503050405090304" pitchFamily="18" charset="0"/>
                <a:ea typeface="宋体" pitchFamily="2" charset="-122"/>
              </a:rPr>
              <a:t>）有效性 </a:t>
            </a:r>
            <a:endParaRPr lang="zh-CN" altLang="en-US" sz="2500" b="1" dirty="0">
              <a:latin typeface="Times New Roman" panose="02020503050405090304" pitchFamily="18" charset="0"/>
              <a:ea typeface="宋体" pitchFamily="2" charset="-122"/>
            </a:endParaRPr>
          </a:p>
          <a:p>
            <a:pPr marL="101600">
              <a:lnSpc>
                <a:spcPct val="120000"/>
              </a:lnSpc>
              <a:spcBef>
                <a:spcPct val="20000"/>
              </a:spcBef>
              <a:buClr>
                <a:schemeClr val="accent2"/>
              </a:buClr>
              <a:buFont typeface="Wingdings" panose="05000000000000000000" pitchFamily="2" charset="2"/>
              <a:buNone/>
            </a:pPr>
            <a:r>
              <a:rPr lang="zh-CN" altLang="en-US" sz="2500" b="1" dirty="0">
                <a:latin typeface="Times New Roman" panose="02020503050405090304" pitchFamily="18" charset="0"/>
                <a:ea typeface="宋体" pitchFamily="2" charset="-122"/>
              </a:rPr>
              <a:t>（</a:t>
            </a:r>
            <a:r>
              <a:rPr lang="en-US" altLang="zh-CN" sz="2500" b="1" dirty="0">
                <a:latin typeface="Times New Roman" panose="02020503050405090304" pitchFamily="18" charset="0"/>
                <a:ea typeface="宋体" pitchFamily="2" charset="-122"/>
              </a:rPr>
              <a:t>4</a:t>
            </a:r>
            <a:r>
              <a:rPr lang="zh-CN" altLang="en-US" sz="2500" b="1" dirty="0">
                <a:latin typeface="Times New Roman" panose="02020503050405090304" pitchFamily="18" charset="0"/>
                <a:ea typeface="宋体" pitchFamily="2" charset="-122"/>
              </a:rPr>
              <a:t>）清晰性</a:t>
            </a:r>
            <a:r>
              <a:rPr lang="zh-CN" altLang="en-US" sz="2600" dirty="0">
                <a:latin typeface="Times New Roman" panose="02020503050405090304" pitchFamily="18" charset="0"/>
                <a:ea typeface="宋体" pitchFamily="2" charset="-122"/>
              </a:rPr>
              <a:t> </a:t>
            </a:r>
            <a:endParaRPr lang="zh-CN" altLang="en-US" sz="2600" dirty="0">
              <a:latin typeface="Times New Roman" panose="02020503050405090304" pitchFamily="18" charset="0"/>
              <a:ea typeface="宋体" pitchFamily="2" charset="-122"/>
            </a:endParaRPr>
          </a:p>
        </p:txBody>
      </p:sp>
      <p:sp>
        <p:nvSpPr>
          <p:cNvPr id="59397" name="Rectangle 14"/>
          <p:cNvSpPr/>
          <p:nvPr/>
        </p:nvSpPr>
        <p:spPr>
          <a:xfrm>
            <a:off x="331788" y="4217988"/>
            <a:ext cx="3776662" cy="528637"/>
          </a:xfrm>
          <a:prstGeom prst="rect">
            <a:avLst/>
          </a:prstGeom>
          <a:noFill/>
          <a:ln w="9525">
            <a:noFill/>
          </a:ln>
        </p:spPr>
        <p:txBody>
          <a:bodyPr anchor="t" anchorCtr="0">
            <a:spAutoFit/>
          </a:bodyPr>
          <a:p>
            <a:pPr marL="342900" indent="-342900">
              <a:lnSpc>
                <a:spcPct val="110000"/>
              </a:lnSpc>
              <a:spcBef>
                <a:spcPct val="20000"/>
              </a:spcBef>
              <a:buClr>
                <a:schemeClr val="tx1"/>
              </a:buClr>
              <a:buFont typeface="Wingdings" panose="05000000000000000000" pitchFamily="2" charset="2"/>
              <a:buNone/>
            </a:pPr>
            <a:r>
              <a:rPr lang="en-US" altLang="zh-CN" sz="2600" b="1" dirty="0">
                <a:latin typeface="Times New Roman" panose="02020503050405090304" pitchFamily="18" charset="0"/>
                <a:ea typeface="宋体" pitchFamily="2" charset="-122"/>
              </a:rPr>
              <a:t>2. </a:t>
            </a:r>
            <a:r>
              <a:rPr lang="zh-CN" altLang="en-US" sz="2600" b="1" dirty="0">
                <a:latin typeface="Times New Roman" panose="02020503050405090304" pitchFamily="18" charset="0"/>
                <a:ea typeface="宋体" pitchFamily="2" charset="-122"/>
              </a:rPr>
              <a:t>产生式表示法的缺点</a:t>
            </a:r>
            <a:endParaRPr lang="zh-CN" altLang="en-US" sz="2600" b="1" dirty="0">
              <a:latin typeface="Times New Roman" panose="02020503050405090304" pitchFamily="18" charset="0"/>
              <a:ea typeface="宋体" pitchFamily="2" charset="-122"/>
            </a:endParaRPr>
          </a:p>
        </p:txBody>
      </p:sp>
      <p:sp>
        <p:nvSpPr>
          <p:cNvPr id="59398" name="Rectangle 15"/>
          <p:cNvSpPr/>
          <p:nvPr/>
        </p:nvSpPr>
        <p:spPr>
          <a:xfrm>
            <a:off x="330200" y="4902200"/>
            <a:ext cx="3895725" cy="1268413"/>
          </a:xfrm>
          <a:prstGeom prst="rect">
            <a:avLst/>
          </a:prstGeom>
          <a:gradFill rotWithShape="0">
            <a:gsLst>
              <a:gs pos="0">
                <a:srgbClr val="CCFFCC"/>
              </a:gs>
              <a:gs pos="100000">
                <a:schemeClr val="bg1"/>
              </a:gs>
            </a:gsLst>
            <a:path path="rect">
              <a:fillToRect l="100000" t="100000"/>
            </a:path>
            <a:tileRect/>
          </a:gradFill>
          <a:ln w="9525" cap="flat" cmpd="sng">
            <a:solidFill>
              <a:srgbClr val="808080"/>
            </a:solidFill>
            <a:prstDash val="solid"/>
            <a:miter/>
            <a:headEnd type="none" w="med" len="med"/>
            <a:tailEnd type="none" w="med" len="med"/>
          </a:ln>
        </p:spPr>
        <p:txBody>
          <a:bodyPr anchor="t" anchorCtr="0"/>
          <a:p>
            <a:pPr marL="952500" indent="-952500">
              <a:lnSpc>
                <a:spcPct val="120000"/>
              </a:lnSpc>
              <a:spcBef>
                <a:spcPct val="20000"/>
              </a:spcBef>
              <a:buClr>
                <a:schemeClr val="accent2"/>
              </a:buClr>
              <a:buFont typeface="Wingdings" panose="05000000000000000000" pitchFamily="2" charset="2"/>
              <a:buNone/>
            </a:pPr>
            <a:r>
              <a:rPr lang="zh-CN" altLang="en-US" sz="2500" b="1" dirty="0">
                <a:latin typeface="Times New Roman" panose="02020503050405090304" pitchFamily="18" charset="0"/>
                <a:ea typeface="宋体" pitchFamily="2" charset="-122"/>
              </a:rPr>
              <a:t>（</a:t>
            </a:r>
            <a:r>
              <a:rPr lang="en-US" altLang="zh-CN" sz="2500" b="1" dirty="0">
                <a:latin typeface="Times New Roman" panose="02020503050405090304" pitchFamily="18" charset="0"/>
                <a:ea typeface="宋体" pitchFamily="2" charset="-122"/>
              </a:rPr>
              <a:t>1</a:t>
            </a:r>
            <a:r>
              <a:rPr lang="zh-CN" altLang="en-US" sz="2500" b="1" dirty="0">
                <a:latin typeface="Times New Roman" panose="02020503050405090304" pitchFamily="18" charset="0"/>
                <a:ea typeface="宋体" pitchFamily="2" charset="-122"/>
              </a:rPr>
              <a:t>）效率不高 </a:t>
            </a:r>
            <a:endParaRPr lang="zh-CN" altLang="en-US" sz="2500" b="1" dirty="0">
              <a:latin typeface="Times New Roman" panose="02020503050405090304" pitchFamily="18" charset="0"/>
              <a:ea typeface="宋体" pitchFamily="2" charset="-122"/>
            </a:endParaRPr>
          </a:p>
          <a:p>
            <a:pPr marL="952500" indent="-952500">
              <a:lnSpc>
                <a:spcPct val="120000"/>
              </a:lnSpc>
              <a:spcBef>
                <a:spcPct val="20000"/>
              </a:spcBef>
              <a:buClr>
                <a:schemeClr val="accent2"/>
              </a:buClr>
              <a:buFont typeface="Wingdings" panose="05000000000000000000" pitchFamily="2" charset="2"/>
              <a:buNone/>
            </a:pPr>
            <a:r>
              <a:rPr lang="zh-CN" altLang="en-US" sz="2500" b="1" dirty="0">
                <a:latin typeface="Times New Roman" panose="02020503050405090304" pitchFamily="18" charset="0"/>
                <a:ea typeface="宋体" pitchFamily="2" charset="-122"/>
              </a:rPr>
              <a:t>（</a:t>
            </a:r>
            <a:r>
              <a:rPr lang="en-US" altLang="zh-CN" sz="2500" b="1" dirty="0">
                <a:latin typeface="Times New Roman" panose="02020503050405090304" pitchFamily="18" charset="0"/>
                <a:ea typeface="宋体" pitchFamily="2" charset="-122"/>
              </a:rPr>
              <a:t>2</a:t>
            </a:r>
            <a:r>
              <a:rPr lang="zh-CN" altLang="en-US" sz="2500" b="1" dirty="0">
                <a:latin typeface="Times New Roman" panose="02020503050405090304" pitchFamily="18" charset="0"/>
                <a:ea typeface="宋体" pitchFamily="2" charset="-122"/>
              </a:rPr>
              <a:t>）不能表达结构性知识</a:t>
            </a:r>
            <a:r>
              <a:rPr lang="zh-CN" altLang="en-US" sz="2500" dirty="0">
                <a:latin typeface="宋体" pitchFamily="2" charset="-122"/>
                <a:ea typeface="宋体" pitchFamily="2" charset="-122"/>
              </a:rPr>
              <a:t> </a:t>
            </a:r>
            <a:endParaRPr lang="zh-CN" altLang="en-US" sz="2500" dirty="0">
              <a:latin typeface="宋体" pitchFamily="2" charset="-122"/>
              <a:ea typeface="宋体" pitchFamily="2" charset="-122"/>
            </a:endParaRPr>
          </a:p>
        </p:txBody>
      </p:sp>
      <p:sp>
        <p:nvSpPr>
          <p:cNvPr id="59399" name="Line 16"/>
          <p:cNvSpPr/>
          <p:nvPr/>
        </p:nvSpPr>
        <p:spPr>
          <a:xfrm flipH="1">
            <a:off x="4325938" y="1120775"/>
            <a:ext cx="0" cy="5354638"/>
          </a:xfrm>
          <a:prstGeom prst="line">
            <a:avLst/>
          </a:prstGeom>
          <a:ln w="38100" cap="flat" cmpd="dbl">
            <a:solidFill>
              <a:schemeClr val="accent2"/>
            </a:solidFill>
            <a:prstDash val="solid"/>
            <a:round/>
            <a:headEnd type="none" w="med" len="med"/>
            <a:tailEnd type="none" w="med" len="med"/>
          </a:ln>
        </p:spPr>
      </p:sp>
      <p:sp>
        <p:nvSpPr>
          <p:cNvPr id="111633" name="Rectangle 17"/>
          <p:cNvSpPr/>
          <p:nvPr/>
        </p:nvSpPr>
        <p:spPr>
          <a:xfrm>
            <a:off x="4491038" y="969963"/>
            <a:ext cx="4178300" cy="528637"/>
          </a:xfrm>
          <a:prstGeom prst="rect">
            <a:avLst/>
          </a:prstGeom>
          <a:noFill/>
          <a:ln w="9525">
            <a:noFill/>
          </a:ln>
        </p:spPr>
        <p:txBody>
          <a:bodyPr anchor="t" anchorCtr="0">
            <a:spAutoFit/>
          </a:bodyPr>
          <a:p>
            <a:pPr marL="342900" indent="-342900">
              <a:lnSpc>
                <a:spcPct val="110000"/>
              </a:lnSpc>
              <a:spcBef>
                <a:spcPct val="20000"/>
              </a:spcBef>
              <a:buClr>
                <a:schemeClr val="tx1"/>
              </a:buClr>
              <a:buFont typeface="Wingdings" panose="05000000000000000000" pitchFamily="2" charset="2"/>
              <a:buNone/>
            </a:pPr>
            <a:r>
              <a:rPr lang="en-US" altLang="zh-CN" sz="2600" b="1" dirty="0">
                <a:latin typeface="Times New Roman" panose="02020503050405090304" pitchFamily="18" charset="0"/>
                <a:ea typeface="宋体" pitchFamily="2" charset="-122"/>
              </a:rPr>
              <a:t>3. </a:t>
            </a:r>
            <a:r>
              <a:rPr lang="zh-CN" altLang="en-US" sz="2600" b="1" dirty="0">
                <a:latin typeface="Times New Roman" panose="02020503050405090304" pitchFamily="18" charset="0"/>
                <a:ea typeface="宋体" pitchFamily="2" charset="-122"/>
              </a:rPr>
              <a:t>适合产生式</a:t>
            </a:r>
            <a:r>
              <a:rPr lang="zh-CN" altLang="en-US" sz="2600" b="1" dirty="0">
                <a:latin typeface="Arial" panose="020B0604020202090204" pitchFamily="34" charset="0"/>
                <a:ea typeface="宋体" pitchFamily="2" charset="-122"/>
              </a:rPr>
              <a:t>表示的知识</a:t>
            </a:r>
            <a:endParaRPr lang="zh-CN" altLang="en-US" sz="2600" b="1" dirty="0">
              <a:latin typeface="Arial" panose="020B0604020202090204" pitchFamily="34" charset="0"/>
              <a:ea typeface="宋体" pitchFamily="2" charset="-122"/>
            </a:endParaRPr>
          </a:p>
        </p:txBody>
      </p:sp>
      <p:sp>
        <p:nvSpPr>
          <p:cNvPr id="111634" name="Rectangle 18"/>
          <p:cNvSpPr/>
          <p:nvPr/>
        </p:nvSpPr>
        <p:spPr>
          <a:xfrm>
            <a:off x="4465638" y="1616075"/>
            <a:ext cx="4489450" cy="4559300"/>
          </a:xfrm>
          <a:prstGeom prst="rect">
            <a:avLst/>
          </a:prstGeom>
          <a:gradFill rotWithShape="0">
            <a:gsLst>
              <a:gs pos="0">
                <a:srgbClr val="CCFFCC"/>
              </a:gs>
              <a:gs pos="100000">
                <a:schemeClr val="bg1"/>
              </a:gs>
            </a:gsLst>
            <a:path path="rect">
              <a:fillToRect l="100000" t="100000"/>
            </a:path>
            <a:tileRect/>
          </a:gradFill>
          <a:ln w="9525" cap="flat" cmpd="sng">
            <a:solidFill>
              <a:srgbClr val="808080"/>
            </a:solidFill>
            <a:prstDash val="solid"/>
            <a:miter/>
            <a:headEnd type="none" w="med" len="med"/>
            <a:tailEnd type="none" w="med" len="med"/>
          </a:ln>
        </p:spPr>
        <p:txBody>
          <a:bodyPr anchor="t" anchorCtr="0"/>
          <a:p>
            <a:pPr algn="just">
              <a:lnSpc>
                <a:spcPct val="120000"/>
              </a:lnSpc>
              <a:spcBef>
                <a:spcPct val="30000"/>
              </a:spcBef>
              <a:buClr>
                <a:schemeClr val="accent2"/>
              </a:buClr>
              <a:buFont typeface="Wingdings" panose="05000000000000000000" pitchFamily="2" charset="2"/>
              <a:buNone/>
            </a:pPr>
            <a:r>
              <a:rPr lang="zh-CN" altLang="en-US" sz="2500" b="1" dirty="0">
                <a:latin typeface="Times New Roman" panose="02020503050405090304" pitchFamily="18" charset="0"/>
                <a:ea typeface="宋体" pitchFamily="2" charset="-122"/>
              </a:rPr>
              <a:t>（</a:t>
            </a:r>
            <a:r>
              <a:rPr lang="en-US" altLang="zh-CN" sz="2500" b="1" dirty="0">
                <a:latin typeface="Times New Roman" panose="02020503050405090304" pitchFamily="18" charset="0"/>
                <a:ea typeface="宋体" pitchFamily="2" charset="-122"/>
              </a:rPr>
              <a:t>1</a:t>
            </a:r>
            <a:r>
              <a:rPr lang="zh-CN" altLang="en-US" sz="2500" b="1" dirty="0">
                <a:latin typeface="Times New Roman" panose="02020503050405090304" pitchFamily="18" charset="0"/>
                <a:ea typeface="宋体" pitchFamily="2" charset="-122"/>
              </a:rPr>
              <a:t>）领域知识间关系不密切，不存在结构关系。</a:t>
            </a:r>
            <a:endParaRPr lang="zh-CN" altLang="en-US" sz="2500" b="1" dirty="0">
              <a:latin typeface="Times New Roman" panose="02020503050405090304" pitchFamily="18" charset="0"/>
              <a:ea typeface="宋体" pitchFamily="2" charset="-122"/>
            </a:endParaRPr>
          </a:p>
          <a:p>
            <a:pPr algn="just">
              <a:lnSpc>
                <a:spcPct val="120000"/>
              </a:lnSpc>
              <a:spcBef>
                <a:spcPct val="30000"/>
              </a:spcBef>
              <a:buClr>
                <a:schemeClr val="accent2"/>
              </a:buClr>
              <a:buFont typeface="Wingdings" panose="05000000000000000000" pitchFamily="2" charset="2"/>
              <a:buNone/>
            </a:pPr>
            <a:r>
              <a:rPr lang="zh-CN" altLang="en-US" sz="2500" b="1" dirty="0">
                <a:latin typeface="Times New Roman" panose="02020503050405090304" pitchFamily="18" charset="0"/>
                <a:ea typeface="宋体" pitchFamily="2" charset="-122"/>
              </a:rPr>
              <a:t>（</a:t>
            </a:r>
            <a:r>
              <a:rPr lang="en-US" altLang="zh-CN" sz="2500" b="1" dirty="0">
                <a:latin typeface="Times New Roman" panose="02020503050405090304" pitchFamily="18" charset="0"/>
                <a:ea typeface="宋体" pitchFamily="2" charset="-122"/>
              </a:rPr>
              <a:t>2</a:t>
            </a:r>
            <a:r>
              <a:rPr lang="zh-CN" altLang="en-US" sz="2500" b="1" dirty="0">
                <a:latin typeface="Times New Roman" panose="02020503050405090304" pitchFamily="18" charset="0"/>
                <a:ea typeface="宋体" pitchFamily="2" charset="-122"/>
              </a:rPr>
              <a:t>）经验性及不确定性的知识，且相关领域中对这些知识没有严格、统一的理论。</a:t>
            </a:r>
            <a:endParaRPr lang="zh-CN" altLang="en-US" sz="2500" b="1" dirty="0">
              <a:latin typeface="Times New Roman" panose="02020503050405090304" pitchFamily="18" charset="0"/>
              <a:ea typeface="宋体" pitchFamily="2" charset="-122"/>
            </a:endParaRPr>
          </a:p>
          <a:p>
            <a:pPr algn="just">
              <a:lnSpc>
                <a:spcPct val="120000"/>
              </a:lnSpc>
              <a:spcBef>
                <a:spcPct val="30000"/>
              </a:spcBef>
              <a:spcAft>
                <a:spcPct val="50000"/>
              </a:spcAft>
              <a:buClr>
                <a:schemeClr val="accent2"/>
              </a:buClr>
              <a:buFont typeface="Wingdings" panose="05000000000000000000" pitchFamily="2" charset="2"/>
              <a:buNone/>
            </a:pPr>
            <a:r>
              <a:rPr lang="zh-CN" altLang="en-US" sz="2500" b="1" dirty="0">
                <a:latin typeface="Times New Roman" panose="02020503050405090304" pitchFamily="18" charset="0"/>
                <a:ea typeface="宋体" pitchFamily="2" charset="-122"/>
              </a:rPr>
              <a:t>（</a:t>
            </a:r>
            <a:r>
              <a:rPr lang="en-US" altLang="zh-CN" sz="2500" b="1" dirty="0">
                <a:latin typeface="Times New Roman" panose="02020503050405090304" pitchFamily="18" charset="0"/>
                <a:ea typeface="宋体" pitchFamily="2" charset="-122"/>
              </a:rPr>
              <a:t>3</a:t>
            </a:r>
            <a:r>
              <a:rPr lang="zh-CN" altLang="en-US" sz="2500" b="1" dirty="0">
                <a:latin typeface="Times New Roman" panose="02020503050405090304" pitchFamily="18" charset="0"/>
                <a:ea typeface="宋体" pitchFamily="2" charset="-122"/>
              </a:rPr>
              <a:t>）领域问题的求解过程可被表示为一系列相对独立的操作，且每个操作</a:t>
            </a:r>
            <a:r>
              <a:rPr lang="zh-CN" altLang="en-US" sz="2500" b="1" dirty="0">
                <a:latin typeface="宋体" pitchFamily="2" charset="-122"/>
                <a:ea typeface="宋体" pitchFamily="2" charset="-122"/>
              </a:rPr>
              <a:t>可被表示为一条或多条产生式规则。</a:t>
            </a:r>
            <a:endParaRPr lang="zh-CN" altLang="en-US" sz="2500" b="1" dirty="0">
              <a:latin typeface="宋体" pitchFamily="2" charset="-122"/>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1633"/>
                                        </p:tgtEl>
                                        <p:attrNameLst>
                                          <p:attrName>style.visibility</p:attrName>
                                        </p:attrNameLst>
                                      </p:cBhvr>
                                      <p:to>
                                        <p:strVal val="visible"/>
                                      </p:to>
                                    </p:set>
                                    <p:anim calcmode="lin" valueType="num">
                                      <p:cBhvr additive="base">
                                        <p:cTn id="7" dur="500" fill="hold"/>
                                        <p:tgtEl>
                                          <p:spTgt spid="111633"/>
                                        </p:tgtEl>
                                        <p:attrNameLst>
                                          <p:attrName>ppt_x</p:attrName>
                                        </p:attrNameLst>
                                      </p:cBhvr>
                                      <p:tavLst>
                                        <p:tav tm="0">
                                          <p:val>
                                            <p:strVal val="1+#ppt_w/2"/>
                                          </p:val>
                                        </p:tav>
                                        <p:tav tm="100000">
                                          <p:val>
                                            <p:strVal val="#ppt_x"/>
                                          </p:val>
                                        </p:tav>
                                      </p:tavLst>
                                    </p:anim>
                                    <p:anim calcmode="lin" valueType="num">
                                      <p:cBhvr additive="base">
                                        <p:cTn id="8" dur="500" fill="hold"/>
                                        <p:tgtEl>
                                          <p:spTgt spid="11163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111634"/>
                                        </p:tgtEl>
                                        <p:attrNameLst>
                                          <p:attrName>style.visibility</p:attrName>
                                        </p:attrNameLst>
                                      </p:cBhvr>
                                      <p:to>
                                        <p:strVal val="visible"/>
                                      </p:to>
                                    </p:set>
                                    <p:animEffect transition="in" filter="blinds(horizontal)">
                                      <p:cBhvr>
                                        <p:cTn id="12" dur="500"/>
                                        <p:tgtEl>
                                          <p:spTgt spid="111634"/>
                                        </p:tgtEl>
                                      </p:cBhvr>
                                    </p:animEffect>
                                  </p:childTnLst>
                                </p:cTn>
                              </p:par>
                            </p:childTnLst>
                          </p:cTn>
                        </p:par>
                        <p:par>
                          <p:cTn id="13" fill="hold">
                            <p:stCondLst>
                              <p:cond delay="1000"/>
                            </p:stCondLst>
                            <p:childTnLst>
                              <p:par>
                                <p:cTn id="14" presetID="3" presetClass="entr" presetSubtype="10" fill="hold" grpId="0" nodeType="afterEffect">
                                  <p:stCondLst>
                                    <p:cond delay="0"/>
                                  </p:stCondLst>
                                  <p:childTnLst>
                                    <p:set>
                                      <p:cBhvr>
                                        <p:cTn id="15" dur="1" fill="hold">
                                          <p:stCondLst>
                                            <p:cond delay="0"/>
                                          </p:stCondLst>
                                        </p:cTn>
                                        <p:tgtEl>
                                          <p:spTgt spid="111634">
                                            <p:txEl>
                                              <p:charRg st="0" end="23"/>
                                            </p:txEl>
                                          </p:spTgt>
                                        </p:tgtEl>
                                        <p:attrNameLst>
                                          <p:attrName>style.visibility</p:attrName>
                                        </p:attrNameLst>
                                      </p:cBhvr>
                                      <p:to>
                                        <p:strVal val="visible"/>
                                      </p:to>
                                    </p:set>
                                    <p:animEffect transition="in" filter="blinds(horizontal)">
                                      <p:cBhvr>
                                        <p:cTn id="16" dur="500"/>
                                        <p:tgtEl>
                                          <p:spTgt spid="111634">
                                            <p:txEl>
                                              <p:charRg st="0" end="23"/>
                                            </p:txEl>
                                          </p:spTgt>
                                        </p:tgtEl>
                                      </p:cBhvr>
                                    </p:animEffect>
                                  </p:childTnLst>
                                </p:cTn>
                              </p:par>
                            </p:childTnLst>
                          </p:cTn>
                        </p:par>
                        <p:par>
                          <p:cTn id="17" fill="hold">
                            <p:stCondLst>
                              <p:cond delay="1500"/>
                            </p:stCondLst>
                            <p:childTnLst>
                              <p:par>
                                <p:cTn id="18" presetID="3" presetClass="entr" presetSubtype="10" fill="hold" grpId="0" nodeType="afterEffect">
                                  <p:stCondLst>
                                    <p:cond delay="0"/>
                                  </p:stCondLst>
                                  <p:childTnLst>
                                    <p:set>
                                      <p:cBhvr>
                                        <p:cTn id="19" dur="1" fill="hold">
                                          <p:stCondLst>
                                            <p:cond delay="0"/>
                                          </p:stCondLst>
                                        </p:cTn>
                                        <p:tgtEl>
                                          <p:spTgt spid="111634">
                                            <p:txEl>
                                              <p:charRg st="23" end="61"/>
                                            </p:txEl>
                                          </p:spTgt>
                                        </p:tgtEl>
                                        <p:attrNameLst>
                                          <p:attrName>style.visibility</p:attrName>
                                        </p:attrNameLst>
                                      </p:cBhvr>
                                      <p:to>
                                        <p:strVal val="visible"/>
                                      </p:to>
                                    </p:set>
                                    <p:animEffect transition="in" filter="blinds(horizontal)">
                                      <p:cBhvr>
                                        <p:cTn id="20" dur="500"/>
                                        <p:tgtEl>
                                          <p:spTgt spid="111634">
                                            <p:txEl>
                                              <p:charRg st="23" end="61"/>
                                            </p:txEl>
                                          </p:spTgt>
                                        </p:tgtEl>
                                      </p:cBhvr>
                                    </p:animEffect>
                                  </p:childTnLst>
                                </p:cTn>
                              </p:par>
                            </p:childTnLst>
                          </p:cTn>
                        </p:par>
                        <p:par>
                          <p:cTn id="21" fill="hold">
                            <p:stCondLst>
                              <p:cond delay="2000"/>
                            </p:stCondLst>
                            <p:childTnLst>
                              <p:par>
                                <p:cTn id="22" presetID="3" presetClass="entr" presetSubtype="10" fill="hold" grpId="0" nodeType="afterEffect">
                                  <p:stCondLst>
                                    <p:cond delay="0"/>
                                  </p:stCondLst>
                                  <p:childTnLst>
                                    <p:set>
                                      <p:cBhvr>
                                        <p:cTn id="23" dur="1" fill="hold">
                                          <p:stCondLst>
                                            <p:cond delay="0"/>
                                          </p:stCondLst>
                                        </p:cTn>
                                        <p:tgtEl>
                                          <p:spTgt spid="111634">
                                            <p:txEl>
                                              <p:charRg st="61" end="111"/>
                                            </p:txEl>
                                          </p:spTgt>
                                        </p:tgtEl>
                                        <p:attrNameLst>
                                          <p:attrName>style.visibility</p:attrName>
                                        </p:attrNameLst>
                                      </p:cBhvr>
                                      <p:to>
                                        <p:strVal val="visible"/>
                                      </p:to>
                                    </p:set>
                                    <p:animEffect transition="in" filter="blinds(horizontal)">
                                      <p:cBhvr>
                                        <p:cTn id="24" dur="500"/>
                                        <p:tgtEl>
                                          <p:spTgt spid="111634">
                                            <p:txEl>
                                              <p:charRg st="61" end="1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33" grpId="0"/>
      <p:bldP spid="111634" grpId="0" animBg="1" advAuto="100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0418" name="Rectangle 2"/>
          <p:cNvSpPr>
            <a:spLocks noGrp="1"/>
          </p:cNvSpPr>
          <p:nvPr>
            <p:ph type="title"/>
          </p:nvPr>
        </p:nvSpPr>
        <p:spPr/>
        <p:txBody>
          <a:bodyPr vert="horz" wrap="square" lIns="91440" tIns="45720" rIns="91440" bIns="45720" anchor="b" anchorCtr="0"/>
          <a:p>
            <a:pPr eaLnBrk="1" hangingPunct="1"/>
            <a:r>
              <a:rPr lang="zh-CN" altLang="en-US" dirty="0">
                <a:latin typeface="Times New Roman" panose="02020503050405090304" pitchFamily="18" charset="0"/>
              </a:rPr>
              <a:t>第</a:t>
            </a:r>
            <a:r>
              <a:rPr lang="en-US" altLang="zh-CN" dirty="0">
                <a:latin typeface="Times New Roman" panose="02020503050405090304" pitchFamily="18" charset="0"/>
              </a:rPr>
              <a:t>2</a:t>
            </a:r>
            <a:r>
              <a:rPr lang="zh-CN" altLang="en-US" dirty="0">
                <a:latin typeface="Times New Roman" panose="02020503050405090304" pitchFamily="18" charset="0"/>
              </a:rPr>
              <a:t>章  知识表示与知识图谱</a:t>
            </a:r>
            <a:endParaRPr lang="zh-CN" altLang="en-US" dirty="0">
              <a:latin typeface="Times New Roman" panose="02020503050405090304" pitchFamily="18" charset="0"/>
            </a:endParaRPr>
          </a:p>
        </p:txBody>
      </p:sp>
      <p:sp>
        <p:nvSpPr>
          <p:cNvPr id="59396" name="Rectangle 3"/>
          <p:cNvSpPr>
            <a:spLocks noGrp="1" noChangeArrowheads="1"/>
          </p:cNvSpPr>
          <p:nvPr>
            <p:ph idx="1"/>
          </p:nvPr>
        </p:nvSpPr>
        <p:spPr>
          <a:xfrm>
            <a:off x="468313" y="908050"/>
            <a:ext cx="8424863" cy="5400675"/>
          </a:xfrm>
        </p:spPr>
        <p:txBody>
          <a:bodyPr vert="horz" wrap="square" lIns="91440" tIns="45720" rIns="91440" bIns="45720" numCol="1" anchor="t" anchorCtr="0" compatLnSpc="1"/>
          <a:lstStyle/>
          <a:p>
            <a:pPr marL="469900" marR="0" lvl="0" indent="-469900" algn="l" defTabSz="914400" rtl="0" eaLnBrk="1" fontAlgn="base" latinLnBrk="0" hangingPunct="1">
              <a:lnSpc>
                <a:spcPct val="160000"/>
              </a:lnSpc>
              <a:spcBef>
                <a:spcPct val="20000"/>
              </a:spcBef>
              <a:spcAft>
                <a:spcPct val="0"/>
              </a:spcAft>
              <a:buClr>
                <a:schemeClr val="accent2"/>
              </a:buClr>
              <a:buSzTx/>
              <a:buFont typeface="Wingdings" panose="05000000000000000000" pitchFamily="2" charset="2"/>
              <a:buBlip>
                <a:blip r:embed="rId1"/>
              </a:buBlip>
              <a:defRPr/>
            </a:pPr>
            <a:r>
              <a:rPr kumimoji="0"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2.1  </a:t>
            </a:r>
            <a:r>
              <a:rPr kumimoji="0" lang="zh-CN" altLang="en-US"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知识与知识表示的概念 </a:t>
            </a:r>
            <a:endParaRPr kumimoji="0" lang="zh-CN" altLang="en-US"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469900" marR="0" lvl="0" indent="-469900" algn="l" defTabSz="914400" rtl="0" eaLnBrk="1" fontAlgn="base" latinLnBrk="0" hangingPunct="1">
              <a:lnSpc>
                <a:spcPct val="160000"/>
              </a:lnSpc>
              <a:spcBef>
                <a:spcPct val="20000"/>
              </a:spcBef>
              <a:spcAft>
                <a:spcPct val="0"/>
              </a:spcAft>
              <a:buClr>
                <a:schemeClr val="accent2"/>
              </a:buClr>
              <a:buSzTx/>
              <a:buFont typeface="Wingdings" panose="05000000000000000000" pitchFamily="2" charset="2"/>
              <a:buBlip>
                <a:blip r:embed="rId1"/>
              </a:buBlip>
              <a:defRPr/>
            </a:pPr>
            <a:r>
              <a:rPr kumimoji="0"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2.2  </a:t>
            </a:r>
            <a:r>
              <a:rPr kumimoji="0" lang="zh-CN" altLang="en-US"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一阶谓词逻辑表示法 </a:t>
            </a:r>
            <a:endParaRPr kumimoji="0" lang="zh-CN" altLang="en-US"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469900" marR="0" lvl="0" indent="-469900" algn="l" defTabSz="914400" rtl="0" eaLnBrk="1" fontAlgn="base" latinLnBrk="0" hangingPunct="1">
              <a:lnSpc>
                <a:spcPct val="160000"/>
              </a:lnSpc>
              <a:spcBef>
                <a:spcPct val="20000"/>
              </a:spcBef>
              <a:spcAft>
                <a:spcPct val="0"/>
              </a:spcAft>
              <a:buClr>
                <a:schemeClr val="accent2"/>
              </a:buClr>
              <a:buSzTx/>
              <a:buFont typeface="Wingdings" panose="05000000000000000000" pitchFamily="2" charset="2"/>
              <a:buBlip>
                <a:blip r:embed="rId1"/>
              </a:buBlip>
              <a:defRPr/>
            </a:pPr>
            <a:r>
              <a:rPr kumimoji="0"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2.3  </a:t>
            </a:r>
            <a:r>
              <a:rPr kumimoji="0" lang="zh-CN" altLang="en-US"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产生式表示法 </a:t>
            </a:r>
            <a:endParaRPr kumimoji="0" lang="zh-CN" altLang="en-US"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469900" marR="0" lvl="0" indent="-469900" algn="l" defTabSz="914400" rtl="0" eaLnBrk="1" fontAlgn="base" latinLnBrk="0" hangingPunct="1">
              <a:lnSpc>
                <a:spcPct val="160000"/>
              </a:lnSpc>
              <a:spcBef>
                <a:spcPct val="20000"/>
              </a:spcBef>
              <a:spcAft>
                <a:spcPct val="0"/>
              </a:spcAft>
              <a:buClr>
                <a:srgbClr val="0000FF"/>
              </a:buClr>
              <a:buSzPct val="150000"/>
              <a:buFont typeface="Wingdings" panose="05000000000000000000" pitchFamily="2" charset="2"/>
              <a:buChar char="ü"/>
              <a:defRPr/>
            </a:pPr>
            <a:r>
              <a:rPr kumimoji="0" lang="en-US" altLang="zh-CN" sz="2800" b="1" i="0" u="none" strike="noStrike" kern="0" cap="none" spc="0" normalizeH="0" baseline="0" noProof="0" dirty="0">
                <a:ln>
                  <a:noFill/>
                </a:ln>
                <a:solidFill>
                  <a:srgbClr val="0000FF"/>
                </a:solidFill>
                <a:effectLst/>
                <a:uLnTx/>
                <a:uFillTx/>
                <a:latin typeface="Times New Roman" panose="02020503050405090304" pitchFamily="18" charset="0"/>
                <a:ea typeface="+mn-ea"/>
                <a:cs typeface="+mn-cs"/>
              </a:rPr>
              <a:t>2.4  </a:t>
            </a:r>
            <a:r>
              <a:rPr kumimoji="0" lang="zh-CN" altLang="en-US" sz="2800" b="1" i="0" u="none" strike="noStrike" kern="0" cap="none" spc="0" normalizeH="0" baseline="0" noProof="0" dirty="0">
                <a:ln>
                  <a:noFill/>
                </a:ln>
                <a:solidFill>
                  <a:srgbClr val="0000FF"/>
                </a:solidFill>
                <a:effectLst/>
                <a:uLnTx/>
                <a:uFillTx/>
                <a:latin typeface="Times New Roman" panose="02020503050405090304" pitchFamily="18" charset="0"/>
                <a:ea typeface="+mn-ea"/>
                <a:cs typeface="+mn-cs"/>
              </a:rPr>
              <a:t>框架表示法 </a:t>
            </a:r>
            <a:endParaRPr kumimoji="0" lang="en-US" altLang="zh-CN" sz="2800" b="1" i="0" u="none" strike="noStrike" kern="0" cap="none" spc="0" normalizeH="0" baseline="0" noProof="0" dirty="0">
              <a:ln>
                <a:noFill/>
              </a:ln>
              <a:solidFill>
                <a:srgbClr val="0000FF"/>
              </a:solidFill>
              <a:effectLst/>
              <a:uLnTx/>
              <a:uFillTx/>
              <a:latin typeface="Times New Roman" panose="02020503050405090304" pitchFamily="18" charset="0"/>
              <a:ea typeface="+mn-ea"/>
              <a:cs typeface="+mn-cs"/>
            </a:endParaRPr>
          </a:p>
          <a:p>
            <a:pPr marL="0" marR="0" lvl="0" indent="0" algn="l" defTabSz="914400" rtl="0" eaLnBrk="1" fontAlgn="base" latinLnBrk="0" hangingPunct="1">
              <a:lnSpc>
                <a:spcPct val="160000"/>
              </a:lnSpc>
              <a:spcBef>
                <a:spcPct val="20000"/>
              </a:spcBef>
              <a:spcAft>
                <a:spcPct val="0"/>
              </a:spcAft>
              <a:buClr>
                <a:srgbClr val="0000FF"/>
              </a:buClr>
              <a:buSzPct val="15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2.5  </a:t>
            </a:r>
            <a:r>
              <a:rPr kumimoji="0" lang="zh-CN" altLang="en-US"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知识图谱 </a:t>
            </a:r>
            <a:endParaRPr kumimoji="0" lang="zh-CN" altLang="en-US"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a:p>
            <a:pPr marL="469900" marR="0" lvl="0" indent="-469900" algn="l" defTabSz="914400" rtl="0" eaLnBrk="1" fontAlgn="base" latinLnBrk="0" hangingPunct="1">
              <a:lnSpc>
                <a:spcPct val="160000"/>
              </a:lnSpc>
              <a:spcBef>
                <a:spcPct val="20000"/>
              </a:spcBef>
              <a:spcAft>
                <a:spcPct val="0"/>
              </a:spcAft>
              <a:buClr>
                <a:srgbClr val="0000FF"/>
              </a:buClr>
              <a:buSzPct val="150000"/>
              <a:buFont typeface="Wingdings" panose="05000000000000000000" pitchFamily="2" charset="2"/>
              <a:buChar char="ü"/>
              <a:defRPr/>
            </a:pPr>
            <a:endParaRPr kumimoji="0" lang="zh-CN" altLang="en-US" sz="2800" b="1" i="0" u="none" strike="noStrike" kern="0" cap="none" spc="0" normalizeH="0" baseline="0" noProof="0" dirty="0">
              <a:ln>
                <a:noFill/>
              </a:ln>
              <a:solidFill>
                <a:srgbClr val="0000FF"/>
              </a:solidFill>
              <a:effectLst/>
              <a:uLnTx/>
              <a:uFillTx/>
              <a:latin typeface="Times New Roman" panose="02020503050405090304" pitchFamily="18" charset="0"/>
              <a:ea typeface="+mn-ea"/>
              <a:cs typeface="+mn-cs"/>
            </a:endParaRPr>
          </a:p>
        </p:txBody>
      </p:sp>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1442"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 2.4  </a:t>
            </a:r>
            <a:r>
              <a:rPr lang="zh-CN" altLang="en-US" dirty="0">
                <a:latin typeface="Times New Roman" panose="02020503050405090304" pitchFamily="18" charset="0"/>
              </a:rPr>
              <a:t>框架表示法</a:t>
            </a:r>
            <a:endParaRPr lang="zh-CN" altLang="en-US" dirty="0">
              <a:latin typeface="Times New Roman" panose="02020503050405090304" pitchFamily="18" charset="0"/>
            </a:endParaRPr>
          </a:p>
        </p:txBody>
      </p:sp>
      <p:sp>
        <p:nvSpPr>
          <p:cNvPr id="61443" name="Rectangle 3"/>
          <p:cNvSpPr>
            <a:spLocks noGrp="1"/>
          </p:cNvSpPr>
          <p:nvPr>
            <p:ph idx="1"/>
          </p:nvPr>
        </p:nvSpPr>
        <p:spPr/>
        <p:txBody>
          <a:bodyPr vert="horz" wrap="square" lIns="91440" tIns="45720" rIns="91440" bIns="45720" anchor="t" anchorCtr="0"/>
          <a:p>
            <a:pPr eaLnBrk="1" hangingPunct="1">
              <a:lnSpc>
                <a:spcPct val="140000"/>
              </a:lnSpc>
              <a:buFontTx/>
              <a:buBlip>
                <a:blip r:embed="rId1"/>
              </a:buBlip>
            </a:pPr>
            <a:r>
              <a:rPr lang="en-US" altLang="zh-CN" b="1" dirty="0">
                <a:latin typeface="Times New Roman" panose="02020503050405090304" pitchFamily="18" charset="0"/>
              </a:rPr>
              <a:t>1975</a:t>
            </a:r>
            <a:r>
              <a:rPr lang="zh-CN" altLang="en-US" b="1" dirty="0">
                <a:latin typeface="宋体" pitchFamily="2" charset="-122"/>
              </a:rPr>
              <a:t>年，美国明斯基提出了框架理论：人们对现实世界中各种事物的认识都是以一种类似于框架的结构存储在记忆中的。</a:t>
            </a:r>
            <a:endParaRPr lang="zh-CN" altLang="en-US" b="1" dirty="0">
              <a:latin typeface="宋体" pitchFamily="2" charset="-122"/>
            </a:endParaRPr>
          </a:p>
          <a:p>
            <a:pPr eaLnBrk="1" hangingPunct="1">
              <a:lnSpc>
                <a:spcPct val="140000"/>
              </a:lnSpc>
              <a:buFontTx/>
              <a:buBlip>
                <a:blip r:embed="rId1"/>
              </a:buBlip>
            </a:pPr>
            <a:r>
              <a:rPr lang="zh-CN" altLang="en-US" b="1" dirty="0">
                <a:latin typeface="宋体" pitchFamily="2" charset="-122"/>
              </a:rPr>
              <a:t>框架表示法：一种结构化的知识表示方法，已在多种系统中得到应用。  </a:t>
            </a:r>
            <a:r>
              <a:rPr lang="zh-CN" altLang="en-US" b="1" dirty="0"/>
              <a:t> </a:t>
            </a:r>
            <a:endParaRPr lang="zh-CN" altLang="en-US" b="1" dirty="0"/>
          </a:p>
        </p:txBody>
      </p:sp>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3490"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2.4.1  </a:t>
            </a:r>
            <a:r>
              <a:rPr lang="zh-CN" altLang="en-US" dirty="0">
                <a:latin typeface="Times New Roman" panose="02020503050405090304" pitchFamily="18" charset="0"/>
              </a:rPr>
              <a:t>框架的一般结构</a:t>
            </a:r>
            <a:endParaRPr lang="zh-CN" altLang="en-US" dirty="0">
              <a:latin typeface="Times New Roman" panose="02020503050405090304" pitchFamily="18" charset="0"/>
            </a:endParaRPr>
          </a:p>
        </p:txBody>
      </p:sp>
      <p:sp>
        <p:nvSpPr>
          <p:cNvPr id="63491" name="Rectangle 3"/>
          <p:cNvSpPr>
            <a:spLocks noGrp="1"/>
          </p:cNvSpPr>
          <p:nvPr>
            <p:ph idx="1"/>
          </p:nvPr>
        </p:nvSpPr>
        <p:spPr>
          <a:xfrm>
            <a:off x="250825" y="1093788"/>
            <a:ext cx="8642350" cy="5400675"/>
          </a:xfrm>
        </p:spPr>
        <p:txBody>
          <a:bodyPr vert="horz" wrap="square" lIns="91440" tIns="45720" rIns="91440" bIns="45720" anchor="t" anchorCtr="0"/>
          <a:p>
            <a:pPr eaLnBrk="1" hangingPunct="1"/>
            <a:r>
              <a:rPr lang="zh-CN" altLang="en-US" b="1" dirty="0">
                <a:latin typeface="Times New Roman" panose="02020503050405090304" pitchFamily="18" charset="0"/>
              </a:rPr>
              <a:t>框架</a:t>
            </a:r>
            <a:r>
              <a:rPr lang="zh-CN" altLang="en-US" dirty="0">
                <a:latin typeface="Times New Roman" panose="02020503050405090304" pitchFamily="18" charset="0"/>
              </a:rPr>
              <a:t>（</a:t>
            </a:r>
            <a:r>
              <a:rPr lang="en-US" altLang="zh-CN" dirty="0">
                <a:latin typeface="Times New Roman" panose="02020503050405090304" pitchFamily="18" charset="0"/>
              </a:rPr>
              <a:t>frame</a:t>
            </a:r>
            <a:r>
              <a:rPr lang="zh-CN" altLang="en-US" dirty="0">
                <a:latin typeface="Times New Roman" panose="02020503050405090304" pitchFamily="18" charset="0"/>
              </a:rPr>
              <a:t>）：一种描述所论对象（一个事物、事件或概念）属性的数据结构。</a:t>
            </a:r>
            <a:endParaRPr lang="zh-CN" altLang="en-US" dirty="0">
              <a:latin typeface="Times New Roman" panose="02020503050405090304" pitchFamily="18" charset="0"/>
            </a:endParaRPr>
          </a:p>
          <a:p>
            <a:pPr eaLnBrk="1" hangingPunct="1"/>
            <a:r>
              <a:rPr lang="zh-CN" altLang="en-US" dirty="0">
                <a:latin typeface="Times New Roman" panose="02020503050405090304" pitchFamily="18" charset="0"/>
              </a:rPr>
              <a:t>一个框架由若干个被称为“槽”（</a:t>
            </a:r>
            <a:r>
              <a:rPr lang="en-US" altLang="zh-CN" dirty="0">
                <a:latin typeface="Times New Roman" panose="02020503050405090304" pitchFamily="18" charset="0"/>
              </a:rPr>
              <a:t>slot</a:t>
            </a:r>
            <a:r>
              <a:rPr lang="zh-CN" altLang="en-US" dirty="0">
                <a:latin typeface="Times New Roman" panose="02020503050405090304" pitchFamily="18" charset="0"/>
              </a:rPr>
              <a:t>）的结构组成，每一个槽又可根据实际情况划分为若干个“侧面”（</a:t>
            </a:r>
            <a:r>
              <a:rPr lang="en-US" altLang="zh-CN" dirty="0">
                <a:latin typeface="Times New Roman" panose="02020503050405090304" pitchFamily="18" charset="0"/>
              </a:rPr>
              <a:t>faced</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eaLnBrk="1" hangingPunct="1"/>
            <a:r>
              <a:rPr lang="zh-CN" altLang="en-US" dirty="0"/>
              <a:t>一个槽用于描述所论对象某一方面的属性。</a:t>
            </a:r>
            <a:endParaRPr lang="zh-CN" altLang="en-US" dirty="0"/>
          </a:p>
          <a:p>
            <a:pPr eaLnBrk="1" hangingPunct="1"/>
            <a:r>
              <a:rPr lang="zh-CN" altLang="en-US" dirty="0"/>
              <a:t>一个侧面用于描述相应属性的一个方面。</a:t>
            </a:r>
            <a:endParaRPr lang="zh-CN" altLang="en-US" dirty="0"/>
          </a:p>
          <a:p>
            <a:pPr eaLnBrk="1" hangingPunct="1"/>
            <a:r>
              <a:rPr lang="zh-CN" altLang="en-US" dirty="0"/>
              <a:t>槽和侧面所具有的属性值分别被称为槽值和侧面值。</a:t>
            </a:r>
            <a:endParaRPr lang="zh-CN" altLang="en-US" dirty="0"/>
          </a:p>
        </p:txBody>
      </p:sp>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4514" name="Rectangle 7"/>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2.4.1  </a:t>
            </a:r>
            <a:r>
              <a:rPr lang="zh-CN" altLang="en-US" dirty="0">
                <a:latin typeface="Times New Roman" panose="02020503050405090304" pitchFamily="18" charset="0"/>
              </a:rPr>
              <a:t>框架的一般结构</a:t>
            </a:r>
            <a:endParaRPr lang="zh-CN" altLang="en-US" dirty="0">
              <a:latin typeface="Times New Roman" panose="02020503050405090304" pitchFamily="18" charset="0"/>
            </a:endParaRPr>
          </a:p>
        </p:txBody>
      </p:sp>
      <p:sp>
        <p:nvSpPr>
          <p:cNvPr id="64515" name="Rectangle 8"/>
          <p:cNvSpPr>
            <a:spLocks noGrp="1"/>
          </p:cNvSpPr>
          <p:nvPr>
            <p:ph idx="1"/>
          </p:nvPr>
        </p:nvSpPr>
        <p:spPr>
          <a:xfrm>
            <a:off x="263525" y="1016000"/>
            <a:ext cx="8642350" cy="5503863"/>
          </a:xfrm>
          <a:solidFill>
            <a:srgbClr val="FFFFFF"/>
          </a:solidFill>
          <a:ln>
            <a:solidFill>
              <a:srgbClr val="808080"/>
            </a:solidFill>
            <a:miter/>
          </a:ln>
        </p:spPr>
        <p:txBody>
          <a:bodyPr vert="horz" wrap="square" lIns="91440" tIns="45720" rIns="91440" bIns="45720" anchor="t" anchorCtr="0"/>
          <a:p>
            <a:pPr eaLnBrk="1" hangingPunct="1">
              <a:lnSpc>
                <a:spcPct val="110000"/>
              </a:lnSpc>
              <a:buNone/>
            </a:pPr>
            <a:r>
              <a:rPr lang="en-US" altLang="zh-CN" sz="2400" b="1" dirty="0">
                <a:latin typeface="Times New Roman" panose="02020503050405090304" pitchFamily="18" charset="0"/>
              </a:rPr>
              <a:t> &lt;</a:t>
            </a:r>
            <a:r>
              <a:rPr lang="zh-CN" altLang="en-US" sz="2400" b="1" dirty="0">
                <a:solidFill>
                  <a:schemeClr val="accent2"/>
                </a:solidFill>
                <a:latin typeface="Times New Roman" panose="02020503050405090304" pitchFamily="18" charset="0"/>
              </a:rPr>
              <a:t>框架名</a:t>
            </a:r>
            <a:r>
              <a:rPr lang="en-US" altLang="zh-CN" sz="2400" b="1" dirty="0">
                <a:latin typeface="Times New Roman" panose="02020503050405090304" pitchFamily="18" charset="0"/>
              </a:rPr>
              <a:t>&gt;</a:t>
            </a:r>
            <a:endParaRPr lang="en-US" altLang="zh-CN" sz="2400" b="1" dirty="0">
              <a:latin typeface="Times New Roman" panose="02020503050405090304" pitchFamily="18" charset="0"/>
            </a:endParaRPr>
          </a:p>
          <a:p>
            <a:pPr eaLnBrk="1" hangingPunct="1">
              <a:lnSpc>
                <a:spcPct val="110000"/>
              </a:lnSpc>
              <a:buNone/>
            </a:pPr>
            <a:r>
              <a:rPr lang="zh-CN" altLang="en-US" sz="2400" b="1" dirty="0">
                <a:latin typeface="Times New Roman" panose="02020503050405090304" pitchFamily="18" charset="0"/>
              </a:rPr>
              <a:t>槽名</a:t>
            </a:r>
            <a:r>
              <a:rPr lang="en-US" altLang="zh-CN" sz="2400" b="1" dirty="0">
                <a:latin typeface="Times New Roman" panose="02020503050405090304" pitchFamily="18" charset="0"/>
              </a:rPr>
              <a:t>1</a:t>
            </a:r>
            <a:r>
              <a:rPr lang="zh-CN" altLang="en-US" sz="2400" b="1" dirty="0">
                <a:latin typeface="Times New Roman" panose="02020503050405090304" pitchFamily="18" charset="0"/>
              </a:rPr>
              <a:t>：   </a:t>
            </a:r>
            <a:r>
              <a:rPr lang="zh-CN" altLang="en-US" sz="2400" b="1" dirty="0">
                <a:solidFill>
                  <a:srgbClr val="0000FF"/>
                </a:solidFill>
                <a:latin typeface="Times New Roman" panose="02020503050405090304" pitchFamily="18" charset="0"/>
              </a:rPr>
              <a:t>侧面名</a:t>
            </a:r>
            <a:r>
              <a:rPr lang="en-US" altLang="zh-CN" sz="2400" b="1" baseline="-25000" dirty="0">
                <a:solidFill>
                  <a:srgbClr val="0000FF"/>
                </a:solidFill>
                <a:latin typeface="Times New Roman" panose="02020503050405090304" pitchFamily="18" charset="0"/>
              </a:rPr>
              <a:t>11 </a:t>
            </a:r>
            <a:r>
              <a:rPr lang="en-US" altLang="zh-CN" sz="2400" b="1" dirty="0">
                <a:solidFill>
                  <a:srgbClr val="0000FF"/>
                </a:solidFill>
                <a:latin typeface="Times New Roman" panose="02020503050405090304" pitchFamily="18" charset="0"/>
              </a:rPr>
              <a:t>          </a:t>
            </a:r>
            <a:r>
              <a:rPr lang="zh-CN" altLang="en-US" sz="2400" b="1" dirty="0">
                <a:solidFill>
                  <a:srgbClr val="0000FF"/>
                </a:solidFill>
                <a:latin typeface="Times New Roman" panose="02020503050405090304" pitchFamily="18" charset="0"/>
              </a:rPr>
              <a:t>侧面值</a:t>
            </a:r>
            <a:r>
              <a:rPr lang="en-US" altLang="zh-CN" sz="2400" b="1" baseline="-25000" dirty="0">
                <a:solidFill>
                  <a:srgbClr val="0000FF"/>
                </a:solidFill>
                <a:latin typeface="Times New Roman" panose="02020503050405090304" pitchFamily="18" charset="0"/>
              </a:rPr>
              <a:t>111</a:t>
            </a:r>
            <a:r>
              <a:rPr lang="en-US" altLang="zh-CN" sz="2400" b="1" dirty="0">
                <a:solidFill>
                  <a:srgbClr val="0000FF"/>
                </a:solidFill>
                <a:latin typeface="Times New Roman" panose="02020503050405090304" pitchFamily="18" charset="0"/>
              </a:rPr>
              <a:t> </a:t>
            </a:r>
            <a:r>
              <a:rPr lang="zh-CN" altLang="en-US" sz="2400" b="1" dirty="0">
                <a:solidFill>
                  <a:srgbClr val="0000FF"/>
                </a:solidFill>
                <a:latin typeface="Times New Roman" panose="02020503050405090304" pitchFamily="18" charset="0"/>
              </a:rPr>
              <a:t>，</a:t>
            </a:r>
            <a:r>
              <a:rPr lang="en-US" altLang="zh-CN" sz="4000" b="1" baseline="14000" dirty="0">
                <a:solidFill>
                  <a:srgbClr val="0000FF"/>
                </a:solidFill>
                <a:latin typeface="Times New Roman" panose="02020503050405090304" pitchFamily="18" charset="0"/>
              </a:rPr>
              <a:t>…</a:t>
            </a:r>
            <a:r>
              <a:rPr lang="en-US" altLang="zh-CN" sz="2400" b="1" dirty="0">
                <a:solidFill>
                  <a:srgbClr val="0000FF"/>
                </a:solidFill>
                <a:latin typeface="Times New Roman" panose="02020503050405090304" pitchFamily="18" charset="0"/>
              </a:rPr>
              <a:t> </a:t>
            </a:r>
            <a:r>
              <a:rPr lang="zh-CN" altLang="en-US" sz="2400" b="1" dirty="0">
                <a:solidFill>
                  <a:srgbClr val="0000FF"/>
                </a:solidFill>
                <a:latin typeface="Times New Roman" panose="02020503050405090304" pitchFamily="18" charset="0"/>
              </a:rPr>
              <a:t>，侧面值</a:t>
            </a:r>
            <a:r>
              <a:rPr lang="en-US" altLang="zh-CN" sz="2400" b="1" baseline="-25000" dirty="0">
                <a:solidFill>
                  <a:srgbClr val="0000FF"/>
                </a:solidFill>
                <a:latin typeface="Times New Roman" panose="02020503050405090304" pitchFamily="18" charset="0"/>
              </a:rPr>
              <a:t>11</a:t>
            </a:r>
            <a:r>
              <a:rPr lang="en-US" altLang="zh-CN" sz="2400" b="1" i="1" baseline="-25000" dirty="0">
                <a:solidFill>
                  <a:srgbClr val="0000FF"/>
                </a:solidFill>
                <a:latin typeface="Times New Roman" panose="02020503050405090304" pitchFamily="18" charset="0"/>
              </a:rPr>
              <a:t>P</a:t>
            </a:r>
            <a:r>
              <a:rPr lang="en-US" altLang="zh-CN" sz="2400" b="1" baseline="-25000" dirty="0">
                <a:solidFill>
                  <a:srgbClr val="0000FF"/>
                </a:solidFill>
                <a:latin typeface="Times New Roman" panose="02020503050405090304" pitchFamily="18" charset="0"/>
              </a:rPr>
              <a:t>1</a:t>
            </a:r>
            <a:r>
              <a:rPr lang="en-US" altLang="zh-CN" sz="2400" b="1" baseline="-25000" dirty="0">
                <a:latin typeface="Times New Roman" panose="02020503050405090304" pitchFamily="18" charset="0"/>
              </a:rPr>
              <a:t> </a:t>
            </a:r>
            <a:endParaRPr lang="en-US" altLang="zh-CN" sz="2400" b="1" baseline="-25000" dirty="0">
              <a:latin typeface="Times New Roman" panose="02020503050405090304" pitchFamily="18" charset="0"/>
            </a:endParaRPr>
          </a:p>
          <a:p>
            <a:pPr eaLnBrk="1" hangingPunct="1">
              <a:lnSpc>
                <a:spcPct val="110000"/>
              </a:lnSpc>
              <a:buNone/>
            </a:pPr>
            <a:r>
              <a:rPr lang="en-US" altLang="zh-CN" sz="2400" b="1" dirty="0">
                <a:latin typeface="Times New Roman" panose="02020503050405090304" pitchFamily="18" charset="0"/>
              </a:rPr>
              <a:t>   ┊              </a:t>
            </a:r>
            <a:r>
              <a:rPr lang="en-US" altLang="zh-CN" sz="2400" b="1" dirty="0">
                <a:solidFill>
                  <a:srgbClr val="0000FF"/>
                </a:solidFill>
                <a:latin typeface="Times New Roman" panose="02020503050405090304" pitchFamily="18" charset="0"/>
              </a:rPr>
              <a:t>┊</a:t>
            </a:r>
            <a:endParaRPr lang="en-US" altLang="zh-CN" sz="2400" b="1" dirty="0">
              <a:solidFill>
                <a:srgbClr val="0000FF"/>
              </a:solidFill>
              <a:latin typeface="Times New Roman" panose="02020503050405090304" pitchFamily="18" charset="0"/>
            </a:endParaRPr>
          </a:p>
          <a:p>
            <a:pPr eaLnBrk="1" hangingPunct="1">
              <a:lnSpc>
                <a:spcPct val="110000"/>
              </a:lnSpc>
              <a:buNone/>
            </a:pPr>
            <a:r>
              <a:rPr lang="en-US" altLang="zh-CN" sz="2400" b="1" dirty="0">
                <a:latin typeface="Times New Roman" panose="02020503050405090304" pitchFamily="18" charset="0"/>
              </a:rPr>
              <a:t>                 </a:t>
            </a:r>
            <a:r>
              <a:rPr lang="zh-CN" altLang="en-US" sz="2400" b="1" dirty="0">
                <a:solidFill>
                  <a:srgbClr val="0000FF"/>
                </a:solidFill>
                <a:latin typeface="Times New Roman" panose="02020503050405090304" pitchFamily="18" charset="0"/>
              </a:rPr>
              <a:t>侧面名</a:t>
            </a:r>
            <a:r>
              <a:rPr lang="en-US" altLang="zh-CN" sz="2400" b="1" baseline="-25000" dirty="0">
                <a:solidFill>
                  <a:srgbClr val="0000FF"/>
                </a:solidFill>
                <a:latin typeface="Times New Roman" panose="02020503050405090304" pitchFamily="18" charset="0"/>
              </a:rPr>
              <a:t>1</a:t>
            </a:r>
            <a:r>
              <a:rPr lang="en-US" altLang="zh-CN" sz="2400" b="1" i="1" baseline="-25000" dirty="0">
                <a:solidFill>
                  <a:srgbClr val="0000FF"/>
                </a:solidFill>
                <a:latin typeface="Times New Roman" panose="02020503050405090304" pitchFamily="18" charset="0"/>
              </a:rPr>
              <a:t>m</a:t>
            </a:r>
            <a:r>
              <a:rPr lang="en-US" altLang="zh-CN" sz="2400" b="1" baseline="-25000" dirty="0">
                <a:solidFill>
                  <a:srgbClr val="0000FF"/>
                </a:solidFill>
                <a:latin typeface="Times New Roman" panose="02020503050405090304" pitchFamily="18" charset="0"/>
              </a:rPr>
              <a:t> </a:t>
            </a:r>
            <a:r>
              <a:rPr lang="en-US" altLang="zh-CN" sz="2400" b="1" dirty="0">
                <a:solidFill>
                  <a:srgbClr val="0000FF"/>
                </a:solidFill>
                <a:latin typeface="Times New Roman" panose="02020503050405090304" pitchFamily="18" charset="0"/>
              </a:rPr>
              <a:t>         </a:t>
            </a:r>
            <a:r>
              <a:rPr lang="zh-CN" altLang="en-US" sz="2400" b="1" dirty="0">
                <a:solidFill>
                  <a:srgbClr val="0000FF"/>
                </a:solidFill>
                <a:latin typeface="Times New Roman" panose="02020503050405090304" pitchFamily="18" charset="0"/>
              </a:rPr>
              <a:t>侧面值</a:t>
            </a:r>
            <a:r>
              <a:rPr lang="en-US" altLang="zh-CN" sz="2400" b="1" baseline="-25000" dirty="0">
                <a:solidFill>
                  <a:srgbClr val="0000FF"/>
                </a:solidFill>
                <a:latin typeface="Times New Roman" panose="02020503050405090304" pitchFamily="18" charset="0"/>
              </a:rPr>
              <a:t>1</a:t>
            </a:r>
            <a:r>
              <a:rPr lang="en-US" altLang="zh-CN" sz="2400" b="1" i="1" baseline="-25000" dirty="0">
                <a:solidFill>
                  <a:srgbClr val="0000FF"/>
                </a:solidFill>
                <a:latin typeface="Times New Roman" panose="02020503050405090304" pitchFamily="18" charset="0"/>
              </a:rPr>
              <a:t>m</a:t>
            </a:r>
            <a:r>
              <a:rPr lang="en-US" altLang="zh-CN" sz="2400" b="1" baseline="-25000" dirty="0">
                <a:solidFill>
                  <a:srgbClr val="0000FF"/>
                </a:solidFill>
                <a:latin typeface="Times New Roman" panose="02020503050405090304" pitchFamily="18" charset="0"/>
              </a:rPr>
              <a:t>1</a:t>
            </a:r>
            <a:r>
              <a:rPr lang="en-US" altLang="zh-CN" sz="2400" b="1" dirty="0">
                <a:solidFill>
                  <a:srgbClr val="0000FF"/>
                </a:solidFill>
                <a:latin typeface="Times New Roman" panose="02020503050405090304" pitchFamily="18" charset="0"/>
              </a:rPr>
              <a:t> </a:t>
            </a:r>
            <a:r>
              <a:rPr lang="zh-CN" altLang="en-US" sz="2400" b="1" dirty="0">
                <a:solidFill>
                  <a:srgbClr val="0000FF"/>
                </a:solidFill>
                <a:latin typeface="Times New Roman" panose="02020503050405090304" pitchFamily="18" charset="0"/>
              </a:rPr>
              <a:t>， </a:t>
            </a:r>
            <a:r>
              <a:rPr lang="en-US" altLang="zh-CN" sz="4000" b="1" baseline="14000" dirty="0">
                <a:solidFill>
                  <a:srgbClr val="0000FF"/>
                </a:solidFill>
                <a:latin typeface="Times New Roman" panose="02020503050405090304" pitchFamily="18" charset="0"/>
              </a:rPr>
              <a:t>…</a:t>
            </a:r>
            <a:r>
              <a:rPr lang="en-US" altLang="zh-CN" sz="2400" b="1" dirty="0">
                <a:solidFill>
                  <a:srgbClr val="0000FF"/>
                </a:solidFill>
                <a:latin typeface="Times New Roman" panose="02020503050405090304" pitchFamily="18" charset="0"/>
              </a:rPr>
              <a:t> </a:t>
            </a:r>
            <a:r>
              <a:rPr lang="zh-CN" altLang="en-US" sz="2400" b="1" dirty="0">
                <a:solidFill>
                  <a:srgbClr val="0000FF"/>
                </a:solidFill>
                <a:latin typeface="Times New Roman" panose="02020503050405090304" pitchFamily="18" charset="0"/>
              </a:rPr>
              <a:t>，侧面值</a:t>
            </a:r>
            <a:r>
              <a:rPr lang="en-US" altLang="zh-CN" sz="2400" b="1" baseline="-25000" dirty="0">
                <a:solidFill>
                  <a:srgbClr val="0000FF"/>
                </a:solidFill>
                <a:latin typeface="Times New Roman" panose="02020503050405090304" pitchFamily="18" charset="0"/>
              </a:rPr>
              <a:t>1</a:t>
            </a:r>
            <a:r>
              <a:rPr lang="en-US" altLang="zh-CN" sz="2400" b="1" i="1" baseline="-25000" dirty="0">
                <a:solidFill>
                  <a:srgbClr val="0000FF"/>
                </a:solidFill>
                <a:latin typeface="Times New Roman" panose="02020503050405090304" pitchFamily="18" charset="0"/>
              </a:rPr>
              <a:t>mPm</a:t>
            </a:r>
            <a:r>
              <a:rPr lang="en-US" altLang="zh-CN" sz="2400" b="1" dirty="0">
                <a:latin typeface="Times New Roman" panose="02020503050405090304" pitchFamily="18" charset="0"/>
              </a:rPr>
              <a:t> </a:t>
            </a:r>
            <a:endParaRPr lang="en-US" altLang="zh-CN" sz="2400" b="1" dirty="0">
              <a:latin typeface="Times New Roman" panose="02020503050405090304" pitchFamily="18" charset="0"/>
            </a:endParaRPr>
          </a:p>
          <a:p>
            <a:pPr eaLnBrk="1" hangingPunct="1">
              <a:lnSpc>
                <a:spcPct val="110000"/>
              </a:lnSpc>
              <a:spcBef>
                <a:spcPct val="40000"/>
              </a:spcBef>
              <a:buNone/>
            </a:pPr>
            <a:r>
              <a:rPr lang="zh-CN" altLang="en-US" sz="2400" b="1" dirty="0">
                <a:latin typeface="Times New Roman" panose="02020503050405090304" pitchFamily="18" charset="0"/>
              </a:rPr>
              <a:t>槽名</a:t>
            </a:r>
            <a:r>
              <a:rPr lang="en-US" altLang="zh-CN" sz="2400" b="1" dirty="0">
                <a:latin typeface="Times New Roman" panose="02020503050405090304" pitchFamily="18" charset="0"/>
              </a:rPr>
              <a:t>n</a:t>
            </a:r>
            <a:r>
              <a:rPr lang="zh-CN" altLang="en-US" sz="2400" b="1" dirty="0">
                <a:latin typeface="Times New Roman" panose="02020503050405090304" pitchFamily="18" charset="0"/>
              </a:rPr>
              <a:t>：  </a:t>
            </a:r>
            <a:r>
              <a:rPr lang="zh-CN" altLang="en-US" sz="2400" b="1" dirty="0">
                <a:solidFill>
                  <a:srgbClr val="0000FF"/>
                </a:solidFill>
                <a:latin typeface="Times New Roman" panose="02020503050405090304" pitchFamily="18" charset="0"/>
              </a:rPr>
              <a:t>侧面名</a:t>
            </a:r>
            <a:r>
              <a:rPr lang="en-US" altLang="zh-CN" sz="2400" b="1" i="1" baseline="-25000" dirty="0">
                <a:solidFill>
                  <a:srgbClr val="0000FF"/>
                </a:solidFill>
                <a:latin typeface="Times New Roman" panose="02020503050405090304" pitchFamily="18" charset="0"/>
              </a:rPr>
              <a:t>n</a:t>
            </a:r>
            <a:r>
              <a:rPr lang="en-US" altLang="zh-CN" sz="2400" b="1" baseline="-25000" dirty="0">
                <a:solidFill>
                  <a:srgbClr val="0000FF"/>
                </a:solidFill>
                <a:latin typeface="Times New Roman" panose="02020503050405090304" pitchFamily="18" charset="0"/>
              </a:rPr>
              <a:t>1</a:t>
            </a:r>
            <a:r>
              <a:rPr lang="en-US" altLang="zh-CN" sz="2400" b="1" dirty="0">
                <a:solidFill>
                  <a:srgbClr val="0000FF"/>
                </a:solidFill>
                <a:latin typeface="Times New Roman" panose="02020503050405090304" pitchFamily="18" charset="0"/>
              </a:rPr>
              <a:t>           </a:t>
            </a:r>
            <a:r>
              <a:rPr lang="zh-CN" altLang="en-US" sz="2400" b="1" dirty="0">
                <a:solidFill>
                  <a:srgbClr val="0000FF"/>
                </a:solidFill>
                <a:latin typeface="Times New Roman" panose="02020503050405090304" pitchFamily="18" charset="0"/>
              </a:rPr>
              <a:t>侧面值</a:t>
            </a:r>
            <a:r>
              <a:rPr lang="en-US" altLang="zh-CN" sz="2400" b="1" i="1" baseline="-25000" dirty="0">
                <a:solidFill>
                  <a:srgbClr val="0000FF"/>
                </a:solidFill>
                <a:latin typeface="Times New Roman" panose="02020503050405090304" pitchFamily="18" charset="0"/>
              </a:rPr>
              <a:t>n</a:t>
            </a:r>
            <a:r>
              <a:rPr lang="en-US" altLang="zh-CN" sz="2400" b="1" baseline="-25000" dirty="0">
                <a:solidFill>
                  <a:srgbClr val="0000FF"/>
                </a:solidFill>
                <a:latin typeface="Times New Roman" panose="02020503050405090304" pitchFamily="18" charset="0"/>
              </a:rPr>
              <a:t>11</a:t>
            </a:r>
            <a:r>
              <a:rPr lang="en-US" altLang="zh-CN" sz="2400" b="1" dirty="0">
                <a:solidFill>
                  <a:srgbClr val="0000FF"/>
                </a:solidFill>
                <a:latin typeface="Times New Roman" panose="02020503050405090304" pitchFamily="18" charset="0"/>
              </a:rPr>
              <a:t> </a:t>
            </a:r>
            <a:r>
              <a:rPr lang="zh-CN" altLang="en-US" sz="2400" b="1" dirty="0">
                <a:solidFill>
                  <a:srgbClr val="0000FF"/>
                </a:solidFill>
                <a:latin typeface="Times New Roman" panose="02020503050405090304" pitchFamily="18" charset="0"/>
              </a:rPr>
              <a:t>， </a:t>
            </a:r>
            <a:r>
              <a:rPr lang="en-US" altLang="zh-CN" sz="4000" b="1" baseline="14000" dirty="0">
                <a:solidFill>
                  <a:srgbClr val="0000FF"/>
                </a:solidFill>
                <a:latin typeface="Times New Roman" panose="02020503050405090304" pitchFamily="18" charset="0"/>
              </a:rPr>
              <a:t>…</a:t>
            </a:r>
            <a:r>
              <a:rPr lang="en-US" altLang="zh-CN" sz="2400" b="1" dirty="0">
                <a:solidFill>
                  <a:srgbClr val="0000FF"/>
                </a:solidFill>
                <a:latin typeface="Times New Roman" panose="02020503050405090304" pitchFamily="18" charset="0"/>
              </a:rPr>
              <a:t> </a:t>
            </a:r>
            <a:r>
              <a:rPr lang="zh-CN" altLang="en-US" sz="2400" b="1" dirty="0">
                <a:solidFill>
                  <a:srgbClr val="0000FF"/>
                </a:solidFill>
                <a:latin typeface="Times New Roman" panose="02020503050405090304" pitchFamily="18" charset="0"/>
              </a:rPr>
              <a:t>，侧面值</a:t>
            </a:r>
            <a:r>
              <a:rPr lang="en-US" altLang="zh-CN" sz="2400" b="1" i="1" baseline="-25000" dirty="0">
                <a:solidFill>
                  <a:srgbClr val="0000FF"/>
                </a:solidFill>
                <a:latin typeface="Times New Roman" panose="02020503050405090304" pitchFamily="18" charset="0"/>
              </a:rPr>
              <a:t>n</a:t>
            </a:r>
            <a:r>
              <a:rPr lang="en-US" altLang="zh-CN" sz="2400" b="1" baseline="-25000" dirty="0">
                <a:solidFill>
                  <a:srgbClr val="0000FF"/>
                </a:solidFill>
                <a:latin typeface="Times New Roman" panose="02020503050405090304" pitchFamily="18" charset="0"/>
              </a:rPr>
              <a:t>1</a:t>
            </a:r>
            <a:r>
              <a:rPr lang="en-US" altLang="zh-CN" sz="2400" b="1" i="1" baseline="-25000" dirty="0">
                <a:solidFill>
                  <a:srgbClr val="0000FF"/>
                </a:solidFill>
                <a:latin typeface="Times New Roman" panose="02020503050405090304" pitchFamily="18" charset="0"/>
              </a:rPr>
              <a:t>P</a:t>
            </a:r>
            <a:r>
              <a:rPr lang="en-US" altLang="zh-CN" sz="2400" b="1" baseline="-25000" dirty="0">
                <a:solidFill>
                  <a:srgbClr val="0000FF"/>
                </a:solidFill>
                <a:latin typeface="Times New Roman" panose="02020503050405090304" pitchFamily="18" charset="0"/>
              </a:rPr>
              <a:t>1</a:t>
            </a:r>
            <a:endParaRPr lang="en-US" altLang="zh-CN" sz="2400" b="1" baseline="-25000" dirty="0">
              <a:solidFill>
                <a:srgbClr val="0000FF"/>
              </a:solidFill>
              <a:latin typeface="Times New Roman" panose="02020503050405090304" pitchFamily="18" charset="0"/>
            </a:endParaRPr>
          </a:p>
          <a:p>
            <a:pPr eaLnBrk="1" hangingPunct="1">
              <a:lnSpc>
                <a:spcPct val="110000"/>
              </a:lnSpc>
              <a:buNone/>
            </a:pPr>
            <a:r>
              <a:rPr lang="en-US" altLang="zh-CN" sz="2400" b="1" dirty="0">
                <a:solidFill>
                  <a:srgbClr val="0000FF"/>
                </a:solidFill>
                <a:latin typeface="Times New Roman" panose="02020503050405090304" pitchFamily="18" charset="0"/>
              </a:rPr>
              <a:t>                     ┊</a:t>
            </a:r>
            <a:endParaRPr lang="en-US" altLang="zh-CN" sz="2400" b="1" dirty="0">
              <a:solidFill>
                <a:srgbClr val="0000FF"/>
              </a:solidFill>
              <a:latin typeface="Times New Roman" panose="02020503050405090304" pitchFamily="18" charset="0"/>
            </a:endParaRPr>
          </a:p>
          <a:p>
            <a:pPr>
              <a:lnSpc>
                <a:spcPct val="110000"/>
              </a:lnSpc>
              <a:buClrTx/>
              <a:buFontTx/>
              <a:buNone/>
            </a:pPr>
            <a:r>
              <a:rPr lang="en-US" altLang="zh-CN" sz="2400" b="1" dirty="0">
                <a:latin typeface="Times New Roman" panose="02020503050405090304" pitchFamily="18" charset="0"/>
              </a:rPr>
              <a:t>                 </a:t>
            </a:r>
            <a:r>
              <a:rPr lang="zh-CN" altLang="en-US" sz="2400" b="1" dirty="0">
                <a:solidFill>
                  <a:srgbClr val="0000FF"/>
                </a:solidFill>
                <a:latin typeface="Times New Roman" panose="02020503050405090304" pitchFamily="18" charset="0"/>
              </a:rPr>
              <a:t>侧面名</a:t>
            </a:r>
            <a:r>
              <a:rPr lang="en-US" altLang="zh-CN" sz="2400" b="1" i="1" baseline="-25000" dirty="0">
                <a:solidFill>
                  <a:srgbClr val="0000FF"/>
                </a:solidFill>
                <a:latin typeface="Times New Roman" panose="02020503050405090304" pitchFamily="18" charset="0"/>
              </a:rPr>
              <a:t>nm</a:t>
            </a:r>
            <a:r>
              <a:rPr lang="en-US" altLang="zh-CN" sz="2400" b="1" dirty="0">
                <a:solidFill>
                  <a:srgbClr val="0000FF"/>
                </a:solidFill>
                <a:latin typeface="Times New Roman" panose="02020503050405090304" pitchFamily="18" charset="0"/>
              </a:rPr>
              <a:t>          </a:t>
            </a:r>
            <a:r>
              <a:rPr lang="zh-CN" altLang="en-US" sz="2400" b="1" dirty="0">
                <a:solidFill>
                  <a:srgbClr val="0000FF"/>
                </a:solidFill>
                <a:latin typeface="Times New Roman" panose="02020503050405090304" pitchFamily="18" charset="0"/>
              </a:rPr>
              <a:t>侧面值</a:t>
            </a:r>
            <a:r>
              <a:rPr lang="en-US" altLang="zh-CN" sz="2400" b="1" i="1" baseline="-25000" dirty="0">
                <a:solidFill>
                  <a:srgbClr val="0000FF"/>
                </a:solidFill>
                <a:latin typeface="Times New Roman" panose="02020503050405090304" pitchFamily="18" charset="0"/>
              </a:rPr>
              <a:t>nm</a:t>
            </a:r>
            <a:r>
              <a:rPr lang="en-US" altLang="zh-CN" sz="2400" b="1" baseline="-25000" dirty="0">
                <a:solidFill>
                  <a:srgbClr val="0000FF"/>
                </a:solidFill>
                <a:latin typeface="Times New Roman" panose="02020503050405090304" pitchFamily="18" charset="0"/>
              </a:rPr>
              <a:t>1</a:t>
            </a:r>
            <a:r>
              <a:rPr lang="en-US" altLang="zh-CN" sz="2400" b="1" dirty="0">
                <a:solidFill>
                  <a:srgbClr val="0000FF"/>
                </a:solidFill>
                <a:latin typeface="Times New Roman" panose="02020503050405090304" pitchFamily="18" charset="0"/>
              </a:rPr>
              <a:t> </a:t>
            </a:r>
            <a:r>
              <a:rPr lang="zh-CN" altLang="en-US" sz="2400" b="1" dirty="0">
                <a:solidFill>
                  <a:srgbClr val="0000FF"/>
                </a:solidFill>
                <a:latin typeface="Times New Roman" panose="02020503050405090304" pitchFamily="18" charset="0"/>
              </a:rPr>
              <a:t>， </a:t>
            </a:r>
            <a:r>
              <a:rPr lang="en-US" altLang="zh-CN" sz="4000" b="1" baseline="14000" dirty="0">
                <a:solidFill>
                  <a:srgbClr val="0000FF"/>
                </a:solidFill>
                <a:latin typeface="Times New Roman" panose="02020503050405090304" pitchFamily="18" charset="0"/>
              </a:rPr>
              <a:t>…</a:t>
            </a:r>
            <a:r>
              <a:rPr lang="en-US" altLang="zh-CN" sz="2400" b="1" dirty="0">
                <a:solidFill>
                  <a:srgbClr val="0000FF"/>
                </a:solidFill>
                <a:latin typeface="Times New Roman" panose="02020503050405090304" pitchFamily="18" charset="0"/>
              </a:rPr>
              <a:t> </a:t>
            </a:r>
            <a:r>
              <a:rPr lang="zh-CN" altLang="en-US" sz="2400" b="1" dirty="0">
                <a:solidFill>
                  <a:srgbClr val="0000FF"/>
                </a:solidFill>
                <a:latin typeface="Times New Roman" panose="02020503050405090304" pitchFamily="18" charset="0"/>
              </a:rPr>
              <a:t>，侧面值</a:t>
            </a:r>
            <a:r>
              <a:rPr lang="en-US" altLang="zh-CN" sz="2400" b="1" i="1" baseline="-25000" dirty="0">
                <a:solidFill>
                  <a:srgbClr val="0000FF"/>
                </a:solidFill>
                <a:latin typeface="Times New Roman" panose="02020503050405090304" pitchFamily="18" charset="0"/>
              </a:rPr>
              <a:t>nmPm</a:t>
            </a:r>
            <a:endParaRPr lang="en-US" altLang="zh-CN" sz="2400" b="1" i="1" baseline="-25000" dirty="0">
              <a:solidFill>
                <a:srgbClr val="0000FF"/>
              </a:solidFill>
              <a:latin typeface="Times New Roman" panose="02020503050405090304" pitchFamily="18" charset="0"/>
            </a:endParaRPr>
          </a:p>
          <a:p>
            <a:pPr eaLnBrk="1" hangingPunct="1">
              <a:lnSpc>
                <a:spcPct val="110000"/>
              </a:lnSpc>
              <a:spcBef>
                <a:spcPct val="40000"/>
              </a:spcBef>
              <a:buNone/>
            </a:pPr>
            <a:r>
              <a:rPr lang="zh-CN" altLang="en-US" sz="2400" b="1" dirty="0">
                <a:solidFill>
                  <a:schemeClr val="tx2"/>
                </a:solidFill>
                <a:latin typeface="Times New Roman" panose="02020503050405090304" pitchFamily="18" charset="0"/>
              </a:rPr>
              <a:t>约束：   约束条件</a:t>
            </a:r>
            <a:r>
              <a:rPr lang="en-US" altLang="zh-CN" sz="2400" b="1" baseline="-25000" dirty="0">
                <a:solidFill>
                  <a:schemeClr val="tx2"/>
                </a:solidFill>
                <a:latin typeface="Times New Roman" panose="02020503050405090304" pitchFamily="18" charset="0"/>
              </a:rPr>
              <a:t>1</a:t>
            </a:r>
            <a:endParaRPr lang="en-US" altLang="zh-CN" sz="2400" b="1" baseline="-25000" dirty="0">
              <a:solidFill>
                <a:schemeClr val="tx2"/>
              </a:solidFill>
              <a:latin typeface="Times New Roman" panose="02020503050405090304" pitchFamily="18" charset="0"/>
            </a:endParaRPr>
          </a:p>
          <a:p>
            <a:pPr eaLnBrk="1" hangingPunct="1">
              <a:lnSpc>
                <a:spcPct val="110000"/>
              </a:lnSpc>
              <a:buNone/>
            </a:pPr>
            <a:r>
              <a:rPr lang="en-US" altLang="zh-CN" sz="2400" b="1" dirty="0">
                <a:solidFill>
                  <a:schemeClr val="tx2"/>
                </a:solidFill>
                <a:latin typeface="Times New Roman" panose="02020503050405090304" pitchFamily="18" charset="0"/>
              </a:rPr>
              <a:t>                   ┊</a:t>
            </a:r>
            <a:endParaRPr lang="en-US" altLang="zh-CN" sz="2400" b="1" dirty="0">
              <a:solidFill>
                <a:schemeClr val="tx2"/>
              </a:solidFill>
              <a:latin typeface="Times New Roman" panose="02020503050405090304" pitchFamily="18" charset="0"/>
            </a:endParaRPr>
          </a:p>
          <a:p>
            <a:pPr eaLnBrk="1" hangingPunct="1">
              <a:lnSpc>
                <a:spcPct val="110000"/>
              </a:lnSpc>
              <a:buNone/>
            </a:pPr>
            <a:r>
              <a:rPr lang="en-US" altLang="zh-CN" sz="2400" b="1" dirty="0">
                <a:solidFill>
                  <a:schemeClr val="tx2"/>
                </a:solidFill>
                <a:latin typeface="Times New Roman" panose="02020503050405090304" pitchFamily="18" charset="0"/>
              </a:rPr>
              <a:t>               </a:t>
            </a:r>
            <a:r>
              <a:rPr lang="zh-CN" altLang="en-US" sz="2400" b="1" dirty="0">
                <a:solidFill>
                  <a:schemeClr val="tx2"/>
                </a:solidFill>
                <a:latin typeface="Times New Roman" panose="02020503050405090304" pitchFamily="18" charset="0"/>
              </a:rPr>
              <a:t>约束条件</a:t>
            </a:r>
            <a:r>
              <a:rPr lang="en-US" altLang="zh-CN" sz="2400" b="1" i="1" baseline="-25000" dirty="0">
                <a:latin typeface="Times New Roman" panose="02020503050405090304" pitchFamily="18" charset="0"/>
              </a:rPr>
              <a:t>n</a:t>
            </a:r>
            <a:endParaRPr lang="en-US" altLang="zh-CN" sz="2400" b="1" i="1" baseline="-25000" dirty="0">
              <a:latin typeface="Times New Roman" panose="02020503050405090304" pitchFamily="18" charset="0"/>
            </a:endParaRPr>
          </a:p>
          <a:p>
            <a:pPr>
              <a:lnSpc>
                <a:spcPct val="100000"/>
              </a:lnSpc>
              <a:spcBef>
                <a:spcPct val="0"/>
              </a:spcBef>
              <a:buClrTx/>
              <a:buFontTx/>
              <a:buNone/>
            </a:pPr>
            <a:endParaRPr lang="en-US" altLang="zh-CN" sz="2400" b="1" dirty="0">
              <a:solidFill>
                <a:schemeClr val="tx2"/>
              </a:solidFill>
              <a:latin typeface="Times New Roman" panose="02020503050405090304" pitchFamily="18" charset="0"/>
            </a:endParaRPr>
          </a:p>
        </p:txBody>
      </p:sp>
    </p:spTree>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5538"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2.4.2  </a:t>
            </a:r>
            <a:r>
              <a:rPr lang="zh-CN" altLang="en-US" dirty="0">
                <a:latin typeface="Times New Roman" panose="02020503050405090304" pitchFamily="18" charset="0"/>
              </a:rPr>
              <a:t>用框架表示知识的例子</a:t>
            </a:r>
            <a:endParaRPr lang="zh-CN" altLang="en-US" dirty="0">
              <a:latin typeface="Times New Roman" panose="02020503050405090304" pitchFamily="18" charset="0"/>
            </a:endParaRPr>
          </a:p>
        </p:txBody>
      </p:sp>
      <p:sp>
        <p:nvSpPr>
          <p:cNvPr id="65539" name="Rectangle 3"/>
          <p:cNvSpPr>
            <a:spLocks noGrp="1"/>
          </p:cNvSpPr>
          <p:nvPr>
            <p:ph idx="1"/>
          </p:nvPr>
        </p:nvSpPr>
        <p:spPr>
          <a:xfrm>
            <a:off x="725488" y="1535113"/>
            <a:ext cx="7242175" cy="4981575"/>
          </a:xfrm>
          <a:gradFill rotWithShape="0">
            <a:gsLst>
              <a:gs pos="0">
                <a:schemeClr val="bg1"/>
              </a:gs>
              <a:gs pos="100000">
                <a:srgbClr val="CCFFFF"/>
              </a:gs>
            </a:gsLst>
            <a:path path="shape">
              <a:fillToRect l="50000" t="50000" r="50000" b="50000"/>
            </a:path>
            <a:tileRect/>
          </a:gradFill>
          <a:ln>
            <a:solidFill>
              <a:schemeClr val="tx1"/>
            </a:solidFill>
            <a:miter/>
          </a:ln>
        </p:spPr>
        <p:txBody>
          <a:bodyPr vert="horz" wrap="square" lIns="91440" tIns="45720" rIns="91440" bIns="45720" anchor="t" anchorCtr="0"/>
          <a:p>
            <a:pPr eaLnBrk="1" hangingPunct="1">
              <a:lnSpc>
                <a:spcPct val="110000"/>
              </a:lnSpc>
              <a:spcBef>
                <a:spcPct val="0"/>
              </a:spcBef>
              <a:buNone/>
            </a:pPr>
            <a:r>
              <a:rPr lang="en-US" altLang="zh-CN" sz="2200" b="1" dirty="0"/>
              <a:t>  </a:t>
            </a:r>
            <a:r>
              <a:rPr lang="zh-CN" altLang="en-US" sz="2200" b="1" dirty="0"/>
              <a:t>框架名：</a:t>
            </a:r>
            <a:r>
              <a:rPr lang="en-US" altLang="zh-CN" sz="2200" b="1" dirty="0"/>
              <a:t>〈</a:t>
            </a:r>
            <a:r>
              <a:rPr lang="zh-CN" altLang="en-US" sz="2200" b="1" dirty="0"/>
              <a:t>教师</a:t>
            </a:r>
            <a:r>
              <a:rPr lang="en-US" altLang="zh-CN" sz="2200" b="1" dirty="0"/>
              <a:t>〉</a:t>
            </a:r>
            <a:endParaRPr lang="en-US" altLang="zh-CN" sz="2200" b="1" dirty="0"/>
          </a:p>
          <a:p>
            <a:pPr eaLnBrk="1" hangingPunct="1">
              <a:lnSpc>
                <a:spcPct val="110000"/>
              </a:lnSpc>
              <a:spcBef>
                <a:spcPct val="0"/>
              </a:spcBef>
              <a:buNone/>
            </a:pPr>
            <a:r>
              <a:rPr lang="en-US" altLang="zh-CN" sz="2200" b="1" dirty="0"/>
              <a:t>      </a:t>
            </a:r>
            <a:r>
              <a:rPr lang="zh-CN" altLang="en-US" sz="2200" b="1" dirty="0"/>
              <a:t>姓名：单位（姓、名）</a:t>
            </a:r>
            <a:endParaRPr lang="zh-CN" altLang="en-US" sz="2200" b="1" dirty="0"/>
          </a:p>
          <a:p>
            <a:pPr eaLnBrk="1" hangingPunct="1">
              <a:lnSpc>
                <a:spcPct val="110000"/>
              </a:lnSpc>
              <a:spcBef>
                <a:spcPct val="0"/>
              </a:spcBef>
              <a:buNone/>
            </a:pPr>
            <a:r>
              <a:rPr lang="zh-CN" altLang="en-US" sz="2200" b="1" dirty="0"/>
              <a:t>      年龄：单位（岁）</a:t>
            </a:r>
            <a:endParaRPr lang="zh-CN" altLang="en-US" sz="2200" b="1" dirty="0"/>
          </a:p>
          <a:p>
            <a:pPr eaLnBrk="1" hangingPunct="1">
              <a:lnSpc>
                <a:spcPct val="110000"/>
              </a:lnSpc>
              <a:spcBef>
                <a:spcPct val="0"/>
              </a:spcBef>
              <a:buNone/>
            </a:pPr>
            <a:r>
              <a:rPr lang="zh-CN" altLang="en-US" sz="2200" b="1" dirty="0"/>
              <a:t>      性别：范围（男、女）</a:t>
            </a:r>
            <a:endParaRPr lang="zh-CN" altLang="en-US" sz="2200" b="1" dirty="0"/>
          </a:p>
          <a:p>
            <a:pPr eaLnBrk="1" hangingPunct="1">
              <a:lnSpc>
                <a:spcPct val="110000"/>
              </a:lnSpc>
              <a:spcBef>
                <a:spcPct val="0"/>
              </a:spcBef>
              <a:buNone/>
            </a:pPr>
            <a:r>
              <a:rPr lang="zh-CN" altLang="en-US" sz="2200" b="1" dirty="0"/>
              <a:t>      缺省：男</a:t>
            </a:r>
            <a:endParaRPr lang="zh-CN" altLang="en-US" sz="2200" b="1" dirty="0"/>
          </a:p>
          <a:p>
            <a:pPr eaLnBrk="1" hangingPunct="1">
              <a:lnSpc>
                <a:spcPct val="110000"/>
              </a:lnSpc>
              <a:spcBef>
                <a:spcPct val="0"/>
              </a:spcBef>
              <a:buNone/>
            </a:pPr>
            <a:r>
              <a:rPr lang="zh-CN" altLang="en-US" sz="2200" b="1" dirty="0"/>
              <a:t>      职称：范围（教授，副教授，讲师，助教）</a:t>
            </a:r>
            <a:endParaRPr lang="zh-CN" altLang="en-US" sz="2200" b="1" dirty="0"/>
          </a:p>
          <a:p>
            <a:pPr eaLnBrk="1" hangingPunct="1">
              <a:lnSpc>
                <a:spcPct val="110000"/>
              </a:lnSpc>
              <a:spcBef>
                <a:spcPct val="0"/>
              </a:spcBef>
              <a:buNone/>
            </a:pPr>
            <a:r>
              <a:rPr lang="zh-CN" altLang="en-US" sz="2200" b="1" dirty="0"/>
              <a:t>                     缺省：讲师</a:t>
            </a:r>
            <a:endParaRPr lang="zh-CN" altLang="en-US" sz="2200" b="1" dirty="0"/>
          </a:p>
          <a:p>
            <a:pPr eaLnBrk="1" hangingPunct="1">
              <a:lnSpc>
                <a:spcPct val="110000"/>
              </a:lnSpc>
              <a:spcBef>
                <a:spcPct val="0"/>
              </a:spcBef>
              <a:buNone/>
            </a:pPr>
            <a:r>
              <a:rPr lang="zh-CN" altLang="en-US" sz="2200" b="1" dirty="0"/>
              <a:t>      部门：单位（系，教研室）</a:t>
            </a:r>
            <a:endParaRPr lang="zh-CN" altLang="en-US" sz="2200" b="1" dirty="0"/>
          </a:p>
          <a:p>
            <a:pPr eaLnBrk="1" hangingPunct="1">
              <a:lnSpc>
                <a:spcPct val="110000"/>
              </a:lnSpc>
              <a:spcBef>
                <a:spcPct val="0"/>
              </a:spcBef>
              <a:buNone/>
            </a:pPr>
            <a:r>
              <a:rPr lang="zh-CN" altLang="en-US" sz="2200" b="1" dirty="0"/>
              <a:t>      住址：</a:t>
            </a:r>
            <a:r>
              <a:rPr lang="en-US" altLang="zh-CN" sz="2200" b="1" dirty="0"/>
              <a:t>〈</a:t>
            </a:r>
            <a:r>
              <a:rPr lang="zh-CN" altLang="en-US" sz="2200" b="1" dirty="0"/>
              <a:t>住址框架</a:t>
            </a:r>
            <a:r>
              <a:rPr lang="en-US" altLang="zh-CN" sz="2200" b="1" dirty="0"/>
              <a:t>〉</a:t>
            </a:r>
            <a:endParaRPr lang="en-US" altLang="zh-CN" sz="2200" b="1" dirty="0"/>
          </a:p>
          <a:p>
            <a:pPr eaLnBrk="1" hangingPunct="1">
              <a:lnSpc>
                <a:spcPct val="110000"/>
              </a:lnSpc>
              <a:spcBef>
                <a:spcPct val="0"/>
              </a:spcBef>
              <a:buNone/>
            </a:pPr>
            <a:r>
              <a:rPr lang="en-US" altLang="zh-CN" sz="2200" b="1" dirty="0"/>
              <a:t>      </a:t>
            </a:r>
            <a:r>
              <a:rPr lang="zh-CN" altLang="en-US" sz="2200" b="1" dirty="0"/>
              <a:t>工资：</a:t>
            </a:r>
            <a:r>
              <a:rPr lang="en-US" altLang="zh-CN" sz="2200" b="1" dirty="0"/>
              <a:t>〈</a:t>
            </a:r>
            <a:r>
              <a:rPr lang="zh-CN" altLang="en-US" sz="2200" b="1" dirty="0"/>
              <a:t>工资框架</a:t>
            </a:r>
            <a:r>
              <a:rPr lang="en-US" altLang="zh-CN" sz="2200" b="1" dirty="0"/>
              <a:t>〉</a:t>
            </a:r>
            <a:endParaRPr lang="en-US" altLang="zh-CN" sz="2200" b="1" dirty="0"/>
          </a:p>
          <a:p>
            <a:pPr eaLnBrk="1" hangingPunct="1">
              <a:lnSpc>
                <a:spcPct val="110000"/>
              </a:lnSpc>
              <a:spcBef>
                <a:spcPct val="0"/>
              </a:spcBef>
              <a:buNone/>
            </a:pPr>
            <a:r>
              <a:rPr lang="en-US" altLang="zh-CN" sz="2200" b="1" dirty="0"/>
              <a:t>      </a:t>
            </a:r>
            <a:r>
              <a:rPr lang="zh-CN" altLang="en-US" sz="2200" b="1" dirty="0"/>
              <a:t>开始工作时间：单位（年、月）</a:t>
            </a:r>
            <a:endParaRPr lang="zh-CN" altLang="en-US" sz="2200" b="1" dirty="0"/>
          </a:p>
          <a:p>
            <a:pPr eaLnBrk="1" hangingPunct="1">
              <a:lnSpc>
                <a:spcPct val="110000"/>
              </a:lnSpc>
              <a:spcBef>
                <a:spcPct val="0"/>
              </a:spcBef>
              <a:buNone/>
            </a:pPr>
            <a:r>
              <a:rPr lang="zh-CN" altLang="en-US" sz="2200" b="1" dirty="0"/>
              <a:t>      截止时间：单位（年、月）</a:t>
            </a:r>
            <a:endParaRPr lang="zh-CN" altLang="en-US" sz="2200" b="1" dirty="0"/>
          </a:p>
          <a:p>
            <a:pPr eaLnBrk="1" hangingPunct="1">
              <a:lnSpc>
                <a:spcPct val="110000"/>
              </a:lnSpc>
              <a:spcBef>
                <a:spcPct val="0"/>
              </a:spcBef>
              <a:buNone/>
            </a:pPr>
            <a:r>
              <a:rPr lang="zh-CN" altLang="en-US" sz="2200" b="1" dirty="0"/>
              <a:t>                        缺省：现在 </a:t>
            </a:r>
            <a:endParaRPr lang="zh-CN" altLang="en-US" sz="2200" b="1" dirty="0"/>
          </a:p>
        </p:txBody>
      </p:sp>
      <p:sp>
        <p:nvSpPr>
          <p:cNvPr id="65540" name="Rectangle 4"/>
          <p:cNvSpPr/>
          <p:nvPr/>
        </p:nvSpPr>
        <p:spPr>
          <a:xfrm>
            <a:off x="292100" y="922338"/>
            <a:ext cx="3316288" cy="561975"/>
          </a:xfrm>
          <a:prstGeom prst="rect">
            <a:avLst/>
          </a:prstGeom>
          <a:noFill/>
          <a:ln w="9525">
            <a:noFill/>
          </a:ln>
        </p:spPr>
        <p:txBody>
          <a:bodyPr anchor="t" anchorCtr="0">
            <a:spAutoFit/>
          </a:bodyPr>
          <a:p>
            <a:pPr>
              <a:lnSpc>
                <a:spcPct val="110000"/>
              </a:lnSpc>
              <a:spcBef>
                <a:spcPct val="20000"/>
              </a:spcBef>
              <a:buClr>
                <a:schemeClr val="accent2"/>
              </a:buClr>
              <a:buFont typeface="Wingdings" panose="05000000000000000000" pitchFamily="2" charset="2"/>
              <a:buChar char="•"/>
            </a:pPr>
            <a:r>
              <a:rPr lang="en-US" altLang="zh-CN" sz="2800" b="1" dirty="0">
                <a:latin typeface="Arial" panose="020B0604020202090204" pitchFamily="34" charset="0"/>
                <a:ea typeface="宋体" pitchFamily="2" charset="-122"/>
              </a:rPr>
              <a:t>  </a:t>
            </a:r>
            <a:r>
              <a:rPr lang="zh-CN" altLang="en-US" sz="2800" b="1" dirty="0">
                <a:latin typeface="Times New Roman" panose="02020503050405090304" pitchFamily="18" charset="0"/>
                <a:ea typeface="宋体" pitchFamily="2" charset="-122"/>
              </a:rPr>
              <a:t>例</a:t>
            </a:r>
            <a:r>
              <a:rPr lang="en-US" altLang="zh-CN" sz="2800" b="1" dirty="0">
                <a:latin typeface="Times New Roman" panose="02020503050405090304" pitchFamily="18" charset="0"/>
                <a:ea typeface="宋体" pitchFamily="2" charset="-122"/>
              </a:rPr>
              <a:t>1</a:t>
            </a:r>
            <a:r>
              <a:rPr lang="en-US" altLang="zh-CN" sz="2800" b="1" dirty="0">
                <a:latin typeface="Arial" panose="020B0604020202090204" pitchFamily="34" charset="0"/>
                <a:ea typeface="宋体" pitchFamily="2" charset="-122"/>
              </a:rPr>
              <a:t>  </a:t>
            </a:r>
            <a:r>
              <a:rPr lang="zh-CN" altLang="en-US" sz="2800" b="1" dirty="0">
                <a:latin typeface="Arial" panose="020B0604020202090204" pitchFamily="34" charset="0"/>
                <a:ea typeface="宋体" pitchFamily="2" charset="-122"/>
              </a:rPr>
              <a:t>教师框架</a:t>
            </a:r>
            <a:endParaRPr lang="zh-CN" altLang="en-US" sz="2800" b="1" dirty="0">
              <a:latin typeface="Arial" panose="020B0604020202090204" pitchFamily="34" charset="0"/>
              <a:ea typeface="宋体" pitchFamily="2" charset="-122"/>
            </a:endParaRPr>
          </a:p>
        </p:txBody>
      </p:sp>
    </p:spTree>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6562"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2.4.2  </a:t>
            </a:r>
            <a:r>
              <a:rPr lang="zh-CN" altLang="en-US" dirty="0">
                <a:latin typeface="Times New Roman" panose="02020503050405090304" pitchFamily="18" charset="0"/>
              </a:rPr>
              <a:t>用框架表示知识的例子</a:t>
            </a:r>
            <a:endParaRPr lang="zh-CN" altLang="en-US" dirty="0">
              <a:latin typeface="Times New Roman" panose="02020503050405090304" pitchFamily="18" charset="0"/>
            </a:endParaRPr>
          </a:p>
        </p:txBody>
      </p:sp>
      <p:sp>
        <p:nvSpPr>
          <p:cNvPr id="66563" name="Rectangle 3"/>
          <p:cNvSpPr>
            <a:spLocks noGrp="1"/>
          </p:cNvSpPr>
          <p:nvPr>
            <p:ph idx="1"/>
          </p:nvPr>
        </p:nvSpPr>
        <p:spPr>
          <a:xfrm>
            <a:off x="1617663" y="2578100"/>
            <a:ext cx="6096000" cy="4044950"/>
          </a:xfrm>
          <a:gradFill rotWithShape="0">
            <a:gsLst>
              <a:gs pos="0">
                <a:schemeClr val="bg1"/>
              </a:gs>
              <a:gs pos="100000">
                <a:srgbClr val="CCFFFF"/>
              </a:gs>
            </a:gsLst>
            <a:path path="shape">
              <a:fillToRect l="50000" t="50000" r="50000" b="50000"/>
            </a:path>
            <a:tileRect/>
          </a:gradFill>
          <a:ln>
            <a:solidFill>
              <a:schemeClr val="tx1"/>
            </a:solidFill>
            <a:miter/>
          </a:ln>
        </p:spPr>
        <p:txBody>
          <a:bodyPr vert="horz" wrap="square" lIns="91440" tIns="45720" rIns="91440" bIns="45720" anchor="t" anchorCtr="0"/>
          <a:p>
            <a:pPr eaLnBrk="1" hangingPunct="1">
              <a:lnSpc>
                <a:spcPct val="90000"/>
              </a:lnSpc>
              <a:spcBef>
                <a:spcPct val="40000"/>
              </a:spcBef>
              <a:buNone/>
            </a:pPr>
            <a:r>
              <a:rPr lang="en-US" altLang="zh-CN" sz="2400" b="1" dirty="0"/>
              <a:t>    </a:t>
            </a:r>
            <a:r>
              <a:rPr lang="zh-CN" altLang="en-US" sz="2400" b="1" dirty="0">
                <a:latin typeface="Times New Roman" panose="02020503050405090304" pitchFamily="18" charset="0"/>
              </a:rPr>
              <a:t>框架名：</a:t>
            </a:r>
            <a:r>
              <a:rPr lang="en-US" altLang="zh-CN" sz="2400" b="1" dirty="0">
                <a:latin typeface="Times New Roman" panose="02020503050405090304" pitchFamily="18" charset="0"/>
              </a:rPr>
              <a:t>〈</a:t>
            </a:r>
            <a:r>
              <a:rPr lang="zh-CN" altLang="en-US" sz="2400" b="1" dirty="0">
                <a:latin typeface="Times New Roman" panose="02020503050405090304" pitchFamily="18" charset="0"/>
              </a:rPr>
              <a:t>教师</a:t>
            </a:r>
            <a:r>
              <a:rPr lang="en-US" altLang="zh-CN" sz="2400" b="1" dirty="0">
                <a:latin typeface="Times New Roman" panose="02020503050405090304" pitchFamily="18" charset="0"/>
              </a:rPr>
              <a:t>-1〉</a:t>
            </a:r>
            <a:endParaRPr lang="en-US" altLang="zh-CN" sz="2400" b="1" dirty="0">
              <a:latin typeface="Times New Roman" panose="02020503050405090304" pitchFamily="18" charset="0"/>
            </a:endParaRPr>
          </a:p>
          <a:p>
            <a:pPr eaLnBrk="1" hangingPunct="1">
              <a:lnSpc>
                <a:spcPct val="90000"/>
              </a:lnSpc>
              <a:buNone/>
            </a:pPr>
            <a:r>
              <a:rPr lang="en-US" altLang="zh-CN" sz="2400" b="1" dirty="0">
                <a:latin typeface="Times New Roman" panose="02020503050405090304" pitchFamily="18" charset="0"/>
              </a:rPr>
              <a:t>               </a:t>
            </a:r>
            <a:r>
              <a:rPr lang="zh-CN" altLang="en-US" sz="2400" b="1" dirty="0">
                <a:latin typeface="Times New Roman" panose="02020503050405090304" pitchFamily="18" charset="0"/>
              </a:rPr>
              <a:t>姓名：夏冰</a:t>
            </a:r>
            <a:endParaRPr lang="zh-CN" altLang="en-US" sz="2400" b="1" dirty="0">
              <a:latin typeface="Times New Roman" panose="02020503050405090304" pitchFamily="18" charset="0"/>
            </a:endParaRPr>
          </a:p>
          <a:p>
            <a:pPr eaLnBrk="1" hangingPunct="1">
              <a:lnSpc>
                <a:spcPct val="90000"/>
              </a:lnSpc>
              <a:buNone/>
            </a:pPr>
            <a:r>
              <a:rPr lang="zh-CN" altLang="en-US" sz="2400" b="1" dirty="0">
                <a:latin typeface="Times New Roman" panose="02020503050405090304" pitchFamily="18" charset="0"/>
              </a:rPr>
              <a:t>               年龄：</a:t>
            </a:r>
            <a:r>
              <a:rPr lang="en-US" altLang="zh-CN" sz="2400" b="1" dirty="0">
                <a:latin typeface="Times New Roman" panose="02020503050405090304" pitchFamily="18" charset="0"/>
              </a:rPr>
              <a:t>36</a:t>
            </a:r>
            <a:endParaRPr lang="en-US" altLang="zh-CN" sz="2400" b="1" dirty="0">
              <a:latin typeface="Times New Roman" panose="02020503050405090304" pitchFamily="18" charset="0"/>
            </a:endParaRPr>
          </a:p>
          <a:p>
            <a:pPr eaLnBrk="1" hangingPunct="1">
              <a:lnSpc>
                <a:spcPct val="90000"/>
              </a:lnSpc>
              <a:buNone/>
            </a:pPr>
            <a:r>
              <a:rPr lang="en-US" altLang="zh-CN" sz="2400" b="1" dirty="0">
                <a:latin typeface="Times New Roman" panose="02020503050405090304" pitchFamily="18" charset="0"/>
              </a:rPr>
              <a:t>               </a:t>
            </a:r>
            <a:r>
              <a:rPr lang="zh-CN" altLang="en-US" sz="2400" b="1" dirty="0">
                <a:latin typeface="Times New Roman" panose="02020503050405090304" pitchFamily="18" charset="0"/>
              </a:rPr>
              <a:t>性别：女</a:t>
            </a:r>
            <a:endParaRPr lang="zh-CN" altLang="en-US" sz="2400" b="1" dirty="0">
              <a:latin typeface="Times New Roman" panose="02020503050405090304" pitchFamily="18" charset="0"/>
            </a:endParaRPr>
          </a:p>
          <a:p>
            <a:pPr eaLnBrk="1" hangingPunct="1">
              <a:lnSpc>
                <a:spcPct val="90000"/>
              </a:lnSpc>
              <a:buNone/>
            </a:pPr>
            <a:r>
              <a:rPr lang="zh-CN" altLang="en-US" sz="2400" b="1" dirty="0">
                <a:latin typeface="Times New Roman" panose="02020503050405090304" pitchFamily="18" charset="0"/>
              </a:rPr>
              <a:t>               职称：副教授</a:t>
            </a:r>
            <a:endParaRPr lang="zh-CN" altLang="en-US" sz="2400" b="1" dirty="0">
              <a:latin typeface="Times New Roman" panose="02020503050405090304" pitchFamily="18" charset="0"/>
            </a:endParaRPr>
          </a:p>
          <a:p>
            <a:pPr eaLnBrk="1" hangingPunct="1">
              <a:lnSpc>
                <a:spcPct val="90000"/>
              </a:lnSpc>
              <a:buNone/>
            </a:pPr>
            <a:r>
              <a:rPr lang="zh-CN" altLang="en-US" sz="2400" b="1" dirty="0">
                <a:latin typeface="Times New Roman" panose="02020503050405090304" pitchFamily="18" charset="0"/>
              </a:rPr>
              <a:t>               部门：计算机系软件教研室</a:t>
            </a:r>
            <a:endParaRPr lang="zh-CN" altLang="en-US" sz="2400" b="1" dirty="0">
              <a:latin typeface="Times New Roman" panose="02020503050405090304" pitchFamily="18" charset="0"/>
            </a:endParaRPr>
          </a:p>
          <a:p>
            <a:pPr eaLnBrk="1" hangingPunct="1">
              <a:lnSpc>
                <a:spcPct val="90000"/>
              </a:lnSpc>
              <a:buNone/>
            </a:pPr>
            <a:r>
              <a:rPr lang="zh-CN" altLang="en-US" sz="2400" b="1" dirty="0">
                <a:latin typeface="Times New Roman" panose="02020503050405090304" pitchFamily="18" charset="0"/>
              </a:rPr>
              <a:t>               住址：</a:t>
            </a:r>
            <a:r>
              <a:rPr lang="en-US" altLang="zh-CN" sz="2400" b="1" dirty="0">
                <a:latin typeface="Times New Roman" panose="02020503050405090304" pitchFamily="18" charset="0"/>
              </a:rPr>
              <a:t>〈adr-1〉</a:t>
            </a:r>
            <a:endParaRPr lang="en-US" altLang="zh-CN" sz="2400" b="1" dirty="0">
              <a:latin typeface="Times New Roman" panose="02020503050405090304" pitchFamily="18" charset="0"/>
            </a:endParaRPr>
          </a:p>
          <a:p>
            <a:pPr eaLnBrk="1" hangingPunct="1">
              <a:lnSpc>
                <a:spcPct val="90000"/>
              </a:lnSpc>
              <a:buNone/>
            </a:pPr>
            <a:r>
              <a:rPr lang="en-US" altLang="zh-CN" sz="2400" b="1" dirty="0">
                <a:latin typeface="Times New Roman" panose="02020503050405090304" pitchFamily="18" charset="0"/>
              </a:rPr>
              <a:t>               </a:t>
            </a:r>
            <a:r>
              <a:rPr lang="zh-CN" altLang="en-US" sz="2400" b="1" dirty="0">
                <a:latin typeface="Times New Roman" panose="02020503050405090304" pitchFamily="18" charset="0"/>
              </a:rPr>
              <a:t>工资：</a:t>
            </a:r>
            <a:r>
              <a:rPr lang="en-US" altLang="zh-CN" sz="2400" b="1" dirty="0">
                <a:latin typeface="Times New Roman" panose="02020503050405090304" pitchFamily="18" charset="0"/>
              </a:rPr>
              <a:t>〈sal-1〉</a:t>
            </a:r>
            <a:endParaRPr lang="en-US" altLang="zh-CN" sz="2400" b="1" dirty="0">
              <a:latin typeface="Times New Roman" panose="02020503050405090304" pitchFamily="18" charset="0"/>
            </a:endParaRPr>
          </a:p>
          <a:p>
            <a:pPr eaLnBrk="1" hangingPunct="1">
              <a:lnSpc>
                <a:spcPct val="90000"/>
              </a:lnSpc>
              <a:buNone/>
            </a:pPr>
            <a:r>
              <a:rPr lang="en-US" altLang="zh-CN" sz="2400" b="1" dirty="0">
                <a:latin typeface="Times New Roman" panose="02020503050405090304" pitchFamily="18" charset="0"/>
              </a:rPr>
              <a:t>               </a:t>
            </a:r>
            <a:r>
              <a:rPr lang="zh-CN" altLang="en-US" sz="2400" b="1" dirty="0">
                <a:latin typeface="Times New Roman" panose="02020503050405090304" pitchFamily="18" charset="0"/>
              </a:rPr>
              <a:t>开始工作时间：</a:t>
            </a:r>
            <a:r>
              <a:rPr lang="en-US" altLang="zh-CN" sz="2400" b="1" dirty="0">
                <a:latin typeface="Times New Roman" panose="02020503050405090304" pitchFamily="18" charset="0"/>
              </a:rPr>
              <a:t>1988</a:t>
            </a:r>
            <a:r>
              <a:rPr lang="zh-CN" altLang="en-US" sz="2400" b="1" dirty="0">
                <a:latin typeface="Times New Roman" panose="02020503050405090304" pitchFamily="18" charset="0"/>
              </a:rPr>
              <a:t>，</a:t>
            </a:r>
            <a:r>
              <a:rPr lang="en-US" altLang="zh-CN" sz="2400" b="1" dirty="0">
                <a:latin typeface="Times New Roman" panose="02020503050405090304" pitchFamily="18" charset="0"/>
              </a:rPr>
              <a:t>9</a:t>
            </a:r>
            <a:endParaRPr lang="en-US" altLang="zh-CN" sz="2400" b="1" dirty="0">
              <a:latin typeface="Times New Roman" panose="02020503050405090304" pitchFamily="18" charset="0"/>
            </a:endParaRPr>
          </a:p>
          <a:p>
            <a:pPr eaLnBrk="1" hangingPunct="1">
              <a:lnSpc>
                <a:spcPct val="90000"/>
              </a:lnSpc>
              <a:spcAft>
                <a:spcPct val="40000"/>
              </a:spcAft>
              <a:buNone/>
            </a:pPr>
            <a:r>
              <a:rPr lang="en-US" altLang="zh-CN" sz="2400" b="1" dirty="0">
                <a:latin typeface="Times New Roman" panose="02020503050405090304" pitchFamily="18" charset="0"/>
              </a:rPr>
              <a:t>               </a:t>
            </a:r>
            <a:r>
              <a:rPr lang="zh-CN" altLang="en-US" sz="2400" b="1" dirty="0">
                <a:latin typeface="Times New Roman" panose="02020503050405090304" pitchFamily="18" charset="0"/>
              </a:rPr>
              <a:t>截止时间：</a:t>
            </a:r>
            <a:r>
              <a:rPr lang="en-US" altLang="zh-CN" sz="2400" b="1" dirty="0">
                <a:latin typeface="Times New Roman" panose="02020503050405090304" pitchFamily="18" charset="0"/>
              </a:rPr>
              <a:t>1996</a:t>
            </a:r>
            <a:r>
              <a:rPr lang="zh-CN" altLang="en-US" sz="2400" b="1" dirty="0">
                <a:latin typeface="Times New Roman" panose="02020503050405090304" pitchFamily="18" charset="0"/>
              </a:rPr>
              <a:t>，</a:t>
            </a:r>
            <a:r>
              <a:rPr lang="en-US" altLang="zh-CN" sz="2400" b="1" dirty="0">
                <a:latin typeface="Times New Roman" panose="02020503050405090304" pitchFamily="18" charset="0"/>
              </a:rPr>
              <a:t>7</a:t>
            </a:r>
            <a:endParaRPr lang="en-US" altLang="zh-CN" sz="2400" b="1" dirty="0">
              <a:latin typeface="Times New Roman" panose="02020503050405090304" pitchFamily="18" charset="0"/>
            </a:endParaRPr>
          </a:p>
        </p:txBody>
      </p:sp>
      <p:sp>
        <p:nvSpPr>
          <p:cNvPr id="66564" name="Rectangle 4"/>
          <p:cNvSpPr/>
          <p:nvPr/>
        </p:nvSpPr>
        <p:spPr>
          <a:xfrm>
            <a:off x="292100" y="922338"/>
            <a:ext cx="3316288" cy="561975"/>
          </a:xfrm>
          <a:prstGeom prst="rect">
            <a:avLst/>
          </a:prstGeom>
          <a:noFill/>
          <a:ln w="9525">
            <a:noFill/>
          </a:ln>
        </p:spPr>
        <p:txBody>
          <a:bodyPr anchor="t" anchorCtr="0">
            <a:spAutoFit/>
          </a:bodyPr>
          <a:p>
            <a:pPr>
              <a:lnSpc>
                <a:spcPct val="110000"/>
              </a:lnSpc>
              <a:spcBef>
                <a:spcPct val="20000"/>
              </a:spcBef>
              <a:buClr>
                <a:schemeClr val="accent2"/>
              </a:buClr>
              <a:buFont typeface="Wingdings" panose="05000000000000000000" pitchFamily="2" charset="2"/>
              <a:buChar char="•"/>
            </a:pPr>
            <a:r>
              <a:rPr lang="en-US" altLang="zh-CN" sz="2800" b="1" dirty="0">
                <a:latin typeface="Arial" panose="020B0604020202090204" pitchFamily="34" charset="0"/>
                <a:ea typeface="宋体" pitchFamily="2" charset="-122"/>
              </a:rPr>
              <a:t>  </a:t>
            </a:r>
            <a:r>
              <a:rPr lang="zh-CN" altLang="en-US" sz="2800" b="1" dirty="0">
                <a:latin typeface="Times New Roman" panose="02020503050405090304" pitchFamily="18" charset="0"/>
                <a:ea typeface="宋体" pitchFamily="2" charset="-122"/>
              </a:rPr>
              <a:t>例</a:t>
            </a:r>
            <a:r>
              <a:rPr lang="en-US" altLang="zh-CN" sz="2800" b="1" dirty="0">
                <a:latin typeface="Times New Roman" panose="02020503050405090304" pitchFamily="18" charset="0"/>
                <a:ea typeface="宋体" pitchFamily="2" charset="-122"/>
              </a:rPr>
              <a:t>2</a:t>
            </a:r>
            <a:r>
              <a:rPr lang="en-US" altLang="zh-CN" sz="2800" b="1" dirty="0">
                <a:latin typeface="Arial" panose="020B0604020202090204" pitchFamily="34" charset="0"/>
                <a:ea typeface="宋体" pitchFamily="2" charset="-122"/>
              </a:rPr>
              <a:t>  </a:t>
            </a:r>
            <a:r>
              <a:rPr lang="zh-CN" altLang="en-US" sz="2800" b="1" dirty="0">
                <a:latin typeface="Arial" panose="020B0604020202090204" pitchFamily="34" charset="0"/>
                <a:ea typeface="宋体" pitchFamily="2" charset="-122"/>
              </a:rPr>
              <a:t>教师框架</a:t>
            </a:r>
            <a:endParaRPr lang="zh-CN" altLang="en-US" sz="2800" b="1" dirty="0">
              <a:latin typeface="Arial" panose="020B0604020202090204" pitchFamily="34" charset="0"/>
              <a:ea typeface="宋体" pitchFamily="2" charset="-122"/>
            </a:endParaRPr>
          </a:p>
        </p:txBody>
      </p:sp>
      <p:sp>
        <p:nvSpPr>
          <p:cNvPr id="66565" name="Text Box 5"/>
          <p:cNvSpPr txBox="1"/>
          <p:nvPr/>
        </p:nvSpPr>
        <p:spPr>
          <a:xfrm>
            <a:off x="495300" y="1549400"/>
            <a:ext cx="8191500" cy="895350"/>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spcBef>
                <a:spcPct val="50000"/>
              </a:spcBef>
              <a:buClrTx/>
              <a:buFontTx/>
              <a:buNone/>
            </a:pPr>
            <a:r>
              <a:rPr lang="zh-CN" altLang="en-US" sz="2600" dirty="0">
                <a:latin typeface="Arial" panose="020B0604020202090204" pitchFamily="34" charset="0"/>
                <a:ea typeface="宋体" pitchFamily="2" charset="-122"/>
              </a:rPr>
              <a:t>当把具体的信息填入槽或侧面后，就得到了相应框架的一个</a:t>
            </a:r>
            <a:r>
              <a:rPr lang="zh-CN" altLang="en-US" sz="2600" b="1" dirty="0">
                <a:latin typeface="Arial" panose="020B0604020202090204" pitchFamily="34" charset="0"/>
                <a:ea typeface="宋体" pitchFamily="2" charset="-122"/>
              </a:rPr>
              <a:t>事例框架。</a:t>
            </a:r>
            <a:endParaRPr lang="zh-CN" altLang="en-US" sz="2600" b="1" dirty="0">
              <a:latin typeface="Arial" panose="020B0604020202090204" pitchFamily="34" charset="0"/>
              <a:ea typeface="宋体" pitchFamily="2" charset="-122"/>
            </a:endParaRPr>
          </a:p>
        </p:txBody>
      </p:sp>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7586"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2.4.2  </a:t>
            </a:r>
            <a:r>
              <a:rPr lang="zh-CN" altLang="en-US" dirty="0">
                <a:latin typeface="Times New Roman" panose="02020503050405090304" pitchFamily="18" charset="0"/>
              </a:rPr>
              <a:t>用框架表示知识的例子</a:t>
            </a:r>
            <a:endParaRPr lang="zh-CN" altLang="en-US" dirty="0">
              <a:latin typeface="Times New Roman" panose="02020503050405090304" pitchFamily="18" charset="0"/>
            </a:endParaRPr>
          </a:p>
        </p:txBody>
      </p:sp>
      <p:sp>
        <p:nvSpPr>
          <p:cNvPr id="67587" name="Rectangle 3"/>
          <p:cNvSpPr>
            <a:spLocks noGrp="1"/>
          </p:cNvSpPr>
          <p:nvPr>
            <p:ph idx="1"/>
          </p:nvPr>
        </p:nvSpPr>
        <p:spPr>
          <a:xfrm>
            <a:off x="1604963" y="1420813"/>
            <a:ext cx="5819775" cy="5222875"/>
          </a:xfrm>
          <a:gradFill rotWithShape="0">
            <a:gsLst>
              <a:gs pos="0">
                <a:schemeClr val="bg1"/>
              </a:gs>
              <a:gs pos="100000">
                <a:srgbClr val="CCFFCC"/>
              </a:gs>
            </a:gsLst>
            <a:lin ang="0" scaled="1"/>
            <a:tileRect/>
          </a:gradFill>
          <a:ln>
            <a:solidFill>
              <a:schemeClr val="tx1"/>
            </a:solidFill>
            <a:miter/>
          </a:ln>
        </p:spPr>
        <p:txBody>
          <a:bodyPr vert="horz" wrap="square" lIns="91440" tIns="45720" rIns="91440" bIns="45720" anchor="t" anchorCtr="0"/>
          <a:p>
            <a:pPr eaLnBrk="1" hangingPunct="1">
              <a:lnSpc>
                <a:spcPct val="90000"/>
              </a:lnSpc>
              <a:buNone/>
            </a:pPr>
            <a:r>
              <a:rPr lang="zh-CN" altLang="en-US" sz="2200" b="1" dirty="0"/>
              <a:t>框架名：</a:t>
            </a:r>
            <a:r>
              <a:rPr lang="en-US" altLang="zh-CN" sz="2200" b="1" dirty="0"/>
              <a:t>〈</a:t>
            </a:r>
            <a:r>
              <a:rPr lang="zh-CN" altLang="en-US" sz="2200" b="1" dirty="0"/>
              <a:t>教室</a:t>
            </a:r>
            <a:r>
              <a:rPr lang="en-US" altLang="zh-CN" sz="2200" b="1" dirty="0"/>
              <a:t>〉</a:t>
            </a:r>
            <a:endParaRPr lang="en-US" altLang="zh-CN" sz="2200" b="1" dirty="0"/>
          </a:p>
          <a:p>
            <a:pPr eaLnBrk="1" hangingPunct="1">
              <a:lnSpc>
                <a:spcPct val="90000"/>
              </a:lnSpc>
              <a:buNone/>
            </a:pPr>
            <a:r>
              <a:rPr lang="en-US" altLang="zh-CN" sz="2200" b="1" dirty="0"/>
              <a:t>           </a:t>
            </a:r>
            <a:r>
              <a:rPr lang="zh-CN" altLang="en-US" sz="2200" b="1" dirty="0"/>
              <a:t>墙数：</a:t>
            </a:r>
            <a:endParaRPr lang="zh-CN" altLang="en-US" sz="2200" b="1" dirty="0"/>
          </a:p>
          <a:p>
            <a:pPr eaLnBrk="1" hangingPunct="1">
              <a:lnSpc>
                <a:spcPct val="90000"/>
              </a:lnSpc>
              <a:buNone/>
            </a:pPr>
            <a:r>
              <a:rPr lang="zh-CN" altLang="en-US" sz="2200" b="1" dirty="0"/>
              <a:t>           窗数：</a:t>
            </a:r>
            <a:endParaRPr lang="zh-CN" altLang="en-US" sz="2200" b="1" dirty="0"/>
          </a:p>
          <a:p>
            <a:pPr eaLnBrk="1" hangingPunct="1">
              <a:lnSpc>
                <a:spcPct val="90000"/>
              </a:lnSpc>
              <a:buNone/>
            </a:pPr>
            <a:r>
              <a:rPr lang="zh-CN" altLang="en-US" sz="2200" b="1" dirty="0"/>
              <a:t>           门数：</a:t>
            </a:r>
            <a:endParaRPr lang="zh-CN" altLang="en-US" sz="2200" b="1" dirty="0"/>
          </a:p>
          <a:p>
            <a:pPr eaLnBrk="1" hangingPunct="1">
              <a:lnSpc>
                <a:spcPct val="90000"/>
              </a:lnSpc>
              <a:buNone/>
            </a:pPr>
            <a:r>
              <a:rPr lang="zh-CN" altLang="en-US" sz="2200" b="1" dirty="0"/>
              <a:t>           座位数：</a:t>
            </a:r>
            <a:endParaRPr lang="zh-CN" altLang="en-US" sz="2200" b="1" dirty="0"/>
          </a:p>
          <a:p>
            <a:pPr eaLnBrk="1" hangingPunct="1">
              <a:lnSpc>
                <a:spcPct val="90000"/>
              </a:lnSpc>
              <a:buNone/>
            </a:pPr>
            <a:r>
              <a:rPr lang="zh-CN" altLang="en-US" sz="2200" b="1" dirty="0"/>
              <a:t>           前墙：</a:t>
            </a:r>
            <a:r>
              <a:rPr lang="en-US" altLang="zh-CN" sz="2200" b="1" dirty="0"/>
              <a:t>〈</a:t>
            </a:r>
            <a:r>
              <a:rPr lang="zh-CN" altLang="en-US" sz="2200" b="1" dirty="0"/>
              <a:t>墙框架</a:t>
            </a:r>
            <a:r>
              <a:rPr lang="en-US" altLang="zh-CN" sz="2200" b="1" dirty="0"/>
              <a:t>〉</a:t>
            </a:r>
            <a:endParaRPr lang="en-US" altLang="zh-CN" sz="2200" b="1" dirty="0"/>
          </a:p>
          <a:p>
            <a:pPr eaLnBrk="1" hangingPunct="1">
              <a:lnSpc>
                <a:spcPct val="90000"/>
              </a:lnSpc>
              <a:buNone/>
            </a:pPr>
            <a:r>
              <a:rPr lang="en-US" altLang="zh-CN" sz="2200" b="1" dirty="0"/>
              <a:t>           </a:t>
            </a:r>
            <a:r>
              <a:rPr lang="zh-CN" altLang="en-US" sz="2200" b="1" dirty="0"/>
              <a:t>后墙：</a:t>
            </a:r>
            <a:r>
              <a:rPr lang="en-US" altLang="zh-CN" sz="2200" b="1" dirty="0"/>
              <a:t>〈</a:t>
            </a:r>
            <a:r>
              <a:rPr lang="zh-CN" altLang="en-US" sz="2200" b="1" dirty="0"/>
              <a:t>墙框架</a:t>
            </a:r>
            <a:r>
              <a:rPr lang="en-US" altLang="zh-CN" sz="2200" b="1" dirty="0"/>
              <a:t>〉</a:t>
            </a:r>
            <a:endParaRPr lang="en-US" altLang="zh-CN" sz="2200" b="1" dirty="0"/>
          </a:p>
          <a:p>
            <a:pPr eaLnBrk="1" hangingPunct="1">
              <a:lnSpc>
                <a:spcPct val="90000"/>
              </a:lnSpc>
              <a:buNone/>
            </a:pPr>
            <a:r>
              <a:rPr lang="en-US" altLang="zh-CN" sz="2200" b="1" dirty="0"/>
              <a:t>           </a:t>
            </a:r>
            <a:r>
              <a:rPr lang="zh-CN" altLang="en-US" sz="2200" b="1" dirty="0"/>
              <a:t>左墙：</a:t>
            </a:r>
            <a:r>
              <a:rPr lang="en-US" altLang="zh-CN" sz="2200" b="1" dirty="0"/>
              <a:t>〈</a:t>
            </a:r>
            <a:r>
              <a:rPr lang="zh-CN" altLang="en-US" sz="2200" b="1" dirty="0"/>
              <a:t>墙框架</a:t>
            </a:r>
            <a:r>
              <a:rPr lang="en-US" altLang="zh-CN" sz="2200" b="1" dirty="0"/>
              <a:t>〉</a:t>
            </a:r>
            <a:endParaRPr lang="en-US" altLang="zh-CN" sz="2200" b="1" dirty="0"/>
          </a:p>
          <a:p>
            <a:pPr eaLnBrk="1" hangingPunct="1">
              <a:lnSpc>
                <a:spcPct val="90000"/>
              </a:lnSpc>
              <a:buNone/>
            </a:pPr>
            <a:r>
              <a:rPr lang="en-US" altLang="zh-CN" sz="2200" b="1" dirty="0"/>
              <a:t>           </a:t>
            </a:r>
            <a:r>
              <a:rPr lang="zh-CN" altLang="en-US" sz="2200" b="1" dirty="0"/>
              <a:t>右墙：</a:t>
            </a:r>
            <a:r>
              <a:rPr lang="en-US" altLang="zh-CN" sz="2200" b="1" dirty="0"/>
              <a:t>〈</a:t>
            </a:r>
            <a:r>
              <a:rPr lang="zh-CN" altLang="en-US" sz="2200" b="1" dirty="0"/>
              <a:t>墙框架</a:t>
            </a:r>
            <a:r>
              <a:rPr lang="en-US" altLang="zh-CN" sz="2200" b="1" dirty="0"/>
              <a:t>〉</a:t>
            </a:r>
            <a:endParaRPr lang="en-US" altLang="zh-CN" sz="2200" b="1" dirty="0"/>
          </a:p>
          <a:p>
            <a:pPr eaLnBrk="1" hangingPunct="1">
              <a:lnSpc>
                <a:spcPct val="90000"/>
              </a:lnSpc>
              <a:buNone/>
            </a:pPr>
            <a:r>
              <a:rPr lang="en-US" altLang="zh-CN" sz="2200" b="1" dirty="0"/>
              <a:t>           </a:t>
            </a:r>
            <a:r>
              <a:rPr lang="zh-CN" altLang="en-US" sz="2200" b="1" dirty="0"/>
              <a:t>门：</a:t>
            </a:r>
            <a:r>
              <a:rPr lang="en-US" altLang="zh-CN" sz="2200" b="1" dirty="0"/>
              <a:t>〈</a:t>
            </a:r>
            <a:r>
              <a:rPr lang="zh-CN" altLang="en-US" sz="2200" b="1" dirty="0"/>
              <a:t>门框架</a:t>
            </a:r>
            <a:r>
              <a:rPr lang="en-US" altLang="zh-CN" sz="2200" b="1" dirty="0"/>
              <a:t>〉</a:t>
            </a:r>
            <a:endParaRPr lang="en-US" altLang="zh-CN" sz="2200" b="1" dirty="0"/>
          </a:p>
          <a:p>
            <a:pPr eaLnBrk="1" hangingPunct="1">
              <a:lnSpc>
                <a:spcPct val="90000"/>
              </a:lnSpc>
              <a:buNone/>
            </a:pPr>
            <a:r>
              <a:rPr lang="en-US" altLang="zh-CN" sz="2200" b="1" dirty="0"/>
              <a:t>           </a:t>
            </a:r>
            <a:r>
              <a:rPr lang="zh-CN" altLang="en-US" sz="2200" b="1" dirty="0"/>
              <a:t>窗：</a:t>
            </a:r>
            <a:r>
              <a:rPr lang="en-US" altLang="zh-CN" sz="2200" b="1" dirty="0"/>
              <a:t>〈</a:t>
            </a:r>
            <a:r>
              <a:rPr lang="zh-CN" altLang="en-US" sz="2200" b="1" dirty="0"/>
              <a:t>窗框架</a:t>
            </a:r>
            <a:r>
              <a:rPr lang="en-US" altLang="zh-CN" sz="2200" b="1" dirty="0"/>
              <a:t>〉</a:t>
            </a:r>
            <a:endParaRPr lang="en-US" altLang="zh-CN" sz="2200" b="1" dirty="0"/>
          </a:p>
          <a:p>
            <a:pPr eaLnBrk="1" hangingPunct="1">
              <a:lnSpc>
                <a:spcPct val="90000"/>
              </a:lnSpc>
              <a:buNone/>
            </a:pPr>
            <a:r>
              <a:rPr lang="en-US" altLang="zh-CN" sz="2200" b="1" dirty="0"/>
              <a:t>           </a:t>
            </a:r>
            <a:r>
              <a:rPr lang="zh-CN" altLang="en-US" sz="2200" b="1" dirty="0"/>
              <a:t>黑板：</a:t>
            </a:r>
            <a:r>
              <a:rPr lang="en-US" altLang="zh-CN" sz="2200" b="1" dirty="0"/>
              <a:t>〈</a:t>
            </a:r>
            <a:r>
              <a:rPr lang="zh-CN" altLang="en-US" sz="2200" b="1" dirty="0"/>
              <a:t>黑板框架</a:t>
            </a:r>
            <a:r>
              <a:rPr lang="en-US" altLang="zh-CN" sz="2200" b="1" dirty="0"/>
              <a:t>〉</a:t>
            </a:r>
            <a:endParaRPr lang="en-US" altLang="zh-CN" sz="2200" b="1" dirty="0"/>
          </a:p>
          <a:p>
            <a:pPr eaLnBrk="1" hangingPunct="1">
              <a:lnSpc>
                <a:spcPct val="90000"/>
              </a:lnSpc>
              <a:buNone/>
            </a:pPr>
            <a:r>
              <a:rPr lang="en-US" altLang="zh-CN" sz="2200" b="1" dirty="0"/>
              <a:t>           </a:t>
            </a:r>
            <a:r>
              <a:rPr lang="zh-CN" altLang="en-US" sz="2200" b="1" dirty="0"/>
              <a:t>天花板：</a:t>
            </a:r>
            <a:r>
              <a:rPr lang="en-US" altLang="zh-CN" sz="2200" b="1" dirty="0"/>
              <a:t>〈</a:t>
            </a:r>
            <a:r>
              <a:rPr lang="zh-CN" altLang="en-US" sz="2200" b="1" dirty="0"/>
              <a:t>天花板框架</a:t>
            </a:r>
            <a:r>
              <a:rPr lang="en-US" altLang="zh-CN" sz="2200" b="1" dirty="0"/>
              <a:t>〉</a:t>
            </a:r>
            <a:endParaRPr lang="en-US" altLang="zh-CN" sz="2200" b="1" dirty="0"/>
          </a:p>
          <a:p>
            <a:pPr eaLnBrk="1" hangingPunct="1">
              <a:lnSpc>
                <a:spcPct val="90000"/>
              </a:lnSpc>
              <a:buNone/>
            </a:pPr>
            <a:r>
              <a:rPr lang="en-US" altLang="zh-CN" sz="2200" b="1" dirty="0"/>
              <a:t>           </a:t>
            </a:r>
            <a:r>
              <a:rPr lang="zh-CN" altLang="en-US" sz="2200" b="1" dirty="0"/>
              <a:t>讲台：</a:t>
            </a:r>
            <a:r>
              <a:rPr lang="en-US" altLang="zh-CN" sz="2200" b="1" dirty="0"/>
              <a:t>〈</a:t>
            </a:r>
            <a:r>
              <a:rPr lang="zh-CN" altLang="en-US" sz="2200" b="1" dirty="0"/>
              <a:t>讲台框架</a:t>
            </a:r>
            <a:r>
              <a:rPr lang="en-US" altLang="zh-CN" sz="2200" b="1" dirty="0"/>
              <a:t>〉</a:t>
            </a:r>
            <a:endParaRPr lang="en-US" altLang="zh-CN" sz="2200" b="1" dirty="0"/>
          </a:p>
        </p:txBody>
      </p:sp>
      <p:sp>
        <p:nvSpPr>
          <p:cNvPr id="67588" name="Rectangle 4"/>
          <p:cNvSpPr/>
          <p:nvPr/>
        </p:nvSpPr>
        <p:spPr>
          <a:xfrm>
            <a:off x="431800" y="858838"/>
            <a:ext cx="3316288" cy="528637"/>
          </a:xfrm>
          <a:prstGeom prst="rect">
            <a:avLst/>
          </a:prstGeom>
          <a:noFill/>
          <a:ln w="9525">
            <a:noFill/>
          </a:ln>
        </p:spPr>
        <p:txBody>
          <a:bodyPr anchor="t" anchorCtr="0">
            <a:spAutoFit/>
          </a:bodyPr>
          <a:p>
            <a:pPr>
              <a:lnSpc>
                <a:spcPct val="110000"/>
              </a:lnSpc>
              <a:spcBef>
                <a:spcPct val="20000"/>
              </a:spcBef>
              <a:buClr>
                <a:schemeClr val="accent2"/>
              </a:buClr>
              <a:buFont typeface="Wingdings" panose="05000000000000000000" pitchFamily="2" charset="2"/>
              <a:buChar char="•"/>
            </a:pPr>
            <a:r>
              <a:rPr lang="en-US" altLang="zh-CN" sz="2600" b="1" dirty="0">
                <a:latin typeface="Arial" panose="020B0604020202090204" pitchFamily="34" charset="0"/>
                <a:ea typeface="宋体" pitchFamily="2" charset="-122"/>
              </a:rPr>
              <a:t>   </a:t>
            </a:r>
            <a:r>
              <a:rPr lang="zh-CN" altLang="en-US" sz="2600" b="1" dirty="0">
                <a:latin typeface="Times New Roman" panose="02020503050405090304" pitchFamily="18" charset="0"/>
                <a:ea typeface="宋体" pitchFamily="2" charset="-122"/>
              </a:rPr>
              <a:t>例</a:t>
            </a:r>
            <a:r>
              <a:rPr lang="en-US" altLang="zh-CN" sz="2600" b="1" dirty="0">
                <a:latin typeface="Times New Roman" panose="02020503050405090304" pitchFamily="18" charset="0"/>
                <a:ea typeface="宋体" pitchFamily="2" charset="-122"/>
              </a:rPr>
              <a:t>3</a:t>
            </a:r>
            <a:r>
              <a:rPr lang="en-US" altLang="zh-CN" sz="2600" b="1" dirty="0">
                <a:latin typeface="Arial" panose="020B0604020202090204" pitchFamily="34" charset="0"/>
                <a:ea typeface="宋体" pitchFamily="2" charset="-122"/>
              </a:rPr>
              <a:t>  </a:t>
            </a:r>
            <a:r>
              <a:rPr lang="zh-CN" altLang="en-US" sz="2600" b="1" dirty="0">
                <a:latin typeface="Arial" panose="020B0604020202090204" pitchFamily="34" charset="0"/>
                <a:ea typeface="宋体" pitchFamily="2" charset="-122"/>
              </a:rPr>
              <a:t>教室框架</a:t>
            </a:r>
            <a:endParaRPr lang="zh-CN" altLang="en-US" sz="2600" b="1" dirty="0">
              <a:latin typeface="Arial" panose="020B0604020202090204" pitchFamily="34" charset="0"/>
              <a:ea typeface="宋体" pitchFamily="2" charset="-122"/>
            </a:endParaRPr>
          </a:p>
        </p:txBody>
      </p:sp>
    </p:spTree>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8610"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2.4.2  </a:t>
            </a:r>
            <a:r>
              <a:rPr lang="zh-CN" altLang="en-US" dirty="0">
                <a:latin typeface="Times New Roman" panose="02020503050405090304" pitchFamily="18" charset="0"/>
              </a:rPr>
              <a:t>用框架表示知识的例子</a:t>
            </a:r>
            <a:endParaRPr lang="zh-CN" altLang="en-US" dirty="0">
              <a:latin typeface="Times New Roman" panose="02020503050405090304" pitchFamily="18" charset="0"/>
            </a:endParaRPr>
          </a:p>
        </p:txBody>
      </p:sp>
      <p:sp>
        <p:nvSpPr>
          <p:cNvPr id="59395" name="Rectangle 3"/>
          <p:cNvSpPr>
            <a:spLocks noGrp="1"/>
          </p:cNvSpPr>
          <p:nvPr>
            <p:ph idx="1"/>
          </p:nvPr>
        </p:nvSpPr>
        <p:spPr>
          <a:xfrm>
            <a:off x="250825" y="971550"/>
            <a:ext cx="8439150" cy="5400675"/>
          </a:xfrm>
        </p:spPr>
        <p:txBody>
          <a:bodyPr vert="horz" wrap="square" lIns="91440" tIns="45720" rIns="91440" bIns="45720" anchor="t" anchorCtr="0"/>
          <a:p>
            <a:pPr algn="just" eaLnBrk="1" hangingPunct="1"/>
            <a:r>
              <a:rPr lang="zh-CN" altLang="en-US" sz="2600" b="1" dirty="0">
                <a:latin typeface="Times New Roman" panose="02020503050405090304" pitchFamily="18" charset="0"/>
              </a:rPr>
              <a:t>例</a:t>
            </a:r>
            <a:r>
              <a:rPr lang="en-US" altLang="zh-CN" sz="2600" b="1" dirty="0">
                <a:latin typeface="Times New Roman" panose="02020503050405090304" pitchFamily="18" charset="0"/>
              </a:rPr>
              <a:t>4 </a:t>
            </a:r>
            <a:r>
              <a:rPr lang="zh-CN" altLang="en-US" sz="2600" b="1" dirty="0">
                <a:latin typeface="Times New Roman" panose="02020503050405090304" pitchFamily="18" charset="0"/>
              </a:rPr>
              <a:t>将下列一则地震消息用框架表示：“某年某月某日，某地发生</a:t>
            </a:r>
            <a:r>
              <a:rPr lang="en-US" altLang="zh-CN" sz="2600" b="1" dirty="0">
                <a:latin typeface="Times New Roman" panose="02020503050405090304" pitchFamily="18" charset="0"/>
              </a:rPr>
              <a:t>6.0</a:t>
            </a:r>
            <a:r>
              <a:rPr lang="zh-CN" altLang="en-US" sz="2600" b="1" dirty="0">
                <a:latin typeface="Times New Roman" panose="02020503050405090304" pitchFamily="18" charset="0"/>
              </a:rPr>
              <a:t>级地震，若以膨胀注水孕震模式为标准，则三项地震前兆中的波速比为</a:t>
            </a:r>
            <a:r>
              <a:rPr lang="en-US" altLang="zh-CN" sz="2600" b="1" dirty="0">
                <a:latin typeface="Times New Roman" panose="02020503050405090304" pitchFamily="18" charset="0"/>
              </a:rPr>
              <a:t>0.45</a:t>
            </a:r>
            <a:r>
              <a:rPr lang="zh-CN" altLang="en-US" sz="2600" b="1" dirty="0">
                <a:latin typeface="Times New Roman" panose="02020503050405090304" pitchFamily="18" charset="0"/>
              </a:rPr>
              <a:t>，水氡含量为</a:t>
            </a:r>
            <a:r>
              <a:rPr lang="en-US" altLang="zh-CN" sz="2600" b="1" dirty="0">
                <a:latin typeface="Times New Roman" panose="02020503050405090304" pitchFamily="18" charset="0"/>
              </a:rPr>
              <a:t>0.43</a:t>
            </a:r>
            <a:r>
              <a:rPr lang="zh-CN" altLang="en-US" sz="2600" b="1" dirty="0">
                <a:latin typeface="Times New Roman" panose="02020503050405090304" pitchFamily="18" charset="0"/>
              </a:rPr>
              <a:t>，地形改变为</a:t>
            </a:r>
            <a:r>
              <a:rPr lang="en-US" altLang="zh-CN" sz="2600" b="1" dirty="0">
                <a:latin typeface="Times New Roman" panose="02020503050405090304" pitchFamily="18" charset="0"/>
              </a:rPr>
              <a:t>0.60</a:t>
            </a:r>
            <a:r>
              <a:rPr lang="zh-CN" altLang="en-US" sz="2600" b="1" dirty="0">
                <a:latin typeface="Times New Roman" panose="02020503050405090304" pitchFamily="18" charset="0"/>
              </a:rPr>
              <a:t>。”</a:t>
            </a:r>
            <a:endParaRPr lang="zh-CN" altLang="en-US" sz="2600" b="1" dirty="0">
              <a:latin typeface="Times New Roman" panose="02020503050405090304" pitchFamily="18" charset="0"/>
            </a:endParaRPr>
          </a:p>
          <a:p>
            <a:pPr algn="just" eaLnBrk="1" hangingPunct="1">
              <a:spcBef>
                <a:spcPct val="0"/>
              </a:spcBef>
            </a:pPr>
            <a:r>
              <a:rPr lang="zh-CN" altLang="en-US" sz="2600" b="1" dirty="0"/>
              <a:t>解：地震消息用框架如下图所示。</a:t>
            </a:r>
            <a:endParaRPr lang="zh-CN" altLang="en-US" sz="2600" b="1" dirty="0"/>
          </a:p>
        </p:txBody>
      </p:sp>
      <p:sp>
        <p:nvSpPr>
          <p:cNvPr id="59396" name="Rectangle 4"/>
          <p:cNvSpPr/>
          <p:nvPr/>
        </p:nvSpPr>
        <p:spPr>
          <a:xfrm>
            <a:off x="1447800" y="3436938"/>
            <a:ext cx="5180013" cy="3152775"/>
          </a:xfrm>
          <a:prstGeom prst="rect">
            <a:avLst/>
          </a:prstGeom>
          <a:gradFill rotWithShape="0">
            <a:gsLst>
              <a:gs pos="0">
                <a:schemeClr val="bg1"/>
              </a:gs>
              <a:gs pos="100000">
                <a:srgbClr val="CCFFFF"/>
              </a:gs>
            </a:gsLst>
            <a:path path="shape">
              <a:fillToRect l="50000" t="50000" r="50000" b="50000"/>
            </a:path>
            <a:tileRect/>
          </a:gradFill>
          <a:ln w="9525" cap="flat" cmpd="sng">
            <a:solidFill>
              <a:schemeClr val="tx1"/>
            </a:solidFill>
            <a:prstDash val="solid"/>
            <a:miter/>
            <a:headEnd type="none" w="med" len="med"/>
            <a:tailEnd type="none" w="med" len="med"/>
          </a:ln>
        </p:spPr>
        <p:txBody>
          <a:bodyPr anchor="t" anchorCtr="0"/>
          <a:p>
            <a:pPr marL="469900" indent="-469900">
              <a:lnSpc>
                <a:spcPct val="110000"/>
              </a:lnSpc>
              <a:buClr>
                <a:schemeClr val="accent2"/>
              </a:buClr>
              <a:buFont typeface="Wingdings" panose="05000000000000000000" pitchFamily="2" charset="2"/>
              <a:buNone/>
            </a:pPr>
            <a:r>
              <a:rPr lang="en-US" altLang="zh-CN" sz="2600" b="1" dirty="0">
                <a:latin typeface="Arial" panose="020B0604020202090204" pitchFamily="34" charset="0"/>
                <a:ea typeface="宋体" pitchFamily="2" charset="-122"/>
              </a:rPr>
              <a:t>  </a:t>
            </a:r>
            <a:r>
              <a:rPr lang="zh-CN" altLang="en-US" sz="2600" b="1" dirty="0">
                <a:latin typeface="Times New Roman" panose="02020503050405090304" pitchFamily="18" charset="0"/>
                <a:ea typeface="宋体" pitchFamily="2" charset="-122"/>
              </a:rPr>
              <a:t>框架名：</a:t>
            </a:r>
            <a:r>
              <a:rPr lang="en-US" altLang="zh-CN" sz="2600" b="1" dirty="0">
                <a:latin typeface="Times New Roman" panose="02020503050405090304" pitchFamily="18" charset="0"/>
                <a:ea typeface="宋体" pitchFamily="2" charset="-122"/>
              </a:rPr>
              <a:t>〈</a:t>
            </a:r>
            <a:r>
              <a:rPr lang="zh-CN" altLang="en-US" sz="2600" b="1" dirty="0">
                <a:latin typeface="Times New Roman" panose="02020503050405090304" pitchFamily="18" charset="0"/>
                <a:ea typeface="宋体" pitchFamily="2" charset="-122"/>
              </a:rPr>
              <a:t>地震</a:t>
            </a:r>
            <a:r>
              <a:rPr lang="en-US" altLang="zh-CN" sz="2600" b="1" dirty="0">
                <a:latin typeface="Times New Roman" panose="02020503050405090304" pitchFamily="18" charset="0"/>
                <a:ea typeface="宋体" pitchFamily="2" charset="-122"/>
              </a:rPr>
              <a:t>〉</a:t>
            </a:r>
            <a:endParaRPr lang="en-US" altLang="zh-CN" sz="2600" b="1" dirty="0">
              <a:latin typeface="Times New Roman" panose="02020503050405090304" pitchFamily="18" charset="0"/>
              <a:ea typeface="宋体" pitchFamily="2" charset="-122"/>
            </a:endParaRPr>
          </a:p>
          <a:p>
            <a:pPr marL="469900" indent="-469900">
              <a:lnSpc>
                <a:spcPct val="110000"/>
              </a:lnSpc>
              <a:buClr>
                <a:schemeClr val="accent2"/>
              </a:buClr>
              <a:buFont typeface="Wingdings" panose="05000000000000000000" pitchFamily="2" charset="2"/>
              <a:buNone/>
            </a:pPr>
            <a:r>
              <a:rPr lang="en-US" altLang="zh-CN" sz="2600" b="1" dirty="0">
                <a:latin typeface="Times New Roman" panose="02020503050405090304" pitchFamily="18" charset="0"/>
                <a:ea typeface="宋体" pitchFamily="2" charset="-122"/>
              </a:rPr>
              <a:t>      </a:t>
            </a:r>
            <a:r>
              <a:rPr lang="zh-CN" altLang="en-US" sz="2600" b="1" dirty="0">
                <a:latin typeface="Times New Roman" panose="02020503050405090304" pitchFamily="18" charset="0"/>
                <a:ea typeface="宋体" pitchFamily="2" charset="-122"/>
              </a:rPr>
              <a:t>地       点：某地</a:t>
            </a:r>
            <a:endParaRPr lang="zh-CN" altLang="en-US" sz="2600" b="1" dirty="0">
              <a:latin typeface="Times New Roman" panose="02020503050405090304" pitchFamily="18" charset="0"/>
              <a:ea typeface="宋体" pitchFamily="2" charset="-122"/>
            </a:endParaRPr>
          </a:p>
          <a:p>
            <a:pPr marL="469900" indent="-469900">
              <a:lnSpc>
                <a:spcPct val="110000"/>
              </a:lnSpc>
              <a:buClr>
                <a:schemeClr val="accent2"/>
              </a:buClr>
              <a:buFont typeface="Wingdings" panose="05000000000000000000" pitchFamily="2" charset="2"/>
              <a:buNone/>
            </a:pPr>
            <a:r>
              <a:rPr lang="zh-CN" altLang="en-US" sz="2600" b="1" dirty="0">
                <a:latin typeface="Times New Roman" panose="02020503050405090304" pitchFamily="18" charset="0"/>
                <a:ea typeface="宋体" pitchFamily="2" charset="-122"/>
              </a:rPr>
              <a:t>      日       期：某年某月某日</a:t>
            </a:r>
            <a:endParaRPr lang="zh-CN" altLang="en-US" sz="2600" b="1" dirty="0">
              <a:latin typeface="Times New Roman" panose="02020503050405090304" pitchFamily="18" charset="0"/>
              <a:ea typeface="宋体" pitchFamily="2" charset="-122"/>
            </a:endParaRPr>
          </a:p>
          <a:p>
            <a:pPr marL="469900" indent="-469900">
              <a:lnSpc>
                <a:spcPct val="110000"/>
              </a:lnSpc>
              <a:buClr>
                <a:schemeClr val="accent2"/>
              </a:buClr>
              <a:buFont typeface="Wingdings" panose="05000000000000000000" pitchFamily="2" charset="2"/>
              <a:buNone/>
            </a:pPr>
            <a:r>
              <a:rPr lang="zh-CN" altLang="en-US" sz="2600" b="1" dirty="0">
                <a:latin typeface="Times New Roman" panose="02020503050405090304" pitchFamily="18" charset="0"/>
                <a:ea typeface="宋体" pitchFamily="2" charset="-122"/>
              </a:rPr>
              <a:t>      震       级：</a:t>
            </a:r>
            <a:r>
              <a:rPr lang="en-US" altLang="zh-CN" sz="2600" b="1" dirty="0">
                <a:latin typeface="Times New Roman" panose="02020503050405090304" pitchFamily="18" charset="0"/>
                <a:ea typeface="宋体" pitchFamily="2" charset="-122"/>
              </a:rPr>
              <a:t>6.0</a:t>
            </a:r>
            <a:endParaRPr lang="en-US" altLang="zh-CN" sz="2600" b="1" dirty="0">
              <a:latin typeface="Times New Roman" panose="02020503050405090304" pitchFamily="18" charset="0"/>
              <a:ea typeface="宋体" pitchFamily="2" charset="-122"/>
            </a:endParaRPr>
          </a:p>
          <a:p>
            <a:pPr marL="469900" indent="-469900">
              <a:lnSpc>
                <a:spcPct val="110000"/>
              </a:lnSpc>
              <a:buClr>
                <a:schemeClr val="accent2"/>
              </a:buClr>
              <a:buFont typeface="Wingdings" panose="05000000000000000000" pitchFamily="2" charset="2"/>
              <a:buNone/>
            </a:pPr>
            <a:r>
              <a:rPr lang="en-US" altLang="zh-CN" sz="2600" b="1" dirty="0">
                <a:latin typeface="Times New Roman" panose="02020503050405090304" pitchFamily="18" charset="0"/>
                <a:ea typeface="宋体" pitchFamily="2" charset="-122"/>
              </a:rPr>
              <a:t>      </a:t>
            </a:r>
            <a:r>
              <a:rPr lang="zh-CN" altLang="en-US" sz="2600" b="1" dirty="0">
                <a:latin typeface="Times New Roman" panose="02020503050405090304" pitchFamily="18" charset="0"/>
                <a:ea typeface="宋体" pitchFamily="2" charset="-122"/>
              </a:rPr>
              <a:t>波  速  比：</a:t>
            </a:r>
            <a:r>
              <a:rPr lang="en-US" altLang="zh-CN" sz="2600" b="1" dirty="0">
                <a:latin typeface="Times New Roman" panose="02020503050405090304" pitchFamily="18" charset="0"/>
                <a:ea typeface="宋体" pitchFamily="2" charset="-122"/>
              </a:rPr>
              <a:t>0.45</a:t>
            </a:r>
            <a:endParaRPr lang="en-US" altLang="zh-CN" sz="2600" b="1" dirty="0">
              <a:latin typeface="Times New Roman" panose="02020503050405090304" pitchFamily="18" charset="0"/>
              <a:ea typeface="宋体" pitchFamily="2" charset="-122"/>
            </a:endParaRPr>
          </a:p>
          <a:p>
            <a:pPr marL="469900" indent="-469900">
              <a:lnSpc>
                <a:spcPct val="110000"/>
              </a:lnSpc>
              <a:buClr>
                <a:schemeClr val="accent2"/>
              </a:buClr>
              <a:buFont typeface="Wingdings" panose="05000000000000000000" pitchFamily="2" charset="2"/>
              <a:buNone/>
            </a:pPr>
            <a:r>
              <a:rPr lang="en-US" altLang="zh-CN" sz="2600" b="1" dirty="0">
                <a:latin typeface="Times New Roman" panose="02020503050405090304" pitchFamily="18" charset="0"/>
                <a:ea typeface="宋体" pitchFamily="2" charset="-122"/>
              </a:rPr>
              <a:t>      </a:t>
            </a:r>
            <a:r>
              <a:rPr lang="zh-CN" altLang="en-US" sz="2600" b="1" dirty="0">
                <a:latin typeface="Times New Roman" panose="02020503050405090304" pitchFamily="18" charset="0"/>
                <a:ea typeface="宋体" pitchFamily="2" charset="-122"/>
              </a:rPr>
              <a:t>水氡含量：</a:t>
            </a:r>
            <a:r>
              <a:rPr lang="en-US" altLang="zh-CN" sz="2600" b="1" dirty="0">
                <a:latin typeface="Times New Roman" panose="02020503050405090304" pitchFamily="18" charset="0"/>
                <a:ea typeface="宋体" pitchFamily="2" charset="-122"/>
              </a:rPr>
              <a:t>0.43</a:t>
            </a:r>
            <a:endParaRPr lang="en-US" altLang="zh-CN" sz="2600" b="1" dirty="0">
              <a:latin typeface="Times New Roman" panose="02020503050405090304" pitchFamily="18" charset="0"/>
              <a:ea typeface="宋体" pitchFamily="2" charset="-122"/>
            </a:endParaRPr>
          </a:p>
          <a:p>
            <a:pPr marL="469900" indent="-469900">
              <a:lnSpc>
                <a:spcPct val="110000"/>
              </a:lnSpc>
              <a:buClr>
                <a:schemeClr val="accent2"/>
              </a:buClr>
              <a:buFont typeface="Wingdings" panose="05000000000000000000" pitchFamily="2" charset="2"/>
              <a:buNone/>
            </a:pPr>
            <a:r>
              <a:rPr lang="en-US" altLang="zh-CN" sz="2600" b="1" dirty="0">
                <a:latin typeface="Times New Roman" panose="02020503050405090304" pitchFamily="18" charset="0"/>
                <a:ea typeface="宋体" pitchFamily="2" charset="-122"/>
              </a:rPr>
              <a:t>      </a:t>
            </a:r>
            <a:r>
              <a:rPr lang="zh-CN" altLang="en-US" sz="2600" b="1" dirty="0">
                <a:latin typeface="Times New Roman" panose="02020503050405090304" pitchFamily="18" charset="0"/>
                <a:ea typeface="宋体" pitchFamily="2" charset="-122"/>
              </a:rPr>
              <a:t>地形改变：</a:t>
            </a:r>
            <a:r>
              <a:rPr lang="en-US" altLang="zh-CN" sz="2600" b="1" dirty="0">
                <a:latin typeface="Times New Roman" panose="02020503050405090304" pitchFamily="18" charset="0"/>
                <a:ea typeface="宋体" pitchFamily="2" charset="-122"/>
              </a:rPr>
              <a:t>0.60</a:t>
            </a:r>
            <a:r>
              <a:rPr lang="en-US" altLang="zh-CN" sz="2600" b="1" dirty="0">
                <a:latin typeface="Arial" panose="020B0604020202090204" pitchFamily="34" charset="0"/>
                <a:ea typeface="宋体" pitchFamily="2" charset="-122"/>
              </a:rPr>
              <a:t>      </a:t>
            </a:r>
            <a:endParaRPr lang="en-US" altLang="zh-CN" sz="2600" b="1" dirty="0">
              <a:latin typeface="Arial" panose="020B0604020202090204" pitchFamily="34"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395">
                                            <p:txEl>
                                              <p:charRg st="91" end="107"/>
                                            </p:txEl>
                                          </p:spTgt>
                                        </p:tgtEl>
                                        <p:attrNameLst>
                                          <p:attrName>style.visibility</p:attrName>
                                        </p:attrNameLst>
                                      </p:cBhvr>
                                      <p:to>
                                        <p:strVal val="visible"/>
                                      </p:to>
                                    </p:set>
                                    <p:anim calcmode="lin" valueType="num">
                                      <p:cBhvr additive="base">
                                        <p:cTn id="7" dur="500" fill="hold"/>
                                        <p:tgtEl>
                                          <p:spTgt spid="59395">
                                            <p:txEl>
                                              <p:charRg st="91" end="107"/>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395">
                                            <p:txEl>
                                              <p:charRg st="91" end="107"/>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9396"/>
                                        </p:tgtEl>
                                        <p:attrNameLst>
                                          <p:attrName>style.visibility</p:attrName>
                                        </p:attrNameLst>
                                      </p:cBhvr>
                                      <p:to>
                                        <p:strVal val="visible"/>
                                      </p:to>
                                    </p:set>
                                    <p:anim calcmode="lin" valueType="num">
                                      <p:cBhvr additive="base">
                                        <p:cTn id="12" dur="500" fill="hold"/>
                                        <p:tgtEl>
                                          <p:spTgt spid="59396"/>
                                        </p:tgtEl>
                                        <p:attrNameLst>
                                          <p:attrName>ppt_x</p:attrName>
                                        </p:attrNameLst>
                                      </p:cBhvr>
                                      <p:tavLst>
                                        <p:tav tm="0">
                                          <p:val>
                                            <p:strVal val="#ppt_x"/>
                                          </p:val>
                                        </p:tav>
                                        <p:tav tm="100000">
                                          <p:val>
                                            <p:strVal val="#ppt_x"/>
                                          </p:val>
                                        </p:tav>
                                      </p:tavLst>
                                    </p:anim>
                                    <p:anim calcmode="lin" valueType="num">
                                      <p:cBhvr additive="base">
                                        <p:cTn id="13" dur="500" fill="hold"/>
                                        <p:tgtEl>
                                          <p:spTgt spid="59396"/>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9396">
                                            <p:txEl>
                                              <p:charRg st="0" end="11"/>
                                            </p:txEl>
                                          </p:spTgt>
                                        </p:tgtEl>
                                        <p:attrNameLst>
                                          <p:attrName>style.visibility</p:attrName>
                                        </p:attrNameLst>
                                      </p:cBhvr>
                                      <p:to>
                                        <p:strVal val="visible"/>
                                      </p:to>
                                    </p:set>
                                    <p:anim calcmode="lin" valueType="num">
                                      <p:cBhvr additive="base">
                                        <p:cTn id="17" dur="500" fill="hold"/>
                                        <p:tgtEl>
                                          <p:spTgt spid="59396">
                                            <p:txEl>
                                              <p:charRg st="0" end="1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9396">
                                            <p:txEl>
                                              <p:charRg st="0" end="1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59396">
                                            <p:txEl>
                                              <p:charRg st="11" end="30"/>
                                            </p:txEl>
                                          </p:spTgt>
                                        </p:tgtEl>
                                        <p:attrNameLst>
                                          <p:attrName>style.visibility</p:attrName>
                                        </p:attrNameLst>
                                      </p:cBhvr>
                                      <p:to>
                                        <p:strVal val="visible"/>
                                      </p:to>
                                    </p:set>
                                    <p:anim calcmode="lin" valueType="num">
                                      <p:cBhvr additive="base">
                                        <p:cTn id="22" dur="500" fill="hold"/>
                                        <p:tgtEl>
                                          <p:spTgt spid="59396">
                                            <p:txEl>
                                              <p:charRg st="11" end="3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59396">
                                            <p:txEl>
                                              <p:charRg st="11" end="30"/>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59396">
                                            <p:txEl>
                                              <p:charRg st="30" end="53"/>
                                            </p:txEl>
                                          </p:spTgt>
                                        </p:tgtEl>
                                        <p:attrNameLst>
                                          <p:attrName>style.visibility</p:attrName>
                                        </p:attrNameLst>
                                      </p:cBhvr>
                                      <p:to>
                                        <p:strVal val="visible"/>
                                      </p:to>
                                    </p:set>
                                    <p:anim calcmode="lin" valueType="num">
                                      <p:cBhvr additive="base">
                                        <p:cTn id="27" dur="500" fill="hold"/>
                                        <p:tgtEl>
                                          <p:spTgt spid="59396">
                                            <p:txEl>
                                              <p:charRg st="30" end="5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9396">
                                            <p:txEl>
                                              <p:charRg st="30" end="53"/>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59396">
                                            <p:txEl>
                                              <p:charRg st="53" end="73"/>
                                            </p:txEl>
                                          </p:spTgt>
                                        </p:tgtEl>
                                        <p:attrNameLst>
                                          <p:attrName>style.visibility</p:attrName>
                                        </p:attrNameLst>
                                      </p:cBhvr>
                                      <p:to>
                                        <p:strVal val="visible"/>
                                      </p:to>
                                    </p:set>
                                    <p:anim calcmode="lin" valueType="num">
                                      <p:cBhvr additive="base">
                                        <p:cTn id="32" dur="500" fill="hold"/>
                                        <p:tgtEl>
                                          <p:spTgt spid="59396">
                                            <p:txEl>
                                              <p:charRg st="53" end="7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59396">
                                            <p:txEl>
                                              <p:charRg st="53" end="73"/>
                                            </p:txEl>
                                          </p:spTgt>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59396">
                                            <p:txEl>
                                              <p:charRg st="73" end="92"/>
                                            </p:txEl>
                                          </p:spTgt>
                                        </p:tgtEl>
                                        <p:attrNameLst>
                                          <p:attrName>style.visibility</p:attrName>
                                        </p:attrNameLst>
                                      </p:cBhvr>
                                      <p:to>
                                        <p:strVal val="visible"/>
                                      </p:to>
                                    </p:set>
                                    <p:anim calcmode="lin" valueType="num">
                                      <p:cBhvr additive="base">
                                        <p:cTn id="37" dur="500" fill="hold"/>
                                        <p:tgtEl>
                                          <p:spTgt spid="59396">
                                            <p:txEl>
                                              <p:charRg st="73" end="9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9396">
                                            <p:txEl>
                                              <p:charRg st="73" end="92"/>
                                            </p:txEl>
                                          </p:spTgt>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grpId="0" nodeType="afterEffect">
                                  <p:stCondLst>
                                    <p:cond delay="0"/>
                                  </p:stCondLst>
                                  <p:childTnLst>
                                    <p:set>
                                      <p:cBhvr>
                                        <p:cTn id="41" dur="1" fill="hold">
                                          <p:stCondLst>
                                            <p:cond delay="0"/>
                                          </p:stCondLst>
                                        </p:cTn>
                                        <p:tgtEl>
                                          <p:spTgt spid="59396">
                                            <p:txEl>
                                              <p:charRg st="92" end="108"/>
                                            </p:txEl>
                                          </p:spTgt>
                                        </p:tgtEl>
                                        <p:attrNameLst>
                                          <p:attrName>style.visibility</p:attrName>
                                        </p:attrNameLst>
                                      </p:cBhvr>
                                      <p:to>
                                        <p:strVal val="visible"/>
                                      </p:to>
                                    </p:set>
                                    <p:anim calcmode="lin" valueType="num">
                                      <p:cBhvr additive="base">
                                        <p:cTn id="42" dur="500" fill="hold"/>
                                        <p:tgtEl>
                                          <p:spTgt spid="59396">
                                            <p:txEl>
                                              <p:charRg st="92" end="108"/>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59396">
                                            <p:txEl>
                                              <p:charRg st="92" end="108"/>
                                            </p:txEl>
                                          </p:spTgt>
                                        </p:tgtEl>
                                        <p:attrNameLst>
                                          <p:attrName>ppt_y</p:attrName>
                                        </p:attrNameLst>
                                      </p:cBhvr>
                                      <p:tavLst>
                                        <p:tav tm="0">
                                          <p:val>
                                            <p:strVal val="1+#ppt_h/2"/>
                                          </p:val>
                                        </p:tav>
                                        <p:tav tm="100000">
                                          <p:val>
                                            <p:strVal val="#ppt_y"/>
                                          </p:val>
                                        </p:tav>
                                      </p:tavLst>
                                    </p:anim>
                                  </p:childTnLst>
                                </p:cTn>
                              </p:par>
                            </p:childTnLst>
                          </p:cTn>
                        </p:par>
                        <p:par>
                          <p:cTn id="44" fill="hold">
                            <p:stCondLst>
                              <p:cond delay="4000"/>
                            </p:stCondLst>
                            <p:childTnLst>
                              <p:par>
                                <p:cTn id="45" presetID="2" presetClass="entr" presetSubtype="4" fill="hold" grpId="0" nodeType="afterEffect">
                                  <p:stCondLst>
                                    <p:cond delay="0"/>
                                  </p:stCondLst>
                                  <p:childTnLst>
                                    <p:set>
                                      <p:cBhvr>
                                        <p:cTn id="46" dur="1" fill="hold">
                                          <p:stCondLst>
                                            <p:cond delay="0"/>
                                          </p:stCondLst>
                                        </p:cTn>
                                        <p:tgtEl>
                                          <p:spTgt spid="59396">
                                            <p:txEl>
                                              <p:charRg st="108" end="130"/>
                                            </p:txEl>
                                          </p:spTgt>
                                        </p:tgtEl>
                                        <p:attrNameLst>
                                          <p:attrName>style.visibility</p:attrName>
                                        </p:attrNameLst>
                                      </p:cBhvr>
                                      <p:to>
                                        <p:strVal val="visible"/>
                                      </p:to>
                                    </p:set>
                                    <p:anim calcmode="lin" valueType="num">
                                      <p:cBhvr additive="base">
                                        <p:cTn id="47" dur="500" fill="hold"/>
                                        <p:tgtEl>
                                          <p:spTgt spid="59396">
                                            <p:txEl>
                                              <p:charRg st="108" end="13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9396">
                                            <p:txEl>
                                              <p:charRg st="108" end="13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P spid="59396" grpId="0" animBg="1" build="allAtOnce"/>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9634" name="Rectangle 7"/>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2.4.2  </a:t>
            </a:r>
            <a:r>
              <a:rPr lang="zh-CN" altLang="en-US" dirty="0">
                <a:latin typeface="Times New Roman" panose="02020503050405090304" pitchFamily="18" charset="0"/>
              </a:rPr>
              <a:t>用框架表示知识的例子</a:t>
            </a:r>
            <a:endParaRPr lang="zh-CN" altLang="en-US" dirty="0">
              <a:latin typeface="Times New Roman" panose="02020503050405090304" pitchFamily="18" charset="0"/>
            </a:endParaRPr>
          </a:p>
        </p:txBody>
      </p:sp>
      <p:graphicFrame>
        <p:nvGraphicFramePr>
          <p:cNvPr id="69635" name="Object 8"/>
          <p:cNvGraphicFramePr>
            <a:graphicFrameLocks noGrp="1" noChangeAspect="1"/>
          </p:cNvGraphicFramePr>
          <p:nvPr>
            <p:ph idx="1"/>
          </p:nvPr>
        </p:nvGraphicFramePr>
        <p:xfrm>
          <a:off x="157163" y="908050"/>
          <a:ext cx="8920162" cy="5754688"/>
        </p:xfrm>
        <a:graphic>
          <a:graphicData uri="http://schemas.openxmlformats.org/presentationml/2006/ole">
            <mc:AlternateContent xmlns:mc="http://schemas.openxmlformats.org/markup-compatibility/2006">
              <mc:Choice xmlns:v="urn:schemas-microsoft-com:vml" Requires="v">
                <p:oleObj spid="_x0000_s3115" name="" r:id="rId1" imgW="6924675" imgH="5019675" progId="Paint.Picture">
                  <p:embed/>
                </p:oleObj>
              </mc:Choice>
              <mc:Fallback>
                <p:oleObj name="" r:id="rId1" imgW="6924675" imgH="5019675" progId="Paint.Picture">
                  <p:embed/>
                  <p:pic>
                    <p:nvPicPr>
                      <p:cNvPr id="0" name="图片 3114"/>
                      <p:cNvPicPr/>
                      <p:nvPr/>
                    </p:nvPicPr>
                    <p:blipFill>
                      <a:blip r:embed="rId2"/>
                      <a:stretch>
                        <a:fillRect/>
                      </a:stretch>
                    </p:blipFill>
                    <p:spPr>
                      <a:xfrm>
                        <a:off x="157163" y="908050"/>
                        <a:ext cx="8920162" cy="5754688"/>
                      </a:xfrm>
                      <a:prstGeom prst="rect">
                        <a:avLst/>
                      </a:prstGeom>
                      <a:noFill/>
                      <a:ln w="38100">
                        <a:miter/>
                      </a:ln>
                    </p:spPr>
                  </p:pic>
                </p:oleObj>
              </mc:Fallback>
            </mc:AlternateContent>
          </a:graphicData>
        </a:graphic>
      </p:graphicFrame>
      <p:grpSp>
        <p:nvGrpSpPr>
          <p:cNvPr id="69636" name="Group 9"/>
          <p:cNvGrpSpPr/>
          <p:nvPr/>
        </p:nvGrpSpPr>
        <p:grpSpPr>
          <a:xfrm>
            <a:off x="2846388" y="957263"/>
            <a:ext cx="2960687" cy="2525712"/>
            <a:chOff x="1847" y="603"/>
            <a:chExt cx="1865" cy="1591"/>
          </a:xfrm>
        </p:grpSpPr>
        <p:sp>
          <p:nvSpPr>
            <p:cNvPr id="69637" name="Rectangle 10"/>
            <p:cNvSpPr/>
            <p:nvPr/>
          </p:nvSpPr>
          <p:spPr>
            <a:xfrm>
              <a:off x="1847" y="859"/>
              <a:ext cx="1865" cy="1335"/>
            </a:xfrm>
            <a:prstGeom prst="rect">
              <a:avLst/>
            </a:prstGeom>
            <a:noFill/>
            <a:ln w="25400" cap="flat" cmpd="sng">
              <a:solidFill>
                <a:schemeClr val="accent2"/>
              </a:solidFill>
              <a:prstDash val="solid"/>
              <a:miter/>
              <a:headEnd type="none" w="med" len="med"/>
              <a:tailEnd type="none" w="med" len="med"/>
            </a:ln>
          </p:spPr>
          <p:txBody>
            <a:bodyPr wrap="none" anchor="ctr" anchorCtr="0"/>
            <a:p>
              <a:pPr>
                <a:buClrTx/>
                <a:buFontTx/>
                <a:buNone/>
              </a:pPr>
              <a:endParaRPr lang="zh-CN" altLang="en-US" dirty="0">
                <a:latin typeface="Arial" panose="020B0604020202090204" pitchFamily="34" charset="0"/>
                <a:ea typeface="宋体" pitchFamily="2" charset="-122"/>
              </a:endParaRPr>
            </a:p>
          </p:txBody>
        </p:sp>
        <p:sp>
          <p:nvSpPr>
            <p:cNvPr id="69638" name="Rectangle 11"/>
            <p:cNvSpPr/>
            <p:nvPr/>
          </p:nvSpPr>
          <p:spPr>
            <a:xfrm>
              <a:off x="1847" y="603"/>
              <a:ext cx="777" cy="247"/>
            </a:xfrm>
            <a:prstGeom prst="rect">
              <a:avLst/>
            </a:prstGeom>
            <a:noFill/>
            <a:ln w="25400" cap="flat" cmpd="sng">
              <a:solidFill>
                <a:schemeClr val="accent2"/>
              </a:solidFill>
              <a:prstDash val="solid"/>
              <a:miter/>
              <a:headEnd type="none" w="med" len="med"/>
              <a:tailEnd type="none" w="med" len="med"/>
            </a:ln>
          </p:spPr>
          <p:txBody>
            <a:bodyPr wrap="none" anchor="ctr" anchorCtr="0"/>
            <a:p>
              <a:pPr>
                <a:buClrTx/>
                <a:buFontTx/>
                <a:buNone/>
              </a:pPr>
              <a:endParaRPr lang="zh-CN" altLang="en-US" dirty="0">
                <a:latin typeface="Arial" panose="020B0604020202090204" pitchFamily="34" charset="0"/>
                <a:ea typeface="宋体" pitchFamily="2" charset="-122"/>
              </a:endParaRPr>
            </a:p>
          </p:txBody>
        </p:sp>
      </p:grpSp>
    </p:spTree>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0658"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2.4.3  </a:t>
            </a:r>
            <a:r>
              <a:rPr lang="zh-CN" altLang="en-US" dirty="0">
                <a:latin typeface="Times New Roman" panose="02020503050405090304" pitchFamily="18" charset="0"/>
              </a:rPr>
              <a:t>框架表示法的特点</a:t>
            </a:r>
            <a:endParaRPr lang="zh-CN" altLang="en-US" dirty="0">
              <a:latin typeface="Times New Roman" panose="02020503050405090304" pitchFamily="18" charset="0"/>
            </a:endParaRPr>
          </a:p>
        </p:txBody>
      </p:sp>
      <p:sp>
        <p:nvSpPr>
          <p:cNvPr id="70659" name="Rectangle 3"/>
          <p:cNvSpPr>
            <a:spLocks noGrp="1"/>
          </p:cNvSpPr>
          <p:nvPr>
            <p:ph idx="1"/>
          </p:nvPr>
        </p:nvSpPr>
        <p:spPr>
          <a:xfrm>
            <a:off x="250825" y="996950"/>
            <a:ext cx="8642350" cy="5400675"/>
          </a:xfrm>
        </p:spPr>
        <p:txBody>
          <a:bodyPr vert="horz" wrap="square" lIns="91440" tIns="45720" rIns="91440" bIns="45720" anchor="t" anchorCtr="0"/>
          <a:p>
            <a:pPr marL="381000" indent="-381000" algn="just" eaLnBrk="1" hangingPunct="1">
              <a:buNone/>
            </a:pPr>
            <a:r>
              <a:rPr lang="zh-CN" altLang="en-US" b="1" dirty="0">
                <a:latin typeface="Times New Roman" panose="02020503050405090304" pitchFamily="18" charset="0"/>
              </a:rPr>
              <a:t>（</a:t>
            </a:r>
            <a:r>
              <a:rPr lang="en-US" altLang="zh-CN" b="1" dirty="0">
                <a:latin typeface="Times New Roman" panose="02020503050405090304" pitchFamily="18" charset="0"/>
              </a:rPr>
              <a:t>1</a:t>
            </a:r>
            <a:r>
              <a:rPr lang="zh-CN" altLang="en-US" b="1" dirty="0">
                <a:latin typeface="Times New Roman" panose="02020503050405090304" pitchFamily="18" charset="0"/>
              </a:rPr>
              <a:t>） </a:t>
            </a:r>
            <a:r>
              <a:rPr lang="zh-CN" altLang="en-US" b="1" dirty="0">
                <a:solidFill>
                  <a:srgbClr val="0000FF"/>
                </a:solidFill>
                <a:latin typeface="Times New Roman" panose="02020503050405090304" pitchFamily="18" charset="0"/>
              </a:rPr>
              <a:t>结构性 </a:t>
            </a:r>
            <a:endParaRPr lang="zh-CN" altLang="en-US" b="1" dirty="0">
              <a:solidFill>
                <a:srgbClr val="0000FF"/>
              </a:solidFill>
              <a:latin typeface="Times New Roman" panose="02020503050405090304" pitchFamily="18" charset="0"/>
            </a:endParaRPr>
          </a:p>
          <a:p>
            <a:pPr marL="381000" indent="-381000" algn="just" eaLnBrk="1" hangingPunct="1">
              <a:buNone/>
            </a:pPr>
            <a:r>
              <a:rPr lang="zh-CN" altLang="en-US" sz="2600" b="1" dirty="0">
                <a:latin typeface="Times New Roman" panose="02020503050405090304" pitchFamily="18" charset="0"/>
              </a:rPr>
              <a:t>          便于表达结构性知识，能够将知识的内部结构关系及知识间的联系表示出来。</a:t>
            </a:r>
            <a:r>
              <a:rPr lang="zh-CN" altLang="en-US" sz="3000" b="1" dirty="0">
                <a:latin typeface="Times New Roman" panose="02020503050405090304" pitchFamily="18" charset="0"/>
              </a:rPr>
              <a:t> </a:t>
            </a:r>
            <a:endParaRPr lang="zh-CN" altLang="en-US" sz="3000" b="1" dirty="0">
              <a:latin typeface="Times New Roman" panose="02020503050405090304" pitchFamily="18" charset="0"/>
            </a:endParaRPr>
          </a:p>
          <a:p>
            <a:pPr marL="381000" indent="-381000" algn="just" eaLnBrk="1" hangingPunct="1">
              <a:buNone/>
            </a:pPr>
            <a:r>
              <a:rPr lang="zh-CN" altLang="en-US" b="1" dirty="0">
                <a:latin typeface="Times New Roman" panose="02020503050405090304" pitchFamily="18" charset="0"/>
              </a:rPr>
              <a:t>（</a:t>
            </a:r>
            <a:r>
              <a:rPr lang="en-US" altLang="zh-CN" b="1" dirty="0">
                <a:latin typeface="Times New Roman" panose="02020503050405090304" pitchFamily="18" charset="0"/>
              </a:rPr>
              <a:t>2</a:t>
            </a:r>
            <a:r>
              <a:rPr lang="zh-CN" altLang="en-US" b="1" dirty="0">
                <a:latin typeface="Times New Roman" panose="02020503050405090304" pitchFamily="18" charset="0"/>
              </a:rPr>
              <a:t>）</a:t>
            </a:r>
            <a:r>
              <a:rPr lang="zh-CN" altLang="en-US" b="1" dirty="0">
                <a:solidFill>
                  <a:srgbClr val="0000FF"/>
                </a:solidFill>
                <a:latin typeface="Times New Roman" panose="02020503050405090304" pitchFamily="18" charset="0"/>
              </a:rPr>
              <a:t>继承性 </a:t>
            </a:r>
            <a:endParaRPr lang="zh-CN" altLang="en-US" b="1" dirty="0">
              <a:solidFill>
                <a:srgbClr val="0000FF"/>
              </a:solidFill>
              <a:latin typeface="Times New Roman" panose="02020503050405090304" pitchFamily="18" charset="0"/>
            </a:endParaRPr>
          </a:p>
          <a:p>
            <a:pPr marL="381000" indent="-381000" algn="just" eaLnBrk="1" hangingPunct="1">
              <a:buNone/>
            </a:pPr>
            <a:r>
              <a:rPr lang="zh-CN" altLang="en-US" sz="2600" b="1" dirty="0">
                <a:latin typeface="Times New Roman" panose="02020503050405090304" pitchFamily="18" charset="0"/>
              </a:rPr>
              <a:t>          框架网络中，下层框架可以继承上层框架的槽值，也可以进行补充和修改。</a:t>
            </a:r>
            <a:r>
              <a:rPr lang="zh-CN" altLang="en-US" sz="3000" b="1" dirty="0">
                <a:latin typeface="Times New Roman" panose="02020503050405090304" pitchFamily="18" charset="0"/>
              </a:rPr>
              <a:t>  </a:t>
            </a:r>
            <a:endParaRPr lang="zh-CN" altLang="en-US" sz="3000" b="1" dirty="0">
              <a:latin typeface="Times New Roman" panose="02020503050405090304" pitchFamily="18" charset="0"/>
            </a:endParaRPr>
          </a:p>
          <a:p>
            <a:pPr marL="381000" indent="-381000" algn="just" eaLnBrk="1" hangingPunct="1">
              <a:buNone/>
            </a:pPr>
            <a:r>
              <a:rPr lang="zh-CN" altLang="en-US" b="1" dirty="0">
                <a:latin typeface="Times New Roman" panose="02020503050405090304" pitchFamily="18" charset="0"/>
              </a:rPr>
              <a:t>（</a:t>
            </a:r>
            <a:r>
              <a:rPr lang="en-US" altLang="zh-CN" b="1" dirty="0">
                <a:latin typeface="Times New Roman" panose="02020503050405090304" pitchFamily="18" charset="0"/>
              </a:rPr>
              <a:t>3</a:t>
            </a:r>
            <a:r>
              <a:rPr lang="zh-CN" altLang="en-US" b="1" dirty="0">
                <a:latin typeface="Times New Roman" panose="02020503050405090304" pitchFamily="18" charset="0"/>
              </a:rPr>
              <a:t>）</a:t>
            </a:r>
            <a:r>
              <a:rPr lang="zh-CN" altLang="en-US" b="1" dirty="0">
                <a:solidFill>
                  <a:srgbClr val="0000FF"/>
                </a:solidFill>
                <a:latin typeface="Times New Roman" panose="02020503050405090304" pitchFamily="18" charset="0"/>
              </a:rPr>
              <a:t>自然性 </a:t>
            </a:r>
            <a:endParaRPr lang="zh-CN" altLang="en-US" b="1" dirty="0">
              <a:solidFill>
                <a:srgbClr val="0000FF"/>
              </a:solidFill>
              <a:latin typeface="Times New Roman" panose="02020503050405090304" pitchFamily="18" charset="0"/>
            </a:endParaRPr>
          </a:p>
          <a:p>
            <a:pPr marL="381000" indent="-381000" algn="just" eaLnBrk="1" hangingPunct="1">
              <a:buNone/>
            </a:pPr>
            <a:r>
              <a:rPr lang="zh-CN" altLang="en-US" sz="3200" b="1" dirty="0">
                <a:latin typeface="Times New Roman" panose="02020503050405090304" pitchFamily="18" charset="0"/>
              </a:rPr>
              <a:t>        </a:t>
            </a:r>
            <a:r>
              <a:rPr lang="zh-CN" altLang="en-US" sz="2600" b="1" dirty="0">
                <a:latin typeface="Times New Roman" panose="02020503050405090304" pitchFamily="18" charset="0"/>
              </a:rPr>
              <a:t>框架表示法与人在观察事物</a:t>
            </a:r>
            <a:r>
              <a:rPr lang="zh-CN" altLang="en-US" sz="2600" b="1" dirty="0"/>
              <a:t>时的思维活动是一致的。</a:t>
            </a:r>
            <a:endParaRPr lang="zh-CN" altLang="en-US" sz="2600" b="1" dirty="0"/>
          </a:p>
        </p:txBody>
      </p:sp>
    </p:spTree>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1682" name="Rectangle 2"/>
          <p:cNvSpPr>
            <a:spLocks noGrp="1"/>
          </p:cNvSpPr>
          <p:nvPr>
            <p:ph type="title"/>
          </p:nvPr>
        </p:nvSpPr>
        <p:spPr/>
        <p:txBody>
          <a:bodyPr vert="horz" wrap="square" lIns="91440" tIns="45720" rIns="91440" bIns="45720" anchor="b" anchorCtr="0"/>
          <a:p>
            <a:pPr eaLnBrk="1" hangingPunct="1"/>
            <a:r>
              <a:rPr lang="zh-CN" altLang="en-US" dirty="0">
                <a:latin typeface="Times New Roman" panose="02020503050405090304" pitchFamily="18" charset="0"/>
              </a:rPr>
              <a:t>第</a:t>
            </a:r>
            <a:r>
              <a:rPr lang="en-US" altLang="zh-CN" dirty="0">
                <a:latin typeface="Times New Roman" panose="02020503050405090304" pitchFamily="18" charset="0"/>
              </a:rPr>
              <a:t>2</a:t>
            </a:r>
            <a:r>
              <a:rPr lang="zh-CN" altLang="en-US" dirty="0">
                <a:latin typeface="Times New Roman" panose="02020503050405090304" pitchFamily="18" charset="0"/>
              </a:rPr>
              <a:t>章  知识表示与知识图谱</a:t>
            </a:r>
            <a:endParaRPr lang="zh-CN" altLang="en-US" dirty="0">
              <a:latin typeface="Times New Roman" panose="02020503050405090304" pitchFamily="18" charset="0"/>
            </a:endParaRPr>
          </a:p>
        </p:txBody>
      </p:sp>
      <p:sp>
        <p:nvSpPr>
          <p:cNvPr id="71683" name="Rectangle 3"/>
          <p:cNvSpPr>
            <a:spLocks noGrp="1"/>
          </p:cNvSpPr>
          <p:nvPr>
            <p:ph idx="1"/>
          </p:nvPr>
        </p:nvSpPr>
        <p:spPr>
          <a:xfrm>
            <a:off x="468313" y="908050"/>
            <a:ext cx="8424862" cy="5400675"/>
          </a:xfrm>
        </p:spPr>
        <p:txBody>
          <a:bodyPr vert="horz" wrap="square" lIns="91440" tIns="45720" rIns="91440" bIns="45720" anchor="t" anchorCtr="0"/>
          <a:p>
            <a:pPr eaLnBrk="1" hangingPunct="1">
              <a:lnSpc>
                <a:spcPct val="160000"/>
              </a:lnSpc>
            </a:pPr>
            <a:r>
              <a:rPr lang="en-US" altLang="zh-CN" b="1" dirty="0">
                <a:latin typeface="Times New Roman" panose="02020503050405090304" pitchFamily="18" charset="0"/>
              </a:rPr>
              <a:t>2.1  </a:t>
            </a:r>
            <a:r>
              <a:rPr lang="zh-CN" altLang="en-US" b="1" dirty="0">
                <a:latin typeface="Times New Roman" panose="02020503050405090304" pitchFamily="18" charset="0"/>
              </a:rPr>
              <a:t>知识与知识表示的概念 </a:t>
            </a:r>
            <a:endParaRPr lang="zh-CN" altLang="en-US" b="1" dirty="0">
              <a:latin typeface="Times New Roman" panose="02020503050405090304" pitchFamily="18" charset="0"/>
            </a:endParaRPr>
          </a:p>
          <a:p>
            <a:pPr eaLnBrk="1" hangingPunct="1">
              <a:lnSpc>
                <a:spcPct val="160000"/>
              </a:lnSpc>
            </a:pPr>
            <a:r>
              <a:rPr lang="en-US" altLang="zh-CN" b="1" dirty="0">
                <a:latin typeface="Times New Roman" panose="02020503050405090304" pitchFamily="18" charset="0"/>
              </a:rPr>
              <a:t>2.2  </a:t>
            </a:r>
            <a:r>
              <a:rPr lang="zh-CN" altLang="en-US" b="1" dirty="0">
                <a:latin typeface="Times New Roman" panose="02020503050405090304" pitchFamily="18" charset="0"/>
              </a:rPr>
              <a:t>一阶谓词逻辑表示法 </a:t>
            </a:r>
            <a:endParaRPr lang="zh-CN" altLang="en-US" b="1" dirty="0">
              <a:latin typeface="Times New Roman" panose="02020503050405090304" pitchFamily="18" charset="0"/>
            </a:endParaRPr>
          </a:p>
          <a:p>
            <a:pPr eaLnBrk="1" hangingPunct="1">
              <a:lnSpc>
                <a:spcPct val="160000"/>
              </a:lnSpc>
            </a:pPr>
            <a:r>
              <a:rPr lang="en-US" altLang="zh-CN" b="1" dirty="0">
                <a:latin typeface="Times New Roman" panose="02020503050405090304" pitchFamily="18" charset="0"/>
              </a:rPr>
              <a:t>2.3  </a:t>
            </a:r>
            <a:r>
              <a:rPr lang="zh-CN" altLang="en-US" b="1" dirty="0">
                <a:latin typeface="Times New Roman" panose="02020503050405090304" pitchFamily="18" charset="0"/>
              </a:rPr>
              <a:t>产生式表示法</a:t>
            </a:r>
            <a:endParaRPr lang="en-US" altLang="zh-CN" b="1" dirty="0">
              <a:latin typeface="Times New Roman" panose="02020503050405090304" pitchFamily="18" charset="0"/>
            </a:endParaRPr>
          </a:p>
          <a:p>
            <a:pPr eaLnBrk="1" hangingPunct="1">
              <a:lnSpc>
                <a:spcPct val="160000"/>
              </a:lnSpc>
            </a:pPr>
            <a:r>
              <a:rPr lang="zh-CN" altLang="en-US" b="1" dirty="0">
                <a:latin typeface="Times New Roman" panose="02020503050405090304" pitchFamily="18" charset="0"/>
              </a:rPr>
              <a:t> </a:t>
            </a:r>
            <a:r>
              <a:rPr lang="en-US" altLang="zh-CN" b="1" dirty="0">
                <a:latin typeface="Times New Roman" panose="02020503050405090304" pitchFamily="18" charset="0"/>
              </a:rPr>
              <a:t>2.4  </a:t>
            </a:r>
            <a:r>
              <a:rPr lang="zh-CN" altLang="en-US" b="1" dirty="0">
                <a:latin typeface="Times New Roman" panose="02020503050405090304" pitchFamily="18" charset="0"/>
              </a:rPr>
              <a:t>框架表示法 </a:t>
            </a:r>
            <a:endParaRPr lang="en-US" altLang="zh-CN" b="1" dirty="0">
              <a:latin typeface="Times New Roman" panose="02020503050405090304" pitchFamily="18" charset="0"/>
            </a:endParaRPr>
          </a:p>
          <a:p>
            <a:pPr eaLnBrk="1" hangingPunct="1">
              <a:lnSpc>
                <a:spcPct val="160000"/>
              </a:lnSpc>
            </a:pPr>
            <a:r>
              <a:rPr lang="en-US" altLang="zh-CN" b="1" dirty="0">
                <a:solidFill>
                  <a:srgbClr val="0000FF"/>
                </a:solidFill>
                <a:latin typeface="Times New Roman" panose="02020503050405090304" pitchFamily="18" charset="0"/>
              </a:rPr>
              <a:t>2.5  </a:t>
            </a:r>
            <a:r>
              <a:rPr lang="zh-CN" altLang="en-US" b="1" dirty="0">
                <a:solidFill>
                  <a:srgbClr val="0000FF"/>
                </a:solidFill>
                <a:latin typeface="Times New Roman" panose="02020503050405090304" pitchFamily="18" charset="0"/>
              </a:rPr>
              <a:t>知识图谱 </a:t>
            </a:r>
            <a:endParaRPr lang="zh-CN" altLang="en-US" b="1" dirty="0">
              <a:solidFill>
                <a:srgbClr val="0000FF"/>
              </a:solidFill>
              <a:latin typeface="Times New Roman" panose="02020503050405090304" pitchFamily="18" charset="0"/>
            </a:endParaRPr>
          </a:p>
          <a:p>
            <a:pPr eaLnBrk="1" hangingPunct="1">
              <a:lnSpc>
                <a:spcPct val="160000"/>
              </a:lnSpc>
            </a:pPr>
            <a:endParaRPr lang="zh-CN" altLang="en-US" b="1" dirty="0">
              <a:latin typeface="Times New Roman" panose="02020503050405090304" pitchFamily="18" charset="0"/>
            </a:endParaRPr>
          </a:p>
          <a:p>
            <a:pPr eaLnBrk="1" hangingPunct="1">
              <a:lnSpc>
                <a:spcPct val="160000"/>
              </a:lnSpc>
              <a:buClr>
                <a:srgbClr val="0000FF"/>
              </a:buClr>
              <a:buSzPct val="150000"/>
              <a:buFont typeface="Wingdings" panose="05000000000000000000" pitchFamily="2" charset="2"/>
              <a:buChar char="ü"/>
            </a:pPr>
            <a:endParaRPr lang="zh-CN" altLang="en-US" b="1" dirty="0">
              <a:solidFill>
                <a:srgbClr val="0000FF"/>
              </a:solidFill>
              <a:latin typeface="Times New Roman" panose="02020503050405090304" pitchFamily="18" charset="0"/>
            </a:endParaRPr>
          </a:p>
        </p:txBody>
      </p:sp>
    </p:spTree>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2706"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2.6  </a:t>
            </a:r>
            <a:r>
              <a:rPr lang="zh-CN" altLang="en-US" dirty="0">
                <a:latin typeface="Times New Roman" panose="02020503050405090304" pitchFamily="18" charset="0"/>
              </a:rPr>
              <a:t>知识图谱</a:t>
            </a:r>
            <a:endParaRPr lang="zh-CN" altLang="en-US" dirty="0">
              <a:latin typeface="Times New Roman" panose="02020503050405090304" pitchFamily="18" charset="0"/>
            </a:endParaRPr>
          </a:p>
        </p:txBody>
      </p:sp>
      <p:sp>
        <p:nvSpPr>
          <p:cNvPr id="72707" name="Rectangle 3"/>
          <p:cNvSpPr>
            <a:spLocks noGrp="1"/>
          </p:cNvSpPr>
          <p:nvPr>
            <p:ph idx="1"/>
          </p:nvPr>
        </p:nvSpPr>
        <p:spPr>
          <a:xfrm>
            <a:off x="393700" y="1122363"/>
            <a:ext cx="8410575" cy="5181600"/>
          </a:xfrm>
        </p:spPr>
        <p:txBody>
          <a:bodyPr vert="horz" wrap="square" lIns="91440" tIns="45720" rIns="91440" bIns="45720" anchor="t" anchorCtr="0"/>
          <a:p>
            <a:pPr algn="just" eaLnBrk="1" hangingPunct="1"/>
            <a:r>
              <a:rPr lang="zh-CN" altLang="zh-CN" sz="2600" b="1" dirty="0">
                <a:latin typeface="Times New Roman" panose="02020503050405090304" pitchFamily="18" charset="0"/>
              </a:rPr>
              <a:t>由于互联网内容的大规模、异质多元、组织结构松散的特点，给人们有效获取信息和知识提出了挑战。</a:t>
            </a:r>
            <a:endParaRPr lang="en-US" altLang="zh-CN" sz="2600" b="1" dirty="0">
              <a:latin typeface="Times New Roman" panose="02020503050405090304" pitchFamily="18" charset="0"/>
            </a:endParaRPr>
          </a:p>
          <a:p>
            <a:pPr algn="just" eaLnBrk="1" hangingPunct="1"/>
            <a:r>
              <a:rPr lang="zh-CN" altLang="zh-CN" sz="2600" b="1" dirty="0">
                <a:latin typeface="Times New Roman" panose="02020503050405090304" pitchFamily="18" charset="0"/>
              </a:rPr>
              <a:t>谷歌于</a:t>
            </a:r>
            <a:r>
              <a:rPr lang="en-US" altLang="zh-CN" sz="2600" b="1" dirty="0">
                <a:latin typeface="Times New Roman" panose="02020503050405090304" pitchFamily="18" charset="0"/>
              </a:rPr>
              <a:t>2012</a:t>
            </a:r>
            <a:r>
              <a:rPr lang="zh-CN" altLang="zh-CN" sz="2600" b="1" dirty="0">
                <a:latin typeface="Times New Roman" panose="02020503050405090304" pitchFamily="18" charset="0"/>
              </a:rPr>
              <a:t>年</a:t>
            </a:r>
            <a:r>
              <a:rPr lang="en-US" altLang="zh-CN" sz="2600" b="1" dirty="0">
                <a:latin typeface="Times New Roman" panose="02020503050405090304" pitchFamily="18" charset="0"/>
              </a:rPr>
              <a:t>5</a:t>
            </a:r>
            <a:r>
              <a:rPr lang="zh-CN" altLang="zh-CN" sz="2600" b="1" dirty="0">
                <a:latin typeface="Times New Roman" panose="02020503050405090304" pitchFamily="18" charset="0"/>
              </a:rPr>
              <a:t>月</a:t>
            </a:r>
            <a:r>
              <a:rPr lang="en-US" altLang="zh-CN" sz="2600" b="1" dirty="0">
                <a:latin typeface="Times New Roman" panose="02020503050405090304" pitchFamily="18" charset="0"/>
              </a:rPr>
              <a:t>16</a:t>
            </a:r>
            <a:r>
              <a:rPr lang="zh-CN" altLang="zh-CN" sz="2600" b="1" dirty="0">
                <a:latin typeface="Times New Roman" panose="02020503050405090304" pitchFamily="18" charset="0"/>
              </a:rPr>
              <a:t>日首先发布了知识图谱（</a:t>
            </a:r>
            <a:r>
              <a:rPr lang="en-US" altLang="zh-CN" sz="2600" b="1" dirty="0">
                <a:latin typeface="Times New Roman" panose="02020503050405090304" pitchFamily="18" charset="0"/>
              </a:rPr>
              <a:t>Knowledge Graph</a:t>
            </a:r>
            <a:r>
              <a:rPr lang="zh-CN" altLang="zh-CN" sz="2600" b="1" dirty="0">
                <a:latin typeface="Times New Roman" panose="02020503050405090304" pitchFamily="18" charset="0"/>
              </a:rPr>
              <a:t>）。</a:t>
            </a:r>
            <a:endParaRPr lang="zh-CN" altLang="en-US" sz="2600" b="1" dirty="0">
              <a:latin typeface="Times New Roman" panose="02020503050405090304" pitchFamily="18" charset="0"/>
            </a:endParaRPr>
          </a:p>
          <a:p>
            <a:pPr algn="just" eaLnBrk="1" hangingPunct="1"/>
            <a:r>
              <a:rPr lang="zh-CN" altLang="zh-CN" sz="2600" b="1" dirty="0">
                <a:solidFill>
                  <a:srgbClr val="0000FF"/>
                </a:solidFill>
                <a:latin typeface="Times New Roman" panose="02020503050405090304" pitchFamily="18" charset="0"/>
              </a:rPr>
              <a:t>知识图谱是一种互联网环境下的知识表示方法。</a:t>
            </a:r>
            <a:endParaRPr lang="en-US" altLang="zh-CN" sz="2600" b="1" dirty="0">
              <a:solidFill>
                <a:srgbClr val="0000FF"/>
              </a:solidFill>
              <a:latin typeface="Times New Roman" panose="02020503050405090304" pitchFamily="18" charset="0"/>
            </a:endParaRPr>
          </a:p>
          <a:p>
            <a:pPr algn="just" eaLnBrk="1" hangingPunct="1"/>
            <a:r>
              <a:rPr lang="zh-CN" altLang="zh-CN" sz="2600" b="1" dirty="0">
                <a:latin typeface="Times New Roman" panose="02020503050405090304" pitchFamily="18" charset="0"/>
              </a:rPr>
              <a:t>知识图谱的目的是为了提高搜索引擎的能力，改善用户的搜索质量以及搜索体验。</a:t>
            </a:r>
            <a:endParaRPr lang="en-US" altLang="zh-CN" sz="2600" b="1" dirty="0">
              <a:latin typeface="Times New Roman" panose="02020503050405090304" pitchFamily="18" charset="0"/>
            </a:endParaRPr>
          </a:p>
          <a:p>
            <a:pPr algn="just" eaLnBrk="1" hangingPunct="1"/>
            <a:r>
              <a:rPr lang="en-US" altLang="zh-CN" sz="2600" b="1" dirty="0">
                <a:latin typeface="Times New Roman" panose="02020503050405090304" pitchFamily="18" charset="0"/>
              </a:rPr>
              <a:t>Google</a:t>
            </a:r>
            <a:r>
              <a:rPr lang="zh-CN" altLang="zh-CN" sz="2600" b="1" dirty="0">
                <a:latin typeface="Times New Roman" panose="02020503050405090304" pitchFamily="18" charset="0"/>
              </a:rPr>
              <a:t>、百度和搜狗等搜索引擎公司构建</a:t>
            </a:r>
            <a:r>
              <a:rPr lang="zh-CN" altLang="en-US" sz="2600" b="1" dirty="0">
                <a:latin typeface="Times New Roman" panose="02020503050405090304" pitchFamily="18" charset="0"/>
              </a:rPr>
              <a:t>的</a:t>
            </a:r>
            <a:r>
              <a:rPr lang="zh-CN" altLang="zh-CN" sz="2600" b="1" dirty="0">
                <a:latin typeface="Times New Roman" panose="02020503050405090304" pitchFamily="18" charset="0"/>
              </a:rPr>
              <a:t>知识图谱，分别称为知识图谱、知心和知立方。</a:t>
            </a:r>
            <a:endParaRPr lang="zh-CN" altLang="en-US" sz="2600" b="1" dirty="0">
              <a:latin typeface="Times New Roman" panose="02020503050405090304" pitchFamily="18" charset="0"/>
              <a:ea typeface="Times New Roman" panose="02020503050405090304" pitchFamily="18" charset="0"/>
            </a:endParaRPr>
          </a:p>
        </p:txBody>
      </p:sp>
    </p:spTree>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3730"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2.5.2</a:t>
            </a:r>
            <a:r>
              <a:rPr lang="zh-CN" altLang="zh-CN" dirty="0">
                <a:latin typeface="Times New Roman" panose="02020503050405090304" pitchFamily="18" charset="0"/>
              </a:rPr>
              <a:t>知识图谱的定义</a:t>
            </a:r>
            <a:endParaRPr lang="zh-CN" altLang="en-US" dirty="0">
              <a:latin typeface="Times New Roman" panose="02020503050405090304" pitchFamily="18" charset="0"/>
            </a:endParaRPr>
          </a:p>
        </p:txBody>
      </p:sp>
      <p:sp>
        <p:nvSpPr>
          <p:cNvPr id="73731" name="Rectangle 3"/>
          <p:cNvSpPr>
            <a:spLocks noGrp="1"/>
          </p:cNvSpPr>
          <p:nvPr>
            <p:ph idx="1"/>
          </p:nvPr>
        </p:nvSpPr>
        <p:spPr>
          <a:xfrm>
            <a:off x="393700" y="1122363"/>
            <a:ext cx="8410575" cy="5181600"/>
          </a:xfrm>
        </p:spPr>
        <p:txBody>
          <a:bodyPr vert="horz" wrap="square" lIns="91440" tIns="45720" rIns="91440" bIns="45720" anchor="t" anchorCtr="0"/>
          <a:p>
            <a:pPr algn="just" eaLnBrk="1" hangingPunct="1"/>
            <a:r>
              <a:rPr lang="zh-CN" altLang="zh-CN" sz="2600" b="1" dirty="0">
                <a:solidFill>
                  <a:srgbClr val="0000FF"/>
                </a:solidFill>
                <a:latin typeface="Times New Roman" panose="02020503050405090304" pitchFamily="18" charset="0"/>
              </a:rPr>
              <a:t>知识图谱（</a:t>
            </a:r>
            <a:r>
              <a:rPr lang="en-US" altLang="zh-CN" sz="2600" b="1" dirty="0">
                <a:solidFill>
                  <a:srgbClr val="0000FF"/>
                </a:solidFill>
                <a:latin typeface="Times New Roman" panose="02020503050405090304" pitchFamily="18" charset="0"/>
              </a:rPr>
              <a:t>Knowledge Graph/Vault</a:t>
            </a:r>
            <a:r>
              <a:rPr lang="zh-CN" altLang="zh-CN" sz="2600" b="1" dirty="0">
                <a:solidFill>
                  <a:srgbClr val="0000FF"/>
                </a:solidFill>
                <a:latin typeface="Times New Roman" panose="02020503050405090304" pitchFamily="18" charset="0"/>
              </a:rPr>
              <a:t>），又称科学知识图谱，用各种不同的图形等</a:t>
            </a:r>
            <a:r>
              <a:rPr lang="en-US" altLang="zh-CN" sz="2600" b="1" dirty="0">
                <a:solidFill>
                  <a:srgbClr val="0000FF"/>
                </a:solidFill>
                <a:latin typeface="Times New Roman" panose="02020503050405090304" pitchFamily="18" charset="0"/>
              </a:rPr>
              <a:t>可视化技术</a:t>
            </a:r>
            <a:r>
              <a:rPr lang="zh-CN" altLang="zh-CN" sz="2600" b="1" dirty="0">
                <a:solidFill>
                  <a:srgbClr val="0000FF"/>
                </a:solidFill>
                <a:latin typeface="Times New Roman" panose="02020503050405090304" pitchFamily="18" charset="0"/>
              </a:rPr>
              <a:t>描述</a:t>
            </a:r>
            <a:r>
              <a:rPr lang="en-US" altLang="zh-CN" sz="2600" b="1" dirty="0">
                <a:solidFill>
                  <a:srgbClr val="0000FF"/>
                </a:solidFill>
                <a:latin typeface="Times New Roman" panose="02020503050405090304" pitchFamily="18" charset="0"/>
              </a:rPr>
              <a:t>知识资源</a:t>
            </a:r>
            <a:r>
              <a:rPr lang="zh-CN" altLang="zh-CN" sz="2600" b="1" dirty="0">
                <a:solidFill>
                  <a:srgbClr val="0000FF"/>
                </a:solidFill>
                <a:latin typeface="Times New Roman" panose="02020503050405090304" pitchFamily="18" charset="0"/>
              </a:rPr>
              <a:t>及其载体，挖掘、分析、</a:t>
            </a:r>
            <a:r>
              <a:rPr lang="en-US" altLang="zh-CN" sz="2600" b="1" dirty="0">
                <a:solidFill>
                  <a:srgbClr val="0000FF"/>
                </a:solidFill>
                <a:latin typeface="Times New Roman" panose="02020503050405090304" pitchFamily="18" charset="0"/>
              </a:rPr>
              <a:t>构建</a:t>
            </a:r>
            <a:r>
              <a:rPr lang="zh-CN" altLang="zh-CN" sz="2600" b="1" dirty="0">
                <a:solidFill>
                  <a:srgbClr val="0000FF"/>
                </a:solidFill>
                <a:latin typeface="Times New Roman" panose="02020503050405090304" pitchFamily="18" charset="0"/>
              </a:rPr>
              <a:t>、绘制和显示知识及它们之间的相互联系。</a:t>
            </a:r>
            <a:endParaRPr lang="zh-CN" altLang="zh-CN" sz="2600" b="1" dirty="0">
              <a:solidFill>
                <a:srgbClr val="0000FF"/>
              </a:solidFill>
              <a:latin typeface="Times New Roman" panose="02020503050405090304" pitchFamily="18" charset="0"/>
            </a:endParaRPr>
          </a:p>
          <a:p>
            <a:pPr algn="just" eaLnBrk="1" hangingPunct="1"/>
            <a:r>
              <a:rPr lang="zh-CN" altLang="zh-CN" sz="2600" b="1" dirty="0">
                <a:latin typeface="Times New Roman" panose="02020503050405090304" pitchFamily="18" charset="0"/>
              </a:rPr>
              <a:t>知识图谱是由一些相互连接的实体及其属性构成的。</a:t>
            </a:r>
            <a:endParaRPr lang="zh-CN" altLang="en-US" sz="2600" b="1" dirty="0">
              <a:latin typeface="Times New Roman" panose="02020503050405090304" pitchFamily="18" charset="0"/>
            </a:endParaRPr>
          </a:p>
          <a:p>
            <a:pPr algn="just" eaLnBrk="1" hangingPunct="1"/>
            <a:r>
              <a:rPr lang="zh-CN" altLang="zh-CN" sz="2600" b="1" dirty="0">
                <a:latin typeface="Times New Roman" panose="02020503050405090304" pitchFamily="18" charset="0"/>
              </a:rPr>
              <a:t>三元组是知识图谱的一种通用表示方式</a:t>
            </a:r>
            <a:r>
              <a:rPr lang="zh-CN" altLang="en-US" sz="2600" b="1" dirty="0">
                <a:latin typeface="Times New Roman" panose="02020503050405090304" pitchFamily="18" charset="0"/>
              </a:rPr>
              <a:t>：</a:t>
            </a:r>
            <a:endParaRPr lang="en-US" altLang="zh-CN" sz="2600" b="1" dirty="0">
              <a:latin typeface="Times New Roman" panose="02020503050405090304" pitchFamily="18" charset="0"/>
            </a:endParaRPr>
          </a:p>
          <a:p>
            <a:pPr algn="ctr" eaLnBrk="1" hangingPunct="1">
              <a:buNone/>
            </a:pPr>
            <a:r>
              <a:rPr lang="en-US" altLang="zh-CN" sz="2600" b="1" dirty="0">
                <a:solidFill>
                  <a:srgbClr val="0000FF"/>
                </a:solidFill>
                <a:latin typeface="Times New Roman" panose="02020503050405090304" pitchFamily="18" charset="0"/>
              </a:rPr>
              <a:t>(</a:t>
            </a:r>
            <a:r>
              <a:rPr lang="zh-CN" altLang="zh-CN" sz="2600" b="1" dirty="0">
                <a:solidFill>
                  <a:srgbClr val="0000FF"/>
                </a:solidFill>
                <a:latin typeface="Times New Roman" panose="02020503050405090304" pitchFamily="18" charset="0"/>
              </a:rPr>
              <a:t>实体</a:t>
            </a:r>
            <a:r>
              <a:rPr lang="en-US" altLang="zh-CN" sz="2600" b="1" dirty="0">
                <a:solidFill>
                  <a:srgbClr val="0000FF"/>
                </a:solidFill>
                <a:latin typeface="Times New Roman" panose="02020503050405090304" pitchFamily="18" charset="0"/>
              </a:rPr>
              <a:t>1-</a:t>
            </a:r>
            <a:r>
              <a:rPr lang="zh-CN" altLang="zh-CN" sz="2600" b="1" dirty="0">
                <a:solidFill>
                  <a:srgbClr val="0000FF"/>
                </a:solidFill>
                <a:latin typeface="Times New Roman" panose="02020503050405090304" pitchFamily="18" charset="0"/>
              </a:rPr>
              <a:t>关系</a:t>
            </a:r>
            <a:r>
              <a:rPr lang="en-US" altLang="zh-CN" sz="2600" b="1" dirty="0">
                <a:solidFill>
                  <a:srgbClr val="0000FF"/>
                </a:solidFill>
                <a:latin typeface="Times New Roman" panose="02020503050405090304" pitchFamily="18" charset="0"/>
              </a:rPr>
              <a:t>-</a:t>
            </a:r>
            <a:r>
              <a:rPr lang="zh-CN" altLang="zh-CN" sz="2600" b="1" dirty="0">
                <a:solidFill>
                  <a:srgbClr val="0000FF"/>
                </a:solidFill>
                <a:latin typeface="Times New Roman" panose="02020503050405090304" pitchFamily="18" charset="0"/>
              </a:rPr>
              <a:t>实体</a:t>
            </a:r>
            <a:r>
              <a:rPr lang="en-US" altLang="zh-CN" sz="2600" b="1" dirty="0">
                <a:solidFill>
                  <a:srgbClr val="0000FF"/>
                </a:solidFill>
                <a:latin typeface="Times New Roman" panose="02020503050405090304" pitchFamily="18" charset="0"/>
              </a:rPr>
              <a:t>2)</a:t>
            </a:r>
            <a:r>
              <a:rPr lang="zh-CN" altLang="en-US" sz="2600" b="1" dirty="0">
                <a:latin typeface="Times New Roman" panose="02020503050405090304" pitchFamily="18" charset="0"/>
              </a:rPr>
              <a:t>：</a:t>
            </a:r>
            <a:r>
              <a:rPr lang="zh-CN" altLang="zh-CN" sz="2600" b="1" dirty="0">
                <a:latin typeface="Times New Roman" panose="02020503050405090304" pitchFamily="18" charset="0"/>
              </a:rPr>
              <a:t>中国</a:t>
            </a:r>
            <a:r>
              <a:rPr lang="en-US" altLang="zh-CN" sz="2600" b="1" dirty="0">
                <a:latin typeface="Times New Roman" panose="02020503050405090304" pitchFamily="18" charset="0"/>
              </a:rPr>
              <a:t>-</a:t>
            </a:r>
            <a:r>
              <a:rPr lang="zh-CN" altLang="zh-CN" sz="2600" b="1" dirty="0">
                <a:latin typeface="Times New Roman" panose="02020503050405090304" pitchFamily="18" charset="0"/>
              </a:rPr>
              <a:t>首都</a:t>
            </a:r>
            <a:r>
              <a:rPr lang="en-US" altLang="zh-CN" sz="2600" b="1" dirty="0">
                <a:latin typeface="Times New Roman" panose="02020503050405090304" pitchFamily="18" charset="0"/>
              </a:rPr>
              <a:t>-</a:t>
            </a:r>
            <a:r>
              <a:rPr lang="zh-CN" altLang="zh-CN" sz="2600" b="1" dirty="0">
                <a:latin typeface="Times New Roman" panose="02020503050405090304" pitchFamily="18" charset="0"/>
              </a:rPr>
              <a:t>北京</a:t>
            </a:r>
            <a:endParaRPr lang="en-US" altLang="zh-CN" sz="2600" b="1" dirty="0">
              <a:latin typeface="Times New Roman" panose="02020503050405090304" pitchFamily="18" charset="0"/>
            </a:endParaRPr>
          </a:p>
          <a:p>
            <a:pPr algn="ctr" eaLnBrk="1" hangingPunct="1">
              <a:buNone/>
            </a:pPr>
            <a:r>
              <a:rPr lang="en-US" altLang="zh-CN" sz="2600" b="1" dirty="0">
                <a:solidFill>
                  <a:srgbClr val="0000FF"/>
                </a:solidFill>
                <a:latin typeface="Times New Roman" panose="02020503050405090304" pitchFamily="18" charset="0"/>
              </a:rPr>
              <a:t>(</a:t>
            </a:r>
            <a:r>
              <a:rPr lang="zh-CN" altLang="zh-CN" sz="2600" b="1" dirty="0">
                <a:solidFill>
                  <a:srgbClr val="0000FF"/>
                </a:solidFill>
                <a:latin typeface="Times New Roman" panose="02020503050405090304" pitchFamily="18" charset="0"/>
              </a:rPr>
              <a:t>实体</a:t>
            </a:r>
            <a:r>
              <a:rPr lang="en-US" altLang="zh-CN" sz="2600" b="1" dirty="0">
                <a:solidFill>
                  <a:srgbClr val="0000FF"/>
                </a:solidFill>
                <a:latin typeface="Times New Roman" panose="02020503050405090304" pitchFamily="18" charset="0"/>
              </a:rPr>
              <a:t>-</a:t>
            </a:r>
            <a:r>
              <a:rPr lang="zh-CN" altLang="zh-CN" sz="2600" b="1" dirty="0">
                <a:solidFill>
                  <a:srgbClr val="0000FF"/>
                </a:solidFill>
                <a:latin typeface="Times New Roman" panose="02020503050405090304" pitchFamily="18" charset="0"/>
              </a:rPr>
              <a:t>属性</a:t>
            </a:r>
            <a:r>
              <a:rPr lang="en-US" altLang="zh-CN" sz="2600" b="1" dirty="0">
                <a:solidFill>
                  <a:srgbClr val="0000FF"/>
                </a:solidFill>
                <a:latin typeface="Times New Roman" panose="02020503050405090304" pitchFamily="18" charset="0"/>
              </a:rPr>
              <a:t>-</a:t>
            </a:r>
            <a:r>
              <a:rPr lang="zh-CN" altLang="zh-CN" sz="2600" b="1" dirty="0">
                <a:solidFill>
                  <a:srgbClr val="0000FF"/>
                </a:solidFill>
                <a:latin typeface="Times New Roman" panose="02020503050405090304" pitchFamily="18" charset="0"/>
              </a:rPr>
              <a:t>属性值</a:t>
            </a:r>
            <a:r>
              <a:rPr lang="en-US" altLang="zh-CN" sz="2600" b="1" dirty="0">
                <a:solidFill>
                  <a:srgbClr val="0000FF"/>
                </a:solidFill>
                <a:latin typeface="Times New Roman" panose="02020503050405090304" pitchFamily="18" charset="0"/>
              </a:rPr>
              <a:t>)</a:t>
            </a:r>
            <a:r>
              <a:rPr lang="zh-CN" altLang="en-US" sz="2600" b="1" dirty="0">
                <a:latin typeface="Times New Roman" panose="02020503050405090304" pitchFamily="18" charset="0"/>
              </a:rPr>
              <a:t>：</a:t>
            </a:r>
            <a:r>
              <a:rPr lang="zh-CN" altLang="zh-CN" sz="2600" b="1" dirty="0">
                <a:latin typeface="Times New Roman" panose="02020503050405090304" pitchFamily="18" charset="0"/>
              </a:rPr>
              <a:t>北京</a:t>
            </a:r>
            <a:r>
              <a:rPr lang="en-US" altLang="zh-CN" sz="2600" b="1" dirty="0">
                <a:latin typeface="Times New Roman" panose="02020503050405090304" pitchFamily="18" charset="0"/>
              </a:rPr>
              <a:t>-</a:t>
            </a:r>
            <a:r>
              <a:rPr lang="zh-CN" altLang="zh-CN" sz="2600" b="1" dirty="0">
                <a:latin typeface="Times New Roman" panose="02020503050405090304" pitchFamily="18" charset="0"/>
              </a:rPr>
              <a:t>人口</a:t>
            </a:r>
            <a:r>
              <a:rPr lang="en-US" altLang="zh-CN" sz="2600" b="1" dirty="0">
                <a:latin typeface="Times New Roman" panose="02020503050405090304" pitchFamily="18" charset="0"/>
              </a:rPr>
              <a:t>-2069</a:t>
            </a:r>
            <a:r>
              <a:rPr lang="zh-CN" altLang="zh-CN" sz="2600" b="1" dirty="0">
                <a:latin typeface="Times New Roman" panose="02020503050405090304" pitchFamily="18" charset="0"/>
              </a:rPr>
              <a:t>万</a:t>
            </a:r>
            <a:endParaRPr lang="zh-CN" altLang="en-US" sz="2600" b="1" dirty="0">
              <a:latin typeface="Times New Roman" panose="02020503050405090304" pitchFamily="18" charset="0"/>
              <a:ea typeface="Times New Roman" panose="02020503050405090304" pitchFamily="18" charset="0"/>
            </a:endParaRPr>
          </a:p>
        </p:txBody>
      </p:sp>
    </p:spTree>
  </p:cSld>
  <p:clrMapOvr>
    <a:masterClrMapping/>
  </p:clrMapOvr>
  <p:transition>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4754"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2.5.3 </a:t>
            </a:r>
            <a:r>
              <a:rPr lang="zh-CN" altLang="zh-CN" dirty="0">
                <a:latin typeface="Times New Roman" panose="02020503050405090304" pitchFamily="18" charset="0"/>
              </a:rPr>
              <a:t>知识图谱的</a:t>
            </a:r>
            <a:r>
              <a:rPr lang="zh-CN" altLang="en-US" dirty="0">
                <a:latin typeface="Times New Roman" panose="02020503050405090304" pitchFamily="18" charset="0"/>
              </a:rPr>
              <a:t>表示</a:t>
            </a:r>
            <a:endParaRPr lang="zh-CN" altLang="en-US" dirty="0">
              <a:latin typeface="Times New Roman" panose="02020503050405090304" pitchFamily="18" charset="0"/>
            </a:endParaRPr>
          </a:p>
        </p:txBody>
      </p:sp>
      <p:sp>
        <p:nvSpPr>
          <p:cNvPr id="74755" name="Rectangle 3"/>
          <p:cNvSpPr>
            <a:spLocks noGrp="1"/>
          </p:cNvSpPr>
          <p:nvPr>
            <p:ph idx="1"/>
          </p:nvPr>
        </p:nvSpPr>
        <p:spPr>
          <a:xfrm>
            <a:off x="393700" y="890588"/>
            <a:ext cx="8410575" cy="1184275"/>
          </a:xfrm>
        </p:spPr>
        <p:txBody>
          <a:bodyPr vert="horz" wrap="square" lIns="91440" tIns="45720" rIns="91440" bIns="45720" anchor="t" anchorCtr="0"/>
          <a:p>
            <a:pPr algn="just" eaLnBrk="1" hangingPunct="1"/>
            <a:r>
              <a:rPr lang="zh-CN" altLang="zh-CN" sz="2600" b="1" dirty="0"/>
              <a:t>知识图谱也可被看作是一张图，图中的节点表示实体或概念，而图中的边则由属性或关系构成。</a:t>
            </a:r>
            <a:endParaRPr lang="zh-CN" altLang="en-US" sz="2600" b="1" dirty="0"/>
          </a:p>
        </p:txBody>
      </p:sp>
      <p:sp>
        <p:nvSpPr>
          <p:cNvPr id="74756" name="Rectangle 54"/>
          <p:cNvSpPr/>
          <p:nvPr/>
        </p:nvSpPr>
        <p:spPr>
          <a:xfrm>
            <a:off x="0" y="0"/>
            <a:ext cx="9144000" cy="0"/>
          </a:xfrm>
          <a:prstGeom prst="rect">
            <a:avLst/>
          </a:prstGeom>
          <a:noFill/>
          <a:ln w="9525">
            <a:noFill/>
          </a:ln>
        </p:spPr>
        <p:txBody>
          <a:bodyPr wrap="none" anchor="ctr" anchorCtr="0">
            <a:spAutoFit/>
          </a:bodyPr>
          <a:p>
            <a:pPr>
              <a:buClrTx/>
              <a:buFontTx/>
              <a:buNone/>
            </a:pPr>
            <a:endParaRPr lang="zh-CN" altLang="en-US" dirty="0">
              <a:latin typeface="Arial" panose="020B0604020202090204" pitchFamily="34" charset="0"/>
              <a:ea typeface="宋体" pitchFamily="2" charset="-122"/>
            </a:endParaRPr>
          </a:p>
        </p:txBody>
      </p:sp>
      <p:grpSp>
        <p:nvGrpSpPr>
          <p:cNvPr id="74757" name="画布 200"/>
          <p:cNvGrpSpPr/>
          <p:nvPr/>
        </p:nvGrpSpPr>
        <p:grpSpPr>
          <a:xfrm>
            <a:off x="1247775" y="1989138"/>
            <a:ext cx="6908800" cy="4527550"/>
            <a:chOff x="0" y="0"/>
            <a:chExt cx="55874" cy="30765"/>
          </a:xfrm>
        </p:grpSpPr>
        <p:sp>
          <p:nvSpPr>
            <p:cNvPr id="74758" name="AutoShape 53"/>
            <p:cNvSpPr>
              <a:spLocks noChangeAspect="1"/>
            </p:cNvSpPr>
            <p:nvPr/>
          </p:nvSpPr>
          <p:spPr>
            <a:xfrm>
              <a:off x="0" y="0"/>
              <a:ext cx="52743" cy="30765"/>
            </a:xfrm>
            <a:prstGeom prst="rect">
              <a:avLst/>
            </a:prstGeom>
            <a:solidFill>
              <a:srgbClr val="FFFFFF"/>
            </a:solidFill>
            <a:ln w="9525">
              <a:noFill/>
            </a:ln>
          </p:spPr>
          <p:txBody>
            <a:bodyPr anchor="t" anchorCtr="0"/>
            <a:p>
              <a:pPr>
                <a:buClrTx/>
                <a:buFontTx/>
                <a:buNone/>
              </a:pPr>
              <a:endParaRPr lang="zh-CN" altLang="en-US" dirty="0">
                <a:latin typeface="Arial" panose="020B0604020202090204" pitchFamily="34" charset="0"/>
                <a:ea typeface="宋体" pitchFamily="2" charset="-122"/>
              </a:endParaRPr>
            </a:p>
          </p:txBody>
        </p:sp>
        <p:grpSp>
          <p:nvGrpSpPr>
            <p:cNvPr id="74759" name="组合 202"/>
            <p:cNvGrpSpPr/>
            <p:nvPr/>
          </p:nvGrpSpPr>
          <p:grpSpPr>
            <a:xfrm>
              <a:off x="943" y="794"/>
              <a:ext cx="54931" cy="29229"/>
              <a:chOff x="943" y="794"/>
              <a:chExt cx="54930" cy="29229"/>
            </a:xfrm>
          </p:grpSpPr>
          <p:sp>
            <p:nvSpPr>
              <p:cNvPr id="74760" name="文本框 54"/>
              <p:cNvSpPr txBox="1"/>
              <p:nvPr/>
            </p:nvSpPr>
            <p:spPr>
              <a:xfrm>
                <a:off x="36880" y="21518"/>
                <a:ext cx="4331" cy="2496"/>
              </a:xfrm>
              <a:prstGeom prst="rect">
                <a:avLst/>
              </a:prstGeom>
              <a:solidFill>
                <a:srgbClr val="FFFFFF"/>
              </a:solidFill>
              <a:ln w="6350">
                <a:noFill/>
              </a:ln>
            </p:spPr>
            <p:txBody>
              <a:bodyPr anchor="t" anchorCtr="0"/>
              <a:p>
                <a:pPr eaLnBrk="0" hangingPunct="0">
                  <a:buClrTx/>
                  <a:buFontTx/>
                  <a:buNone/>
                </a:pPr>
                <a:r>
                  <a:rPr lang="zh-CN" altLang="zh-CN" sz="1200" dirty="0">
                    <a:latin typeface="Arial" panose="020B0604020202090204" pitchFamily="34" charset="0"/>
                    <a:ea typeface="宋体" pitchFamily="2" charset="-122"/>
                  </a:rPr>
                  <a:t>纬度</a:t>
                </a:r>
                <a:endParaRPr lang="zh-CN" altLang="zh-CN" sz="1200" dirty="0">
                  <a:latin typeface="Arial" panose="020B0604020202090204" pitchFamily="34" charset="0"/>
                  <a:ea typeface="宋体" pitchFamily="2" charset="-122"/>
                </a:endParaRPr>
              </a:p>
            </p:txBody>
          </p:sp>
          <p:sp>
            <p:nvSpPr>
              <p:cNvPr id="74761" name="文本框 54"/>
              <p:cNvSpPr txBox="1"/>
              <p:nvPr/>
            </p:nvSpPr>
            <p:spPr>
              <a:xfrm>
                <a:off x="30843" y="21132"/>
                <a:ext cx="4330" cy="2495"/>
              </a:xfrm>
              <a:prstGeom prst="rect">
                <a:avLst/>
              </a:prstGeom>
              <a:solidFill>
                <a:srgbClr val="FFFFFF"/>
              </a:solidFill>
              <a:ln w="6350">
                <a:noFill/>
              </a:ln>
            </p:spPr>
            <p:txBody>
              <a:bodyPr anchor="t" anchorCtr="0"/>
              <a:p>
                <a:pPr eaLnBrk="0" hangingPunct="0">
                  <a:buClrTx/>
                  <a:buFontTx/>
                  <a:buNone/>
                </a:pPr>
                <a:r>
                  <a:rPr lang="zh-CN" altLang="zh-CN" sz="1200" dirty="0">
                    <a:latin typeface="Arial" panose="020B0604020202090204" pitchFamily="34" charset="0"/>
                    <a:ea typeface="宋体" pitchFamily="2" charset="-122"/>
                  </a:rPr>
                  <a:t>面积</a:t>
                </a:r>
                <a:endParaRPr lang="zh-CN" altLang="zh-CN" sz="1200" dirty="0">
                  <a:latin typeface="Arial" panose="020B0604020202090204" pitchFamily="34" charset="0"/>
                  <a:ea typeface="宋体" pitchFamily="2" charset="-122"/>
                </a:endParaRPr>
              </a:p>
            </p:txBody>
          </p:sp>
          <p:sp>
            <p:nvSpPr>
              <p:cNvPr id="74762" name="文本框 54"/>
              <p:cNvSpPr txBox="1"/>
              <p:nvPr/>
            </p:nvSpPr>
            <p:spPr>
              <a:xfrm>
                <a:off x="37001" y="12636"/>
                <a:ext cx="4331" cy="2495"/>
              </a:xfrm>
              <a:prstGeom prst="rect">
                <a:avLst/>
              </a:prstGeom>
              <a:solidFill>
                <a:srgbClr val="FFFFFF"/>
              </a:solidFill>
              <a:ln w="6350">
                <a:noFill/>
              </a:ln>
            </p:spPr>
            <p:txBody>
              <a:bodyPr anchor="t" anchorCtr="0"/>
              <a:p>
                <a:pPr eaLnBrk="0" hangingPunct="0">
                  <a:buClrTx/>
                  <a:buFontTx/>
                  <a:buNone/>
                </a:pPr>
                <a:r>
                  <a:rPr lang="zh-CN" altLang="zh-CN" sz="1200" dirty="0">
                    <a:latin typeface="Arial" panose="020B0604020202090204" pitchFamily="34" charset="0"/>
                    <a:ea typeface="宋体" pitchFamily="2" charset="-122"/>
                  </a:rPr>
                  <a:t>人口</a:t>
                </a:r>
                <a:endParaRPr lang="zh-CN" altLang="zh-CN" sz="1200" dirty="0">
                  <a:latin typeface="Arial" panose="020B0604020202090204" pitchFamily="34" charset="0"/>
                  <a:ea typeface="宋体" pitchFamily="2" charset="-122"/>
                </a:endParaRPr>
              </a:p>
            </p:txBody>
          </p:sp>
          <p:sp>
            <p:nvSpPr>
              <p:cNvPr id="74763" name="文本框 54"/>
              <p:cNvSpPr txBox="1"/>
              <p:nvPr/>
            </p:nvSpPr>
            <p:spPr>
              <a:xfrm>
                <a:off x="32670" y="14285"/>
                <a:ext cx="4331" cy="2496"/>
              </a:xfrm>
              <a:prstGeom prst="rect">
                <a:avLst/>
              </a:prstGeom>
              <a:solidFill>
                <a:srgbClr val="FFFFFF"/>
              </a:solidFill>
              <a:ln w="6350">
                <a:noFill/>
              </a:ln>
            </p:spPr>
            <p:txBody>
              <a:bodyPr anchor="t" anchorCtr="0"/>
              <a:p>
                <a:pPr eaLnBrk="0" hangingPunct="0">
                  <a:buClrTx/>
                  <a:buFontTx/>
                  <a:buNone/>
                </a:pPr>
                <a:r>
                  <a:rPr lang="zh-CN" altLang="zh-CN" sz="1200" dirty="0">
                    <a:latin typeface="Arial" panose="020B0604020202090204" pitchFamily="34" charset="0"/>
                    <a:ea typeface="宋体" pitchFamily="2" charset="-122"/>
                  </a:rPr>
                  <a:t>首都</a:t>
                </a:r>
                <a:endParaRPr lang="zh-CN" altLang="zh-CN" sz="1200" dirty="0">
                  <a:latin typeface="Arial" panose="020B0604020202090204" pitchFamily="34" charset="0"/>
                  <a:ea typeface="宋体" pitchFamily="2" charset="-122"/>
                </a:endParaRPr>
              </a:p>
            </p:txBody>
          </p:sp>
          <p:sp>
            <p:nvSpPr>
              <p:cNvPr id="74764" name="文本框 54"/>
              <p:cNvSpPr txBox="1"/>
              <p:nvPr/>
            </p:nvSpPr>
            <p:spPr>
              <a:xfrm>
                <a:off x="7824" y="16781"/>
                <a:ext cx="4331" cy="2495"/>
              </a:xfrm>
              <a:prstGeom prst="rect">
                <a:avLst/>
              </a:prstGeom>
              <a:solidFill>
                <a:srgbClr val="FFFFFF"/>
              </a:solidFill>
              <a:ln w="6350">
                <a:noFill/>
              </a:ln>
            </p:spPr>
            <p:txBody>
              <a:bodyPr anchor="t" anchorCtr="0"/>
              <a:p>
                <a:pPr eaLnBrk="0" hangingPunct="0">
                  <a:buClrTx/>
                  <a:buFontTx/>
                  <a:buNone/>
                </a:pPr>
                <a:r>
                  <a:rPr lang="zh-CN" altLang="zh-CN" sz="1200" dirty="0">
                    <a:latin typeface="Arial" panose="020B0604020202090204" pitchFamily="34" charset="0"/>
                    <a:ea typeface="宋体" pitchFamily="2" charset="-122"/>
                  </a:rPr>
                  <a:t>面积</a:t>
                </a:r>
                <a:endParaRPr lang="zh-CN" altLang="zh-CN" sz="1200" dirty="0">
                  <a:latin typeface="Arial" panose="020B0604020202090204" pitchFamily="34" charset="0"/>
                  <a:ea typeface="宋体" pitchFamily="2" charset="-122"/>
                </a:endParaRPr>
              </a:p>
            </p:txBody>
          </p:sp>
          <p:sp>
            <p:nvSpPr>
              <p:cNvPr id="74765" name="文本框 54"/>
              <p:cNvSpPr txBox="1"/>
              <p:nvPr/>
            </p:nvSpPr>
            <p:spPr>
              <a:xfrm>
                <a:off x="14569" y="12538"/>
                <a:ext cx="4331" cy="2495"/>
              </a:xfrm>
              <a:prstGeom prst="rect">
                <a:avLst/>
              </a:prstGeom>
              <a:solidFill>
                <a:srgbClr val="FFFFFF"/>
              </a:solidFill>
              <a:ln w="6350">
                <a:noFill/>
              </a:ln>
            </p:spPr>
            <p:txBody>
              <a:bodyPr anchor="t" anchorCtr="0"/>
              <a:p>
                <a:pPr eaLnBrk="0" hangingPunct="0">
                  <a:buClrTx/>
                  <a:buFontTx/>
                  <a:buNone/>
                </a:pPr>
                <a:r>
                  <a:rPr lang="zh-CN" altLang="zh-CN" sz="1200" dirty="0">
                    <a:latin typeface="Arial" panose="020B0604020202090204" pitchFamily="34" charset="0"/>
                    <a:ea typeface="宋体" pitchFamily="2" charset="-122"/>
                  </a:rPr>
                  <a:t>首都</a:t>
                </a:r>
                <a:endParaRPr lang="zh-CN" altLang="zh-CN" sz="1200" dirty="0">
                  <a:latin typeface="Arial" panose="020B0604020202090204" pitchFamily="34" charset="0"/>
                  <a:ea typeface="宋体" pitchFamily="2" charset="-122"/>
                </a:endParaRPr>
              </a:p>
            </p:txBody>
          </p:sp>
          <p:sp>
            <p:nvSpPr>
              <p:cNvPr id="74766" name="文本框 126"/>
              <p:cNvSpPr txBox="1"/>
              <p:nvPr/>
            </p:nvSpPr>
            <p:spPr>
              <a:xfrm>
                <a:off x="14567" y="6463"/>
                <a:ext cx="4333" cy="2502"/>
              </a:xfrm>
              <a:prstGeom prst="rect">
                <a:avLst/>
              </a:prstGeom>
              <a:solidFill>
                <a:srgbClr val="FFFFFF"/>
              </a:solidFill>
              <a:ln w="6350">
                <a:noFill/>
              </a:ln>
            </p:spPr>
            <p:txBody>
              <a:bodyPr anchor="t" anchorCtr="0"/>
              <a:p>
                <a:pPr eaLnBrk="0" hangingPunct="0">
                  <a:buClrTx/>
                  <a:buFontTx/>
                  <a:buNone/>
                </a:pPr>
                <a:r>
                  <a:rPr lang="zh-CN" altLang="zh-CN" sz="1200" dirty="0">
                    <a:latin typeface="Times New Roman" panose="02020503050405090304" pitchFamily="18" charset="0"/>
                    <a:ea typeface="宋体" pitchFamily="2" charset="-122"/>
                  </a:rPr>
                  <a:t>面积</a:t>
                </a:r>
                <a:endParaRPr lang="zh-CN" altLang="zh-CN" sz="1200" dirty="0">
                  <a:latin typeface="Arial" panose="020B0604020202090204" pitchFamily="34" charset="0"/>
                  <a:ea typeface="宋体" pitchFamily="2" charset="-122"/>
                </a:endParaRPr>
              </a:p>
            </p:txBody>
          </p:sp>
          <p:sp>
            <p:nvSpPr>
              <p:cNvPr id="74767" name="椭圆 127"/>
              <p:cNvSpPr/>
              <p:nvPr/>
            </p:nvSpPr>
            <p:spPr>
              <a:xfrm>
                <a:off x="24437" y="6725"/>
                <a:ext cx="6194" cy="4479"/>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zh-CN" altLang="zh-CN" sz="1200" b="1" dirty="0">
                    <a:solidFill>
                      <a:srgbClr val="FF0000"/>
                    </a:solidFill>
                    <a:latin typeface="Times New Roman" panose="02020503050405090304" pitchFamily="18" charset="0"/>
                    <a:ea typeface="宋体" pitchFamily="2" charset="-122"/>
                  </a:rPr>
                  <a:t>国家</a:t>
                </a:r>
                <a:endParaRPr lang="zh-CN" altLang="zh-CN" sz="1200" dirty="0">
                  <a:solidFill>
                    <a:srgbClr val="FF0000"/>
                  </a:solidFill>
                  <a:latin typeface="Arial" panose="020B0604020202090204" pitchFamily="34" charset="0"/>
                  <a:ea typeface="宋体" pitchFamily="2" charset="-122"/>
                </a:endParaRPr>
              </a:p>
            </p:txBody>
          </p:sp>
          <p:sp>
            <p:nvSpPr>
              <p:cNvPr id="74768" name="椭圆 131"/>
              <p:cNvSpPr/>
              <p:nvPr/>
            </p:nvSpPr>
            <p:spPr>
              <a:xfrm>
                <a:off x="31535" y="4094"/>
                <a:ext cx="6192" cy="4476"/>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zh-CN" altLang="zh-CN" sz="1200" b="1" dirty="0">
                    <a:solidFill>
                      <a:srgbClr val="0000FF"/>
                    </a:solidFill>
                    <a:latin typeface="Arial" panose="020B0604020202090204" pitchFamily="34" charset="0"/>
                    <a:ea typeface="宋体" pitchFamily="2" charset="-122"/>
                  </a:rPr>
                  <a:t>……</a:t>
                </a:r>
                <a:endParaRPr lang="zh-CN" altLang="zh-CN" sz="1200" dirty="0">
                  <a:solidFill>
                    <a:srgbClr val="0000FF"/>
                  </a:solidFill>
                  <a:latin typeface="Arial" panose="020B0604020202090204" pitchFamily="34" charset="0"/>
                  <a:ea typeface="宋体" pitchFamily="2" charset="-122"/>
                </a:endParaRPr>
              </a:p>
            </p:txBody>
          </p:sp>
          <p:sp>
            <p:nvSpPr>
              <p:cNvPr id="74769" name="椭圆 133"/>
              <p:cNvSpPr/>
              <p:nvPr/>
            </p:nvSpPr>
            <p:spPr>
              <a:xfrm>
                <a:off x="18246" y="2248"/>
                <a:ext cx="6191" cy="4477"/>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zh-CN" altLang="zh-CN" sz="1200" b="1" dirty="0">
                    <a:solidFill>
                      <a:srgbClr val="0000FF"/>
                    </a:solidFill>
                    <a:latin typeface="Arial" panose="020B0604020202090204" pitchFamily="34" charset="0"/>
                    <a:ea typeface="宋体" pitchFamily="2" charset="-122"/>
                  </a:rPr>
                  <a:t>法国</a:t>
                </a:r>
                <a:endParaRPr lang="zh-CN" altLang="zh-CN" sz="1200" dirty="0">
                  <a:solidFill>
                    <a:srgbClr val="0000FF"/>
                  </a:solidFill>
                  <a:latin typeface="Arial" panose="020B0604020202090204" pitchFamily="34" charset="0"/>
                  <a:ea typeface="宋体" pitchFamily="2" charset="-122"/>
                </a:endParaRPr>
              </a:p>
            </p:txBody>
          </p:sp>
          <p:sp>
            <p:nvSpPr>
              <p:cNvPr id="74770" name="椭圆 141"/>
              <p:cNvSpPr/>
              <p:nvPr/>
            </p:nvSpPr>
            <p:spPr>
              <a:xfrm>
                <a:off x="26272" y="794"/>
                <a:ext cx="6191" cy="4476"/>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zh-CN" altLang="zh-CN" sz="1200" b="1" dirty="0">
                    <a:solidFill>
                      <a:srgbClr val="0000FF"/>
                    </a:solidFill>
                    <a:latin typeface="Arial" panose="020B0604020202090204" pitchFamily="34" charset="0"/>
                    <a:ea typeface="宋体" pitchFamily="2" charset="-122"/>
                  </a:rPr>
                  <a:t>英国</a:t>
                </a:r>
                <a:endParaRPr lang="zh-CN" altLang="zh-CN" sz="1200" dirty="0">
                  <a:solidFill>
                    <a:srgbClr val="0000FF"/>
                  </a:solidFill>
                  <a:latin typeface="Arial" panose="020B0604020202090204" pitchFamily="34" charset="0"/>
                  <a:ea typeface="宋体" pitchFamily="2" charset="-122"/>
                </a:endParaRPr>
              </a:p>
            </p:txBody>
          </p:sp>
          <p:sp>
            <p:nvSpPr>
              <p:cNvPr id="74771" name="椭圆 146"/>
              <p:cNvSpPr/>
              <p:nvPr/>
            </p:nvSpPr>
            <p:spPr>
              <a:xfrm>
                <a:off x="17993" y="9226"/>
                <a:ext cx="6191" cy="4477"/>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zh-CN" altLang="zh-CN" sz="1200" b="1" dirty="0">
                    <a:solidFill>
                      <a:srgbClr val="0000FF"/>
                    </a:solidFill>
                    <a:latin typeface="Arial" panose="020B0604020202090204" pitchFamily="34" charset="0"/>
                    <a:ea typeface="宋体" pitchFamily="2" charset="-122"/>
                  </a:rPr>
                  <a:t>中国</a:t>
                </a:r>
                <a:endParaRPr lang="zh-CN" altLang="zh-CN" sz="1200" dirty="0">
                  <a:solidFill>
                    <a:srgbClr val="0000FF"/>
                  </a:solidFill>
                  <a:latin typeface="Arial" panose="020B0604020202090204" pitchFamily="34" charset="0"/>
                  <a:ea typeface="宋体" pitchFamily="2" charset="-122"/>
                </a:endParaRPr>
              </a:p>
            </p:txBody>
          </p:sp>
          <p:sp>
            <p:nvSpPr>
              <p:cNvPr id="74772" name="椭圆 147"/>
              <p:cNvSpPr/>
              <p:nvPr/>
            </p:nvSpPr>
            <p:spPr>
              <a:xfrm>
                <a:off x="32442" y="9226"/>
                <a:ext cx="6191" cy="4477"/>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zh-CN" altLang="zh-CN" sz="1200" b="1" dirty="0">
                    <a:solidFill>
                      <a:srgbClr val="0000FF"/>
                    </a:solidFill>
                    <a:latin typeface="Arial" panose="020B0604020202090204" pitchFamily="34" charset="0"/>
                    <a:ea typeface="宋体" pitchFamily="2" charset="-122"/>
                  </a:rPr>
                  <a:t>美国</a:t>
                </a:r>
                <a:endParaRPr lang="zh-CN" altLang="zh-CN" sz="1200" dirty="0">
                  <a:solidFill>
                    <a:srgbClr val="0000FF"/>
                  </a:solidFill>
                  <a:latin typeface="Arial" panose="020B0604020202090204" pitchFamily="34" charset="0"/>
                  <a:ea typeface="宋体" pitchFamily="2" charset="-122"/>
                </a:endParaRPr>
              </a:p>
            </p:txBody>
          </p:sp>
          <p:sp>
            <p:nvSpPr>
              <p:cNvPr id="74773" name="椭圆 148"/>
              <p:cNvSpPr/>
              <p:nvPr/>
            </p:nvSpPr>
            <p:spPr>
              <a:xfrm>
                <a:off x="5307" y="4023"/>
                <a:ext cx="9384" cy="6525"/>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en-US" altLang="zh-CN" sz="1200" b="1" dirty="0">
                    <a:solidFill>
                      <a:srgbClr val="595959"/>
                    </a:solidFill>
                    <a:latin typeface="Arial" panose="020B0604020202090204" pitchFamily="34" charset="0"/>
                    <a:ea typeface="宋体" pitchFamily="2" charset="-122"/>
                  </a:rPr>
                  <a:t>963</a:t>
                </a:r>
                <a:r>
                  <a:rPr lang="zh-CN" altLang="en-US" sz="1200" b="1" dirty="0">
                    <a:solidFill>
                      <a:srgbClr val="595959"/>
                    </a:solidFill>
                    <a:latin typeface="Arial" panose="020B0604020202090204" pitchFamily="34" charset="0"/>
                    <a:ea typeface="宋体" pitchFamily="2" charset="-122"/>
                  </a:rPr>
                  <a:t>万平方公里</a:t>
                </a:r>
                <a:endParaRPr lang="zh-CN" altLang="en-US" sz="1200" dirty="0">
                  <a:latin typeface="Arial" panose="020B0604020202090204" pitchFamily="34" charset="0"/>
                  <a:ea typeface="宋体" pitchFamily="2" charset="-122"/>
                </a:endParaRPr>
              </a:p>
            </p:txBody>
          </p:sp>
          <p:sp>
            <p:nvSpPr>
              <p:cNvPr id="74774" name="椭圆 159"/>
              <p:cNvSpPr/>
              <p:nvPr/>
            </p:nvSpPr>
            <p:spPr>
              <a:xfrm>
                <a:off x="11802" y="14896"/>
                <a:ext cx="6191" cy="4477"/>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zh-CN" altLang="zh-CN" sz="1200" b="1" dirty="0">
                    <a:solidFill>
                      <a:srgbClr val="FF00FF"/>
                    </a:solidFill>
                    <a:latin typeface="Arial" panose="020B0604020202090204" pitchFamily="34" charset="0"/>
                    <a:ea typeface="宋体" pitchFamily="2" charset="-122"/>
                  </a:rPr>
                  <a:t>北京</a:t>
                </a:r>
                <a:endParaRPr lang="zh-CN" altLang="zh-CN" sz="1200" dirty="0">
                  <a:solidFill>
                    <a:srgbClr val="FF00FF"/>
                  </a:solidFill>
                  <a:latin typeface="Arial" panose="020B0604020202090204" pitchFamily="34" charset="0"/>
                  <a:ea typeface="宋体" pitchFamily="2" charset="-122"/>
                </a:endParaRPr>
              </a:p>
            </p:txBody>
          </p:sp>
          <p:sp>
            <p:nvSpPr>
              <p:cNvPr id="74775" name="椭圆 160"/>
              <p:cNvSpPr/>
              <p:nvPr/>
            </p:nvSpPr>
            <p:spPr>
              <a:xfrm>
                <a:off x="943" y="17038"/>
                <a:ext cx="8233" cy="6205"/>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en-US" altLang="zh-CN" sz="1200" b="1" dirty="0">
                    <a:solidFill>
                      <a:srgbClr val="595959"/>
                    </a:solidFill>
                    <a:latin typeface="Arial" panose="020B0604020202090204" pitchFamily="34" charset="0"/>
                    <a:ea typeface="宋体" pitchFamily="2" charset="-122"/>
                  </a:rPr>
                  <a:t>1.6</a:t>
                </a:r>
                <a:r>
                  <a:rPr lang="zh-CN" altLang="en-US" sz="1200" b="1" dirty="0">
                    <a:solidFill>
                      <a:srgbClr val="595959"/>
                    </a:solidFill>
                    <a:latin typeface="Arial" panose="020B0604020202090204" pitchFamily="34" charset="0"/>
                    <a:ea typeface="宋体" pitchFamily="2" charset="-122"/>
                  </a:rPr>
                  <a:t>万平</a:t>
                </a:r>
                <a:endParaRPr lang="zh-CN" altLang="en-US" sz="1200" dirty="0">
                  <a:latin typeface="Arial" panose="020B0604020202090204" pitchFamily="34" charset="0"/>
                  <a:ea typeface="宋体" pitchFamily="2" charset="-122"/>
                </a:endParaRPr>
              </a:p>
              <a:p>
                <a:pPr eaLnBrk="0" hangingPunct="0">
                  <a:buClrTx/>
                  <a:buFontTx/>
                  <a:buNone/>
                </a:pPr>
                <a:r>
                  <a:rPr lang="zh-CN" altLang="en-US" sz="1200" b="1" dirty="0">
                    <a:solidFill>
                      <a:srgbClr val="595959"/>
                    </a:solidFill>
                    <a:latin typeface="Arial" panose="020B0604020202090204" pitchFamily="34" charset="0"/>
                    <a:ea typeface="宋体" pitchFamily="2" charset="-122"/>
                  </a:rPr>
                  <a:t>方公里</a:t>
                </a:r>
                <a:endParaRPr lang="zh-CN" altLang="en-US" sz="1200" dirty="0">
                  <a:latin typeface="Arial" panose="020B0604020202090204" pitchFamily="34" charset="0"/>
                  <a:ea typeface="宋体" pitchFamily="2" charset="-122"/>
                </a:endParaRPr>
              </a:p>
            </p:txBody>
          </p:sp>
          <p:sp>
            <p:nvSpPr>
              <p:cNvPr id="74776" name="椭圆 161"/>
              <p:cNvSpPr/>
              <p:nvPr/>
            </p:nvSpPr>
            <p:spPr>
              <a:xfrm>
                <a:off x="11801" y="23627"/>
                <a:ext cx="9031" cy="6396"/>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zh-CN" altLang="zh-CN" sz="1200" b="1" dirty="0">
                    <a:solidFill>
                      <a:srgbClr val="595959"/>
                    </a:solidFill>
                    <a:latin typeface="Arial" panose="020B0604020202090204" pitchFamily="34" charset="0"/>
                    <a:ea typeface="宋体" pitchFamily="2" charset="-122"/>
                  </a:rPr>
                  <a:t>北纬</a:t>
                </a:r>
                <a:endParaRPr lang="zh-CN" altLang="zh-CN" sz="1200" dirty="0">
                  <a:latin typeface="Arial" panose="020B0604020202090204" pitchFamily="34" charset="0"/>
                  <a:ea typeface="宋体" pitchFamily="2" charset="-122"/>
                </a:endParaRPr>
              </a:p>
              <a:p>
                <a:pPr eaLnBrk="0" hangingPunct="0">
                  <a:buClrTx/>
                  <a:buFontTx/>
                  <a:buNone/>
                </a:pPr>
                <a:r>
                  <a:rPr lang="en-US" altLang="zh-CN" sz="1200" b="1" dirty="0">
                    <a:solidFill>
                      <a:srgbClr val="595959"/>
                    </a:solidFill>
                    <a:latin typeface="Arial" panose="020B0604020202090204" pitchFamily="34" charset="0"/>
                    <a:ea typeface="宋体" pitchFamily="2" charset="-122"/>
                  </a:rPr>
                  <a:t>39</a:t>
                </a:r>
                <a:r>
                  <a:rPr lang="en-US" altLang="zh-CN" sz="1200" b="1" dirty="0">
                    <a:solidFill>
                      <a:srgbClr val="595959"/>
                    </a:solidFill>
                    <a:latin typeface="Times New Roman" panose="02020503050405090304" pitchFamily="18" charset="0"/>
                    <a:ea typeface="宋体" pitchFamily="2" charset="-122"/>
                  </a:rPr>
                  <a:t>°</a:t>
                </a:r>
                <a:r>
                  <a:rPr lang="en-US" altLang="zh-CN" sz="1200" b="1" dirty="0">
                    <a:solidFill>
                      <a:srgbClr val="595959"/>
                    </a:solidFill>
                    <a:latin typeface="Arial" panose="020B0604020202090204" pitchFamily="34" charset="0"/>
                    <a:ea typeface="宋体" pitchFamily="2" charset="-122"/>
                  </a:rPr>
                  <a:t>54</a:t>
                </a:r>
                <a:r>
                  <a:rPr lang="en-US" altLang="zh-CN" sz="900" b="1" dirty="0">
                    <a:solidFill>
                      <a:srgbClr val="595959"/>
                    </a:solidFill>
                    <a:latin typeface="Times New Roman" panose="02020503050405090304" pitchFamily="18" charset="0"/>
                    <a:ea typeface="宋体" pitchFamily="2" charset="-122"/>
                  </a:rPr>
                  <a:t>′</a:t>
                </a:r>
                <a:endParaRPr lang="en-US" altLang="zh-CN" dirty="0">
                  <a:latin typeface="Arial" panose="020B0604020202090204" pitchFamily="34" charset="0"/>
                  <a:ea typeface="宋体" pitchFamily="2" charset="-122"/>
                </a:endParaRPr>
              </a:p>
            </p:txBody>
          </p:sp>
          <p:sp>
            <p:nvSpPr>
              <p:cNvPr id="74777" name="椭圆 162"/>
              <p:cNvSpPr/>
              <p:nvPr/>
            </p:nvSpPr>
            <p:spPr>
              <a:xfrm>
                <a:off x="30706" y="16708"/>
                <a:ext cx="8001" cy="4476"/>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zh-CN" altLang="zh-CN" sz="1200" b="1" dirty="0">
                    <a:solidFill>
                      <a:srgbClr val="FF00FF"/>
                    </a:solidFill>
                    <a:latin typeface="Arial" panose="020B0604020202090204" pitchFamily="34" charset="0"/>
                    <a:ea typeface="宋体" pitchFamily="2" charset="-122"/>
                  </a:rPr>
                  <a:t>华盛顿</a:t>
                </a:r>
                <a:endParaRPr lang="zh-CN" altLang="zh-CN" sz="1200" dirty="0">
                  <a:solidFill>
                    <a:srgbClr val="FF00FF"/>
                  </a:solidFill>
                  <a:latin typeface="Arial" panose="020B0604020202090204" pitchFamily="34" charset="0"/>
                  <a:ea typeface="宋体" pitchFamily="2" charset="-122"/>
                </a:endParaRPr>
              </a:p>
            </p:txBody>
          </p:sp>
          <p:sp>
            <p:nvSpPr>
              <p:cNvPr id="74778" name="直接连接符 163"/>
              <p:cNvSpPr/>
              <p:nvPr/>
            </p:nvSpPr>
            <p:spPr>
              <a:xfrm>
                <a:off x="23530" y="6069"/>
                <a:ext cx="1814" cy="1312"/>
              </a:xfrm>
              <a:prstGeom prst="line">
                <a:avLst/>
              </a:prstGeom>
              <a:ln w="6350" cap="flat" cmpd="sng">
                <a:solidFill>
                  <a:srgbClr val="4F81BD"/>
                </a:solidFill>
                <a:prstDash val="solid"/>
                <a:miter/>
                <a:headEnd type="none" w="med" len="med"/>
                <a:tailEnd type="none" w="med" len="med"/>
              </a:ln>
            </p:spPr>
          </p:sp>
          <p:sp>
            <p:nvSpPr>
              <p:cNvPr id="74779" name="直接连接符 164"/>
              <p:cNvSpPr/>
              <p:nvPr/>
            </p:nvSpPr>
            <p:spPr>
              <a:xfrm flipH="1">
                <a:off x="27534" y="5270"/>
                <a:ext cx="1834" cy="1455"/>
              </a:xfrm>
              <a:prstGeom prst="line">
                <a:avLst/>
              </a:prstGeom>
              <a:ln w="6350" cap="flat" cmpd="sng">
                <a:solidFill>
                  <a:srgbClr val="4F81BD"/>
                </a:solidFill>
                <a:prstDash val="solid"/>
                <a:miter/>
                <a:headEnd type="none" w="med" len="med"/>
                <a:tailEnd type="none" w="med" len="med"/>
              </a:ln>
            </p:spPr>
          </p:sp>
          <p:sp>
            <p:nvSpPr>
              <p:cNvPr id="74780" name="直接连接符 165"/>
              <p:cNvSpPr/>
              <p:nvPr/>
            </p:nvSpPr>
            <p:spPr>
              <a:xfrm flipH="1">
                <a:off x="30631" y="7915"/>
                <a:ext cx="1811" cy="1050"/>
              </a:xfrm>
              <a:prstGeom prst="line">
                <a:avLst/>
              </a:prstGeom>
              <a:ln w="6350" cap="flat" cmpd="sng">
                <a:solidFill>
                  <a:srgbClr val="4F81BD"/>
                </a:solidFill>
                <a:prstDash val="solid"/>
                <a:miter/>
                <a:headEnd type="none" w="med" len="med"/>
                <a:tailEnd type="none" w="med" len="med"/>
              </a:ln>
            </p:spPr>
          </p:sp>
          <p:sp>
            <p:nvSpPr>
              <p:cNvPr id="74781" name="直接连接符 166"/>
              <p:cNvSpPr/>
              <p:nvPr/>
            </p:nvSpPr>
            <p:spPr>
              <a:xfrm>
                <a:off x="29724" y="10548"/>
                <a:ext cx="2718" cy="916"/>
              </a:xfrm>
              <a:prstGeom prst="line">
                <a:avLst/>
              </a:prstGeom>
              <a:ln w="6350" cap="flat" cmpd="sng">
                <a:solidFill>
                  <a:srgbClr val="4F81BD"/>
                </a:solidFill>
                <a:prstDash val="solid"/>
                <a:miter/>
                <a:headEnd type="none" w="med" len="med"/>
                <a:tailEnd type="none" w="med" len="med"/>
              </a:ln>
            </p:spPr>
          </p:sp>
          <p:sp>
            <p:nvSpPr>
              <p:cNvPr id="74782" name="直接连接符 167"/>
              <p:cNvSpPr/>
              <p:nvPr/>
            </p:nvSpPr>
            <p:spPr>
              <a:xfrm flipH="1">
                <a:off x="23278" y="8965"/>
                <a:ext cx="1159" cy="917"/>
              </a:xfrm>
              <a:prstGeom prst="line">
                <a:avLst/>
              </a:prstGeom>
              <a:ln w="6350" cap="flat" cmpd="sng">
                <a:solidFill>
                  <a:srgbClr val="4F81BD"/>
                </a:solidFill>
                <a:prstDash val="solid"/>
                <a:miter/>
                <a:headEnd type="none" w="med" len="med"/>
                <a:tailEnd type="none" w="med" len="med"/>
              </a:ln>
            </p:spPr>
          </p:sp>
          <p:sp>
            <p:nvSpPr>
              <p:cNvPr id="74783" name="直接连接符 168"/>
              <p:cNvSpPr/>
              <p:nvPr/>
            </p:nvSpPr>
            <p:spPr>
              <a:xfrm flipH="1" flipV="1">
                <a:off x="13981" y="7286"/>
                <a:ext cx="4919" cy="2596"/>
              </a:xfrm>
              <a:prstGeom prst="line">
                <a:avLst/>
              </a:prstGeom>
              <a:ln w="6350" cap="flat" cmpd="sng">
                <a:solidFill>
                  <a:srgbClr val="4F81BD"/>
                </a:solidFill>
                <a:prstDash val="solid"/>
                <a:miter/>
                <a:headEnd type="none" w="med" len="med"/>
                <a:tailEnd type="none" w="med" len="med"/>
              </a:ln>
            </p:spPr>
          </p:sp>
          <p:sp>
            <p:nvSpPr>
              <p:cNvPr id="74784" name="椭圆 169"/>
              <p:cNvSpPr/>
              <p:nvPr/>
            </p:nvSpPr>
            <p:spPr>
              <a:xfrm>
                <a:off x="1084" y="10714"/>
                <a:ext cx="8970" cy="4535"/>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en-US" altLang="zh-CN" sz="1200" b="1" dirty="0">
                    <a:solidFill>
                      <a:srgbClr val="595959"/>
                    </a:solidFill>
                    <a:latin typeface="Arial" panose="020B0604020202090204" pitchFamily="34" charset="0"/>
                    <a:ea typeface="宋体" pitchFamily="2" charset="-122"/>
                  </a:rPr>
                  <a:t>13.6</a:t>
                </a:r>
                <a:r>
                  <a:rPr lang="zh-CN" altLang="en-US" sz="1200" b="1" dirty="0">
                    <a:solidFill>
                      <a:srgbClr val="595959"/>
                    </a:solidFill>
                    <a:latin typeface="Arial" panose="020B0604020202090204" pitchFamily="34" charset="0"/>
                    <a:ea typeface="宋体" pitchFamily="2" charset="-122"/>
                  </a:rPr>
                  <a:t>亿亿</a:t>
                </a:r>
                <a:endParaRPr lang="zh-CN" altLang="en-US" sz="1200" dirty="0">
                  <a:latin typeface="Arial" panose="020B0604020202090204" pitchFamily="34" charset="0"/>
                  <a:ea typeface="宋体" pitchFamily="2" charset="-122"/>
                </a:endParaRPr>
              </a:p>
            </p:txBody>
          </p:sp>
          <p:sp>
            <p:nvSpPr>
              <p:cNvPr id="74785" name="文本框 54"/>
              <p:cNvSpPr txBox="1"/>
              <p:nvPr/>
            </p:nvSpPr>
            <p:spPr>
              <a:xfrm>
                <a:off x="12155" y="10012"/>
                <a:ext cx="4331" cy="2496"/>
              </a:xfrm>
              <a:prstGeom prst="rect">
                <a:avLst/>
              </a:prstGeom>
              <a:solidFill>
                <a:srgbClr val="FFFFFF"/>
              </a:solidFill>
              <a:ln w="6350">
                <a:noFill/>
              </a:ln>
            </p:spPr>
            <p:txBody>
              <a:bodyPr anchor="t" anchorCtr="0"/>
              <a:p>
                <a:pPr eaLnBrk="0" hangingPunct="0">
                  <a:buClrTx/>
                  <a:buFontTx/>
                  <a:buNone/>
                </a:pPr>
                <a:r>
                  <a:rPr lang="zh-CN" altLang="zh-CN" sz="1200" dirty="0">
                    <a:latin typeface="Arial" panose="020B0604020202090204" pitchFamily="34" charset="0"/>
                    <a:ea typeface="宋体" pitchFamily="2" charset="-122"/>
                  </a:rPr>
                  <a:t>人口</a:t>
                </a:r>
                <a:endParaRPr lang="zh-CN" altLang="zh-CN" sz="1200" dirty="0">
                  <a:latin typeface="Arial" panose="020B0604020202090204" pitchFamily="34" charset="0"/>
                  <a:ea typeface="宋体" pitchFamily="2" charset="-122"/>
                </a:endParaRPr>
              </a:p>
            </p:txBody>
          </p:sp>
          <p:sp>
            <p:nvSpPr>
              <p:cNvPr id="74786" name="直接连接符 171"/>
              <p:cNvSpPr/>
              <p:nvPr/>
            </p:nvSpPr>
            <p:spPr>
              <a:xfrm flipH="1">
                <a:off x="10295" y="11464"/>
                <a:ext cx="7698" cy="1312"/>
              </a:xfrm>
              <a:prstGeom prst="line">
                <a:avLst/>
              </a:prstGeom>
              <a:ln w="6350" cap="flat" cmpd="sng">
                <a:solidFill>
                  <a:srgbClr val="4F81BD"/>
                </a:solidFill>
                <a:prstDash val="solid"/>
                <a:miter/>
                <a:headEnd type="none" w="med" len="med"/>
                <a:tailEnd type="none" w="med" len="med"/>
              </a:ln>
            </p:spPr>
          </p:sp>
          <p:sp>
            <p:nvSpPr>
              <p:cNvPr id="74787" name="直接连接符 172"/>
              <p:cNvSpPr/>
              <p:nvPr/>
            </p:nvSpPr>
            <p:spPr>
              <a:xfrm flipH="1">
                <a:off x="17087" y="13047"/>
                <a:ext cx="1813" cy="2505"/>
              </a:xfrm>
              <a:prstGeom prst="line">
                <a:avLst/>
              </a:prstGeom>
              <a:ln w="6350" cap="flat" cmpd="sng">
                <a:solidFill>
                  <a:srgbClr val="4F81BD"/>
                </a:solidFill>
                <a:prstDash val="solid"/>
                <a:miter/>
                <a:headEnd type="none" w="med" len="med"/>
                <a:tailEnd type="none" w="med" len="med"/>
              </a:ln>
            </p:spPr>
          </p:sp>
          <p:sp>
            <p:nvSpPr>
              <p:cNvPr id="74788" name="直接连接符 173"/>
              <p:cNvSpPr/>
              <p:nvPr/>
            </p:nvSpPr>
            <p:spPr>
              <a:xfrm flipH="1">
                <a:off x="9176" y="18029"/>
                <a:ext cx="2979" cy="2111"/>
              </a:xfrm>
              <a:prstGeom prst="line">
                <a:avLst/>
              </a:prstGeom>
              <a:ln w="6350" cap="flat" cmpd="sng">
                <a:solidFill>
                  <a:srgbClr val="4F81BD"/>
                </a:solidFill>
                <a:prstDash val="solid"/>
                <a:miter/>
                <a:headEnd type="none" w="med" len="med"/>
                <a:tailEnd type="none" w="med" len="med"/>
              </a:ln>
            </p:spPr>
          </p:sp>
          <p:sp>
            <p:nvSpPr>
              <p:cNvPr id="74789" name="椭圆 174"/>
              <p:cNvSpPr/>
              <p:nvPr/>
            </p:nvSpPr>
            <p:spPr>
              <a:xfrm>
                <a:off x="3097" y="23627"/>
                <a:ext cx="7989" cy="4534"/>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en-US" altLang="zh-CN" sz="1200" b="1" dirty="0">
                    <a:solidFill>
                      <a:srgbClr val="595959"/>
                    </a:solidFill>
                    <a:latin typeface="Arial" panose="020B0604020202090204" pitchFamily="34" charset="0"/>
                    <a:ea typeface="宋体" pitchFamily="2" charset="-122"/>
                  </a:rPr>
                  <a:t>2069</a:t>
                </a:r>
                <a:r>
                  <a:rPr lang="zh-CN" altLang="en-US" sz="1200" b="1" dirty="0">
                    <a:solidFill>
                      <a:srgbClr val="595959"/>
                    </a:solidFill>
                    <a:latin typeface="Arial" panose="020B0604020202090204" pitchFamily="34" charset="0"/>
                    <a:ea typeface="宋体" pitchFamily="2" charset="-122"/>
                  </a:rPr>
                  <a:t>万</a:t>
                </a:r>
                <a:endParaRPr lang="zh-CN" altLang="en-US" sz="1200" dirty="0">
                  <a:latin typeface="Arial" panose="020B0604020202090204" pitchFamily="34" charset="0"/>
                  <a:ea typeface="宋体" pitchFamily="2" charset="-122"/>
                </a:endParaRPr>
              </a:p>
            </p:txBody>
          </p:sp>
          <p:sp>
            <p:nvSpPr>
              <p:cNvPr id="74790" name="直接连接符 175"/>
              <p:cNvSpPr/>
              <p:nvPr/>
            </p:nvSpPr>
            <p:spPr>
              <a:xfrm flipV="1">
                <a:off x="9916" y="18717"/>
                <a:ext cx="2793" cy="5574"/>
              </a:xfrm>
              <a:prstGeom prst="line">
                <a:avLst/>
              </a:prstGeom>
              <a:ln w="6350" cap="flat" cmpd="sng">
                <a:solidFill>
                  <a:srgbClr val="4F81BD"/>
                </a:solidFill>
                <a:prstDash val="solid"/>
                <a:miter/>
                <a:headEnd type="none" w="med" len="med"/>
                <a:tailEnd type="none" w="med" len="med"/>
              </a:ln>
            </p:spPr>
          </p:sp>
          <p:sp>
            <p:nvSpPr>
              <p:cNvPr id="74791" name="文本框 54"/>
              <p:cNvSpPr txBox="1"/>
              <p:nvPr/>
            </p:nvSpPr>
            <p:spPr>
              <a:xfrm>
                <a:off x="9176" y="20660"/>
                <a:ext cx="4331" cy="2495"/>
              </a:xfrm>
              <a:prstGeom prst="rect">
                <a:avLst/>
              </a:prstGeom>
              <a:solidFill>
                <a:srgbClr val="FFFFFF"/>
              </a:solidFill>
              <a:ln w="6350">
                <a:noFill/>
              </a:ln>
            </p:spPr>
            <p:txBody>
              <a:bodyPr anchor="t" anchorCtr="0"/>
              <a:p>
                <a:pPr eaLnBrk="0" hangingPunct="0">
                  <a:buClrTx/>
                  <a:buFontTx/>
                  <a:buNone/>
                </a:pPr>
                <a:r>
                  <a:rPr lang="zh-CN" altLang="zh-CN" sz="1200" dirty="0">
                    <a:latin typeface="Arial" panose="020B0604020202090204" pitchFamily="34" charset="0"/>
                    <a:ea typeface="宋体" pitchFamily="2" charset="-122"/>
                  </a:rPr>
                  <a:t>人口</a:t>
                </a:r>
                <a:endParaRPr lang="zh-CN" altLang="zh-CN" sz="1200" dirty="0">
                  <a:latin typeface="Arial" panose="020B0604020202090204" pitchFamily="34" charset="0"/>
                  <a:ea typeface="宋体" pitchFamily="2" charset="-122"/>
                </a:endParaRPr>
              </a:p>
            </p:txBody>
          </p:sp>
          <p:sp>
            <p:nvSpPr>
              <p:cNvPr id="74792" name="直接连接符 177"/>
              <p:cNvSpPr/>
              <p:nvPr/>
            </p:nvSpPr>
            <p:spPr>
              <a:xfrm flipH="1" flipV="1">
                <a:off x="14898" y="19373"/>
                <a:ext cx="1738" cy="4254"/>
              </a:xfrm>
              <a:prstGeom prst="line">
                <a:avLst/>
              </a:prstGeom>
              <a:ln w="6350" cap="flat" cmpd="sng">
                <a:solidFill>
                  <a:srgbClr val="4F81BD"/>
                </a:solidFill>
                <a:prstDash val="solid"/>
                <a:miter/>
                <a:headEnd type="none" w="med" len="med"/>
                <a:tailEnd type="none" w="med" len="med"/>
              </a:ln>
            </p:spPr>
          </p:sp>
          <p:sp>
            <p:nvSpPr>
              <p:cNvPr id="74793" name="文本框 54"/>
              <p:cNvSpPr txBox="1"/>
              <p:nvPr/>
            </p:nvSpPr>
            <p:spPr>
              <a:xfrm>
                <a:off x="13507" y="20365"/>
                <a:ext cx="4330" cy="2495"/>
              </a:xfrm>
              <a:prstGeom prst="rect">
                <a:avLst/>
              </a:prstGeom>
              <a:solidFill>
                <a:srgbClr val="FFFFFF"/>
              </a:solidFill>
              <a:ln w="6350">
                <a:noFill/>
              </a:ln>
            </p:spPr>
            <p:txBody>
              <a:bodyPr anchor="t" anchorCtr="0"/>
              <a:p>
                <a:pPr eaLnBrk="0" hangingPunct="0">
                  <a:buClrTx/>
                  <a:buFontTx/>
                  <a:buNone/>
                </a:pPr>
                <a:r>
                  <a:rPr lang="zh-CN" altLang="zh-CN" sz="1200" dirty="0">
                    <a:latin typeface="Arial" panose="020B0604020202090204" pitchFamily="34" charset="0"/>
                    <a:ea typeface="宋体" pitchFamily="2" charset="-122"/>
                  </a:rPr>
                  <a:t>纬度</a:t>
                </a:r>
                <a:endParaRPr lang="zh-CN" altLang="zh-CN" sz="1200" dirty="0">
                  <a:latin typeface="Arial" panose="020B0604020202090204" pitchFamily="34" charset="0"/>
                  <a:ea typeface="宋体" pitchFamily="2" charset="-122"/>
                </a:endParaRPr>
              </a:p>
            </p:txBody>
          </p:sp>
          <p:sp>
            <p:nvSpPr>
              <p:cNvPr id="91179" name="椭圆 179"/>
              <p:cNvSpPr>
                <a:spLocks noChangeArrowheads="1"/>
              </p:cNvSpPr>
              <p:nvPr/>
            </p:nvSpPr>
            <p:spPr bwMode="auto">
              <a:xfrm>
                <a:off x="20773" y="22006"/>
                <a:ext cx="9282" cy="6666"/>
              </a:xfrm>
              <a:prstGeom prst="ellipse">
                <a:avLst/>
              </a:prstGeom>
              <a:solidFill>
                <a:srgbClr val="FFFFFF"/>
              </a:solidFill>
              <a:ln w="12700">
                <a:solidFill>
                  <a:srgbClr val="000000"/>
                </a:solidFill>
                <a:miter lim="800000"/>
              </a:ln>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sz="1200" b="1" i="0" u="none" strike="noStrike" kern="1200" cap="none" spc="0" normalizeH="0" baseline="0" noProof="0" dirty="0">
                    <a:ln>
                      <a:noFill/>
                    </a:ln>
                    <a:solidFill>
                      <a:srgbClr val="595959"/>
                    </a:solidFill>
                    <a:effectLst/>
                    <a:uLnTx/>
                    <a:uFillTx/>
                    <a:latin typeface="Arial" panose="020B0604020202090204" pitchFamily="34" charset="0"/>
                    <a:ea typeface="宋体" pitchFamily="2" charset="-122"/>
                    <a:cs typeface="Times New Roman" panose="02020503050405090304" pitchFamily="18" charset="0"/>
                  </a:rPr>
                  <a:t>东经</a:t>
                </a:r>
                <a:endParaRPr kumimoji="0" lang="zh-CN" sz="1200" b="0"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rgbClr val="595959"/>
                    </a:solidFill>
                    <a:effectLst/>
                    <a:uLnTx/>
                    <a:uFillTx/>
                    <a:latin typeface="Arial" panose="020B0604020202090204" pitchFamily="34" charset="0"/>
                    <a:ea typeface="宋体" pitchFamily="2" charset="-122"/>
                    <a:cs typeface="Times New Roman" panose="02020503050405090304" pitchFamily="18" charset="0"/>
                  </a:rPr>
                  <a:t>116</a:t>
                </a:r>
                <a:r>
                  <a:rPr kumimoji="0" lang="en-US" altLang="zh-CN" sz="1200" b="1" i="0" u="none" strike="noStrike" kern="1200" cap="none" spc="0" normalizeH="0" baseline="0" noProof="0" dirty="0">
                    <a:ln>
                      <a:noFill/>
                    </a:ln>
                    <a:solidFill>
                      <a:srgbClr val="595959"/>
                    </a:solidFill>
                    <a:effectLst/>
                    <a:uLnTx/>
                    <a:uFillTx/>
                    <a:latin typeface="Times New Roman" panose="02020503050405090304" pitchFamily="18" charset="0"/>
                    <a:ea typeface="宋体" pitchFamily="2" charset="-122"/>
                    <a:cs typeface="Times New Roman" panose="02020503050405090304" pitchFamily="18" charset="0"/>
                  </a:rPr>
                  <a:t>°</a:t>
                </a:r>
                <a:r>
                  <a:rPr kumimoji="0" lang="en-US" altLang="zh-CN" sz="1200" b="1" i="0" u="none" strike="noStrike" kern="1200" cap="none" spc="0" normalizeH="0" baseline="0" noProof="0" dirty="0">
                    <a:ln>
                      <a:noFill/>
                    </a:ln>
                    <a:solidFill>
                      <a:srgbClr val="595959"/>
                    </a:solidFill>
                    <a:effectLst/>
                    <a:uLnTx/>
                    <a:uFillTx/>
                    <a:latin typeface="Arial" panose="020B0604020202090204" pitchFamily="34" charset="0"/>
                    <a:ea typeface="宋体" pitchFamily="2" charset="-122"/>
                    <a:cs typeface="Times New Roman" panose="02020503050405090304" pitchFamily="18" charset="0"/>
                  </a:rPr>
                  <a:t>25</a:t>
                </a:r>
                <a:r>
                  <a:rPr kumimoji="0" lang="en-US" altLang="zh-CN" sz="1200" b="0" i="0" u="none" strike="noStrike" kern="1200" cap="none" spc="0" normalizeH="0" baseline="0" noProof="0" dirty="0">
                    <a:ln>
                      <a:noFill/>
                    </a:ln>
                    <a:solidFill>
                      <a:srgbClr val="333333"/>
                    </a:solidFill>
                    <a:effectLst/>
                    <a:uLnTx/>
                    <a:uFillTx/>
                    <a:latin typeface="Arial" panose="020B0604020202090204" pitchFamily="34" charset="0"/>
                    <a:ea typeface="宋体" pitchFamily="2" charset="-122"/>
                    <a:cs typeface="Arial" panose="020B0604020202090204" pitchFamily="34" charset="0"/>
                  </a:rPr>
                  <a:t>′</a:t>
                </a:r>
                <a:endParaRPr kumimoji="0" lang="en-US" altLang="zh-CN" sz="1200" b="0"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a:p>
                <a:pPr marL="0" marR="0" lvl="0" indent="22860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 </a:t>
                </a:r>
                <a:endParaRPr kumimoji="0" lang="en-US" altLang="zh-CN" sz="1800" b="0"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74795" name="直接连接符 180"/>
              <p:cNvSpPr/>
              <p:nvPr/>
            </p:nvSpPr>
            <p:spPr>
              <a:xfrm flipH="1" flipV="1">
                <a:off x="17087" y="18717"/>
                <a:ext cx="5817" cy="4261"/>
              </a:xfrm>
              <a:prstGeom prst="line">
                <a:avLst/>
              </a:prstGeom>
              <a:ln w="6350" cap="flat" cmpd="sng">
                <a:solidFill>
                  <a:srgbClr val="4F81BD"/>
                </a:solidFill>
                <a:prstDash val="solid"/>
                <a:miter/>
                <a:headEnd type="none" w="med" len="med"/>
                <a:tailEnd type="none" w="med" len="med"/>
              </a:ln>
            </p:spPr>
          </p:sp>
          <p:sp>
            <p:nvSpPr>
              <p:cNvPr id="74796" name="文本框 54"/>
              <p:cNvSpPr txBox="1"/>
              <p:nvPr/>
            </p:nvSpPr>
            <p:spPr>
              <a:xfrm>
                <a:off x="18574" y="19610"/>
                <a:ext cx="4330" cy="2495"/>
              </a:xfrm>
              <a:prstGeom prst="rect">
                <a:avLst/>
              </a:prstGeom>
              <a:solidFill>
                <a:srgbClr val="FFFFFF"/>
              </a:solidFill>
              <a:ln w="6350">
                <a:noFill/>
              </a:ln>
            </p:spPr>
            <p:txBody>
              <a:bodyPr anchor="t" anchorCtr="0"/>
              <a:p>
                <a:pPr eaLnBrk="0" hangingPunct="0">
                  <a:buClrTx/>
                  <a:buFontTx/>
                  <a:buNone/>
                </a:pPr>
                <a:r>
                  <a:rPr lang="zh-CN" altLang="zh-CN" sz="1200" dirty="0">
                    <a:latin typeface="Arial" panose="020B0604020202090204" pitchFamily="34" charset="0"/>
                    <a:ea typeface="宋体" pitchFamily="2" charset="-122"/>
                  </a:rPr>
                  <a:t>经度</a:t>
                </a:r>
                <a:endParaRPr lang="zh-CN" altLang="zh-CN" sz="1200" dirty="0">
                  <a:latin typeface="Arial" panose="020B0604020202090204" pitchFamily="34" charset="0"/>
                  <a:ea typeface="宋体" pitchFamily="2" charset="-122"/>
                </a:endParaRPr>
              </a:p>
            </p:txBody>
          </p:sp>
          <p:sp>
            <p:nvSpPr>
              <p:cNvPr id="74797" name="直接连接符 182"/>
              <p:cNvSpPr/>
              <p:nvPr/>
            </p:nvSpPr>
            <p:spPr>
              <a:xfrm flipH="1">
                <a:off x="35018" y="13703"/>
                <a:ext cx="520" cy="3005"/>
              </a:xfrm>
              <a:prstGeom prst="line">
                <a:avLst/>
              </a:prstGeom>
              <a:ln w="6350" cap="flat" cmpd="sng">
                <a:solidFill>
                  <a:srgbClr val="4F81BD"/>
                </a:solidFill>
                <a:prstDash val="solid"/>
                <a:miter/>
                <a:headEnd type="none" w="med" len="med"/>
                <a:tailEnd type="none" w="med" len="med"/>
              </a:ln>
            </p:spPr>
          </p:sp>
          <p:sp>
            <p:nvSpPr>
              <p:cNvPr id="74798" name="椭圆 183"/>
              <p:cNvSpPr/>
              <p:nvPr/>
            </p:nvSpPr>
            <p:spPr>
              <a:xfrm>
                <a:off x="41502" y="5270"/>
                <a:ext cx="10036" cy="6977"/>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en-US" altLang="zh-CN" sz="1200" b="1" dirty="0">
                    <a:solidFill>
                      <a:srgbClr val="595959"/>
                    </a:solidFill>
                    <a:latin typeface="Arial" panose="020B0604020202090204" pitchFamily="34" charset="0"/>
                    <a:ea typeface="宋体" pitchFamily="2" charset="-122"/>
                  </a:rPr>
                  <a:t>937</a:t>
                </a:r>
                <a:r>
                  <a:rPr lang="zh-CN" altLang="en-US" sz="1200" b="1" dirty="0">
                    <a:solidFill>
                      <a:srgbClr val="595959"/>
                    </a:solidFill>
                    <a:latin typeface="Arial" panose="020B0604020202090204" pitchFamily="34" charset="0"/>
                    <a:ea typeface="宋体" pitchFamily="2" charset="-122"/>
                  </a:rPr>
                  <a:t>万平方公里</a:t>
                </a:r>
                <a:endParaRPr lang="zh-CN" altLang="en-US" sz="1200" dirty="0">
                  <a:latin typeface="Arial" panose="020B0604020202090204" pitchFamily="34" charset="0"/>
                  <a:ea typeface="宋体" pitchFamily="2" charset="-122"/>
                </a:endParaRPr>
              </a:p>
            </p:txBody>
          </p:sp>
          <p:sp>
            <p:nvSpPr>
              <p:cNvPr id="74799" name="文本框 54"/>
              <p:cNvSpPr txBox="1"/>
              <p:nvPr/>
            </p:nvSpPr>
            <p:spPr>
              <a:xfrm>
                <a:off x="37171" y="7416"/>
                <a:ext cx="4331" cy="2496"/>
              </a:xfrm>
              <a:prstGeom prst="rect">
                <a:avLst/>
              </a:prstGeom>
              <a:solidFill>
                <a:srgbClr val="FFFFFF"/>
              </a:solidFill>
              <a:ln w="6350">
                <a:noFill/>
              </a:ln>
            </p:spPr>
            <p:txBody>
              <a:bodyPr anchor="t" anchorCtr="0"/>
              <a:p>
                <a:pPr eaLnBrk="0" hangingPunct="0">
                  <a:buClrTx/>
                  <a:buFontTx/>
                  <a:buNone/>
                </a:pPr>
                <a:r>
                  <a:rPr lang="zh-CN" altLang="zh-CN" sz="1200" dirty="0">
                    <a:latin typeface="Arial" panose="020B0604020202090204" pitchFamily="34" charset="0"/>
                    <a:ea typeface="宋体" pitchFamily="2" charset="-122"/>
                  </a:rPr>
                  <a:t>面积</a:t>
                </a:r>
                <a:endParaRPr lang="zh-CN" altLang="zh-CN" sz="1200" dirty="0">
                  <a:latin typeface="Arial" panose="020B0604020202090204" pitchFamily="34" charset="0"/>
                  <a:ea typeface="宋体" pitchFamily="2" charset="-122"/>
                </a:endParaRPr>
              </a:p>
            </p:txBody>
          </p:sp>
          <p:sp>
            <p:nvSpPr>
              <p:cNvPr id="74800" name="直接连接符 189"/>
              <p:cNvSpPr/>
              <p:nvPr/>
            </p:nvSpPr>
            <p:spPr>
              <a:xfrm flipH="1">
                <a:off x="37727" y="8367"/>
                <a:ext cx="3775" cy="1515"/>
              </a:xfrm>
              <a:prstGeom prst="line">
                <a:avLst/>
              </a:prstGeom>
              <a:ln w="6350" cap="flat" cmpd="sng">
                <a:solidFill>
                  <a:srgbClr val="4F81BD"/>
                </a:solidFill>
                <a:prstDash val="solid"/>
                <a:miter/>
                <a:headEnd type="none" w="med" len="med"/>
                <a:tailEnd type="none" w="med" len="med"/>
              </a:ln>
            </p:spPr>
          </p:sp>
          <p:sp>
            <p:nvSpPr>
              <p:cNvPr id="74801" name="椭圆 190"/>
              <p:cNvSpPr/>
              <p:nvPr/>
            </p:nvSpPr>
            <p:spPr>
              <a:xfrm>
                <a:off x="40971" y="12247"/>
                <a:ext cx="9483" cy="4534"/>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en-US" altLang="zh-CN" sz="1200" b="1" dirty="0">
                    <a:solidFill>
                      <a:srgbClr val="595959"/>
                    </a:solidFill>
                    <a:latin typeface="Arial" panose="020B0604020202090204" pitchFamily="34" charset="0"/>
                    <a:ea typeface="宋体" pitchFamily="2" charset="-122"/>
                  </a:rPr>
                  <a:t>3.1</a:t>
                </a:r>
                <a:r>
                  <a:rPr lang="zh-CN" altLang="en-US" sz="1200" b="1" dirty="0">
                    <a:solidFill>
                      <a:srgbClr val="595959"/>
                    </a:solidFill>
                    <a:latin typeface="Arial" panose="020B0604020202090204" pitchFamily="34" charset="0"/>
                    <a:ea typeface="宋体" pitchFamily="2" charset="-122"/>
                  </a:rPr>
                  <a:t>亿亿</a:t>
                </a:r>
                <a:endParaRPr lang="zh-CN" altLang="en-US" sz="1200" dirty="0">
                  <a:latin typeface="Arial" panose="020B0604020202090204" pitchFamily="34" charset="0"/>
                  <a:ea typeface="宋体" pitchFamily="2" charset="-122"/>
                </a:endParaRPr>
              </a:p>
            </p:txBody>
          </p:sp>
          <p:sp>
            <p:nvSpPr>
              <p:cNvPr id="74802" name="直接连接符 191"/>
              <p:cNvSpPr/>
              <p:nvPr/>
            </p:nvSpPr>
            <p:spPr>
              <a:xfrm>
                <a:off x="37727" y="13047"/>
                <a:ext cx="3244" cy="1467"/>
              </a:xfrm>
              <a:prstGeom prst="line">
                <a:avLst/>
              </a:prstGeom>
              <a:ln w="6350" cap="flat" cmpd="sng">
                <a:solidFill>
                  <a:srgbClr val="4F81BD"/>
                </a:solidFill>
                <a:prstDash val="solid"/>
                <a:miter/>
                <a:headEnd type="none" w="med" len="med"/>
                <a:tailEnd type="none" w="med" len="med"/>
              </a:ln>
            </p:spPr>
          </p:sp>
          <p:sp>
            <p:nvSpPr>
              <p:cNvPr id="74803" name="椭圆 192"/>
              <p:cNvSpPr/>
              <p:nvPr/>
            </p:nvSpPr>
            <p:spPr>
              <a:xfrm>
                <a:off x="30405" y="23819"/>
                <a:ext cx="8334" cy="6204"/>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en-US" altLang="zh-CN" sz="1200" b="1" dirty="0">
                    <a:solidFill>
                      <a:srgbClr val="595959"/>
                    </a:solidFill>
                    <a:latin typeface="Arial" panose="020B0604020202090204" pitchFamily="34" charset="0"/>
                    <a:ea typeface="宋体" pitchFamily="2" charset="-122"/>
                  </a:rPr>
                  <a:t>178</a:t>
                </a:r>
                <a:r>
                  <a:rPr lang="zh-CN" altLang="en-US" sz="1200" b="1" dirty="0">
                    <a:solidFill>
                      <a:srgbClr val="595959"/>
                    </a:solidFill>
                    <a:latin typeface="Arial" panose="020B0604020202090204" pitchFamily="34" charset="0"/>
                    <a:ea typeface="宋体" pitchFamily="2" charset="-122"/>
                  </a:rPr>
                  <a:t>平</a:t>
                </a:r>
                <a:endParaRPr lang="zh-CN" altLang="en-US" sz="1200" dirty="0">
                  <a:latin typeface="Arial" panose="020B0604020202090204" pitchFamily="34" charset="0"/>
                  <a:ea typeface="宋体" pitchFamily="2" charset="-122"/>
                </a:endParaRPr>
              </a:p>
              <a:p>
                <a:pPr eaLnBrk="0" hangingPunct="0">
                  <a:buClrTx/>
                  <a:buFontTx/>
                  <a:buNone/>
                </a:pPr>
                <a:r>
                  <a:rPr lang="zh-CN" altLang="en-US" sz="1200" b="1" dirty="0">
                    <a:solidFill>
                      <a:srgbClr val="595959"/>
                    </a:solidFill>
                    <a:latin typeface="Arial" panose="020B0604020202090204" pitchFamily="34" charset="0"/>
                    <a:ea typeface="宋体" pitchFamily="2" charset="-122"/>
                  </a:rPr>
                  <a:t>方公里</a:t>
                </a:r>
                <a:endParaRPr lang="zh-CN" altLang="en-US" sz="1200" dirty="0">
                  <a:latin typeface="Arial" panose="020B0604020202090204" pitchFamily="34" charset="0"/>
                  <a:ea typeface="宋体" pitchFamily="2" charset="-122"/>
                </a:endParaRPr>
              </a:p>
            </p:txBody>
          </p:sp>
          <p:sp>
            <p:nvSpPr>
              <p:cNvPr id="74804" name="直接连接符 193"/>
              <p:cNvSpPr/>
              <p:nvPr/>
            </p:nvSpPr>
            <p:spPr>
              <a:xfrm flipH="1">
                <a:off x="33778" y="21184"/>
                <a:ext cx="1240" cy="2635"/>
              </a:xfrm>
              <a:prstGeom prst="line">
                <a:avLst/>
              </a:prstGeom>
              <a:ln w="6350" cap="flat" cmpd="sng">
                <a:solidFill>
                  <a:srgbClr val="4F81BD"/>
                </a:solidFill>
                <a:prstDash val="solid"/>
                <a:miter/>
                <a:headEnd type="none" w="med" len="med"/>
                <a:tailEnd type="none" w="med" len="med"/>
              </a:ln>
            </p:spPr>
          </p:sp>
          <p:sp>
            <p:nvSpPr>
              <p:cNvPr id="74805" name="椭圆 194"/>
              <p:cNvSpPr/>
              <p:nvPr/>
            </p:nvSpPr>
            <p:spPr>
              <a:xfrm>
                <a:off x="39678" y="23099"/>
                <a:ext cx="8569" cy="6692"/>
              </a:xfrm>
              <a:prstGeom prst="ellipse">
                <a:avLst/>
              </a:prstGeom>
              <a:solidFill>
                <a:srgbClr val="FFFFFF"/>
              </a:solidFill>
              <a:ln w="12700" cap="flat" cmpd="sng">
                <a:solidFill>
                  <a:srgbClr val="000000"/>
                </a:solidFill>
                <a:prstDash val="solid"/>
                <a:miter/>
                <a:headEnd type="none" w="med" len="med"/>
                <a:tailEnd type="none" w="med" len="med"/>
              </a:ln>
            </p:spPr>
            <p:txBody>
              <a:bodyPr anchor="ctr" anchorCtr="0"/>
              <a:p>
                <a:pPr eaLnBrk="0" hangingPunct="0">
                  <a:buClrTx/>
                  <a:buFontTx/>
                  <a:buNone/>
                </a:pPr>
                <a:r>
                  <a:rPr lang="zh-CN" altLang="zh-CN" sz="1200" b="1" dirty="0">
                    <a:solidFill>
                      <a:srgbClr val="595959"/>
                    </a:solidFill>
                    <a:latin typeface="Arial" panose="020B0604020202090204" pitchFamily="34" charset="0"/>
                    <a:ea typeface="宋体" pitchFamily="2" charset="-122"/>
                  </a:rPr>
                  <a:t>北纬</a:t>
                </a:r>
                <a:r>
                  <a:rPr lang="en-US" altLang="zh-CN" sz="1200" b="1" dirty="0">
                    <a:solidFill>
                      <a:srgbClr val="595959"/>
                    </a:solidFill>
                    <a:latin typeface="Arial" panose="020B0604020202090204" pitchFamily="34" charset="0"/>
                    <a:ea typeface="宋体" pitchFamily="2" charset="-122"/>
                  </a:rPr>
                  <a:t>9</a:t>
                </a:r>
                <a:r>
                  <a:rPr lang="en-US" altLang="zh-CN" sz="1200" b="1" dirty="0">
                    <a:solidFill>
                      <a:srgbClr val="595959"/>
                    </a:solidFill>
                    <a:latin typeface="Times New Roman" panose="02020503050405090304" pitchFamily="18" charset="0"/>
                    <a:ea typeface="宋体" pitchFamily="2" charset="-122"/>
                  </a:rPr>
                  <a:t>°</a:t>
                </a:r>
                <a:r>
                  <a:rPr lang="en-US" altLang="zh-CN" sz="1200" b="1" dirty="0">
                    <a:solidFill>
                      <a:srgbClr val="595959"/>
                    </a:solidFill>
                    <a:latin typeface="Arial" panose="020B0604020202090204" pitchFamily="34" charset="0"/>
                    <a:ea typeface="宋体" pitchFamily="2" charset="-122"/>
                  </a:rPr>
                  <a:t>53</a:t>
                </a:r>
                <a:r>
                  <a:rPr lang="en-US" altLang="zh-CN" sz="1200" b="1" dirty="0">
                    <a:solidFill>
                      <a:srgbClr val="595959"/>
                    </a:solidFill>
                    <a:latin typeface="Times New Roman" panose="02020503050405090304" pitchFamily="18" charset="0"/>
                    <a:ea typeface="宋体" pitchFamily="2" charset="-122"/>
                  </a:rPr>
                  <a:t>′</a:t>
                </a:r>
                <a:endParaRPr lang="en-US" altLang="zh-CN" sz="1200" dirty="0">
                  <a:latin typeface="Arial" panose="020B0604020202090204" pitchFamily="34" charset="0"/>
                  <a:ea typeface="宋体" pitchFamily="2" charset="-122"/>
                </a:endParaRPr>
              </a:p>
            </p:txBody>
          </p:sp>
          <p:sp>
            <p:nvSpPr>
              <p:cNvPr id="74806" name="直接连接符 195"/>
              <p:cNvSpPr/>
              <p:nvPr/>
            </p:nvSpPr>
            <p:spPr>
              <a:xfrm flipH="1" flipV="1">
                <a:off x="37627" y="20529"/>
                <a:ext cx="3460" cy="3926"/>
              </a:xfrm>
              <a:prstGeom prst="line">
                <a:avLst/>
              </a:prstGeom>
              <a:ln w="6350" cap="flat" cmpd="sng">
                <a:solidFill>
                  <a:srgbClr val="4F81BD"/>
                </a:solidFill>
                <a:prstDash val="solid"/>
                <a:miter/>
                <a:headEnd type="none" w="med" len="med"/>
                <a:tailEnd type="none" w="med" len="med"/>
              </a:ln>
            </p:spPr>
          </p:sp>
          <p:sp>
            <p:nvSpPr>
              <p:cNvPr id="91192" name="椭圆 196"/>
              <p:cNvSpPr>
                <a:spLocks noChangeArrowheads="1"/>
              </p:cNvSpPr>
              <p:nvPr/>
            </p:nvSpPr>
            <p:spPr bwMode="auto">
              <a:xfrm>
                <a:off x="44588" y="17227"/>
                <a:ext cx="11285" cy="6666"/>
              </a:xfrm>
              <a:prstGeom prst="ellipse">
                <a:avLst/>
              </a:prstGeom>
              <a:solidFill>
                <a:srgbClr val="FFFFFF"/>
              </a:solidFill>
              <a:ln w="12700">
                <a:solidFill>
                  <a:srgbClr val="000000"/>
                </a:solidFill>
                <a:miter lim="800000"/>
              </a:ln>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sz="1200" b="1" i="0" u="none" strike="noStrike" kern="1200" cap="none" spc="0" normalizeH="0" baseline="0" noProof="0" dirty="0">
                    <a:ln>
                      <a:noFill/>
                    </a:ln>
                    <a:solidFill>
                      <a:srgbClr val="595959"/>
                    </a:solidFill>
                    <a:effectLst/>
                    <a:uLnTx/>
                    <a:uFillTx/>
                    <a:latin typeface="Arial" panose="020B0604020202090204" pitchFamily="34" charset="0"/>
                    <a:ea typeface="宋体" pitchFamily="2" charset="-122"/>
                    <a:cs typeface="Times New Roman" panose="02020503050405090304" pitchFamily="18" charset="0"/>
                  </a:rPr>
                  <a:t>西经</a:t>
                </a:r>
                <a:r>
                  <a:rPr kumimoji="0" lang="en-US" altLang="zh-CN" sz="1200" b="1" i="0" u="none" strike="noStrike" kern="1200" cap="none" spc="0" normalizeH="0" baseline="0" noProof="0" dirty="0">
                    <a:ln>
                      <a:noFill/>
                    </a:ln>
                    <a:solidFill>
                      <a:srgbClr val="595959"/>
                    </a:solidFill>
                    <a:effectLst/>
                    <a:uLnTx/>
                    <a:uFillTx/>
                    <a:latin typeface="Arial" panose="020B0604020202090204" pitchFamily="34" charset="0"/>
                    <a:ea typeface="宋体" pitchFamily="2" charset="-122"/>
                    <a:cs typeface="Times New Roman" panose="02020503050405090304" pitchFamily="18" charset="0"/>
                  </a:rPr>
                  <a:t>77</a:t>
                </a:r>
                <a:r>
                  <a:rPr kumimoji="0" lang="en-US" altLang="zh-CN" sz="1200" b="1" i="0" u="none" strike="noStrike" kern="1200" cap="none" spc="0" normalizeH="0" baseline="0" noProof="0" dirty="0">
                    <a:ln>
                      <a:noFill/>
                    </a:ln>
                    <a:solidFill>
                      <a:srgbClr val="595959"/>
                    </a:solidFill>
                    <a:effectLst/>
                    <a:uLnTx/>
                    <a:uFillTx/>
                    <a:latin typeface="Times New Roman" panose="02020503050405090304" pitchFamily="18" charset="0"/>
                    <a:ea typeface="宋体" pitchFamily="2" charset="-122"/>
                    <a:cs typeface="Times New Roman" panose="02020503050405090304" pitchFamily="18" charset="0"/>
                  </a:rPr>
                  <a:t>°</a:t>
                </a:r>
                <a:r>
                  <a:rPr kumimoji="0" lang="en-US" altLang="zh-CN" sz="1200" b="1" i="0" u="none" strike="noStrike" kern="1200" cap="none" spc="0" normalizeH="0" baseline="0" noProof="0" dirty="0">
                    <a:ln>
                      <a:noFill/>
                    </a:ln>
                    <a:solidFill>
                      <a:srgbClr val="595959"/>
                    </a:solidFill>
                    <a:effectLst/>
                    <a:uLnTx/>
                    <a:uFillTx/>
                    <a:latin typeface="Arial" panose="020B0604020202090204" pitchFamily="34" charset="0"/>
                    <a:ea typeface="宋体" pitchFamily="2" charset="-122"/>
                    <a:cs typeface="Times New Roman" panose="02020503050405090304" pitchFamily="18" charset="0"/>
                  </a:rPr>
                  <a:t>02</a:t>
                </a:r>
                <a:r>
                  <a:rPr kumimoji="0" lang="en-US" altLang="zh-CN" sz="1200" b="0" i="0" u="none" strike="noStrike" kern="1200" cap="none" spc="0" normalizeH="0" baseline="0" noProof="0" dirty="0">
                    <a:ln>
                      <a:noFill/>
                    </a:ln>
                    <a:solidFill>
                      <a:srgbClr val="333333"/>
                    </a:solidFill>
                    <a:effectLst/>
                    <a:uLnTx/>
                    <a:uFillTx/>
                    <a:latin typeface="Arial" panose="020B0604020202090204" pitchFamily="34" charset="0"/>
                    <a:ea typeface="宋体" pitchFamily="2" charset="-122"/>
                    <a:cs typeface="Arial" panose="020B0604020202090204" pitchFamily="34" charset="0"/>
                  </a:rPr>
                  <a:t>′</a:t>
                </a:r>
                <a:r>
                  <a:rPr kumimoji="0" lang="en-US" altLang="zh-CN" sz="1200" b="1" i="0" u="none" strike="noStrike" kern="1200" cap="none" spc="0" normalizeH="0" baseline="0" noProof="0" dirty="0">
                    <a:ln>
                      <a:noFill/>
                    </a:ln>
                    <a:solidFill>
                      <a:srgbClr val="595959"/>
                    </a:solidFill>
                    <a:effectLst/>
                    <a:uLnTx/>
                    <a:uFillTx/>
                    <a:latin typeface="Arial" panose="020B0604020202090204" pitchFamily="34" charset="0"/>
                    <a:ea typeface="宋体" pitchFamily="2" charset="-122"/>
                    <a:cs typeface="Times New Roman" panose="02020503050405090304" pitchFamily="18" charset="0"/>
                  </a:rPr>
                  <a:t>25</a:t>
                </a:r>
                <a:r>
                  <a:rPr kumimoji="0" lang="en-US" altLang="zh-CN" sz="1000" b="0" i="0" u="none" strike="noStrike" kern="1200" cap="none" spc="0" normalizeH="0" baseline="0" noProof="0" dirty="0">
                    <a:ln>
                      <a:noFill/>
                    </a:ln>
                    <a:solidFill>
                      <a:srgbClr val="333333"/>
                    </a:solidFill>
                    <a:effectLst/>
                    <a:uLnTx/>
                    <a:uFillTx/>
                    <a:latin typeface="Arial" panose="020B0604020202090204" pitchFamily="34" charset="0"/>
                    <a:ea typeface="宋体" pitchFamily="2" charset="-122"/>
                    <a:cs typeface="+mn-cs"/>
                  </a:rPr>
                  <a:t>′</a:t>
                </a:r>
                <a:endParaRPr kumimoji="0" lang="en-US" altLang="zh-CN" sz="1200" b="0"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a:p>
                <a:pPr marL="0" marR="0" lvl="0" indent="22860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 </a:t>
                </a:r>
                <a:endParaRPr kumimoji="0" lang="en-US" altLang="zh-CN" sz="1800" b="0"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74808" name="直接连接符 197"/>
              <p:cNvSpPr/>
              <p:nvPr/>
            </p:nvSpPr>
            <p:spPr>
              <a:xfrm flipH="1" flipV="1">
                <a:off x="38707" y="18946"/>
                <a:ext cx="5880" cy="1615"/>
              </a:xfrm>
              <a:prstGeom prst="line">
                <a:avLst/>
              </a:prstGeom>
              <a:ln w="6350" cap="flat" cmpd="sng">
                <a:solidFill>
                  <a:srgbClr val="4F81BD"/>
                </a:solidFill>
                <a:prstDash val="solid"/>
                <a:miter/>
                <a:headEnd type="none" w="med" len="med"/>
                <a:tailEnd type="none" w="med" len="med"/>
              </a:ln>
            </p:spPr>
          </p:sp>
          <p:sp>
            <p:nvSpPr>
              <p:cNvPr id="74809" name="文本框 54"/>
              <p:cNvSpPr txBox="1"/>
              <p:nvPr/>
            </p:nvSpPr>
            <p:spPr>
              <a:xfrm>
                <a:off x="39763" y="18893"/>
                <a:ext cx="4331" cy="2496"/>
              </a:xfrm>
              <a:prstGeom prst="rect">
                <a:avLst/>
              </a:prstGeom>
              <a:solidFill>
                <a:srgbClr val="FFFFFF"/>
              </a:solidFill>
              <a:ln w="6350">
                <a:noFill/>
              </a:ln>
            </p:spPr>
            <p:txBody>
              <a:bodyPr anchor="t" anchorCtr="0"/>
              <a:p>
                <a:pPr eaLnBrk="0" hangingPunct="0">
                  <a:buClrTx/>
                  <a:buFontTx/>
                  <a:buNone/>
                </a:pPr>
                <a:r>
                  <a:rPr lang="zh-CN" altLang="zh-CN" sz="1200" dirty="0">
                    <a:latin typeface="Arial" panose="020B0604020202090204" pitchFamily="34" charset="0"/>
                    <a:ea typeface="宋体" pitchFamily="2" charset="-122"/>
                  </a:rPr>
                  <a:t>经度</a:t>
                </a:r>
                <a:endParaRPr lang="zh-CN" altLang="zh-CN" sz="1200" dirty="0">
                  <a:latin typeface="Arial" panose="020B0604020202090204" pitchFamily="34" charset="0"/>
                  <a:ea typeface="宋体" pitchFamily="2" charset="-122"/>
                </a:endParaRPr>
              </a:p>
            </p:txBody>
          </p:sp>
        </p:grpSp>
      </p:grpSp>
    </p:spTree>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5778"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2.5.4</a:t>
            </a:r>
            <a:r>
              <a:rPr lang="zh-CN" altLang="zh-CN" dirty="0">
                <a:latin typeface="Times New Roman" panose="02020503050405090304" pitchFamily="18" charset="0"/>
              </a:rPr>
              <a:t>知识图谱的架构</a:t>
            </a:r>
            <a:endParaRPr lang="zh-CN" altLang="en-US" dirty="0">
              <a:latin typeface="Times New Roman" panose="02020503050405090304" pitchFamily="18" charset="0"/>
            </a:endParaRPr>
          </a:p>
        </p:txBody>
      </p:sp>
      <p:sp>
        <p:nvSpPr>
          <p:cNvPr id="75779" name="Rectangle 3"/>
          <p:cNvSpPr>
            <a:spLocks noGrp="1"/>
          </p:cNvSpPr>
          <p:nvPr>
            <p:ph idx="1"/>
          </p:nvPr>
        </p:nvSpPr>
        <p:spPr>
          <a:xfrm>
            <a:off x="393700" y="962025"/>
            <a:ext cx="8410575" cy="2840038"/>
          </a:xfrm>
        </p:spPr>
        <p:txBody>
          <a:bodyPr vert="horz" wrap="square" lIns="91440" tIns="45720" rIns="91440" bIns="45720" anchor="t" anchorCtr="0"/>
          <a:p>
            <a:pPr algn="just" eaLnBrk="1" hangingPunct="1"/>
            <a:r>
              <a:rPr lang="en-US" altLang="zh-CN" sz="2600" b="1" dirty="0">
                <a:solidFill>
                  <a:srgbClr val="0000FF"/>
                </a:solidFill>
                <a:latin typeface="Times New Roman" panose="02020503050405090304" pitchFamily="18" charset="0"/>
              </a:rPr>
              <a:t>1. </a:t>
            </a:r>
            <a:r>
              <a:rPr lang="zh-CN" altLang="zh-CN" sz="2600" b="1" dirty="0">
                <a:solidFill>
                  <a:srgbClr val="0000FF"/>
                </a:solidFill>
                <a:latin typeface="Times New Roman" panose="02020503050405090304" pitchFamily="18" charset="0"/>
              </a:rPr>
              <a:t>知识图谱的逻辑结构</a:t>
            </a:r>
            <a:r>
              <a:rPr lang="zh-CN" altLang="en-US" sz="2600" b="1" dirty="0">
                <a:latin typeface="Times New Roman" panose="02020503050405090304" pitchFamily="18" charset="0"/>
              </a:rPr>
              <a:t>：</a:t>
            </a:r>
            <a:r>
              <a:rPr lang="zh-CN" altLang="zh-CN" sz="2600" b="1" dirty="0">
                <a:latin typeface="Times New Roman" panose="02020503050405090304" pitchFamily="18" charset="0"/>
              </a:rPr>
              <a:t>模式层与数据层</a:t>
            </a:r>
            <a:r>
              <a:rPr lang="zh-CN" altLang="en-US" sz="2600" b="1" dirty="0">
                <a:latin typeface="Times New Roman" panose="02020503050405090304" pitchFamily="18" charset="0"/>
              </a:rPr>
              <a:t>。</a:t>
            </a:r>
            <a:endParaRPr lang="zh-CN" altLang="en-US" sz="2600" b="1" dirty="0">
              <a:latin typeface="Times New Roman" panose="02020503050405090304" pitchFamily="18" charset="0"/>
            </a:endParaRPr>
          </a:p>
          <a:p>
            <a:pPr lvl="1" algn="just" eaLnBrk="1" hangingPunct="1"/>
            <a:r>
              <a:rPr lang="zh-CN" altLang="zh-CN" sz="2410" b="1" dirty="0">
                <a:solidFill>
                  <a:srgbClr val="0000FF"/>
                </a:solidFill>
                <a:latin typeface="Times New Roman" panose="02020503050405090304" pitchFamily="18" charset="0"/>
              </a:rPr>
              <a:t>数据层</a:t>
            </a:r>
            <a:r>
              <a:rPr lang="zh-CN" altLang="zh-CN" sz="2410" b="1" dirty="0">
                <a:latin typeface="Times New Roman" panose="02020503050405090304" pitchFamily="18" charset="0"/>
              </a:rPr>
              <a:t>主要是由一系列的事实组成，而知识以事实为单位进行存储。</a:t>
            </a:r>
            <a:endParaRPr lang="en-US" altLang="zh-CN" sz="2410" b="1" dirty="0">
              <a:latin typeface="Times New Roman" panose="02020503050405090304" pitchFamily="18" charset="0"/>
            </a:endParaRPr>
          </a:p>
          <a:p>
            <a:pPr lvl="1" algn="just" eaLnBrk="1" hangingPunct="1"/>
            <a:r>
              <a:rPr lang="zh-CN" altLang="zh-CN" sz="2410" b="1" dirty="0">
                <a:solidFill>
                  <a:srgbClr val="0000FF"/>
                </a:solidFill>
                <a:latin typeface="Times New Roman" panose="02020503050405090304" pitchFamily="18" charset="0"/>
              </a:rPr>
              <a:t>模式层</a:t>
            </a:r>
            <a:r>
              <a:rPr lang="zh-CN" altLang="zh-CN" sz="2410" b="1" dirty="0">
                <a:latin typeface="Times New Roman" panose="02020503050405090304" pitchFamily="18" charset="0"/>
              </a:rPr>
              <a:t>构建在数据层之上，是知识图谱的核心。</a:t>
            </a:r>
            <a:endParaRPr lang="zh-CN" altLang="en-US" sz="2410" b="1" dirty="0">
              <a:solidFill>
                <a:srgbClr val="0000FF"/>
              </a:solidFill>
              <a:latin typeface="Times New Roman" panose="02020503050405090304" pitchFamily="18" charset="0"/>
              <a:ea typeface="Times New Roman" panose="02020503050405090304" pitchFamily="18" charset="0"/>
            </a:endParaRPr>
          </a:p>
        </p:txBody>
      </p:sp>
    </p:spTree>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5778"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2.5.4</a:t>
            </a:r>
            <a:r>
              <a:rPr lang="zh-CN" altLang="zh-CN" dirty="0">
                <a:latin typeface="Times New Roman" panose="02020503050405090304" pitchFamily="18" charset="0"/>
              </a:rPr>
              <a:t>知识图谱的架构</a:t>
            </a:r>
            <a:endParaRPr lang="zh-CN" altLang="en-US" dirty="0">
              <a:latin typeface="Times New Roman" panose="02020503050405090304" pitchFamily="18" charset="0"/>
            </a:endParaRPr>
          </a:p>
        </p:txBody>
      </p:sp>
      <p:sp>
        <p:nvSpPr>
          <p:cNvPr id="75779" name="Rectangle 3"/>
          <p:cNvSpPr>
            <a:spLocks noGrp="1"/>
          </p:cNvSpPr>
          <p:nvPr>
            <p:ph idx="1"/>
          </p:nvPr>
        </p:nvSpPr>
        <p:spPr>
          <a:xfrm>
            <a:off x="393700" y="962025"/>
            <a:ext cx="8410575" cy="967105"/>
          </a:xfrm>
        </p:spPr>
        <p:txBody>
          <a:bodyPr vert="horz" wrap="square" lIns="91440" tIns="45720" rIns="91440" bIns="45720" anchor="t" anchorCtr="0"/>
          <a:p>
            <a:pPr algn="just" eaLnBrk="1" hangingPunct="1"/>
            <a:r>
              <a:rPr lang="en-US" altLang="zh-CN" sz="2600" b="1" dirty="0">
                <a:solidFill>
                  <a:srgbClr val="0000FF"/>
                </a:solidFill>
                <a:latin typeface="Times New Roman" panose="02020503050405090304" pitchFamily="18" charset="0"/>
              </a:rPr>
              <a:t>2. </a:t>
            </a:r>
            <a:r>
              <a:rPr lang="zh-CN" altLang="zh-CN" sz="2600" b="1" dirty="0">
                <a:solidFill>
                  <a:srgbClr val="0000FF"/>
                </a:solidFill>
                <a:latin typeface="Times New Roman" panose="02020503050405090304" pitchFamily="18" charset="0"/>
              </a:rPr>
              <a:t>知识图谱的体系架构</a:t>
            </a:r>
            <a:endParaRPr lang="zh-CN" altLang="en-US" sz="2600" b="1" dirty="0">
              <a:solidFill>
                <a:srgbClr val="0000FF"/>
              </a:solidFill>
              <a:latin typeface="Times New Roman" panose="02020503050405090304" pitchFamily="18" charset="0"/>
              <a:ea typeface="Times New Roman" panose="02020503050405090304" pitchFamily="18" charset="0"/>
            </a:endParaRPr>
          </a:p>
        </p:txBody>
      </p:sp>
      <p:pic>
        <p:nvPicPr>
          <p:cNvPr id="75780" name="图片 201"/>
          <p:cNvPicPr>
            <a:picLocks noChangeAspect="1"/>
          </p:cNvPicPr>
          <p:nvPr/>
        </p:nvPicPr>
        <p:blipFill>
          <a:blip r:embed="rId1"/>
          <a:stretch>
            <a:fillRect/>
          </a:stretch>
        </p:blipFill>
        <p:spPr>
          <a:xfrm>
            <a:off x="798513" y="1753235"/>
            <a:ext cx="7540625" cy="2976563"/>
          </a:xfrm>
          <a:prstGeom prst="rect">
            <a:avLst/>
          </a:prstGeom>
          <a:noFill/>
          <a:ln w="9525">
            <a:noFill/>
          </a:ln>
        </p:spPr>
      </p:pic>
    </p:spTree>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7826"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2.5.5 </a:t>
            </a:r>
            <a:r>
              <a:rPr lang="zh-CN" altLang="zh-CN" dirty="0">
                <a:latin typeface="Times New Roman" panose="02020503050405090304" pitchFamily="18" charset="0"/>
              </a:rPr>
              <a:t>知识图谱的构建</a:t>
            </a:r>
            <a:endParaRPr lang="zh-CN" altLang="en-US" dirty="0">
              <a:latin typeface="Times New Roman" panose="02020503050405090304" pitchFamily="18" charset="0"/>
            </a:endParaRPr>
          </a:p>
        </p:txBody>
      </p:sp>
      <p:sp>
        <p:nvSpPr>
          <p:cNvPr id="77827" name="Rectangle 3"/>
          <p:cNvSpPr>
            <a:spLocks noGrp="1"/>
          </p:cNvSpPr>
          <p:nvPr>
            <p:ph idx="1"/>
          </p:nvPr>
        </p:nvSpPr>
        <p:spPr>
          <a:xfrm>
            <a:off x="217488" y="962025"/>
            <a:ext cx="8751887" cy="2840038"/>
          </a:xfrm>
        </p:spPr>
        <p:txBody>
          <a:bodyPr vert="horz" wrap="square" lIns="91440" tIns="45720" rIns="91440" bIns="45720" anchor="t" anchorCtr="0"/>
          <a:p>
            <a:pPr algn="just" eaLnBrk="1" hangingPunct="1"/>
            <a:r>
              <a:rPr lang="zh-CN" altLang="zh-CN" sz="2600" b="1" dirty="0">
                <a:latin typeface="Times New Roman" panose="02020503050405090304" pitchFamily="18" charset="0"/>
              </a:rPr>
              <a:t>（</a:t>
            </a:r>
            <a:r>
              <a:rPr lang="en-US" altLang="zh-CN" sz="2600" b="1" dirty="0">
                <a:latin typeface="Times New Roman" panose="02020503050405090304" pitchFamily="18" charset="0"/>
              </a:rPr>
              <a:t>1</a:t>
            </a:r>
            <a:r>
              <a:rPr lang="zh-CN" altLang="zh-CN" sz="2600" b="1" dirty="0">
                <a:latin typeface="Times New Roman" panose="02020503050405090304" pitchFamily="18" charset="0"/>
              </a:rPr>
              <a:t>）自顶向下指的是先为知识图谱定义好本体与数据模式，再将实体加入到知识库。</a:t>
            </a:r>
            <a:endParaRPr lang="en-US" altLang="zh-CN" sz="2600" b="1" dirty="0">
              <a:latin typeface="Times New Roman" panose="02020503050405090304" pitchFamily="18" charset="0"/>
            </a:endParaRPr>
          </a:p>
          <a:p>
            <a:pPr algn="just" eaLnBrk="1" hangingPunct="1"/>
            <a:r>
              <a:rPr lang="zh-CN" altLang="zh-CN" sz="2600" b="1" dirty="0">
                <a:latin typeface="Times New Roman" panose="02020503050405090304" pitchFamily="18" charset="0"/>
              </a:rPr>
              <a:t>（</a:t>
            </a:r>
            <a:r>
              <a:rPr lang="en-US" altLang="zh-CN" sz="2600" b="1" dirty="0">
                <a:latin typeface="Times New Roman" panose="02020503050405090304" pitchFamily="18" charset="0"/>
              </a:rPr>
              <a:t>2</a:t>
            </a:r>
            <a:r>
              <a:rPr lang="zh-CN" altLang="zh-CN" sz="2600" b="1" dirty="0">
                <a:latin typeface="Times New Roman" panose="02020503050405090304" pitchFamily="18" charset="0"/>
              </a:rPr>
              <a:t>）自底向上指的是从一些开放链接数据中提取出实体，选择其中置信度较高的加入到知识库，再构建顶层的本体模式</a:t>
            </a:r>
            <a:endParaRPr lang="zh-CN" altLang="en-US" sz="2600" b="1" dirty="0">
              <a:solidFill>
                <a:srgbClr val="0000FF"/>
              </a:solidFill>
              <a:latin typeface="Times New Roman" panose="02020503050405090304" pitchFamily="18" charset="0"/>
              <a:ea typeface="Times New Roman" panose="02020503050405090304" pitchFamily="18" charset="0"/>
            </a:endParaRPr>
          </a:p>
        </p:txBody>
      </p:sp>
    </p:spTree>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8850"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2.5.6 </a:t>
            </a:r>
            <a:r>
              <a:rPr lang="zh-CN" altLang="zh-CN" dirty="0">
                <a:latin typeface="Times New Roman" panose="02020503050405090304" pitchFamily="18" charset="0"/>
              </a:rPr>
              <a:t>知识图谱的典型应用</a:t>
            </a:r>
            <a:endParaRPr lang="zh-CN" altLang="en-US" dirty="0">
              <a:latin typeface="Times New Roman" panose="02020503050405090304" pitchFamily="18" charset="0"/>
            </a:endParaRPr>
          </a:p>
        </p:txBody>
      </p:sp>
      <p:sp>
        <p:nvSpPr>
          <p:cNvPr id="5" name="Rectangle 24"/>
          <p:cNvSpPr/>
          <p:nvPr/>
        </p:nvSpPr>
        <p:spPr bwMode="auto">
          <a:xfrm>
            <a:off x="347663" y="1203325"/>
            <a:ext cx="8302625" cy="755650"/>
          </a:xfrm>
          <a:prstGeom prst="rect">
            <a:avLst/>
          </a:prstGeom>
          <a:noFill/>
          <a:ln>
            <a:noFill/>
          </a:ln>
        </p:spPr>
        <p:txBody>
          <a:bodyPr lIns="0" tIns="0" rIns="0" bIns="0" anchor="ct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zh-CN" sz="2400" b="1" i="0" u="none" strike="noStrike" kern="1200" cap="none" spc="0" normalizeH="0" baseline="0" noProof="0" dirty="0">
                <a:ln>
                  <a:noFill/>
                </a:ln>
                <a:solidFill>
                  <a:srgbClr val="0000FF"/>
                </a:solidFill>
                <a:effectLst/>
                <a:uLnTx/>
                <a:uFillTx/>
                <a:latin typeface="Times New Roman" panose="02020503050405090304" pitchFamily="18" charset="0"/>
                <a:ea typeface="+mn-ea"/>
                <a:cs typeface="Times New Roman" panose="02020503050405090304" pitchFamily="18" charset="0"/>
              </a:rPr>
              <a:t>维基百科（</a:t>
            </a:r>
            <a:r>
              <a:rPr kumimoji="0" lang="en-US" altLang="zh-CN" sz="2400" b="1" i="0" u="none" strike="noStrike" kern="1200" cap="none" spc="0" normalizeH="0" baseline="0" noProof="0" dirty="0">
                <a:ln>
                  <a:noFill/>
                </a:ln>
                <a:solidFill>
                  <a:srgbClr val="0000FF"/>
                </a:solidFill>
                <a:effectLst/>
                <a:uLnTx/>
                <a:uFillTx/>
                <a:latin typeface="Times New Roman" panose="02020503050405090304" pitchFamily="18" charset="0"/>
                <a:ea typeface="+mn-ea"/>
                <a:cs typeface="Times New Roman" panose="02020503050405090304" pitchFamily="18" charset="0"/>
              </a:rPr>
              <a:t>Wikipedia</a:t>
            </a:r>
            <a:r>
              <a:rPr kumimoji="0" lang="zh-CN" altLang="zh-CN" sz="2400" b="1" i="0" u="none" strike="noStrike" kern="1200" cap="none" spc="0" normalizeH="0" baseline="0" noProof="0" dirty="0">
                <a:ln>
                  <a:noFill/>
                </a:ln>
                <a:solidFill>
                  <a:srgbClr val="0000FF"/>
                </a:solidFill>
                <a:effectLst/>
                <a:uLnTx/>
                <a:uFillTx/>
                <a:latin typeface="Times New Roman" panose="02020503050405090304" pitchFamily="18" charset="0"/>
                <a:ea typeface="+mn-ea"/>
                <a:cs typeface="Times New Roman" panose="02020503050405090304" pitchFamily="18" charset="0"/>
              </a:rPr>
              <a:t>）</a:t>
            </a:r>
            <a:r>
              <a:rPr kumimoji="0" lang="zh-CN"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由维基媒体基金会负责运营的一个自由内容、自由编辑的多语言知识库。</a:t>
            </a:r>
            <a:endParaRPr kumimoji="0" lang="zh-CN" altLang="en-US"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sym typeface="+mn-lt"/>
            </a:endParaRPr>
          </a:p>
        </p:txBody>
      </p:sp>
      <p:sp>
        <p:nvSpPr>
          <p:cNvPr id="7" name="Rectangle 27"/>
          <p:cNvSpPr/>
          <p:nvPr/>
        </p:nvSpPr>
        <p:spPr bwMode="auto">
          <a:xfrm>
            <a:off x="352425" y="2276475"/>
            <a:ext cx="8399463" cy="755650"/>
          </a:xfrm>
          <a:prstGeom prst="rect">
            <a:avLst/>
          </a:prstGeom>
          <a:noFill/>
          <a:ln>
            <a:noFill/>
          </a:ln>
        </p:spPr>
        <p:txBody>
          <a:bodyPr lIns="0" tIns="0" rIns="0" bIns="0" anchor="ctr"/>
          <a:lstStyle/>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2400" b="1" i="0" u="none" strike="noStrike" kern="1200" cap="none" spc="0" normalizeH="0" baseline="0" noProof="0" dirty="0" err="1">
                <a:ln>
                  <a:noFill/>
                </a:ln>
                <a:solidFill>
                  <a:srgbClr val="0000FF"/>
                </a:solidFill>
                <a:effectLst/>
                <a:uLnTx/>
                <a:uFillTx/>
                <a:latin typeface="Times New Roman" panose="02020503050405090304" pitchFamily="18" charset="0"/>
                <a:ea typeface="+mn-ea"/>
                <a:cs typeface="Times New Roman" panose="02020503050405090304" pitchFamily="18" charset="0"/>
              </a:rPr>
              <a:t>DBpedia</a:t>
            </a:r>
            <a:r>
              <a:rPr kumimoji="0" lang="zh-CN"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由</a:t>
            </a:r>
            <a:r>
              <a:rPr kumimoji="0" lang="en-US"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2007</a:t>
            </a:r>
            <a:r>
              <a:rPr kumimoji="0" lang="zh-CN"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年德国柏林自由大学以及莱比锡大学的研究者从维基百科里萃取结构化知识的项目开始建立</a:t>
            </a:r>
            <a:endParaRPr kumimoji="0" lang="zh-CN" altLang="en-US"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sym typeface="+mn-lt"/>
            </a:endParaRPr>
          </a:p>
        </p:txBody>
      </p:sp>
      <p:sp>
        <p:nvSpPr>
          <p:cNvPr id="8" name="矩形 7"/>
          <p:cNvSpPr/>
          <p:nvPr/>
        </p:nvSpPr>
        <p:spPr>
          <a:xfrm>
            <a:off x="333375" y="3344863"/>
            <a:ext cx="8432800" cy="1754188"/>
          </a:xfrm>
          <a:prstGeom prst="rect">
            <a:avLst/>
          </a:prstGeom>
        </p:spPr>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503050405090304" pitchFamily="18" charset="0"/>
                <a:ea typeface="+mn-ea"/>
                <a:cs typeface="Times New Roman" panose="02020503050405090304" pitchFamily="18" charset="0"/>
              </a:rPr>
              <a:t>YAGO</a:t>
            </a:r>
            <a:r>
              <a:rPr kumimoji="0" lang="zh-CN"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由德国马克斯</a:t>
            </a:r>
            <a:r>
              <a:rPr kumimoji="0" lang="en-US"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a:t>
            </a:r>
            <a:r>
              <a:rPr kumimoji="0" lang="zh-CN"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普朗克研究所（</a:t>
            </a:r>
            <a:r>
              <a:rPr kumimoji="0" lang="en-US"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MPI</a:t>
            </a:r>
            <a:r>
              <a:rPr kumimoji="0" lang="zh-CN"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）构建的大型多语言的语义知识库，从</a:t>
            </a:r>
            <a:r>
              <a:rPr kumimoji="0" lang="en-US"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10</a:t>
            </a:r>
            <a:r>
              <a:rPr kumimoji="0" lang="zh-CN"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个维基百科以不同语言提取事实和事实的组合。</a:t>
            </a:r>
            <a:endParaRPr kumimoji="0" lang="zh-CN" altLang="en-US"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
        <p:nvSpPr>
          <p:cNvPr id="9" name="矩形 8"/>
          <p:cNvSpPr/>
          <p:nvPr/>
        </p:nvSpPr>
        <p:spPr>
          <a:xfrm>
            <a:off x="333375" y="5170488"/>
            <a:ext cx="8361363" cy="1200150"/>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503050405090304" pitchFamily="18" charset="0"/>
                <a:ea typeface="+mn-ea"/>
                <a:cs typeface="Times New Roman" panose="02020503050405090304" pitchFamily="18" charset="0"/>
              </a:rPr>
              <a:t>XLORE</a:t>
            </a:r>
            <a:r>
              <a:rPr kumimoji="0" lang="zh-CN"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是清华大学构建的基于中、英文维基和百度百科的开放知识平台，是第一个中英文知识规模较为平衡的大规模中英文知识图谱。</a:t>
            </a:r>
            <a:endParaRPr kumimoji="0" lang="zh-CN" altLang="en-US"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250" fill="hold"/>
                                        <p:tgtEl>
                                          <p:spTgt spid="5"/>
                                        </p:tgtEl>
                                        <p:attrNameLst>
                                          <p:attrName>ppt_w</p:attrName>
                                        </p:attrNameLst>
                                      </p:cBhvr>
                                      <p:tavLst>
                                        <p:tav tm="0">
                                          <p:val>
                                            <p:fltVal val="0.000000"/>
                                          </p:val>
                                        </p:tav>
                                        <p:tav tm="100000">
                                          <p:val>
                                            <p:strVal val="#ppt_w"/>
                                          </p:val>
                                        </p:tav>
                                      </p:tavLst>
                                    </p:anim>
                                    <p:anim calcmode="lin" valueType="num">
                                      <p:cBhvr>
                                        <p:cTn id="8" dur="250" fill="hold"/>
                                        <p:tgtEl>
                                          <p:spTgt spid="5"/>
                                        </p:tgtEl>
                                        <p:attrNameLst>
                                          <p:attrName>ppt_h</p:attrName>
                                        </p:attrNameLst>
                                      </p:cBhvr>
                                      <p:tavLst>
                                        <p:tav tm="0">
                                          <p:val>
                                            <p:fltVal val="0.000000"/>
                                          </p:val>
                                        </p:tav>
                                        <p:tav tm="100000">
                                          <p:val>
                                            <p:strVal val="#ppt_h"/>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250" fill="hold"/>
                                        <p:tgtEl>
                                          <p:spTgt spid="7"/>
                                        </p:tgtEl>
                                        <p:attrNameLst>
                                          <p:attrName>ppt_x</p:attrName>
                                        </p:attrNameLst>
                                      </p:cBhvr>
                                      <p:tavLst>
                                        <p:tav tm="0">
                                          <p:val>
                                            <p:strVal val="1+#ppt_w/2"/>
                                          </p:val>
                                        </p:tav>
                                        <p:tav tm="100000">
                                          <p:val>
                                            <p:strVal val="#ppt_x"/>
                                          </p:val>
                                        </p:tav>
                                      </p:tavLst>
                                    </p:anim>
                                    <p:anim calcmode="lin" valueType="num">
                                      <p:cBhvr additive="base">
                                        <p:cTn id="13" dur="25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知识就是</a:t>
            </a:r>
            <a:r>
              <a:rPr lang="zh-CN" altLang="en-US"/>
              <a:t>力量</a:t>
            </a:r>
            <a:endParaRPr lang="zh-CN" altLang="en-US"/>
          </a:p>
        </p:txBody>
      </p:sp>
      <p:sp>
        <p:nvSpPr>
          <p:cNvPr id="3" name="内容占位符 2"/>
          <p:cNvSpPr>
            <a:spLocks noGrp="1"/>
          </p:cNvSpPr>
          <p:nvPr>
            <p:ph idx="1"/>
          </p:nvPr>
        </p:nvSpPr>
        <p:spPr>
          <a:xfrm>
            <a:off x="123190" y="765175"/>
            <a:ext cx="9020810" cy="5949950"/>
          </a:xfrm>
        </p:spPr>
        <p:txBody>
          <a:bodyPr/>
          <a:p>
            <a:r>
              <a:rPr lang="zh-CN" altLang="en-US"/>
              <a:t>最硬核的“外挂”</a:t>
            </a:r>
            <a:endParaRPr lang="zh-CN" altLang="en-US"/>
          </a:p>
          <a:p>
            <a:r>
              <a:rPr lang="zh-CN" altLang="en-US"/>
              <a:t>当你脑子里有足够多的“存货”时：</a:t>
            </a:r>
            <a:endParaRPr lang="zh-CN" altLang="en-US"/>
          </a:p>
          <a:p>
            <a:pPr lvl="1"/>
            <a:r>
              <a:rPr lang="zh-CN" altLang="en-US"/>
              <a:t>✅ 面对选择，你会多一层判断力</a:t>
            </a:r>
            <a:endParaRPr lang="zh-CN" altLang="en-US"/>
          </a:p>
          <a:p>
            <a:pPr lvl="1"/>
            <a:r>
              <a:rPr lang="zh-CN" altLang="en-US"/>
              <a:t>✅ 面对焦虑，你会少一些无谓的内耗</a:t>
            </a:r>
            <a:endParaRPr lang="zh-CN" altLang="en-US"/>
          </a:p>
          <a:p>
            <a:pPr lvl="1"/>
            <a:r>
              <a:rPr lang="zh-CN" altLang="en-US"/>
              <a:t>✅ 面对未知，你的底气真的不一样我自己是那种会定期“充电”的人💡</a:t>
            </a:r>
            <a:endParaRPr lang="zh-CN" altLang="en-US"/>
          </a:p>
          <a:p>
            <a:r>
              <a:rPr lang="zh-CN" altLang="en-US"/>
              <a:t>不管是看专业书、刷优质纪录片，还是跟着好老师上课，都是一种“知识增强”的过程</a:t>
            </a:r>
            <a:r>
              <a:rPr lang="en-US" altLang="zh-CN"/>
              <a:t>；</a:t>
            </a:r>
            <a:endParaRPr lang="zh-CN" altLang="en-US"/>
          </a:p>
          <a:p>
            <a:r>
              <a:rPr lang="zh-CN" altLang="en-US"/>
              <a:t>知识不一定会马上变现，但会变成你的铠甲和灯塔，让你更从容地往前走🏃‍</a:t>
            </a:r>
            <a:r>
              <a:rPr lang="en-US" altLang="zh-CN"/>
              <a:t>；</a:t>
            </a:r>
            <a:endParaRPr lang="zh-CN" altLang="en-US"/>
          </a:p>
          <a:p>
            <a:r>
              <a:rPr lang="zh-CN" altLang="en-US"/>
              <a:t>️“用知识武装自己，是这世上最稳赚不赔的投资。”</a:t>
            </a:r>
            <a:endParaRPr lang="zh-CN" altLang="en-US"/>
          </a:p>
        </p:txBody>
      </p:sp>
    </p:spTree>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6802"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2.5.4 </a:t>
            </a:r>
            <a:r>
              <a:rPr lang="zh-CN" altLang="zh-CN" dirty="0">
                <a:latin typeface="Times New Roman" panose="02020503050405090304" pitchFamily="18" charset="0"/>
              </a:rPr>
              <a:t>知识图谱的架构</a:t>
            </a:r>
            <a:endParaRPr lang="zh-CN" altLang="en-US" dirty="0">
              <a:latin typeface="Times New Roman" panose="02020503050405090304" pitchFamily="18" charset="0"/>
            </a:endParaRPr>
          </a:p>
        </p:txBody>
      </p:sp>
      <p:sp>
        <p:nvSpPr>
          <p:cNvPr id="76803" name="Rectangle 3"/>
          <p:cNvSpPr>
            <a:spLocks noGrp="1"/>
          </p:cNvSpPr>
          <p:nvPr>
            <p:ph idx="1"/>
          </p:nvPr>
        </p:nvSpPr>
        <p:spPr>
          <a:xfrm>
            <a:off x="217488" y="962025"/>
            <a:ext cx="8751887" cy="2840038"/>
          </a:xfrm>
        </p:spPr>
        <p:txBody>
          <a:bodyPr vert="horz" wrap="square" lIns="91440" tIns="45720" rIns="91440" bIns="45720" anchor="t" anchorCtr="0"/>
          <a:p>
            <a:pPr algn="just" eaLnBrk="1" hangingPunct="1"/>
            <a:r>
              <a:rPr lang="zh-CN" altLang="zh-CN" sz="2600" b="1" dirty="0">
                <a:latin typeface="Times New Roman" panose="02020503050405090304" pitchFamily="18" charset="0"/>
              </a:rPr>
              <a:t>获取知识的资源对象大体可分为</a:t>
            </a:r>
            <a:r>
              <a:rPr lang="zh-CN" altLang="en-US" sz="2600" b="1" dirty="0">
                <a:latin typeface="Times New Roman" panose="02020503050405090304" pitchFamily="18" charset="0"/>
              </a:rPr>
              <a:t>：</a:t>
            </a:r>
            <a:endParaRPr lang="zh-CN" altLang="en-US" sz="2600" b="1" dirty="0">
              <a:latin typeface="Times New Roman" panose="02020503050405090304" pitchFamily="18" charset="0"/>
            </a:endParaRPr>
          </a:p>
          <a:p>
            <a:pPr algn="just" eaLnBrk="1" hangingPunct="1"/>
            <a:r>
              <a:rPr lang="zh-CN" altLang="zh-CN" sz="2600" b="1" dirty="0">
                <a:solidFill>
                  <a:srgbClr val="0000FF"/>
                </a:solidFill>
                <a:latin typeface="Times New Roman" panose="02020503050405090304" pitchFamily="18" charset="0"/>
              </a:rPr>
              <a:t>结构化数据</a:t>
            </a:r>
            <a:r>
              <a:rPr lang="zh-CN" altLang="zh-CN" sz="2600" b="1" dirty="0">
                <a:latin typeface="Times New Roman" panose="02020503050405090304" pitchFamily="18" charset="0"/>
              </a:rPr>
              <a:t>是指知识定义和表示都比较完备的数据。</a:t>
            </a:r>
            <a:endParaRPr lang="en-US" altLang="zh-CN" sz="2600" b="1" dirty="0">
              <a:latin typeface="Times New Roman" panose="02020503050405090304" pitchFamily="18" charset="0"/>
            </a:endParaRPr>
          </a:p>
          <a:p>
            <a:pPr algn="just" eaLnBrk="1" hangingPunct="1"/>
            <a:r>
              <a:rPr lang="zh-CN" altLang="zh-CN" sz="2600" b="1" dirty="0">
                <a:solidFill>
                  <a:srgbClr val="0000FF"/>
                </a:solidFill>
                <a:latin typeface="Times New Roman" panose="02020503050405090304" pitchFamily="18" charset="0"/>
              </a:rPr>
              <a:t>半结构化数据</a:t>
            </a:r>
            <a:r>
              <a:rPr lang="zh-CN" altLang="zh-CN" sz="2600" b="1" dirty="0">
                <a:latin typeface="Times New Roman" panose="02020503050405090304" pitchFamily="18" charset="0"/>
              </a:rPr>
              <a:t>是指部分数据是结构化的，但存在大量结构化程度较低的数据。</a:t>
            </a:r>
            <a:endParaRPr lang="en-US" altLang="zh-CN" sz="2600" b="1" dirty="0">
              <a:latin typeface="Times New Roman" panose="02020503050405090304" pitchFamily="18" charset="0"/>
            </a:endParaRPr>
          </a:p>
          <a:p>
            <a:pPr algn="just" eaLnBrk="1" hangingPunct="1"/>
            <a:r>
              <a:rPr lang="zh-CN" altLang="zh-CN" sz="2600" b="1" dirty="0">
                <a:solidFill>
                  <a:srgbClr val="0000FF"/>
                </a:solidFill>
                <a:latin typeface="Times New Roman" panose="02020503050405090304" pitchFamily="18" charset="0"/>
              </a:rPr>
              <a:t>非结构化数据</a:t>
            </a:r>
            <a:r>
              <a:rPr lang="zh-CN" altLang="zh-CN" sz="2600" b="1" dirty="0">
                <a:latin typeface="Times New Roman" panose="02020503050405090304" pitchFamily="18" charset="0"/>
              </a:rPr>
              <a:t>是指没有定义和规范约束的“自由”数据</a:t>
            </a:r>
            <a:r>
              <a:rPr lang="zh-CN" altLang="zh-CN" sz="2400" dirty="0">
                <a:latin typeface="Times New Roman" panose="02020503050405090304" pitchFamily="18" charset="0"/>
              </a:rPr>
              <a:t>。</a:t>
            </a:r>
            <a:endParaRPr lang="en-US" altLang="zh-CN" sz="2600" b="1" dirty="0">
              <a:latin typeface="Times New Roman" panose="02020503050405090304" pitchFamily="18" charset="0"/>
              <a:ea typeface="Times New Roman" panose="02020503050405090304" pitchFamily="18" charset="0"/>
            </a:endParaRPr>
          </a:p>
        </p:txBody>
      </p:sp>
    </p:spTree>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7826"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2.5.5 </a:t>
            </a:r>
            <a:r>
              <a:rPr lang="zh-CN" altLang="zh-CN" dirty="0">
                <a:latin typeface="Times New Roman" panose="02020503050405090304" pitchFamily="18" charset="0"/>
              </a:rPr>
              <a:t>知识图谱的构建</a:t>
            </a:r>
            <a:endParaRPr lang="zh-CN" altLang="en-US" dirty="0">
              <a:latin typeface="Times New Roman" panose="02020503050405090304" pitchFamily="18" charset="0"/>
            </a:endParaRPr>
          </a:p>
        </p:txBody>
      </p:sp>
      <p:sp>
        <p:nvSpPr>
          <p:cNvPr id="77827" name="Rectangle 3"/>
          <p:cNvSpPr>
            <a:spLocks noGrp="1"/>
          </p:cNvSpPr>
          <p:nvPr>
            <p:ph idx="1"/>
          </p:nvPr>
        </p:nvSpPr>
        <p:spPr>
          <a:xfrm>
            <a:off x="217488" y="962025"/>
            <a:ext cx="8751887" cy="2840038"/>
          </a:xfrm>
        </p:spPr>
        <p:txBody>
          <a:bodyPr vert="horz" wrap="square" lIns="91440" tIns="45720" rIns="91440" bIns="45720" anchor="t" anchorCtr="0"/>
          <a:p>
            <a:pPr algn="just" eaLnBrk="1" hangingPunct="1"/>
            <a:r>
              <a:rPr lang="zh-CN" altLang="zh-CN" sz="2600" b="1" dirty="0">
                <a:latin typeface="Times New Roman" panose="02020503050405090304" pitchFamily="18" charset="0"/>
              </a:rPr>
              <a:t>（</a:t>
            </a:r>
            <a:r>
              <a:rPr lang="en-US" altLang="zh-CN" sz="2600" b="1" dirty="0">
                <a:latin typeface="Times New Roman" panose="02020503050405090304" pitchFamily="18" charset="0"/>
              </a:rPr>
              <a:t>1</a:t>
            </a:r>
            <a:r>
              <a:rPr lang="zh-CN" altLang="zh-CN" sz="2600" b="1" dirty="0">
                <a:latin typeface="Times New Roman" panose="02020503050405090304" pitchFamily="18" charset="0"/>
              </a:rPr>
              <a:t>）自顶向下指的是先为知识图谱定义好本体与数据模式，再将实体加入到知识库。</a:t>
            </a:r>
            <a:endParaRPr lang="en-US" altLang="zh-CN" sz="2600" b="1" dirty="0">
              <a:latin typeface="Times New Roman" panose="02020503050405090304" pitchFamily="18" charset="0"/>
            </a:endParaRPr>
          </a:p>
          <a:p>
            <a:pPr algn="just" eaLnBrk="1" hangingPunct="1"/>
            <a:r>
              <a:rPr lang="zh-CN" altLang="zh-CN" sz="2600" b="1" dirty="0">
                <a:latin typeface="Times New Roman" panose="02020503050405090304" pitchFamily="18" charset="0"/>
              </a:rPr>
              <a:t>（</a:t>
            </a:r>
            <a:r>
              <a:rPr lang="en-US" altLang="zh-CN" sz="2600" b="1" dirty="0">
                <a:latin typeface="Times New Roman" panose="02020503050405090304" pitchFamily="18" charset="0"/>
              </a:rPr>
              <a:t>2</a:t>
            </a:r>
            <a:r>
              <a:rPr lang="zh-CN" altLang="zh-CN" sz="2600" b="1" dirty="0">
                <a:latin typeface="Times New Roman" panose="02020503050405090304" pitchFamily="18" charset="0"/>
              </a:rPr>
              <a:t>）自底向上指的是从一些开放链接数据中提取出实体，选择其中置信度较高的加入到知识库，再构建顶层的本体模式</a:t>
            </a:r>
            <a:endParaRPr lang="zh-CN" altLang="en-US" sz="2600" b="1" dirty="0">
              <a:solidFill>
                <a:srgbClr val="0000FF"/>
              </a:solidFill>
              <a:latin typeface="Times New Roman" panose="02020503050405090304" pitchFamily="18" charset="0"/>
              <a:ea typeface="Times New Roman" panose="02020503050405090304" pitchFamily="18" charset="0"/>
            </a:endParaRPr>
          </a:p>
        </p:txBody>
      </p:sp>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8850"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2.5.6 </a:t>
            </a:r>
            <a:r>
              <a:rPr lang="zh-CN" altLang="zh-CN" dirty="0">
                <a:latin typeface="Times New Roman" panose="02020503050405090304" pitchFamily="18" charset="0"/>
              </a:rPr>
              <a:t>知识图谱的典型应用</a:t>
            </a:r>
            <a:endParaRPr lang="zh-CN" altLang="en-US" dirty="0">
              <a:latin typeface="Times New Roman" panose="02020503050405090304" pitchFamily="18" charset="0"/>
            </a:endParaRPr>
          </a:p>
        </p:txBody>
      </p:sp>
      <p:sp>
        <p:nvSpPr>
          <p:cNvPr id="5" name="Rectangle 24"/>
          <p:cNvSpPr/>
          <p:nvPr/>
        </p:nvSpPr>
        <p:spPr bwMode="auto">
          <a:xfrm>
            <a:off x="347663" y="1203325"/>
            <a:ext cx="8302625" cy="755650"/>
          </a:xfrm>
          <a:prstGeom prst="rect">
            <a:avLst/>
          </a:prstGeom>
          <a:noFill/>
          <a:ln>
            <a:noFill/>
          </a:ln>
        </p:spPr>
        <p:txBody>
          <a:bodyPr lIns="0" tIns="0" rIns="0" bIns="0" anchor="ct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zh-CN" sz="2400" b="1" i="0" u="none" strike="noStrike" kern="1200" cap="none" spc="0" normalizeH="0" baseline="0" noProof="0" dirty="0">
                <a:ln>
                  <a:noFill/>
                </a:ln>
                <a:solidFill>
                  <a:srgbClr val="0000FF"/>
                </a:solidFill>
                <a:effectLst/>
                <a:uLnTx/>
                <a:uFillTx/>
                <a:latin typeface="Times New Roman" panose="02020503050405090304" pitchFamily="18" charset="0"/>
                <a:ea typeface="+mn-ea"/>
                <a:cs typeface="Times New Roman" panose="02020503050405090304" pitchFamily="18" charset="0"/>
              </a:rPr>
              <a:t>维基百科（</a:t>
            </a:r>
            <a:r>
              <a:rPr kumimoji="0" lang="en-US" altLang="zh-CN" sz="2400" b="1" i="0" u="none" strike="noStrike" kern="1200" cap="none" spc="0" normalizeH="0" baseline="0" noProof="0" dirty="0">
                <a:ln>
                  <a:noFill/>
                </a:ln>
                <a:solidFill>
                  <a:srgbClr val="0000FF"/>
                </a:solidFill>
                <a:effectLst/>
                <a:uLnTx/>
                <a:uFillTx/>
                <a:latin typeface="Times New Roman" panose="02020503050405090304" pitchFamily="18" charset="0"/>
                <a:ea typeface="+mn-ea"/>
                <a:cs typeface="Times New Roman" panose="02020503050405090304" pitchFamily="18" charset="0"/>
              </a:rPr>
              <a:t>Wikipedia</a:t>
            </a:r>
            <a:r>
              <a:rPr kumimoji="0" lang="zh-CN" altLang="zh-CN" sz="2400" b="1" i="0" u="none" strike="noStrike" kern="1200" cap="none" spc="0" normalizeH="0" baseline="0" noProof="0" dirty="0">
                <a:ln>
                  <a:noFill/>
                </a:ln>
                <a:solidFill>
                  <a:srgbClr val="0000FF"/>
                </a:solidFill>
                <a:effectLst/>
                <a:uLnTx/>
                <a:uFillTx/>
                <a:latin typeface="Times New Roman" panose="02020503050405090304" pitchFamily="18" charset="0"/>
                <a:ea typeface="+mn-ea"/>
                <a:cs typeface="Times New Roman" panose="02020503050405090304" pitchFamily="18" charset="0"/>
              </a:rPr>
              <a:t>）</a:t>
            </a:r>
            <a:r>
              <a:rPr kumimoji="0" lang="zh-CN"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由维基媒体基金会负责运营的一个自由内容、自由编辑的多语言知识库。</a:t>
            </a:r>
            <a:endParaRPr kumimoji="0" lang="zh-CN" altLang="en-US"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sym typeface="+mn-lt"/>
            </a:endParaRPr>
          </a:p>
        </p:txBody>
      </p:sp>
      <p:sp>
        <p:nvSpPr>
          <p:cNvPr id="7" name="Rectangle 27"/>
          <p:cNvSpPr/>
          <p:nvPr/>
        </p:nvSpPr>
        <p:spPr bwMode="auto">
          <a:xfrm>
            <a:off x="352425" y="2276475"/>
            <a:ext cx="8399463" cy="755650"/>
          </a:xfrm>
          <a:prstGeom prst="rect">
            <a:avLst/>
          </a:prstGeom>
          <a:noFill/>
          <a:ln>
            <a:noFill/>
          </a:ln>
        </p:spPr>
        <p:txBody>
          <a:bodyPr lIns="0" tIns="0" rIns="0" bIns="0" anchor="ctr"/>
          <a:lstStyle/>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2400" b="1" i="0" u="none" strike="noStrike" kern="1200" cap="none" spc="0" normalizeH="0" baseline="0" noProof="0" dirty="0" err="1">
                <a:ln>
                  <a:noFill/>
                </a:ln>
                <a:solidFill>
                  <a:srgbClr val="0000FF"/>
                </a:solidFill>
                <a:effectLst/>
                <a:uLnTx/>
                <a:uFillTx/>
                <a:latin typeface="Times New Roman" panose="02020503050405090304" pitchFamily="18" charset="0"/>
                <a:ea typeface="+mn-ea"/>
                <a:cs typeface="Times New Roman" panose="02020503050405090304" pitchFamily="18" charset="0"/>
              </a:rPr>
              <a:t>DBpedia</a:t>
            </a:r>
            <a:r>
              <a:rPr kumimoji="0" lang="zh-CN"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由</a:t>
            </a:r>
            <a:r>
              <a:rPr kumimoji="0" lang="en-US"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2007</a:t>
            </a:r>
            <a:r>
              <a:rPr kumimoji="0" lang="zh-CN"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年德国柏林自由大学以及莱比锡大学的研究者从维基百科里萃取结构化知识的项目开始建立</a:t>
            </a:r>
            <a:endParaRPr kumimoji="0" lang="zh-CN" altLang="en-US"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sym typeface="+mn-lt"/>
            </a:endParaRPr>
          </a:p>
        </p:txBody>
      </p:sp>
      <p:sp>
        <p:nvSpPr>
          <p:cNvPr id="8" name="矩形 7"/>
          <p:cNvSpPr/>
          <p:nvPr/>
        </p:nvSpPr>
        <p:spPr>
          <a:xfrm>
            <a:off x="333375" y="3344863"/>
            <a:ext cx="8432800" cy="1754188"/>
          </a:xfrm>
          <a:prstGeom prst="rect">
            <a:avLst/>
          </a:prstGeom>
        </p:spPr>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503050405090304" pitchFamily="18" charset="0"/>
                <a:ea typeface="+mn-ea"/>
                <a:cs typeface="Times New Roman" panose="02020503050405090304" pitchFamily="18" charset="0"/>
              </a:rPr>
              <a:t>YAGO</a:t>
            </a:r>
            <a:r>
              <a:rPr kumimoji="0" lang="zh-CN"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由德国马克斯</a:t>
            </a:r>
            <a:r>
              <a:rPr kumimoji="0" lang="en-US"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a:t>
            </a:r>
            <a:r>
              <a:rPr kumimoji="0" lang="zh-CN"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普朗克研究所（</a:t>
            </a:r>
            <a:r>
              <a:rPr kumimoji="0" lang="en-US"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MPI</a:t>
            </a:r>
            <a:r>
              <a:rPr kumimoji="0" lang="zh-CN"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）构建的大型多语言的语义知识库，从</a:t>
            </a:r>
            <a:r>
              <a:rPr kumimoji="0" lang="en-US"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10</a:t>
            </a:r>
            <a:r>
              <a:rPr kumimoji="0" lang="zh-CN"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个维基百科以不同语言提取事实和事实的组合。</a:t>
            </a:r>
            <a:endParaRPr kumimoji="0" lang="zh-CN" altLang="en-US"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
        <p:nvSpPr>
          <p:cNvPr id="9" name="矩形 8"/>
          <p:cNvSpPr/>
          <p:nvPr/>
        </p:nvSpPr>
        <p:spPr>
          <a:xfrm>
            <a:off x="333375" y="5170488"/>
            <a:ext cx="8361363" cy="1200150"/>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503050405090304" pitchFamily="18" charset="0"/>
                <a:ea typeface="+mn-ea"/>
                <a:cs typeface="Times New Roman" panose="02020503050405090304" pitchFamily="18" charset="0"/>
              </a:rPr>
              <a:t>XLORE</a:t>
            </a:r>
            <a:r>
              <a:rPr kumimoji="0" lang="zh-CN" altLang="zh-CN"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是清华大学构建的基于中、英文维基和百度百科的开放知识平台，是第一个中英文知识规模较为平衡的大规模中英文知识图谱。</a:t>
            </a:r>
            <a:endParaRPr kumimoji="0" lang="zh-CN" altLang="en-US" sz="24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250" fill="hold"/>
                                        <p:tgtEl>
                                          <p:spTgt spid="5"/>
                                        </p:tgtEl>
                                        <p:attrNameLst>
                                          <p:attrName>ppt_w</p:attrName>
                                        </p:attrNameLst>
                                      </p:cBhvr>
                                      <p:tavLst>
                                        <p:tav tm="0">
                                          <p:val>
                                            <p:fltVal val="0.000000"/>
                                          </p:val>
                                        </p:tav>
                                        <p:tav tm="100000">
                                          <p:val>
                                            <p:strVal val="#ppt_w"/>
                                          </p:val>
                                        </p:tav>
                                      </p:tavLst>
                                    </p:anim>
                                    <p:anim calcmode="lin" valueType="num">
                                      <p:cBhvr>
                                        <p:cTn id="8" dur="250" fill="hold"/>
                                        <p:tgtEl>
                                          <p:spTgt spid="5"/>
                                        </p:tgtEl>
                                        <p:attrNameLst>
                                          <p:attrName>ppt_h</p:attrName>
                                        </p:attrNameLst>
                                      </p:cBhvr>
                                      <p:tavLst>
                                        <p:tav tm="0">
                                          <p:val>
                                            <p:fltVal val="0.000000"/>
                                          </p:val>
                                        </p:tav>
                                        <p:tav tm="100000">
                                          <p:val>
                                            <p:strVal val="#ppt_h"/>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250" fill="hold"/>
                                        <p:tgtEl>
                                          <p:spTgt spid="7"/>
                                        </p:tgtEl>
                                        <p:attrNameLst>
                                          <p:attrName>ppt_x</p:attrName>
                                        </p:attrNameLst>
                                      </p:cBhvr>
                                      <p:tavLst>
                                        <p:tav tm="0">
                                          <p:val>
                                            <p:strVal val="1+#ppt_w/2"/>
                                          </p:val>
                                        </p:tav>
                                        <p:tav tm="100000">
                                          <p:val>
                                            <p:strVal val="#ppt_x"/>
                                          </p:val>
                                        </p:tav>
                                      </p:tavLst>
                                    </p:anim>
                                    <p:anim calcmode="lin" valueType="num">
                                      <p:cBhvr additive="base">
                                        <p:cTn id="13" dur="25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0"/>
            <a:ext cx="8893175" cy="1303655"/>
          </a:xfrm>
        </p:spPr>
        <p:txBody>
          <a:bodyPr/>
          <a:p>
            <a:r>
              <a:rPr lang="en-US" altLang="zh-CN">
                <a:sym typeface="+mn-ea"/>
              </a:rPr>
              <a:t>Q1: </a:t>
            </a:r>
            <a:r>
              <a:rPr lang="zh-CN" altLang="en-US">
                <a:sym typeface="+mn-ea"/>
              </a:rPr>
              <a:t>搭建基于知识图谱的知识库，是否必须要有专门的“知识图谱工程师”？</a:t>
            </a:r>
            <a:endParaRPr lang="zh-CN" altLang="en-US"/>
          </a:p>
        </p:txBody>
      </p:sp>
      <p:sp>
        <p:nvSpPr>
          <p:cNvPr id="3" name="内容占位符 2"/>
          <p:cNvSpPr>
            <a:spLocks noGrp="1"/>
          </p:cNvSpPr>
          <p:nvPr>
            <p:ph idx="1"/>
          </p:nvPr>
        </p:nvSpPr>
        <p:spPr/>
        <p:txBody>
          <a:bodyPr/>
          <a:p>
            <a:pPr marL="0" indent="0">
              <a:buNone/>
            </a:pPr>
            <a:endParaRPr lang="en-US" altLang="zh-CN"/>
          </a:p>
          <a:p>
            <a:pPr marL="0" indent="0">
              <a:buNone/>
            </a:pPr>
            <a:r>
              <a:rPr lang="zh-CN" altLang="en-US"/>
              <a:t> </a:t>
            </a:r>
            <a:r>
              <a:rPr lang="zh-CN" altLang="en-US">
                <a:solidFill>
                  <a:schemeClr val="bg1">
                    <a:lumMod val="95000"/>
                  </a:schemeClr>
                </a:solidFill>
              </a:rPr>
              <a:t>不一定。早期的图数据库（如</a:t>
            </a:r>
            <a:r>
              <a:rPr lang="en-US" altLang="zh-CN">
                <a:solidFill>
                  <a:schemeClr val="bg1">
                    <a:lumMod val="95000"/>
                  </a:schemeClr>
                </a:solidFill>
              </a:rPr>
              <a:t>Neo4j）</a:t>
            </a:r>
            <a:r>
              <a:rPr lang="zh-CN" altLang="en-US">
                <a:solidFill>
                  <a:schemeClr val="bg1">
                    <a:lumMod val="95000"/>
                  </a:schemeClr>
                </a:solidFill>
              </a:rPr>
              <a:t>确实需要专业技术人员，但新一代的</a:t>
            </a:r>
            <a:r>
              <a:rPr lang="en-US" altLang="zh-CN">
                <a:solidFill>
                  <a:schemeClr val="bg1">
                    <a:lumMod val="95000"/>
                  </a:schemeClr>
                </a:solidFill>
              </a:rPr>
              <a:t>SaaS</a:t>
            </a:r>
            <a:r>
              <a:rPr lang="zh-CN" altLang="en-US">
                <a:solidFill>
                  <a:schemeClr val="bg1">
                    <a:lumMod val="95000"/>
                  </a:schemeClr>
                </a:solidFill>
              </a:rPr>
              <a:t>化知识图谱笔记工具（如</a:t>
            </a:r>
            <a:r>
              <a:rPr lang="en-US" altLang="zh-CN">
                <a:solidFill>
                  <a:schemeClr val="bg1">
                    <a:lumMod val="95000"/>
                  </a:schemeClr>
                </a:solidFill>
              </a:rPr>
              <a:t>Heptabase, Roam Research</a:t>
            </a:r>
            <a:r>
              <a:rPr lang="zh-CN" altLang="en-US">
                <a:solidFill>
                  <a:schemeClr val="bg1">
                    <a:lumMod val="95000"/>
                  </a:schemeClr>
                </a:solidFill>
              </a:rPr>
              <a:t>的企业版，或某些基于</a:t>
            </a:r>
            <a:r>
              <a:rPr lang="en-US" altLang="zh-CN">
                <a:solidFill>
                  <a:schemeClr val="bg1">
                    <a:lumMod val="95000"/>
                  </a:schemeClr>
                </a:solidFill>
              </a:rPr>
              <a:t>AI</a:t>
            </a:r>
            <a:r>
              <a:rPr lang="zh-CN" altLang="en-US">
                <a:solidFill>
                  <a:schemeClr val="bg1">
                    <a:lumMod val="95000"/>
                  </a:schemeClr>
                </a:solidFill>
              </a:rPr>
              <a:t>的</a:t>
            </a:r>
            <a:r>
              <a:rPr lang="en-US" altLang="zh-CN">
                <a:solidFill>
                  <a:schemeClr val="bg1">
                    <a:lumMod val="95000"/>
                  </a:schemeClr>
                </a:solidFill>
              </a:rPr>
              <a:t>Wiki）</a:t>
            </a:r>
            <a:r>
              <a:rPr lang="zh-CN" altLang="en-US">
                <a:solidFill>
                  <a:schemeClr val="bg1">
                    <a:lumMod val="95000"/>
                  </a:schemeClr>
                </a:solidFill>
              </a:rPr>
              <a:t>已经将技术门槛降至极低。它们通常提供可视化的操作界面和自动化的</a:t>
            </a:r>
            <a:r>
              <a:rPr lang="en-US" altLang="zh-CN">
                <a:solidFill>
                  <a:schemeClr val="bg1">
                    <a:lumMod val="95000"/>
                  </a:schemeClr>
                </a:solidFill>
              </a:rPr>
              <a:t>AI</a:t>
            </a:r>
            <a:r>
              <a:rPr lang="zh-CN" altLang="en-US">
                <a:solidFill>
                  <a:schemeClr val="bg1">
                    <a:lumMod val="95000"/>
                  </a:schemeClr>
                </a:solidFill>
              </a:rPr>
              <a:t>标签功能，普通业务人员也能轻松维护简单的知识关联。</a:t>
            </a:r>
            <a:endParaRPr lang="zh-CN" altLang="en-US">
              <a:solidFill>
                <a:schemeClr val="bg1">
                  <a:lumMod val="95000"/>
                </a:schemeClr>
              </a:solidFill>
            </a:endParaRPr>
          </a:p>
        </p:txBody>
      </p:sp>
    </p:spTree>
    <p:custDataLst>
      <p:tags r:id="rId1"/>
    </p:custDataLst>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0"/>
            <a:ext cx="8893175" cy="1303655"/>
          </a:xfrm>
        </p:spPr>
        <p:txBody>
          <a:bodyPr/>
          <a:p>
            <a:r>
              <a:rPr lang="en-US" altLang="zh-CN">
                <a:sym typeface="+mn-ea"/>
              </a:rPr>
              <a:t>Q1: </a:t>
            </a:r>
            <a:r>
              <a:rPr lang="zh-CN" altLang="en-US">
                <a:sym typeface="+mn-ea"/>
              </a:rPr>
              <a:t>搭建基于知识图谱的知识库，是否必须要有专门的“知识图谱工程师”？</a:t>
            </a:r>
            <a:endParaRPr lang="zh-CN" altLang="en-US"/>
          </a:p>
        </p:txBody>
      </p:sp>
      <p:sp>
        <p:nvSpPr>
          <p:cNvPr id="3" name="内容占位符 2"/>
          <p:cNvSpPr>
            <a:spLocks noGrp="1"/>
          </p:cNvSpPr>
          <p:nvPr>
            <p:ph idx="1"/>
          </p:nvPr>
        </p:nvSpPr>
        <p:spPr/>
        <p:txBody>
          <a:bodyPr/>
          <a:p>
            <a:pPr marL="0" indent="0">
              <a:buNone/>
            </a:pPr>
            <a:endParaRPr lang="en-US" altLang="zh-CN"/>
          </a:p>
          <a:p>
            <a:pPr marL="0" indent="0">
              <a:buNone/>
            </a:pPr>
            <a:r>
              <a:rPr lang="zh-CN" altLang="en-US"/>
              <a:t> </a:t>
            </a:r>
            <a:r>
              <a:rPr lang="zh-CN" altLang="en-US">
                <a:solidFill>
                  <a:schemeClr val="tx1"/>
                </a:solidFill>
              </a:rPr>
              <a:t>不一定。早期的图数据库（如</a:t>
            </a:r>
            <a:r>
              <a:rPr lang="en-US" altLang="zh-CN">
                <a:solidFill>
                  <a:schemeClr val="tx1"/>
                </a:solidFill>
              </a:rPr>
              <a:t>Neo4j）</a:t>
            </a:r>
            <a:r>
              <a:rPr lang="zh-CN" altLang="en-US">
                <a:solidFill>
                  <a:schemeClr val="tx1"/>
                </a:solidFill>
              </a:rPr>
              <a:t>确实需要专业技术人员，但新一代的</a:t>
            </a:r>
            <a:r>
              <a:rPr lang="en-US" altLang="zh-CN">
                <a:solidFill>
                  <a:schemeClr val="tx1"/>
                </a:solidFill>
              </a:rPr>
              <a:t>SaaS</a:t>
            </a:r>
            <a:r>
              <a:rPr lang="zh-CN" altLang="en-US">
                <a:solidFill>
                  <a:schemeClr val="tx1"/>
                </a:solidFill>
              </a:rPr>
              <a:t>化知识图谱笔记工具（如</a:t>
            </a:r>
            <a:r>
              <a:rPr lang="en-US" altLang="zh-CN">
                <a:solidFill>
                  <a:schemeClr val="tx1"/>
                </a:solidFill>
              </a:rPr>
              <a:t>Heptabase, Roam Research</a:t>
            </a:r>
            <a:r>
              <a:rPr lang="zh-CN" altLang="en-US">
                <a:solidFill>
                  <a:schemeClr val="tx1"/>
                </a:solidFill>
              </a:rPr>
              <a:t>的企业版，或某些基于</a:t>
            </a:r>
            <a:r>
              <a:rPr lang="en-US" altLang="zh-CN">
                <a:solidFill>
                  <a:schemeClr val="tx1"/>
                </a:solidFill>
              </a:rPr>
              <a:t>AI</a:t>
            </a:r>
            <a:r>
              <a:rPr lang="zh-CN" altLang="en-US">
                <a:solidFill>
                  <a:schemeClr val="tx1"/>
                </a:solidFill>
              </a:rPr>
              <a:t>的</a:t>
            </a:r>
            <a:r>
              <a:rPr lang="en-US" altLang="zh-CN">
                <a:solidFill>
                  <a:schemeClr val="tx1"/>
                </a:solidFill>
              </a:rPr>
              <a:t>Wiki）</a:t>
            </a:r>
            <a:r>
              <a:rPr lang="zh-CN" altLang="en-US">
                <a:solidFill>
                  <a:schemeClr val="tx1"/>
                </a:solidFill>
              </a:rPr>
              <a:t>已经将技术门槛降至极低。它们通常提供可视化的操作界面和自动化的</a:t>
            </a:r>
            <a:r>
              <a:rPr lang="en-US" altLang="zh-CN">
                <a:solidFill>
                  <a:schemeClr val="tx1"/>
                </a:solidFill>
              </a:rPr>
              <a:t>AI</a:t>
            </a:r>
            <a:r>
              <a:rPr lang="zh-CN" altLang="en-US">
                <a:solidFill>
                  <a:schemeClr val="tx1"/>
                </a:solidFill>
              </a:rPr>
              <a:t>标签功能，普通业务人员也能轻松维护简单的知识关联。</a:t>
            </a:r>
            <a:endParaRPr lang="zh-CN" altLang="en-US">
              <a:solidFill>
                <a:schemeClr val="tx1"/>
              </a:solidFill>
            </a:endParaRPr>
          </a:p>
        </p:txBody>
      </p:sp>
    </p:spTree>
    <p:custDataLst>
      <p:tags r:id="rId1"/>
    </p:custDataLst>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0"/>
            <a:ext cx="9143365" cy="1093470"/>
          </a:xfrm>
        </p:spPr>
        <p:txBody>
          <a:bodyPr/>
          <a:p>
            <a:r>
              <a:rPr lang="en-US" altLang="zh-CN">
                <a:sym typeface="+mn-ea"/>
              </a:rPr>
              <a:t>Q2: </a:t>
            </a:r>
            <a:r>
              <a:rPr lang="zh-CN" altLang="en-US">
                <a:sym typeface="+mn-ea"/>
              </a:rPr>
              <a:t>知识图谱知识库和现在的“</a:t>
            </a:r>
            <a:r>
              <a:rPr lang="en-US" altLang="zh-CN">
                <a:sym typeface="+mn-ea"/>
              </a:rPr>
              <a:t>RAG（</a:t>
            </a:r>
            <a:r>
              <a:rPr lang="zh-CN" altLang="en-US">
                <a:sym typeface="+mn-ea"/>
              </a:rPr>
              <a:t>检索增强生成）+大模型”有什么区别？</a:t>
            </a:r>
            <a:endParaRPr lang="zh-CN" altLang="en-US"/>
          </a:p>
        </p:txBody>
      </p:sp>
      <p:sp>
        <p:nvSpPr>
          <p:cNvPr id="3" name="内容占位符 2"/>
          <p:cNvSpPr>
            <a:spLocks noGrp="1"/>
          </p:cNvSpPr>
          <p:nvPr>
            <p:ph idx="1"/>
          </p:nvPr>
        </p:nvSpPr>
        <p:spPr>
          <a:xfrm>
            <a:off x="250825" y="1457960"/>
            <a:ext cx="8642350" cy="4850765"/>
          </a:xfrm>
        </p:spPr>
        <p:txBody>
          <a:bodyPr/>
          <a:p>
            <a:pPr marL="0" indent="0">
              <a:buNone/>
            </a:pPr>
            <a:r>
              <a:rPr lang="zh-CN" altLang="en-US"/>
              <a:t> </a:t>
            </a:r>
            <a:r>
              <a:rPr lang="zh-CN" altLang="en-US">
                <a:solidFill>
                  <a:schemeClr val="bg1"/>
                </a:solidFill>
              </a:rPr>
              <a:t>两者是互补关系，而非替代。</a:t>
            </a:r>
            <a:r>
              <a:rPr lang="en-US" altLang="zh-CN">
                <a:solidFill>
                  <a:schemeClr val="bg1"/>
                </a:solidFill>
              </a:rPr>
              <a:t>RAG</a:t>
            </a:r>
            <a:r>
              <a:rPr lang="zh-CN" altLang="en-US">
                <a:solidFill>
                  <a:schemeClr val="bg1"/>
                </a:solidFill>
              </a:rPr>
              <a:t>利用大模型回答问题，但大模型本身由于“幻觉”问题，有时会一本正经地胡说八道。知识图谱为大模型提供了精准的、结构化的事实依据。高质量的知识图谱可以作为</a:t>
            </a:r>
            <a:r>
              <a:rPr lang="en-US" altLang="zh-CN">
                <a:solidFill>
                  <a:schemeClr val="bg1"/>
                </a:solidFill>
              </a:rPr>
              <a:t>RAG</a:t>
            </a:r>
            <a:r>
              <a:rPr lang="zh-CN" altLang="en-US">
                <a:solidFill>
                  <a:schemeClr val="bg1"/>
                </a:solidFill>
              </a:rPr>
              <a:t>的检索源，显著提高</a:t>
            </a:r>
            <a:r>
              <a:rPr lang="en-US" altLang="zh-CN">
                <a:solidFill>
                  <a:schemeClr val="bg1"/>
                </a:solidFill>
              </a:rPr>
              <a:t>AI</a:t>
            </a:r>
            <a:r>
              <a:rPr lang="zh-CN" altLang="en-US">
                <a:solidFill>
                  <a:schemeClr val="bg1"/>
                </a:solidFill>
              </a:rPr>
              <a:t>回答的准确率和可解释性。这就是所谓的“</a:t>
            </a:r>
            <a:r>
              <a:rPr lang="en-US" altLang="zh-CN">
                <a:solidFill>
                  <a:schemeClr val="bg1"/>
                </a:solidFill>
              </a:rPr>
              <a:t>Graph RAG”</a:t>
            </a:r>
            <a:r>
              <a:rPr lang="zh-CN" altLang="en-US">
                <a:solidFill>
                  <a:schemeClr val="bg1"/>
                </a:solidFill>
              </a:rPr>
              <a:t>技术。</a:t>
            </a:r>
            <a:endParaRPr lang="zh-CN" altLang="en-US">
              <a:solidFill>
                <a:schemeClr val="bg1"/>
              </a:solidFill>
            </a:endParaRPr>
          </a:p>
        </p:txBody>
      </p:sp>
    </p:spTree>
    <p:custDataLst>
      <p:tags r:id="rId1"/>
    </p:custDataLst>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0"/>
            <a:ext cx="9143365" cy="1093470"/>
          </a:xfrm>
        </p:spPr>
        <p:txBody>
          <a:bodyPr/>
          <a:p>
            <a:r>
              <a:rPr lang="en-US" altLang="zh-CN">
                <a:sym typeface="+mn-ea"/>
              </a:rPr>
              <a:t>Q2: </a:t>
            </a:r>
            <a:r>
              <a:rPr lang="zh-CN" altLang="en-US">
                <a:sym typeface="+mn-ea"/>
              </a:rPr>
              <a:t>知识图谱知识库和现在的“</a:t>
            </a:r>
            <a:r>
              <a:rPr lang="en-US" altLang="zh-CN">
                <a:sym typeface="+mn-ea"/>
              </a:rPr>
              <a:t>RAG（</a:t>
            </a:r>
            <a:r>
              <a:rPr lang="zh-CN" altLang="en-US">
                <a:sym typeface="+mn-ea"/>
              </a:rPr>
              <a:t>检索增强生成）+大模型”有什么区别？</a:t>
            </a:r>
            <a:endParaRPr lang="zh-CN" altLang="en-US"/>
          </a:p>
        </p:txBody>
      </p:sp>
      <p:sp>
        <p:nvSpPr>
          <p:cNvPr id="3" name="内容占位符 2"/>
          <p:cNvSpPr>
            <a:spLocks noGrp="1"/>
          </p:cNvSpPr>
          <p:nvPr>
            <p:ph idx="1"/>
          </p:nvPr>
        </p:nvSpPr>
        <p:spPr>
          <a:xfrm>
            <a:off x="250825" y="1457960"/>
            <a:ext cx="8642350" cy="4850765"/>
          </a:xfrm>
        </p:spPr>
        <p:txBody>
          <a:bodyPr/>
          <a:p>
            <a:pPr marL="0" indent="0">
              <a:buNone/>
            </a:pPr>
            <a:r>
              <a:rPr lang="zh-CN" altLang="en-US"/>
              <a:t> </a:t>
            </a:r>
            <a:r>
              <a:rPr lang="zh-CN" altLang="en-US">
                <a:solidFill>
                  <a:schemeClr val="tx1"/>
                </a:solidFill>
              </a:rPr>
              <a:t>两者是互补关系，而非替代。</a:t>
            </a:r>
            <a:r>
              <a:rPr lang="en-US" altLang="zh-CN">
                <a:solidFill>
                  <a:schemeClr val="tx1"/>
                </a:solidFill>
              </a:rPr>
              <a:t>RAG</a:t>
            </a:r>
            <a:r>
              <a:rPr lang="zh-CN" altLang="en-US">
                <a:solidFill>
                  <a:schemeClr val="tx1"/>
                </a:solidFill>
              </a:rPr>
              <a:t>利用大模型回答问题，但大模型本身由于“幻觉”问题，有时会一本正经地胡说八道。知识图谱为大模型提供了精准的、结构化的事实依据。高质量的知识图谱可以作为</a:t>
            </a:r>
            <a:r>
              <a:rPr lang="en-US" altLang="zh-CN">
                <a:solidFill>
                  <a:schemeClr val="tx1"/>
                </a:solidFill>
              </a:rPr>
              <a:t>RAG</a:t>
            </a:r>
            <a:r>
              <a:rPr lang="zh-CN" altLang="en-US">
                <a:solidFill>
                  <a:schemeClr val="tx1"/>
                </a:solidFill>
              </a:rPr>
              <a:t>的检索源，显著提高</a:t>
            </a:r>
            <a:r>
              <a:rPr lang="en-US" altLang="zh-CN">
                <a:solidFill>
                  <a:schemeClr val="tx1"/>
                </a:solidFill>
              </a:rPr>
              <a:t>AI</a:t>
            </a:r>
            <a:r>
              <a:rPr lang="zh-CN" altLang="en-US">
                <a:solidFill>
                  <a:schemeClr val="tx1"/>
                </a:solidFill>
              </a:rPr>
              <a:t>回答的准确率和可解释性。这就是所谓的“</a:t>
            </a:r>
            <a:r>
              <a:rPr lang="en-US" altLang="zh-CN">
                <a:solidFill>
                  <a:schemeClr val="tx1"/>
                </a:solidFill>
              </a:rPr>
              <a:t>Graph RAG”</a:t>
            </a:r>
            <a:r>
              <a:rPr lang="zh-CN" altLang="en-US">
                <a:solidFill>
                  <a:schemeClr val="tx1"/>
                </a:solidFill>
              </a:rPr>
              <a:t>技术。</a:t>
            </a:r>
            <a:endParaRPr lang="zh-CN" altLang="en-US">
              <a:solidFill>
                <a:schemeClr val="tx1"/>
              </a:solidFill>
            </a:endParaRPr>
          </a:p>
        </p:txBody>
      </p:sp>
    </p:spTree>
    <p:custDataLst>
      <p:tags r:id="rId1"/>
    </p:custDataLst>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0"/>
            <a:ext cx="8893810" cy="1303655"/>
          </a:xfrm>
        </p:spPr>
        <p:txBody>
          <a:bodyPr/>
          <a:p>
            <a:r>
              <a:rPr lang="en-US" altLang="zh-CN">
                <a:sym typeface="+mn-ea"/>
              </a:rPr>
              <a:t>Q3: </a:t>
            </a:r>
            <a:r>
              <a:rPr lang="zh-CN" altLang="en-US">
                <a:sym typeface="+mn-ea"/>
              </a:rPr>
              <a:t>这种结构化的知识库会不会导致由于规则太死板，员工不愿意用？</a:t>
            </a:r>
            <a:endParaRPr lang="zh-CN" altLang="en-US"/>
          </a:p>
        </p:txBody>
      </p:sp>
      <p:sp>
        <p:nvSpPr>
          <p:cNvPr id="3" name="内容占位符 2"/>
          <p:cNvSpPr>
            <a:spLocks noGrp="1"/>
          </p:cNvSpPr>
          <p:nvPr>
            <p:ph idx="1"/>
          </p:nvPr>
        </p:nvSpPr>
        <p:spPr/>
        <p:txBody>
          <a:bodyPr/>
          <a:p>
            <a:pPr marL="0" indent="0">
              <a:buNone/>
            </a:pPr>
            <a:endParaRPr lang="en-US" altLang="zh-CN"/>
          </a:p>
          <a:p>
            <a:r>
              <a:rPr lang="zh-CN" altLang="en-US"/>
              <a:t> </a:t>
            </a:r>
            <a:r>
              <a:rPr lang="zh-CN" altLang="en-US">
                <a:solidFill>
                  <a:schemeClr val="bg1"/>
                </a:solidFill>
              </a:rPr>
              <a:t>这是一个有效的担忧。选型时要避免“过度设计”。成功的实践通常采用“自下而上”的策略：允许员工先像写普通笔记一样记录（双向链接），当内容积累到一定程度后，再由管理员定义结构和属性。选择支持“弹性结构”的工具比强制填表的工具推广成功率高得多。</a:t>
            </a:r>
            <a:endParaRPr lang="zh-CN" altLang="en-US">
              <a:solidFill>
                <a:schemeClr val="bg1"/>
              </a:solidFill>
            </a:endParaRPr>
          </a:p>
        </p:txBody>
      </p:sp>
    </p:spTree>
    <p:custDataLst>
      <p:tags r:id="rId1"/>
    </p:custDataLst>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0"/>
            <a:ext cx="8893810" cy="1303655"/>
          </a:xfrm>
        </p:spPr>
        <p:txBody>
          <a:bodyPr/>
          <a:p>
            <a:r>
              <a:rPr lang="en-US" altLang="zh-CN">
                <a:sym typeface="+mn-ea"/>
              </a:rPr>
              <a:t>Q3: </a:t>
            </a:r>
            <a:r>
              <a:rPr lang="zh-CN" altLang="en-US">
                <a:sym typeface="+mn-ea"/>
              </a:rPr>
              <a:t>这种结构化的知识库会不会导致由于规则太死板，员工不愿意用？</a:t>
            </a:r>
            <a:endParaRPr lang="zh-CN" altLang="en-US"/>
          </a:p>
        </p:txBody>
      </p:sp>
      <p:sp>
        <p:nvSpPr>
          <p:cNvPr id="3" name="内容占位符 2"/>
          <p:cNvSpPr>
            <a:spLocks noGrp="1"/>
          </p:cNvSpPr>
          <p:nvPr>
            <p:ph idx="1"/>
          </p:nvPr>
        </p:nvSpPr>
        <p:spPr/>
        <p:txBody>
          <a:bodyPr/>
          <a:p>
            <a:pPr marL="0" indent="0">
              <a:buNone/>
            </a:pPr>
            <a:endParaRPr lang="en-US" altLang="zh-CN"/>
          </a:p>
          <a:p>
            <a:r>
              <a:rPr lang="zh-CN" altLang="en-US">
                <a:solidFill>
                  <a:schemeClr val="tx1"/>
                </a:solidFill>
              </a:rPr>
              <a:t> 这是一个有效的担忧。选型时要避免“过度设计”。成功的实践通常采用“自下而上”的策略：允许员工先像写普通笔记一样记录（双向链接），当内容积累到一定程度后，再由管理员定义结构和属性。选择支持“弹性结构”的工具比强制填表的工具推广成功率高得多。</a:t>
            </a:r>
            <a:endParaRPr lang="zh-CN" altLang="en-US">
              <a:solidFill>
                <a:schemeClr val="tx1"/>
              </a:solidFill>
            </a:endParaRPr>
          </a:p>
        </p:txBody>
      </p:sp>
    </p:spTree>
    <p:custDataLst>
      <p:tags r:id="rId1"/>
    </p:custDataLst>
  </p:cSld>
  <p:clrMapOvr>
    <a:masterClrMapping/>
  </p:clrMapOvr>
  <p:transition>
    <p:rand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0"/>
            <a:ext cx="9039225" cy="1174750"/>
          </a:xfrm>
        </p:spPr>
        <p:txBody>
          <a:bodyPr/>
          <a:p>
            <a:r>
              <a:rPr lang="en-US" altLang="zh-CN">
                <a:sym typeface="+mn-ea"/>
              </a:rPr>
              <a:t>Q4: </a:t>
            </a:r>
            <a:r>
              <a:rPr lang="zh-CN" altLang="en-US">
                <a:sym typeface="+mn-ea"/>
              </a:rPr>
              <a:t>知识图谱的可视化看起来很酷，但在实际工作中真的有用吗？ </a:t>
            </a:r>
            <a:endParaRPr lang="zh-CN" altLang="en-US"/>
          </a:p>
        </p:txBody>
      </p:sp>
      <p:sp>
        <p:nvSpPr>
          <p:cNvPr id="3" name="内容占位符 2"/>
          <p:cNvSpPr>
            <a:spLocks noGrp="1"/>
          </p:cNvSpPr>
          <p:nvPr>
            <p:ph idx="1"/>
          </p:nvPr>
        </p:nvSpPr>
        <p:spPr/>
        <p:txBody>
          <a:bodyPr/>
          <a:p>
            <a:pPr marL="0" indent="0">
              <a:buNone/>
            </a:pPr>
            <a:endParaRPr lang="en-US" altLang="zh-CN"/>
          </a:p>
          <a:p>
            <a:r>
              <a:rPr lang="zh-CN" altLang="en-US">
                <a:solidFill>
                  <a:schemeClr val="bg1"/>
                </a:solidFill>
              </a:rPr>
              <a:t>“全局图谱”对于拥有成千上万节点的库来说，确实可能只是“好看的花瓶”。但“局部图谱”非常实用。当你在阅读一篇文档时，侧边栏展示的仅与当前文档直接相关的二级关系图（例如：这篇需求文档关联了哪些代码文件和测试用例），能极大辅助上下文理解和查漏补缺。选型时，请关注局部视图的交互体验，而非盲目追求酷炫的全景图。</a:t>
            </a:r>
            <a:endParaRPr lang="zh-CN" altLang="en-US">
              <a:solidFill>
                <a:schemeClr val="bg1"/>
              </a:solidFill>
            </a:endParaRPr>
          </a:p>
        </p:txBody>
      </p:sp>
    </p:spTree>
    <p:custDataLst>
      <p:tags r:id="rId1"/>
    </p:custDataLst>
  </p:cSld>
  <p:clrMapOvr>
    <a:masterClrMapping/>
  </p:clrMapOvr>
  <p:transition>
    <p:rand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0"/>
            <a:ext cx="9039225" cy="1174750"/>
          </a:xfrm>
        </p:spPr>
        <p:txBody>
          <a:bodyPr/>
          <a:p>
            <a:r>
              <a:rPr lang="en-US" altLang="zh-CN">
                <a:sym typeface="+mn-ea"/>
              </a:rPr>
              <a:t>Q4: </a:t>
            </a:r>
            <a:r>
              <a:rPr lang="zh-CN" altLang="en-US">
                <a:sym typeface="+mn-ea"/>
              </a:rPr>
              <a:t>知识图谱的可视化看起来很酷，但在实际工作中真的有用吗？ </a:t>
            </a:r>
            <a:endParaRPr lang="zh-CN" altLang="en-US"/>
          </a:p>
        </p:txBody>
      </p:sp>
      <p:sp>
        <p:nvSpPr>
          <p:cNvPr id="3" name="内容占位符 2"/>
          <p:cNvSpPr>
            <a:spLocks noGrp="1"/>
          </p:cNvSpPr>
          <p:nvPr>
            <p:ph idx="1"/>
          </p:nvPr>
        </p:nvSpPr>
        <p:spPr/>
        <p:txBody>
          <a:bodyPr/>
          <a:p>
            <a:pPr marL="0" indent="0">
              <a:buNone/>
            </a:pPr>
            <a:endParaRPr lang="en-US" altLang="zh-CN"/>
          </a:p>
          <a:p>
            <a:r>
              <a:rPr lang="zh-CN" altLang="en-US"/>
              <a:t>“全局图谱”对于拥有成千上万节点的库来说，确实可能只是“好看的花瓶”。但“局部图谱”非常实用。当你在阅读一篇文档时，侧边栏展示的仅与当前文档直接相关的二级关系图（例如：这篇需求文档关联了哪些代码文件和测试用例），能极大辅助上下文理解和查漏补缺。选型时，请关注局部视图的交互体验，而非盲目追求酷炫的全景图。</a:t>
            </a:r>
            <a:endParaRPr lang="zh-CN" altLang="en-US"/>
          </a:p>
        </p:txBody>
      </p:sp>
    </p:spTree>
    <p:custDataLst>
      <p:tags r:id="rId1"/>
    </p:custDataLst>
  </p:cSld>
  <p:clrMapOvr>
    <a:masterClrMapping/>
  </p:clrMapOvr>
  <p:transition>
    <p:rand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Q5:</a:t>
            </a:r>
            <a:r>
              <a:rPr lang="zh-CN" altLang="en-US">
                <a:sym typeface="+mn-ea"/>
              </a:rPr>
              <a:t>基于知识图谱的知识库是什么？</a:t>
            </a:r>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Q5:</a:t>
            </a:r>
            <a:r>
              <a:rPr lang="zh-CN" altLang="en-US">
                <a:sym typeface="+mn-ea"/>
              </a:rPr>
              <a:t>基于知识图谱的知识库是什么？</a:t>
            </a:r>
            <a:endParaRPr lang="zh-CN" altLang="en-US"/>
          </a:p>
        </p:txBody>
      </p:sp>
      <p:sp>
        <p:nvSpPr>
          <p:cNvPr id="3" name="内容占位符 2"/>
          <p:cNvSpPr>
            <a:spLocks noGrp="1"/>
          </p:cNvSpPr>
          <p:nvPr>
            <p:ph idx="1"/>
          </p:nvPr>
        </p:nvSpPr>
        <p:spPr>
          <a:xfrm>
            <a:off x="250825" y="908050"/>
            <a:ext cx="8560435" cy="5517515"/>
          </a:xfrm>
        </p:spPr>
        <p:txBody>
          <a:bodyPr/>
          <a:p>
            <a:r>
              <a:rPr lang="zh-CN" altLang="en-US"/>
              <a:t>在传统的企业知识管理体系中，文档存储在层层嵌套文件夹结构里的</a:t>
            </a:r>
            <a:r>
              <a:rPr lang="zh-CN" altLang="en-US">
                <a:highlight>
                  <a:srgbClr val="FFFF00"/>
                </a:highlight>
              </a:rPr>
              <a:t>“树状存储”。</a:t>
            </a:r>
            <a:endParaRPr lang="zh-CN" altLang="en-US"/>
          </a:p>
          <a:p>
            <a:r>
              <a:rPr lang="zh-CN" altLang="en-US"/>
              <a:t>知识图谱的知识库通过</a:t>
            </a:r>
            <a:r>
              <a:rPr lang="zh-CN" altLang="en-US">
                <a:highlight>
                  <a:srgbClr val="FFFF00"/>
                </a:highlight>
              </a:rPr>
              <a:t>“实体（</a:t>
            </a:r>
            <a:r>
              <a:rPr lang="en-US" altLang="zh-CN">
                <a:highlight>
                  <a:srgbClr val="FFFF00"/>
                </a:highlight>
              </a:rPr>
              <a:t>Entity）”</a:t>
            </a:r>
            <a:r>
              <a:rPr lang="zh-CN" altLang="en-US"/>
              <a:t>与</a:t>
            </a:r>
            <a:r>
              <a:rPr lang="zh-CN" altLang="en-US">
                <a:highlight>
                  <a:srgbClr val="FFFF00"/>
                </a:highlight>
              </a:rPr>
              <a:t>“关系”的网络结构</a:t>
            </a:r>
            <a:r>
              <a:rPr lang="zh-CN" altLang="en-US"/>
              <a:t>来组织所有信息。</a:t>
            </a:r>
            <a:endParaRPr lang="zh-CN" altLang="en-US"/>
          </a:p>
          <a:p>
            <a:r>
              <a:rPr lang="zh-CN" altLang="en-US"/>
              <a:t>知识不再是静止躺在硬盘里的独立文档，而是相互连接的动态数据节点。</a:t>
            </a:r>
            <a:endParaRPr lang="zh-CN" altLang="en-US"/>
          </a:p>
        </p:txBody>
      </p:sp>
    </p:spTree>
    <p:custDataLst>
      <p:tags r:id="rId1"/>
    </p:custDataLst>
  </p:cSld>
  <p:clrMapOvr>
    <a:masterClrMapping/>
  </p:clrMapOvr>
  <p:transition>
    <p:rand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Q5-1:</a:t>
            </a:r>
            <a:r>
              <a:rPr lang="zh-CN" altLang="en-US">
                <a:sym typeface="+mn-ea"/>
              </a:rPr>
              <a:t>一份“软件采购合同”</a:t>
            </a:r>
            <a:endParaRPr lang="zh-CN" altLang="en-US"/>
          </a:p>
        </p:txBody>
      </p:sp>
      <p:sp>
        <p:nvSpPr>
          <p:cNvPr id="3" name="内容占位符 2"/>
          <p:cNvSpPr>
            <a:spLocks noGrp="1"/>
          </p:cNvSpPr>
          <p:nvPr>
            <p:ph idx="1"/>
          </p:nvPr>
        </p:nvSpPr>
        <p:spPr>
          <a:xfrm>
            <a:off x="250825" y="908050"/>
            <a:ext cx="8560435" cy="5517515"/>
          </a:xfrm>
        </p:spPr>
        <p:txBody>
          <a:bodyPr/>
          <a:p>
            <a:r>
              <a:rPr lang="zh-CN" altLang="en-US"/>
              <a:t>它在系统中会被</a:t>
            </a:r>
            <a:r>
              <a:rPr lang="zh-CN" altLang="en-US">
                <a:solidFill>
                  <a:schemeClr val="tx1"/>
                </a:solidFill>
                <a:highlight>
                  <a:srgbClr val="FFFF00"/>
                </a:highlight>
              </a:rPr>
              <a:t>自动解析</a:t>
            </a:r>
            <a:r>
              <a:rPr lang="zh-CN" altLang="en-US"/>
              <a:t>并链接到“签署客户”、“负责销售经理”、“关联产品线”以及“交付状态”等多个维度，形成一张错综复杂却逻辑清晰的知识网。</a:t>
            </a:r>
            <a:endParaRPr lang="zh-CN" altLang="en-US"/>
          </a:p>
          <a:p>
            <a:r>
              <a:rPr lang="zh-CN" altLang="en-US"/>
              <a:t>模拟人类大脑的</a:t>
            </a:r>
            <a:r>
              <a:rPr lang="zh-CN" altLang="en-US">
                <a:highlight>
                  <a:srgbClr val="FFFF00"/>
                </a:highlight>
              </a:rPr>
              <a:t>联想记忆模式</a:t>
            </a:r>
            <a:r>
              <a:rPr lang="zh-CN" altLang="en-US"/>
              <a:t>。不同于传统网盘或 </a:t>
            </a:r>
            <a:r>
              <a:rPr lang="en-US" altLang="zh-CN"/>
              <a:t>Wiki </a:t>
            </a:r>
            <a:r>
              <a:rPr lang="zh-CN" altLang="en-US"/>
              <a:t>仅能提供静态存储，支持知识图谱的知识库系统能够将非结构化数据（如 </a:t>
            </a:r>
            <a:r>
              <a:rPr lang="en-US" altLang="zh-CN"/>
              <a:t>Word </a:t>
            </a:r>
            <a:r>
              <a:rPr lang="zh-CN" altLang="en-US"/>
              <a:t>文档、即时通讯记录）转化为结构化的企业资产。</a:t>
            </a:r>
            <a:endParaRPr lang="zh-CN" altLang="en-US"/>
          </a:p>
        </p:txBody>
      </p:sp>
    </p:spTree>
    <p:custDataLst>
      <p:tags r:id="rId1"/>
    </p:custDataLst>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Q5-1:</a:t>
            </a:r>
            <a:r>
              <a:rPr lang="zh-CN" altLang="en-US">
                <a:sym typeface="+mn-ea"/>
              </a:rPr>
              <a:t>一份“软件采购合同”</a:t>
            </a:r>
            <a:endParaRPr lang="zh-CN" altLang="en-US"/>
          </a:p>
        </p:txBody>
      </p:sp>
      <p:sp>
        <p:nvSpPr>
          <p:cNvPr id="3" name="内容占位符 2"/>
          <p:cNvSpPr>
            <a:spLocks noGrp="1"/>
          </p:cNvSpPr>
          <p:nvPr>
            <p:ph idx="1"/>
          </p:nvPr>
        </p:nvSpPr>
        <p:spPr>
          <a:xfrm>
            <a:off x="250825" y="908050"/>
            <a:ext cx="8560435" cy="5517515"/>
          </a:xfrm>
        </p:spPr>
        <p:txBody>
          <a:bodyPr/>
          <a:p>
            <a:r>
              <a:rPr lang="zh-CN" altLang="en-US">
                <a:highlight>
                  <a:srgbClr val="FFFF00"/>
                </a:highlight>
              </a:rPr>
              <a:t>存储内容之间的逻辑联系</a:t>
            </a:r>
            <a:r>
              <a:rPr lang="zh-CN" altLang="en-US"/>
              <a:t>，让企业知识库从一个简单的</a:t>
            </a:r>
            <a:r>
              <a:rPr lang="zh-CN" altLang="en-US">
                <a:solidFill>
                  <a:srgbClr val="0070C0"/>
                </a:solidFill>
              </a:rPr>
              <a:t>“资料仓库”</a:t>
            </a:r>
            <a:r>
              <a:rPr lang="zh-CN" altLang="en-US"/>
              <a:t>进化为一个具备推理能力的</a:t>
            </a:r>
            <a:r>
              <a:rPr lang="zh-CN" altLang="en-US">
                <a:solidFill>
                  <a:srgbClr val="0070C0"/>
                </a:solidFill>
              </a:rPr>
              <a:t>“智能大脑”</a:t>
            </a:r>
            <a:r>
              <a:rPr lang="zh-CN" altLang="en-US"/>
              <a:t>。</a:t>
            </a:r>
            <a:endParaRPr lang="zh-CN" altLang="en-US"/>
          </a:p>
          <a:p>
            <a:r>
              <a:rPr lang="zh-CN" altLang="en-US"/>
              <a:t>这种转变不仅解决了文档难以查找的问题，更为企业后续引入 </a:t>
            </a:r>
            <a:r>
              <a:rPr lang="en-US" altLang="zh-CN"/>
              <a:t>AI </a:t>
            </a:r>
            <a:r>
              <a:rPr lang="zh-CN" altLang="en-US"/>
              <a:t>智能助手、进行深度商业分析打下了坚实的数据底座，实现了真正意义上的智能化知识管理。</a:t>
            </a:r>
            <a:endParaRPr lang="zh-CN" altLang="en-US"/>
          </a:p>
          <a:p>
            <a:endParaRPr lang="zh-CN" altLang="en-US"/>
          </a:p>
        </p:txBody>
      </p:sp>
    </p:spTree>
    <p:custDataLst>
      <p:tags r:id="rId1"/>
    </p:custDataLst>
  </p:cSld>
  <p:clrMapOvr>
    <a:masterClrMapping/>
  </p:clrMapOvr>
  <p:transition>
    <p:rand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1915" y="0"/>
            <a:ext cx="8940165" cy="1233805"/>
          </a:xfrm>
        </p:spPr>
        <p:txBody>
          <a:bodyPr/>
          <a:p>
            <a:r>
              <a:rPr lang="en-US" altLang="zh-CN"/>
              <a:t>Q6:</a:t>
            </a:r>
            <a:r>
              <a:rPr lang="zh-CN" altLang="en-US"/>
              <a:t>基于知识图谱的知识库在搜索与推荐上的优势对比</a:t>
            </a:r>
            <a:endParaRPr lang="zh-CN" altLang="en-US"/>
          </a:p>
        </p:txBody>
      </p:sp>
      <p:sp>
        <p:nvSpPr>
          <p:cNvPr id="3" name="内容占位符 2"/>
          <p:cNvSpPr>
            <a:spLocks noGrp="1"/>
          </p:cNvSpPr>
          <p:nvPr>
            <p:ph idx="1"/>
          </p:nvPr>
        </p:nvSpPr>
        <p:spPr>
          <a:xfrm>
            <a:off x="250825" y="1516380"/>
            <a:ext cx="8642350" cy="4792345"/>
          </a:xfrm>
        </p:spPr>
        <p:txBody>
          <a:bodyPr/>
          <a:p>
            <a:r>
              <a:rPr lang="zh-CN" altLang="en-US"/>
              <a:t>差异体现在“获取信息”的效率上。</a:t>
            </a:r>
            <a:endParaRPr lang="zh-CN" altLang="en-US"/>
          </a:p>
          <a:p>
            <a:r>
              <a:rPr lang="zh-CN" altLang="en-US"/>
              <a:t>传统的</a:t>
            </a:r>
            <a:r>
              <a:rPr lang="zh-CN" altLang="en-US">
                <a:solidFill>
                  <a:srgbClr val="0070C0"/>
                </a:solidFill>
                <a:highlight>
                  <a:srgbClr val="FFFF00"/>
                </a:highlight>
              </a:rPr>
              <a:t>关键词搜索技术</a:t>
            </a:r>
            <a:r>
              <a:rPr lang="zh-CN" altLang="en-US"/>
              <a:t>往往面临“搜不准”或“搜太多”的困境</a:t>
            </a:r>
            <a:r>
              <a:rPr lang="en-US" altLang="zh-CN"/>
              <a:t>；</a:t>
            </a:r>
            <a:r>
              <a:rPr lang="zh-CN" altLang="en-US"/>
              <a:t>基于知识图谱的语义搜索则能精准理解用户的真实意图。</a:t>
            </a:r>
            <a:endParaRPr lang="zh-CN" altLang="en-US"/>
          </a:p>
          <a:p>
            <a:r>
              <a:rPr lang="zh-CN" altLang="en-US"/>
              <a:t>在推荐机制上，知识图谱更是实现了从“猜你喜欢”到“推理你可能需要”的质的跨越。</a:t>
            </a:r>
            <a:endParaRPr lang="zh-CN" altLang="en-US"/>
          </a:p>
          <a:p>
            <a:endParaRPr lang="zh-CN" altLang="en-US"/>
          </a:p>
        </p:txBody>
      </p:sp>
    </p:spTree>
    <p:custDataLst>
      <p:tags r:id="rId1"/>
    </p:custDataLst>
  </p:cSld>
  <p:clrMapOvr>
    <a:masterClrMapping/>
  </p:clrMapOvr>
  <p:transition>
    <p:rand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1915" y="0"/>
            <a:ext cx="8940165" cy="1000125"/>
          </a:xfrm>
        </p:spPr>
        <p:txBody>
          <a:bodyPr/>
          <a:p>
            <a:r>
              <a:rPr lang="en-US" altLang="zh-CN"/>
              <a:t>Q6-1:</a:t>
            </a:r>
            <a:r>
              <a:rPr lang="zh-CN" altLang="en-US">
                <a:sym typeface="+mn-ea"/>
              </a:rPr>
              <a:t>“服务器报错代码 500”</a:t>
            </a:r>
            <a:endParaRPr lang="zh-CN" altLang="en-US"/>
          </a:p>
        </p:txBody>
      </p:sp>
      <p:sp>
        <p:nvSpPr>
          <p:cNvPr id="3" name="内容占位符 2"/>
          <p:cNvSpPr>
            <a:spLocks noGrp="1"/>
          </p:cNvSpPr>
          <p:nvPr>
            <p:ph idx="1"/>
          </p:nvPr>
        </p:nvSpPr>
        <p:spPr>
          <a:xfrm>
            <a:off x="250825" y="1516380"/>
            <a:ext cx="8642350" cy="4792345"/>
          </a:xfrm>
        </p:spPr>
        <p:txBody>
          <a:bodyPr/>
          <a:p>
            <a:r>
              <a:rPr lang="zh-CN" altLang="en-US"/>
              <a:t>当某位运维工程师文档时，系统不仅会推荐该文档，还会</a:t>
            </a:r>
            <a:r>
              <a:rPr lang="zh-CN" altLang="en-US">
                <a:highlight>
                  <a:srgbClr val="FFFF00"/>
                </a:highlight>
              </a:rPr>
              <a:t>通过图谱关系</a:t>
            </a:r>
            <a:r>
              <a:rPr lang="zh-CN" altLang="en-US"/>
              <a:t>，主动推送“该服务器关联的最近一次代码提交记录”、“负责该模块的开发人员名单”以及“类似的过往故障解决方案”。这种</a:t>
            </a:r>
            <a:r>
              <a:rPr lang="zh-CN" altLang="en-US">
                <a:highlight>
                  <a:srgbClr val="FFFF00"/>
                </a:highlight>
              </a:rPr>
              <a:t>主动式的知识供给</a:t>
            </a:r>
            <a:r>
              <a:rPr lang="zh-CN" altLang="en-US"/>
              <a:t>，能显著缩短企业内部的问题解决时间，将“人找知识”转变为</a:t>
            </a:r>
            <a:r>
              <a:rPr lang="zh-CN" altLang="en-US">
                <a:highlight>
                  <a:srgbClr val="FFFF00"/>
                </a:highlight>
              </a:rPr>
              <a:t>“知识找人”</a:t>
            </a:r>
            <a:r>
              <a:rPr lang="zh-CN" altLang="en-US"/>
              <a:t>。</a:t>
            </a:r>
            <a:endParaRPr lang="zh-CN" altLang="en-US"/>
          </a:p>
          <a:p>
            <a:pPr lvl="5"/>
            <a:endParaRPr lang="en-US" altLang="zh-CN"/>
          </a:p>
          <a:p>
            <a:endParaRPr lang="zh-CN" altLang="en-US"/>
          </a:p>
        </p:txBody>
      </p:sp>
    </p:spTree>
    <p:custDataLst>
      <p:tags r:id="rId1"/>
    </p:custDataLst>
  </p:cSld>
  <p:clrMapOvr>
    <a:masterClrMapping/>
  </p:clrMapOvr>
  <p:transition>
    <p:rand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117475"/>
            <a:ext cx="8980805" cy="1149985"/>
          </a:xfrm>
        </p:spPr>
        <p:txBody>
          <a:bodyPr/>
          <a:p>
            <a:r>
              <a:rPr lang="en-US" altLang="zh-CN"/>
              <a:t>Q7:</a:t>
            </a:r>
            <a:r>
              <a:rPr lang="zh-CN" altLang="en-US"/>
              <a:t>不同行业场景下的结构化知识管理方案选型思路</a:t>
            </a:r>
            <a:endParaRPr lang="zh-CN" altLang="en-US"/>
          </a:p>
        </p:txBody>
      </p:sp>
      <p:sp>
        <p:nvSpPr>
          <p:cNvPr id="3" name="内容占位符 2"/>
          <p:cNvSpPr>
            <a:spLocks noGrp="1"/>
          </p:cNvSpPr>
          <p:nvPr>
            <p:ph idx="1"/>
          </p:nvPr>
        </p:nvSpPr>
        <p:spPr>
          <a:xfrm>
            <a:off x="250825" y="1750695"/>
            <a:ext cx="8642350" cy="4558030"/>
          </a:xfrm>
        </p:spPr>
        <p:txBody>
          <a:bodyPr/>
          <a:p>
            <a:endParaRPr lang="zh-CN" altLang="en-US"/>
          </a:p>
        </p:txBody>
      </p:sp>
    </p:spTree>
    <p:custDataLst>
      <p:tags r:id="rId1"/>
    </p:custDataLst>
  </p:cSld>
  <p:clrMapOvr>
    <a:masterClrMapping/>
  </p:clrMapOvr>
  <p:transition>
    <p:rand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117475"/>
            <a:ext cx="8980805" cy="1149985"/>
          </a:xfrm>
        </p:spPr>
        <p:txBody>
          <a:bodyPr/>
          <a:p>
            <a:r>
              <a:rPr lang="en-US" altLang="zh-CN"/>
              <a:t>Q7:</a:t>
            </a:r>
            <a:r>
              <a:rPr lang="zh-CN" altLang="en-US"/>
              <a:t>不同行业场景下的结构化知识管理方案选型思路</a:t>
            </a:r>
            <a:endParaRPr lang="zh-CN" altLang="en-US"/>
          </a:p>
        </p:txBody>
      </p:sp>
      <p:sp>
        <p:nvSpPr>
          <p:cNvPr id="3" name="内容占位符 2"/>
          <p:cNvSpPr>
            <a:spLocks noGrp="1"/>
          </p:cNvSpPr>
          <p:nvPr>
            <p:ph idx="1"/>
          </p:nvPr>
        </p:nvSpPr>
        <p:spPr>
          <a:xfrm>
            <a:off x="250825" y="1750695"/>
            <a:ext cx="8642350" cy="4558030"/>
          </a:xfrm>
        </p:spPr>
        <p:txBody>
          <a:bodyPr/>
          <a:p>
            <a:r>
              <a:rPr lang="zh-CN" altLang="en-US"/>
              <a:t>不同行业的知识密度和业务逻辑差异巨大，因此在选型结构化知识管理方案时，必须结合具体的业务场景进行侧重。对于研发与技术密集型行业（如 </a:t>
            </a:r>
            <a:r>
              <a:rPr lang="en-US" altLang="zh-CN"/>
              <a:t>IT、</a:t>
            </a:r>
            <a:r>
              <a:rPr lang="zh-CN" altLang="en-US"/>
              <a:t>高端制造），企业拥有复杂的代码库、</a:t>
            </a:r>
            <a:r>
              <a:rPr lang="en-US" altLang="zh-CN"/>
              <a:t>API </a:t>
            </a:r>
            <a:r>
              <a:rPr lang="zh-CN" altLang="en-US"/>
              <a:t>文档和物料清单，选型时应重点关注“自动化实体抽取”和“代码/文档关联能力”。理想的方案应能自动扫描代码库和技术文档，建立起“需求-代码-测试用例-</a:t>
            </a:r>
            <a:r>
              <a:rPr lang="en-US" altLang="zh-CN"/>
              <a:t>Bug”</a:t>
            </a:r>
            <a:r>
              <a:rPr lang="zh-CN" altLang="en-US"/>
              <a:t>的全链路图谱，帮助团队在变更一个底层模块时，立即知晓所有受影响的下游依赖，从而通过可视化影响分析降低研发风险。对于咨询、法律与金融服务业，其核心资产是高度关联的案例库、法规和合规文件，知识之间的逻辑引用非常严格。这类企业的选型应侧重于“强引用管理”和“可视化溯源”功能，工具需要能够清晰地展示某一条款被哪些合同引用，或某一法律变更会影响哪些内部政策。而对于客户服务与售后支持行业，核心痛点是快速响应，选型时应优先考虑“问答对（</a:t>
            </a:r>
            <a:r>
              <a:rPr lang="en-US" altLang="zh-CN"/>
              <a:t>QA）</a:t>
            </a:r>
            <a:r>
              <a:rPr lang="zh-CN" altLang="en-US"/>
              <a:t>提取”和“智能搜索补全”能力强的工具，确保知识库能将复杂的维修手册拆解为原子化的知识点，通过图谱快速定位具体的解决方案步骤，而非丢给客户一本厚厚的操作手册。</a:t>
            </a:r>
            <a:endParaRPr lang="zh-CN" altLang="en-US"/>
          </a:p>
        </p:txBody>
      </p:sp>
    </p:spTree>
    <p:custDataLst>
      <p:tags r:id="rId1"/>
    </p:custDataLst>
  </p:cSld>
  <p:clrMapOvr>
    <a:masterClrMapping/>
  </p:clrMapOvr>
  <p:transition>
    <p:rand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0"/>
            <a:ext cx="9143365" cy="1397000"/>
          </a:xfrm>
        </p:spPr>
        <p:txBody>
          <a:bodyPr/>
          <a:p>
            <a:r>
              <a:rPr lang="en-US" altLang="zh-CN"/>
              <a:t>Q9:</a:t>
            </a:r>
            <a:r>
              <a:rPr lang="zh-CN" altLang="en-US"/>
              <a:t>从传统知识库迁移到知识图谱知识库的关键步骤</a:t>
            </a:r>
            <a:endParaRPr lang="zh-CN" altLang="en-US"/>
          </a:p>
        </p:txBody>
      </p:sp>
      <p:sp>
        <p:nvSpPr>
          <p:cNvPr id="3" name="内容占位符 2"/>
          <p:cNvSpPr>
            <a:spLocks noGrp="1"/>
          </p:cNvSpPr>
          <p:nvPr>
            <p:ph idx="1"/>
          </p:nvPr>
        </p:nvSpPr>
        <p:spPr>
          <a:xfrm>
            <a:off x="250825" y="1809750"/>
            <a:ext cx="8642350" cy="4498975"/>
          </a:xfrm>
        </p:spPr>
        <p:txBody>
          <a:bodyPr/>
          <a:p>
            <a:endParaRPr lang="zh-CN" altLang="en-US"/>
          </a:p>
        </p:txBody>
      </p:sp>
    </p:spTree>
    <p:custDataLst>
      <p:tags r:id="rId1"/>
    </p:custDataLst>
  </p:cSld>
  <p:clrMapOvr>
    <a:masterClrMapping/>
  </p:clrMapOvr>
  <p:transition>
    <p:rand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0"/>
            <a:ext cx="9143365" cy="1397000"/>
          </a:xfrm>
        </p:spPr>
        <p:txBody>
          <a:bodyPr/>
          <a:p>
            <a:r>
              <a:rPr lang="en-US" altLang="zh-CN"/>
              <a:t>Q9:</a:t>
            </a:r>
            <a:r>
              <a:rPr lang="zh-CN" altLang="en-US"/>
              <a:t>从传统知识库迁移到知识图谱知识库的关键步骤</a:t>
            </a:r>
            <a:endParaRPr lang="zh-CN" altLang="en-US"/>
          </a:p>
        </p:txBody>
      </p:sp>
      <p:sp>
        <p:nvSpPr>
          <p:cNvPr id="3" name="内容占位符 2"/>
          <p:cNvSpPr>
            <a:spLocks noGrp="1"/>
          </p:cNvSpPr>
          <p:nvPr>
            <p:ph idx="1"/>
          </p:nvPr>
        </p:nvSpPr>
        <p:spPr>
          <a:xfrm>
            <a:off x="250825" y="1809750"/>
            <a:ext cx="8642350" cy="4498975"/>
          </a:xfrm>
        </p:spPr>
        <p:txBody>
          <a:bodyPr/>
          <a:p>
            <a:r>
              <a:rPr lang="zh-CN" altLang="en-US"/>
              <a:t>许多企业担心迁移成本过高，实际上这通常是一个渐进的过程，而非一次性的“推倒重来”。迁移的核心在于“本体构建。第一步必须是定义业务本体，即梳理企业的“元数据标准”。你需要定义清楚企业里有哪些核心对象（如：客户、产品、项目、员工）以及它们之间的关系。这一步至关重要，它决定了未来图谱的骨架。如果跳过这一步直接导入数据，生成的图谱将是一团乱麻，无法产生实际价值。第二步则是利用</a:t>
            </a:r>
            <a:r>
              <a:rPr lang="en-US" altLang="zh-CN"/>
              <a:t>NLP </a:t>
            </a:r>
            <a:r>
              <a:rPr lang="zh-CN" altLang="en-US"/>
              <a:t>技术进行自动化知识抽取与数据清洗。现代的 </a:t>
            </a:r>
            <a:r>
              <a:rPr lang="en-US" altLang="zh-CN"/>
              <a:t>AI </a:t>
            </a:r>
            <a:r>
              <a:rPr lang="zh-CN" altLang="en-US"/>
              <a:t>知识库工具通常具备强大的自然语言处理能力，能够扫描现有的 </a:t>
            </a:r>
            <a:r>
              <a:rPr lang="en-US" altLang="zh-CN"/>
              <a:t>Word、PDF </a:t>
            </a:r>
            <a:r>
              <a:rPr lang="zh-CN" altLang="en-US"/>
              <a:t>和 </a:t>
            </a:r>
            <a:r>
              <a:rPr lang="en-US" altLang="zh-CN"/>
              <a:t>Markdown </a:t>
            </a:r>
            <a:r>
              <a:rPr lang="zh-CN" altLang="en-US"/>
              <a:t>文档，自动识别出文本中的实体并建议关系。在这一阶段，人工介入主要用于审核和校对，确认 </a:t>
            </a:r>
            <a:r>
              <a:rPr lang="en-US" altLang="zh-CN"/>
              <a:t>AI </a:t>
            </a:r>
            <a:r>
              <a:rPr lang="zh-CN" altLang="en-US"/>
              <a:t>提取的关系是否准确。随后，通过 </a:t>
            </a:r>
            <a:r>
              <a:rPr lang="en-US" altLang="zh-CN"/>
              <a:t>API </a:t>
            </a:r>
            <a:r>
              <a:rPr lang="zh-CN" altLang="en-US"/>
              <a:t>或批量导入工具将清洗后的数据注入新系统，完成从“文档管理”到“知识网络”的平滑过渡，最终实现旧有资产的结构化升级。</a:t>
            </a:r>
            <a:endParaRPr lang="zh-CN" altLang="en-US"/>
          </a:p>
          <a:p>
            <a:endParaRPr lang="zh-CN" altLang="en-US"/>
          </a:p>
        </p:txBody>
      </p:sp>
    </p:spTree>
    <p:custDataLst>
      <p:tags r:id="rId1"/>
    </p:custDataLst>
  </p:cSld>
  <p:clrMapOvr>
    <a:masterClrMapping/>
  </p:clrMapOvr>
  <p:transition>
    <p:rand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Q10:</a:t>
            </a:r>
            <a:r>
              <a:rPr lang="zh-CN" altLang="en-US"/>
              <a:t>知识图谱知识库如何打通数据？</a:t>
            </a:r>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transition>
    <p:rand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Q10:</a:t>
            </a:r>
            <a:r>
              <a:rPr lang="zh-CN" altLang="en-US"/>
              <a:t>知识图谱知识库如何打通数据？</a:t>
            </a:r>
            <a:endParaRPr lang="zh-CN" altLang="en-US"/>
          </a:p>
        </p:txBody>
      </p:sp>
      <p:sp>
        <p:nvSpPr>
          <p:cNvPr id="3" name="内容占位符 2"/>
          <p:cNvSpPr>
            <a:spLocks noGrp="1"/>
          </p:cNvSpPr>
          <p:nvPr>
            <p:ph idx="1"/>
          </p:nvPr>
        </p:nvSpPr>
        <p:spPr/>
        <p:txBody>
          <a:bodyPr/>
          <a:p>
            <a:r>
              <a:rPr lang="zh-CN" altLang="en-US"/>
              <a:t>知识图谱知识库并不试图取代这些系统，而是作为一个“连接层”存在。优秀的知识图谱知识库通常通过 </a:t>
            </a:r>
            <a:r>
              <a:rPr lang="en-US" altLang="zh-CN"/>
              <a:t>API </a:t>
            </a:r>
            <a:r>
              <a:rPr lang="zh-CN" altLang="en-US"/>
              <a:t>集成器和 </a:t>
            </a:r>
            <a:r>
              <a:rPr lang="en-US" altLang="zh-CN"/>
              <a:t>ETL </a:t>
            </a:r>
            <a:r>
              <a:rPr lang="zh-CN" altLang="en-US"/>
              <a:t>流水线来打通数据，它能够实时或定时同步第三方系统中的元数据。例如，当 </a:t>
            </a:r>
            <a:r>
              <a:rPr lang="en-US" altLang="zh-CN"/>
              <a:t>Salesforce </a:t>
            </a:r>
            <a:r>
              <a:rPr lang="zh-CN" altLang="en-US"/>
              <a:t>中新增一个“客户”时，知识库会自动创建一个对应的“客户节点”，并将其与相关的“项目文档”节点连接起来，无需人工重复录入。此外，更高级的方案支持联邦搜索技术。用户在知识库的搜索框输入关键词，系统不仅检索库内文档，还会通过图谱索引同时调用 </a:t>
            </a:r>
            <a:r>
              <a:rPr lang="en-US" altLang="zh-CN"/>
              <a:t>Jira、Email </a:t>
            </a:r>
            <a:r>
              <a:rPr lang="zh-CN" altLang="en-US"/>
              <a:t>和 </a:t>
            </a:r>
            <a:r>
              <a:rPr lang="en-US" altLang="zh-CN"/>
              <a:t>OA </a:t>
            </a:r>
            <a:r>
              <a:rPr lang="zh-CN" altLang="en-US"/>
              <a:t>系统的接口，将分散在各处的相关信息汇聚在一个页面展示。通过这种方式，知识图谱成为了企业信息的“交通枢纽”，实现了真正意义上的全域数据融合。这不仅让员工在单一入口即可获取全局信息，更通过跨系统的数据关联，发现了以前被忽视的业务洞察，极大地提升了信息流转的效率。</a:t>
            </a:r>
            <a:endParaRPr lang="zh-CN" altLang="en-US"/>
          </a:p>
        </p:txBody>
      </p:sp>
    </p:spTree>
    <p:custDataLst>
      <p:tags r:id="rId1"/>
    </p:custDataLst>
  </p:cSld>
  <p:clrMapOvr>
    <a:masterClrMapping/>
  </p:clrMapOvr>
  <p:transition>
    <p:rand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灯片编号占位符 3"/>
          <p:cNvSpPr>
            <a:spLocks noGrp="1"/>
          </p:cNvSpPr>
          <p:nvPr>
            <p:ph type="sldNum" sz="quarter"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stStyle>
          <a:p>
            <a:pPr lvl="0" algn="r" eaLnBrk="1" hangingPunct="1">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pic>
        <p:nvPicPr>
          <p:cNvPr id="79874" name="Picture 2" descr="waseda_mark"/>
          <p:cNvPicPr>
            <a:picLocks noChangeAspect="1"/>
          </p:cNvPicPr>
          <p:nvPr/>
        </p:nvPicPr>
        <p:blipFill>
          <a:blip r:embed="rId1">
            <a:grayscl/>
            <a:lum bright="79999" contrast="-89999"/>
          </a:blip>
          <a:stretch>
            <a:fillRect/>
          </a:stretch>
        </p:blipFill>
        <p:spPr>
          <a:xfrm>
            <a:off x="1116013" y="930275"/>
            <a:ext cx="6840537" cy="5307013"/>
          </a:xfrm>
          <a:prstGeom prst="rect">
            <a:avLst/>
          </a:prstGeom>
          <a:noFill/>
          <a:ln w="9525">
            <a:noFill/>
          </a:ln>
        </p:spPr>
      </p:pic>
      <p:sp>
        <p:nvSpPr>
          <p:cNvPr id="79875" name="Rectangle 3"/>
          <p:cNvSpPr>
            <a:spLocks noGrp="1"/>
          </p:cNvSpPr>
          <p:nvPr>
            <p:ph idx="1"/>
          </p:nvPr>
        </p:nvSpPr>
        <p:spPr>
          <a:xfrm>
            <a:off x="261938" y="809625"/>
            <a:ext cx="8642350" cy="5400675"/>
          </a:xfrm>
        </p:spPr>
        <p:txBody>
          <a:bodyPr vert="horz" wrap="square" lIns="91440" tIns="45720" rIns="91440" bIns="45720" anchor="t" anchorCtr="0"/>
          <a:p>
            <a:pPr eaLnBrk="1" hangingPunct="1"/>
            <a:endParaRPr lang="en-US" altLang="zh-CN" b="1" dirty="0">
              <a:latin typeface="Times New Roman" panose="02020503050405090304" pitchFamily="18" charset="0"/>
            </a:endParaRPr>
          </a:p>
          <a:p>
            <a:pPr eaLnBrk="1" hangingPunct="1">
              <a:buNone/>
            </a:pPr>
            <a:endParaRPr lang="en-US" altLang="zh-CN" b="1" dirty="0">
              <a:latin typeface="Times New Roman" panose="02020503050405090304" pitchFamily="18" charset="0"/>
            </a:endParaRPr>
          </a:p>
          <a:p>
            <a:pPr algn="ctr" eaLnBrk="1" hangingPunct="1">
              <a:buNone/>
            </a:pPr>
            <a:r>
              <a:rPr lang="en-US" altLang="zh-CN" sz="8000" b="1" dirty="0">
                <a:solidFill>
                  <a:schemeClr val="accent2"/>
                </a:solidFill>
                <a:latin typeface="Times New Roman" panose="02020503050405090304" pitchFamily="18" charset="0"/>
              </a:rPr>
              <a:t>THE END</a:t>
            </a:r>
            <a:endParaRPr lang="en-US" altLang="zh-CN" sz="8000" b="1" dirty="0">
              <a:solidFill>
                <a:schemeClr val="accent2"/>
              </a:solidFill>
              <a:latin typeface="Times New Roman" panose="02020503050405090304" pitchFamily="18" charset="0"/>
            </a:endParaRPr>
          </a:p>
        </p:txBody>
      </p:sp>
      <p:pic>
        <p:nvPicPr>
          <p:cNvPr id="79876" name="Picture 4" descr="wsd1"/>
          <p:cNvPicPr>
            <a:picLocks noChangeAspect="1"/>
          </p:cNvPicPr>
          <p:nvPr/>
        </p:nvPicPr>
        <p:blipFill>
          <a:blip r:embed="rId2"/>
          <a:stretch>
            <a:fillRect/>
          </a:stretch>
        </p:blipFill>
        <p:spPr>
          <a:xfrm>
            <a:off x="0" y="5661025"/>
            <a:ext cx="9144000" cy="1196975"/>
          </a:xfrm>
          <a:prstGeom prst="rect">
            <a:avLst/>
          </a:prstGeom>
          <a:noFill/>
          <a:ln w="9525">
            <a:noFill/>
          </a:ln>
        </p:spPr>
      </p:pic>
      <p:sp>
        <p:nvSpPr>
          <p:cNvPr id="79877" name="Line 5"/>
          <p:cNvSpPr/>
          <p:nvPr/>
        </p:nvSpPr>
        <p:spPr>
          <a:xfrm>
            <a:off x="228600" y="457200"/>
            <a:ext cx="8610600" cy="0"/>
          </a:xfrm>
          <a:prstGeom prst="line">
            <a:avLst/>
          </a:prstGeom>
          <a:ln w="57150" cap="flat" cmpd="thinThick">
            <a:solidFill>
              <a:schemeClr val="accent2"/>
            </a:solidFill>
            <a:prstDash val="solid"/>
            <a:round/>
            <a:headEnd type="none" w="med" len="med"/>
            <a:tailEnd type="none" w="med" len="med"/>
          </a:ln>
        </p:spPr>
      </p:sp>
      <p:sp>
        <p:nvSpPr>
          <p:cNvPr id="79878" name="Text Box 6"/>
          <p:cNvSpPr txBox="1"/>
          <p:nvPr/>
        </p:nvSpPr>
        <p:spPr>
          <a:xfrm>
            <a:off x="0" y="76200"/>
            <a:ext cx="9144000" cy="396875"/>
          </a:xfrm>
          <a:prstGeom prst="rect">
            <a:avLst/>
          </a:prstGeom>
          <a:noFill/>
          <a:ln w="38100">
            <a:noFill/>
          </a:ln>
        </p:spPr>
        <p:txBody>
          <a:bodyPr anchor="t" anchorCtr="0">
            <a:spAutoFit/>
          </a:bodyPr>
          <a:p>
            <a:pPr algn="ctr">
              <a:spcBef>
                <a:spcPct val="50000"/>
              </a:spcBef>
              <a:buClrTx/>
              <a:buFontTx/>
              <a:buNone/>
            </a:pPr>
            <a:r>
              <a:rPr lang="en-US" altLang="zh-CN" sz="2000" dirty="0">
                <a:solidFill>
                  <a:schemeClr val="accent2"/>
                </a:solidFill>
                <a:latin typeface="Arial" panose="020B0604020202090204" pitchFamily="34" charset="0"/>
                <a:ea typeface="宋体" pitchFamily="2" charset="-122"/>
              </a:rPr>
              <a:t>Introduction of Artificial Intelligence</a:t>
            </a:r>
            <a:endParaRPr lang="en-US" altLang="zh-CN" sz="2000" dirty="0">
              <a:solidFill>
                <a:schemeClr val="accent2"/>
              </a:solidFill>
              <a:latin typeface="Arial" panose="020B0604020202090204" pitchFamily="34" charset="0"/>
              <a:ea typeface="宋体" pitchFamily="2" charset="-122"/>
            </a:endParaRPr>
          </a:p>
        </p:txBody>
      </p:sp>
    </p:spTree>
  </p:cSld>
  <p:clrMapOvr>
    <a:masterClrMapping/>
  </p:clrMapOvr>
  <p:transition>
    <p:random/>
  </p:transition>
</p:sld>
</file>

<file path=ppt/tags/tag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35187_4*a*1"/>
  <p:tag name="KSO_WM_TEMPLATE_CATEGORY" val="diagram"/>
  <p:tag name="KSO_WM_TEMPLATE_INDEX" val="20235187"/>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4"/>
  <p:tag name="KSO_WM_UNIT_TEXT_FILL_TYPE" val="1"/>
  <p:tag name="KSO_WM_UNIT_USESOURCEFORMAT_APPLY"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i*1_1"/>
  <p:tag name="KSO_WM_TEMPLATE_CATEGORY" val="diagram"/>
  <p:tag name="KSO_WM_TEMPLATE_INDEX" val="20235187"/>
  <p:tag name="KSO_WM_UNIT_LAYERLEVEL" val="1_1"/>
  <p:tag name="KSO_WM_TAG_VERSION" val="3.0"/>
  <p:tag name="KSO_WM_BEAUTIFY_FLAG" val="#wm#"/>
  <p:tag name="KSO_WM_DIAGRAM_GROUP_CODE" val="l1-1"/>
  <p:tag name="KSO_WM_UNIT_TYPE" val="l_i"/>
  <p:tag name="KSO_WM_UNIT_INDEX" val="1_1"/>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i*1_2"/>
  <p:tag name="KSO_WM_TEMPLATE_CATEGORY" val="diagram"/>
  <p:tag name="KSO_WM_TEMPLATE_INDEX" val="20235187"/>
  <p:tag name="KSO_WM_UNIT_LAYERLEVEL" val="1_1"/>
  <p:tag name="KSO_WM_TAG_VERSION" val="3.0"/>
  <p:tag name="KSO_WM_BEAUTIFY_FLAG" val="#wm#"/>
  <p:tag name="KSO_WM_DIAGRAM_GROUP_CODE" val="l1-1"/>
  <p:tag name="KSO_WM_UNIT_TYPE" val="l_i"/>
  <p:tag name="KSO_WM_UNIT_INDEX" val="1_2"/>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5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i*1_3"/>
  <p:tag name="KSO_WM_TEMPLATE_CATEGORY" val="diagram"/>
  <p:tag name="KSO_WM_TEMPLATE_INDEX" val="20235187"/>
  <p:tag name="KSO_WM_UNIT_LAYERLEVEL" val="1_1"/>
  <p:tag name="KSO_WM_TAG_VERSION" val="3.0"/>
  <p:tag name="KSO_WM_BEAUTIFY_FLAG" val="#wm#"/>
  <p:tag name="KSO_WM_DIAGRAM_GROUP_CODE" val="l1-1"/>
  <p:tag name="KSO_WM_UNIT_TYPE" val="l_i"/>
  <p:tag name="KSO_WM_UNIT_INDEX" val="1_3"/>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5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i*1_4"/>
  <p:tag name="KSO_WM_TEMPLATE_CATEGORY" val="diagram"/>
  <p:tag name="KSO_WM_TEMPLATE_INDEX" val="20235187"/>
  <p:tag name="KSO_WM_UNIT_LAYERLEVEL" val="1_1"/>
  <p:tag name="KSO_WM_TAG_VERSION" val="3.0"/>
  <p:tag name="KSO_WM_BEAUTIFY_FLAG" val="#wm#"/>
  <p:tag name="KSO_WM_DIAGRAM_GROUP_CODE" val="l1-1"/>
  <p:tag name="KSO_WM_UNIT_TYPE" val="l_i"/>
  <p:tag name="KSO_WM_UNIT_INDEX" val="1_4"/>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5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i*1_5"/>
  <p:tag name="KSO_WM_TEMPLATE_CATEGORY" val="diagram"/>
  <p:tag name="KSO_WM_TEMPLATE_INDEX" val="20235187"/>
  <p:tag name="KSO_WM_UNIT_LAYERLEVEL" val="1_1"/>
  <p:tag name="KSO_WM_TAG_VERSION" val="3.0"/>
  <p:tag name="KSO_WM_BEAUTIFY_FLAG" val="#wm#"/>
  <p:tag name="KSO_WM_DIAGRAM_GROUP_CODE" val="l1-1"/>
  <p:tag name="KSO_WM_UNIT_TYPE" val="l_i"/>
  <p:tag name="KSO_WM_UNIT_INDEX" val="1_5"/>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9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i*1_6"/>
  <p:tag name="KSO_WM_TEMPLATE_CATEGORY" val="diagram"/>
  <p:tag name="KSO_WM_TEMPLATE_INDEX" val="20235187"/>
  <p:tag name="KSO_WM_UNIT_LAYERLEVEL" val="1_1"/>
  <p:tag name="KSO_WM_TAG_VERSION" val="3.0"/>
  <p:tag name="KSO_WM_BEAUTIFY_FLAG" val="#wm#"/>
  <p:tag name="KSO_WM_DIAGRAM_GROUP_CODE" val="l1-1"/>
  <p:tag name="KSO_WM_UNIT_TYPE" val="l_i"/>
  <p:tag name="KSO_WM_UNIT_INDEX" val="1_6"/>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5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i*1_7"/>
  <p:tag name="KSO_WM_TEMPLATE_CATEGORY" val="diagram"/>
  <p:tag name="KSO_WM_TEMPLATE_INDEX" val="20235187"/>
  <p:tag name="KSO_WM_UNIT_LAYERLEVEL" val="1_1"/>
  <p:tag name="KSO_WM_TAG_VERSION" val="3.0"/>
  <p:tag name="KSO_WM_BEAUTIFY_FLAG" val="#wm#"/>
  <p:tag name="KSO_WM_DIAGRAM_GROUP_CODE" val="l1-1"/>
  <p:tag name="KSO_WM_UNIT_TYPE" val="l_i"/>
  <p:tag name="KSO_WM_UNIT_INDEX" val="1_7"/>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9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i*1_8"/>
  <p:tag name="KSO_WM_TEMPLATE_CATEGORY" val="diagram"/>
  <p:tag name="KSO_WM_TEMPLATE_INDEX" val="20235187"/>
  <p:tag name="KSO_WM_UNIT_LAYERLEVEL" val="1_1"/>
  <p:tag name="KSO_WM_TAG_VERSION" val="3.0"/>
  <p:tag name="KSO_WM_BEAUTIFY_FLAG" val="#wm#"/>
  <p:tag name="KSO_WM_DIAGRAM_GROUP_CODE" val="l1-1"/>
  <p:tag name="KSO_WM_UNIT_TYPE" val="l_i"/>
  <p:tag name="KSO_WM_UNIT_INDEX" val="1_8"/>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5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i*1_9"/>
  <p:tag name="KSO_WM_TEMPLATE_CATEGORY" val="diagram"/>
  <p:tag name="KSO_WM_TEMPLATE_INDEX" val="20235187"/>
  <p:tag name="KSO_WM_UNIT_LAYERLEVEL" val="1_1"/>
  <p:tag name="KSO_WM_TAG_VERSION" val="3.0"/>
  <p:tag name="KSO_WM_BEAUTIFY_FLAG" val="#wm#"/>
  <p:tag name="KSO_WM_DIAGRAM_GROUP_CODE" val="l1-1"/>
  <p:tag name="KSO_WM_UNIT_TYPE" val="l_i"/>
  <p:tag name="KSO_WM_UNIT_INDEX" val="1_9"/>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9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h_i*1_3_2"/>
  <p:tag name="KSO_WM_TEMPLATE_CATEGORY" val="diagram"/>
  <p:tag name="KSO_WM_TEMPLATE_INDEX" val="20235187"/>
  <p:tag name="KSO_WM_UNIT_LAYERLEVEL" val="1_1_1"/>
  <p:tag name="KSO_WM_TAG_VERSION" val="3.0"/>
  <p:tag name="KSO_WM_BEAUTIFY_FLAG" val="#wm#"/>
  <p:tag name="KSO_WM_DIAGRAM_GROUP_CODE" val="l1-1"/>
  <p:tag name="KSO_WM_UNIT_TYPE" val="l_h_i"/>
  <p:tag name="KSO_WM_UNIT_INDEX" val="1_3_2"/>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i*1_10"/>
  <p:tag name="KSO_WM_TEMPLATE_CATEGORY" val="diagram"/>
  <p:tag name="KSO_WM_TEMPLATE_INDEX" val="20235187"/>
  <p:tag name="KSO_WM_UNIT_LAYERLEVEL" val="1_1"/>
  <p:tag name="KSO_WM_TAG_VERSION" val="3.0"/>
  <p:tag name="KSO_WM_BEAUTIFY_FLAG" val="#wm#"/>
  <p:tag name="KSO_WM_DIAGRAM_GROUP_CODE" val="l1-1"/>
  <p:tag name="KSO_WM_UNIT_TYPE" val="l_i"/>
  <p:tag name="KSO_WM_UNIT_INDEX" val="1_10"/>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5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i*1_11"/>
  <p:tag name="KSO_WM_TEMPLATE_CATEGORY" val="diagram"/>
  <p:tag name="KSO_WM_TEMPLATE_INDEX" val="20235187"/>
  <p:tag name="KSO_WM_UNIT_LAYERLEVEL" val="1_1"/>
  <p:tag name="KSO_WM_TAG_VERSION" val="3.0"/>
  <p:tag name="KSO_WM_BEAUTIFY_FLAG" val="#wm#"/>
  <p:tag name="KSO_WM_DIAGRAM_GROUP_CODE" val="l1-1"/>
  <p:tag name="KSO_WM_UNIT_TYPE" val="l_i"/>
  <p:tag name="KSO_WM_UNIT_INDEX" val="1_11"/>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i*1_12"/>
  <p:tag name="KSO_WM_TEMPLATE_CATEGORY" val="diagram"/>
  <p:tag name="KSO_WM_TEMPLATE_INDEX" val="20235187"/>
  <p:tag name="KSO_WM_UNIT_LAYERLEVEL" val="1_1"/>
  <p:tag name="KSO_WM_TAG_VERSION" val="3.0"/>
  <p:tag name="KSO_WM_BEAUTIFY_FLAG" val="#wm#"/>
  <p:tag name="KSO_WM_DIAGRAM_GROUP_CODE" val="l1-1"/>
  <p:tag name="KSO_WM_UNIT_TYPE" val="l_i"/>
  <p:tag name="KSO_WM_UNIT_INDEX" val="1_12"/>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5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i*1_13"/>
  <p:tag name="KSO_WM_TEMPLATE_CATEGORY" val="diagram"/>
  <p:tag name="KSO_WM_TEMPLATE_INDEX" val="20235187"/>
  <p:tag name="KSO_WM_UNIT_LAYERLEVEL" val="1_1"/>
  <p:tag name="KSO_WM_TAG_VERSION" val="3.0"/>
  <p:tag name="KSO_WM_BEAUTIFY_FLAG" val="#wm#"/>
  <p:tag name="KSO_WM_DIAGRAM_GROUP_CODE" val="l1-1"/>
  <p:tag name="KSO_WM_UNIT_TYPE" val="l_i"/>
  <p:tag name="KSO_WM_UNIT_INDEX" val="1_13"/>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9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i*1_14"/>
  <p:tag name="KSO_WM_TEMPLATE_CATEGORY" val="diagram"/>
  <p:tag name="KSO_WM_TEMPLATE_INDEX" val="20235187"/>
  <p:tag name="KSO_WM_UNIT_LAYERLEVEL" val="1_1"/>
  <p:tag name="KSO_WM_TAG_VERSION" val="3.0"/>
  <p:tag name="KSO_WM_BEAUTIFY_FLAG" val="#wm#"/>
  <p:tag name="KSO_WM_DIAGRAM_GROUP_CODE" val="l1-1"/>
  <p:tag name="KSO_WM_UNIT_TYPE" val="l_i"/>
  <p:tag name="KSO_WM_UNIT_INDEX" val="1_14"/>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h_i*1_1_1"/>
  <p:tag name="KSO_WM_TEMPLATE_CATEGORY" val="diagram"/>
  <p:tag name="KSO_WM_TEMPLATE_INDEX" val="20235187"/>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4"/>
  <p:tag name="KSO_WM_DIAGRAM_COLOR_TEXT_CAN_REMOVE" val="n"/>
  <p:tag name="KSO_WM_UNIT_FILL_TYPE" val="3"/>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gradient&quot;:[{&quot;brightness&quot;:-0.05000000074505806,&quot;colorType&quot;:1,&quot;foreColorIndex&quot;:10,&quot;pos&quot;:0,&quot;transparency&quot;:0},{&quot;brightness&quot;:0.10000000149011612,&quot;colorType&quot;:1,&quot;foreColorIndex&quot;:10,&quot;pos&quot;:0.5,&quot;transparency&quot;:0},{&quot;brightness&quot;:0.5,&quot;colorType&quot;:1,&quot;foreColorIndex&quot;:10,&quot;pos&quot;:1,&quot;transparency&quot;:0}],&quot;type&quot;:3},&quot;glow&quot;:{&quot;colorType&quot;:0},&quot;line&quot;:{&quot;type&quot;:0},&quot;shadow&quot;:{&quot;brightness&quot;:0,&quot;colorType&quot;:1,&quot;foreColorIndex&quot;:10,&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3"/>
  <p:tag name="KSO_WM_UNIT_TEXT_FILL_TYPE" val="1"/>
  <p:tag name="KSO_WM_UNIT_USESOURCEFORMAT_APPLY"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h_i*1_3_1"/>
  <p:tag name="KSO_WM_TEMPLATE_CATEGORY" val="diagram"/>
  <p:tag name="KSO_WM_TEMPLATE_INDEX" val="20235187"/>
  <p:tag name="KSO_WM_UNIT_LAYERLEVEL" val="1_1_1"/>
  <p:tag name="KSO_WM_TAG_VERSION" val="3.0"/>
  <p:tag name="KSO_WM_BEAUTIFY_FLAG" val="#wm#"/>
  <p:tag name="KSO_WM_DIAGRAM_GROUP_CODE" val="l1-1"/>
  <p:tag name="KSO_WM_UNIT_TYPE" val="l_h_i"/>
  <p:tag name="KSO_WM_UNIT_INDEX" val="1_3_1"/>
  <p:tag name="KSO_WM_DIAGRAM_VERSION" val="3"/>
  <p:tag name="KSO_WM_DIAGRAM_COLOR_TRICK" val="4"/>
  <p:tag name="KSO_WM_DIAGRAM_COLOR_TEXT_CAN_REMOVE" val="n"/>
  <p:tag name="KSO_WM_UNIT_FILL_TYPE" val="3"/>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gradient&quot;:[{&quot;brightness&quot;:-0.05000000074505806,&quot;colorType&quot;:1,&quot;foreColorIndex&quot;:6,&quot;pos&quot;:0,&quot;transparency&quot;:0},{&quot;brightness&quot;:0.10000000149011612,&quot;colorType&quot;:1,&quot;foreColorIndex&quot;:6,&quot;pos&quot;:0.5,&quot;transparency&quot;:0},{&quot;brightness&quot;:0.5,&quot;colorType&quot;:1,&quot;foreColorIndex&quot;:6,&quot;pos&quot;:1,&quot;transparency&quot;:0}],&quot;type&quot;:3},&quot;glow&quot;:{&quot;colorType&quot;:0},&quot;line&quot;:{&quot;type&quot;:0},&quot;shadow&quot;:{&quot;brightness&quot;:0,&quot;colorType&quot;:1,&quot;foreColorIndex&quot;:6,&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7"/>
  <p:tag name="KSO_WM_UNIT_TEXT_FILL_FORE_SCHEMECOLOR_INDEX" val="13"/>
  <p:tag name="KSO_WM_UNIT_TEXT_FILL_TYPE" val="1"/>
  <p:tag name="KSO_WM_UNIT_USESOURCEFORMAT_APPLY"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h_x*1_1_1"/>
  <p:tag name="KSO_WM_TEMPLATE_CATEGORY" val="diagram"/>
  <p:tag name="KSO_WM_TEMPLATE_INDEX" val="20235187"/>
  <p:tag name="KSO_WM_UNIT_LAYERLEVEL" val="1_1_1"/>
  <p:tag name="KSO_WM_TAG_VERSION" val="3.0"/>
  <p:tag name="KSO_WM_BEAUTIFY_FLAG" val="#wm#"/>
  <p:tag name="KSO_WM_UNIT_VALUE" val="160*160"/>
  <p:tag name="KSO_WM_DIAGRAM_GROUP_CODE" val="l1-1"/>
  <p:tag name="KSO_WM_UNIT_TYPE" val="l_h_x"/>
  <p:tag name="KSO_WM_UNIT_INDEX" val="1_1_1"/>
  <p:tag name="KSO_WM_DIAGRAM_VERSION" val="3"/>
  <p:tag name="KSO_WM_DIAGRAM_COLOR_TRICK" val="4"/>
  <p:tag name="KSO_WM_DIAGRAM_COLOR_TEXT_CAN_REMOVE" val="n"/>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0.xml><?xml version="1.0" encoding="utf-8"?>
<p:tagLst xmlns:p="http://schemas.openxmlformats.org/presentationml/2006/main">
  <p:tag name="KSO_WM_UNIT_ISCONTENTSTITLE" val="0"/>
  <p:tag name="KSO_WM_UNIT_ISNUMDGMTITLE" val="0"/>
  <p:tag name="KSO_WM_UNIT_NOCLEAR" val="0"/>
  <p:tag name="KSO_WM_UNIT_VALUE" val="8"/>
  <p:tag name="KSO_WM_UNIT_HIGHLIGHT" val="0"/>
  <p:tag name="KSO_WM_UNIT_COMPATIBLE" val="0"/>
  <p:tag name="KSO_WM_UNIT_DIAGRAM_ISNUMVISUAL" val="0"/>
  <p:tag name="KSO_WM_UNIT_DIAGRAM_ISREFERUNIT" val="0"/>
  <p:tag name="KSO_WM_UNIT_TYPE" val="l_h_f"/>
  <p:tag name="KSO_WM_UNIT_INDEX" val="1_1_1"/>
  <p:tag name="KSO_WM_UNIT_ID" val="diagram20235187_2*l_h_f*1_1_1"/>
  <p:tag name="KSO_WM_TEMPLATE_CATEGORY" val="diagram"/>
  <p:tag name="KSO_WM_TEMPLATE_INDEX" val="20235187"/>
  <p:tag name="KSO_WM_UNIT_LAYERLEVEL" val="1_1_1"/>
  <p:tag name="KSO_WM_TAG_VERSION" val="3.0"/>
  <p:tag name="KSO_WM_BEAUTIFY_FLAG" val="#wm#"/>
  <p:tag name="KSO_WM_UNIT_TEXT_FILL_FORE_SCHEMECOLOR_INDEX_BRIGHTNESS" val="0.15"/>
  <p:tag name="KSO_WM_UNIT_TEXT_FILL_TYPE" val="1"/>
  <p:tag name="KSO_WM_UNIT_SUBTYPE" val="a"/>
  <p:tag name="KSO_WM_UNIT_TEXT_LAYER_COUNT" val="1"/>
  <p:tag name="KSO_WM_DIAGRAM_GROUP_CODE" val="l1-1"/>
  <p:tag name="KSO_WM_DIAGRAM_VERSION" val="3"/>
  <p:tag name="KSO_WM_DIAGRAM_COLOR_TRICK" val="4"/>
  <p:tag name="KSO_WM_DIAGRAM_COLOR_TEXT_CAN_REMOVE" val="n"/>
  <p:tag name="KSO_WM_UNIT_PRESET_TEXT" val="一亿"/>
  <p:tag name="KSO_WM_UNIT_TEXT_TYPE" val="1"/>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5187_2*l_h_f*1_3_1"/>
  <p:tag name="KSO_WM_TEMPLATE_CATEGORY" val="diagram"/>
  <p:tag name="KSO_WM_TEMPLATE_INDEX" val="20235187"/>
  <p:tag name="KSO_WM_UNIT_LAYERLEVEL" val="1_1_1"/>
  <p:tag name="KSO_WM_TAG_VERSION" val="3.0"/>
  <p:tag name="KSO_WM_BEAUTIFY_FLAG" val="#wm#"/>
  <p:tag name="KSO_WM_UNIT_TEXT_FILL_FORE_SCHEMECOLOR_INDEX_BRIGHTNESS" val="0.15"/>
  <p:tag name="KSO_WM_UNIT_TEXT_FILL_TYPE" val="1"/>
  <p:tag name="KSO_WM_UNIT_SUBTYPE" val="a"/>
  <p:tag name="KSO_WM_UNIT_TEXT_LAYER_COUNT" val="1"/>
  <p:tag name="KSO_WM_DIAGRAM_GROUP_CODE" val="l1-1"/>
  <p:tag name="KSO_WM_UNIT_VALUE" val="10"/>
  <p:tag name="KSO_WM_DIAGRAM_VERSION" val="3"/>
  <p:tag name="KSO_WM_DIAGRAM_COLOR_TRICK" val="4"/>
  <p:tag name="KSO_WM_DIAGRAM_COLOR_TEXT_CAN_REMOVE" val="n"/>
  <p:tag name="KSO_WM_UNIT_PRESET_TEXT" val="30+"/>
  <p:tag name="KSO_WM_UNIT_TEXT_TYPE" val="1"/>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h_i*1_2_1"/>
  <p:tag name="KSO_WM_TEMPLATE_CATEGORY" val="diagram"/>
  <p:tag name="KSO_WM_TEMPLATE_INDEX" val="20235187"/>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4"/>
  <p:tag name="KSO_WM_DIAGRAM_COLOR_TEXT_CAN_REMOVE" val="n"/>
  <p:tag name="KSO_WM_UNIT_FILL_TYPE" val="3"/>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gradient&quot;:[{&quot;brightness&quot;:-0.05000000074505806,&quot;colorType&quot;:1,&quot;foreColorIndex&quot;:5,&quot;pos&quot;:0,&quot;transparency&quot;:0},{&quot;brightness&quot;:0.10000000149011612,&quot;colorType&quot;:1,&quot;foreColorIndex&quot;:5,&quot;pos&quot;:0.5,&quot;transparency&quot;:0},{&quot;brightness&quot;:0.5,&quot;colorType&quot;:1,&quot;foreColorIndex&quot;:5,&quot;pos&quot;:1,&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13"/>
  <p:tag name="KSO_WM_UNIT_TEXT_FILL_TYPE" val="1"/>
  <p:tag name="KSO_WM_UNIT_USESOURCEFORMAT_APPLY"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h_x*1_2_1"/>
  <p:tag name="KSO_WM_TEMPLATE_CATEGORY" val="diagram"/>
  <p:tag name="KSO_WM_TEMPLATE_INDEX" val="20235187"/>
  <p:tag name="KSO_WM_UNIT_LAYERLEVEL" val="1_1_1"/>
  <p:tag name="KSO_WM_TAG_VERSION" val="3.0"/>
  <p:tag name="KSO_WM_BEAUTIFY_FLAG" val="#wm#"/>
  <p:tag name="KSO_WM_UNIT_VALUE" val="120*120"/>
  <p:tag name="KSO_WM_DIAGRAM_GROUP_CODE" val="l1-1"/>
  <p:tag name="KSO_WM_UNIT_TYPE" val="l_h_x"/>
  <p:tag name="KSO_WM_UNIT_INDEX" val="1_2_1"/>
  <p:tag name="KSO_WM_DIAGRAM_VERSION" val="3"/>
  <p:tag name="KSO_WM_DIAGRAM_COLOR_TRICK" val="4"/>
  <p:tag name="KSO_WM_DIAGRAM_COLOR_TEXT_CAN_REMOVE" val="n"/>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5187_2*l_h_f*1_2_1"/>
  <p:tag name="KSO_WM_TEMPLATE_CATEGORY" val="diagram"/>
  <p:tag name="KSO_WM_TEMPLATE_INDEX" val="20235187"/>
  <p:tag name="KSO_WM_UNIT_LAYERLEVEL" val="1_1_1"/>
  <p:tag name="KSO_WM_TAG_VERSION" val="3.0"/>
  <p:tag name="KSO_WM_BEAUTIFY_FLAG" val="#wm#"/>
  <p:tag name="KSO_WM_UNIT_TEXT_FILL_FORE_SCHEMECOLOR_INDEX_BRIGHTNESS" val="0.15"/>
  <p:tag name="KSO_WM_UNIT_TEXT_FILL_TYPE" val="1"/>
  <p:tag name="KSO_WM_UNIT_SUBTYPE" val="a"/>
  <p:tag name="KSO_WM_UNIT_TEXT_LAYER_COUNT" val="1"/>
  <p:tag name="KSO_WM_DIAGRAM_GROUP_CODE" val="l1-1"/>
  <p:tag name="KSO_WM_UNIT_VALUE" val="10"/>
  <p:tag name="KSO_WM_DIAGRAM_VERSION" val="3"/>
  <p:tag name="KSO_WM_DIAGRAM_COLOR_TRICK" val="4"/>
  <p:tag name="KSO_WM_DIAGRAM_COLOR_TEXT_CAN_REMOVE" val="n"/>
  <p:tag name="KSO_WM_UNIT_PRESET_TEXT" val="七千万"/>
  <p:tag name="KSO_WM_UNIT_TEXT_TYPE" val="1"/>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h_i*1_2_2"/>
  <p:tag name="KSO_WM_TEMPLATE_CATEGORY" val="diagram"/>
  <p:tag name="KSO_WM_TEMPLATE_INDEX" val="20235187"/>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5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87_2*l_i*1_15"/>
  <p:tag name="KSO_WM_TEMPLATE_CATEGORY" val="diagram"/>
  <p:tag name="KSO_WM_TEMPLATE_INDEX" val="20235187"/>
  <p:tag name="KSO_WM_UNIT_LAYERLEVEL" val="1_1"/>
  <p:tag name="KSO_WM_TAG_VERSION" val="3.0"/>
  <p:tag name="KSO_WM_BEAUTIFY_FLAG" val="#wm#"/>
  <p:tag name="KSO_WM_DIAGRAM_GROUP_CODE" val="l1-1"/>
  <p:tag name="KSO_WM_UNIT_TYPE" val="l_i"/>
  <p:tag name="KSO_WM_UNIT_INDEX" val="1_15"/>
  <p:tag name="KSO_WM_DIAGRAM_VERSION" val="3"/>
  <p:tag name="KSO_WM_DIAGRAM_COLOR_TRICK" val="4"/>
  <p:tag name="KSO_WM_DIAGRAM_COLOR_TEXT_CAN_REMOVE" val="n"/>
  <p:tag name="KSO_WM_UNIT_LINE_FORE_SCHEMECOLOR_INDEX" val="15"/>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type&quot;:0},&quot;glow&quot;:{&quot;colorType&quot;:0},&quot;line&quot;:{&quot;solidLine&quot;:{&quot;brightness&quot;:0.5,&quot;colorType&quot;:1,&quot;foreColorIndex&quot;:15,&quot;transparency&quot;:0.89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2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5187_2*l_h_x*1_3_1"/>
  <p:tag name="KSO_WM_TEMPLATE_CATEGORY" val="diagram"/>
  <p:tag name="KSO_WM_TEMPLATE_INDEX" val="20235187"/>
  <p:tag name="KSO_WM_UNIT_LAYERLEVEL" val="1_1_1"/>
  <p:tag name="KSO_WM_TAG_VERSION" val="3.0"/>
  <p:tag name="KSO_WM_UNIT_VALUE" val="120*120"/>
  <p:tag name="KSO_WM_DIAGRAM_GROUP_CODE" val="l1-1"/>
  <p:tag name="KSO_WM_UNIT_TYPE" val="l_h_x"/>
  <p:tag name="KSO_WM_UNIT_INDEX" val="1_3_1"/>
  <p:tag name="KSO_WM_DIAGRAM_VERSION" val="3"/>
  <p:tag name="KSO_WM_DIAGRAM_COLOR_TRICK" val="4"/>
  <p:tag name="KSO_WM_DIAGRAM_COLOR_TEXT_CAN_REMOVE" val="n"/>
  <p:tag name="KSO_WM_DIAGRAM_MAX_ITEMCNT" val="6"/>
  <p:tag name="KSO_WM_DIAGRAM_MIN_ITEMCNT" val="2"/>
  <p:tag name="KSO_WM_DIAGRAM_VIRTUALLY_FRAME" val="{&quot;height&quot;:298.74065033343675,&quot;left&quot;:18.927460629921256,&quot;top&quot;:149.86997958782314,&quot;width&quot;:646.2033267716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8.xml><?xml version="1.0" encoding="utf-8"?>
<p:tagLst xmlns:p="http://schemas.openxmlformats.org/presentationml/2006/main">
  <p:tag name="KSO_WM_SLIDE_ID" val="diagram20235187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5187"/>
  <p:tag name="KSO_WM_SLIDE_TYPE" val="text"/>
  <p:tag name="KSO_WM_SLIDE_SUBTYPE" val="diag"/>
  <p:tag name="KSO_WM_SLIDE_SIZE" val="861.578*359.125"/>
  <p:tag name="KSO_WM_SLIDE_POSITION" val="25.2366*129.407"/>
  <p:tag name="KSO_WM_SLIDE_LAYOUT" val="a_l"/>
  <p:tag name="KSO_WM_SLIDE_LAYOUT_CNT" val="1_1"/>
  <p:tag name="KSO_WM_SPECIAL_SOURCE" val="bdnull"/>
  <p:tag name="RESOURCE_RECORD_KEY" val="{&quot;10&quot;:[20252132,4122883,50021438,3650163,3732269,4487340,3655368,3505420,3644345,4450828],&quot;65&quot;:[3]}"/>
  <p:tag name="KSO_WM_DIAGRAM_GROUP_CODE" val="l1-1"/>
  <p:tag name="KSO_WM_SLIDE_DIAGTYPE" val="l"/>
</p:tagLst>
</file>

<file path=ppt/tags/tag29.xml><?xml version="1.0" encoding="utf-8"?>
<p:tagLst xmlns:p="http://schemas.openxmlformats.org/presentationml/2006/main">
  <p:tag name="KSO_WM_BEAUTIFY_FLAG" val="#wm#"/>
  <p:tag name="KSO_WM_TEMPLATE_CATEGORY" val="diagram"/>
  <p:tag name="KSO_WM_TEMPLATE_INDEX" val="20235187"/>
</p:tagLst>
</file>

<file path=ppt/tags/tag30.xml><?xml version="1.0" encoding="utf-8"?>
<p:tagLst xmlns:p="http://schemas.openxmlformats.org/presentationml/2006/main">
  <p:tag name="KSO_WM_BEAUTIFY_FLAG" val="#wm#"/>
  <p:tag name="KSO_WM_TEMPLATE_CATEGORY" val="diagram"/>
  <p:tag name="KSO_WM_TEMPLATE_INDEX" val="20235187"/>
</p:tagLst>
</file>

<file path=ppt/tags/tag31.xml><?xml version="1.0" encoding="utf-8"?>
<p:tagLst xmlns:p="http://schemas.openxmlformats.org/presentationml/2006/main">
  <p:tag name="KSO_WM_BEAUTIFY_FLAG" val="#wm#"/>
  <p:tag name="KSO_WM_TEMPLATE_CATEGORY" val="diagram"/>
  <p:tag name="KSO_WM_TEMPLATE_INDEX" val="20235187"/>
</p:tagLst>
</file>

<file path=ppt/tags/tag32.xml><?xml version="1.0" encoding="utf-8"?>
<p:tagLst xmlns:p="http://schemas.openxmlformats.org/presentationml/2006/main">
  <p:tag name="KSO_WM_BEAUTIFY_FLAG" val="#wm#"/>
  <p:tag name="KSO_WM_TEMPLATE_CATEGORY" val="diagram"/>
  <p:tag name="KSO_WM_TEMPLATE_INDEX" val="20235187"/>
</p:tagLst>
</file>

<file path=ppt/tags/tag33.xml><?xml version="1.0" encoding="utf-8"?>
<p:tagLst xmlns:p="http://schemas.openxmlformats.org/presentationml/2006/main">
  <p:tag name="KSO_WM_BEAUTIFY_FLAG" val="#wm#"/>
  <p:tag name="KSO_WM_TEMPLATE_CATEGORY" val="diagram"/>
  <p:tag name="KSO_WM_TEMPLATE_INDEX" val="20235187"/>
</p:tagLst>
</file>

<file path=ppt/tags/tag34.xml><?xml version="1.0" encoding="utf-8"?>
<p:tagLst xmlns:p="http://schemas.openxmlformats.org/presentationml/2006/main">
  <p:tag name="KSO_WM_BEAUTIFY_FLAG" val="#wm#"/>
  <p:tag name="KSO_WM_TEMPLATE_CATEGORY" val="diagram"/>
  <p:tag name="KSO_WM_TEMPLATE_INDEX" val="20235187"/>
</p:tagLst>
</file>

<file path=ppt/tags/tag35.xml><?xml version="1.0" encoding="utf-8"?>
<p:tagLst xmlns:p="http://schemas.openxmlformats.org/presentationml/2006/main">
  <p:tag name="KSO_WM_BEAUTIFY_FLAG" val="#wm#"/>
  <p:tag name="KSO_WM_TEMPLATE_CATEGORY" val="diagram"/>
  <p:tag name="KSO_WM_TEMPLATE_INDEX" val="20235187"/>
</p:tagLst>
</file>

<file path=ppt/tags/tag36.xml><?xml version="1.0" encoding="utf-8"?>
<p:tagLst xmlns:p="http://schemas.openxmlformats.org/presentationml/2006/main">
  <p:tag name="KSO_WM_BEAUTIFY_FLAG" val="#wm#"/>
  <p:tag name="KSO_WM_TEMPLATE_CATEGORY" val="diagram"/>
  <p:tag name="KSO_WM_TEMPLATE_INDEX" val="20235187"/>
</p:tagLst>
</file>

<file path=ppt/tags/tag37.xml><?xml version="1.0" encoding="utf-8"?>
<p:tagLst xmlns:p="http://schemas.openxmlformats.org/presentationml/2006/main">
  <p:tag name="KSO_WM_BEAUTIFY_FLAG" val="#wm#"/>
  <p:tag name="KSO_WM_TEMPLATE_CATEGORY" val="diagram"/>
  <p:tag name="KSO_WM_TEMPLATE_INDEX" val="20235187"/>
</p:tagLst>
</file>

<file path=ppt/tags/tag38.xml><?xml version="1.0" encoding="utf-8"?>
<p:tagLst xmlns:p="http://schemas.openxmlformats.org/presentationml/2006/main">
  <p:tag name="KSO_WM_BEAUTIFY_FLAG" val="#wm#"/>
  <p:tag name="KSO_WM_TEMPLATE_CATEGORY" val="diagram"/>
  <p:tag name="KSO_WM_TEMPLATE_INDEX" val="20235187"/>
</p:tagLst>
</file>

<file path=ppt/tags/tag39.xml><?xml version="1.0" encoding="utf-8"?>
<p:tagLst xmlns:p="http://schemas.openxmlformats.org/presentationml/2006/main">
  <p:tag name="KSO_WM_BEAUTIFY_FLAG" val="#wm#"/>
  <p:tag name="KSO_WM_TEMPLATE_CATEGORY" val="diagram"/>
  <p:tag name="KSO_WM_TEMPLATE_INDEX" val="20235187"/>
</p:tagLst>
</file>

<file path=ppt/tags/tag40.xml><?xml version="1.0" encoding="utf-8"?>
<p:tagLst xmlns:p="http://schemas.openxmlformats.org/presentationml/2006/main">
  <p:tag name="KSO_WM_BEAUTIFY_FLAG" val="#wm#"/>
  <p:tag name="KSO_WM_TEMPLATE_CATEGORY" val="diagram"/>
  <p:tag name="KSO_WM_TEMPLATE_INDEX" val="20235187"/>
</p:tagLst>
</file>

<file path=ppt/tags/tag41.xml><?xml version="1.0" encoding="utf-8"?>
<p:tagLst xmlns:p="http://schemas.openxmlformats.org/presentationml/2006/main">
  <p:tag name="KSO_WM_BEAUTIFY_FLAG" val="#wm#"/>
  <p:tag name="KSO_WM_TEMPLATE_CATEGORY" val="diagram"/>
  <p:tag name="KSO_WM_TEMPLATE_INDEX" val="20235187"/>
</p:tagLst>
</file>

<file path=ppt/tags/tag42.xml><?xml version="1.0" encoding="utf-8"?>
<p:tagLst xmlns:p="http://schemas.openxmlformats.org/presentationml/2006/main">
  <p:tag name="KSO_WM_BEAUTIFY_FLAG" val="#wm#"/>
  <p:tag name="KSO_WM_TEMPLATE_CATEGORY" val="diagram"/>
  <p:tag name="KSO_WM_TEMPLATE_INDEX" val="20235187"/>
</p:tagLst>
</file>

<file path=ppt/tags/tag43.xml><?xml version="1.0" encoding="utf-8"?>
<p:tagLst xmlns:p="http://schemas.openxmlformats.org/presentationml/2006/main">
  <p:tag name="KSO_WM_BEAUTIFY_FLAG" val="#wm#"/>
  <p:tag name="KSO_WM_TEMPLATE_CATEGORY" val="diagram"/>
  <p:tag name="KSO_WM_TEMPLATE_INDEX" val="20235187"/>
</p:tagLst>
</file>

<file path=ppt/tags/tag44.xml><?xml version="1.0" encoding="utf-8"?>
<p:tagLst xmlns:p="http://schemas.openxmlformats.org/presentationml/2006/main">
  <p:tag name="KSO_WM_BEAUTIFY_FLAG" val="#wm#"/>
  <p:tag name="KSO_WM_TEMPLATE_CATEGORY" val="diagram"/>
  <p:tag name="KSO_WM_TEMPLATE_INDEX" val="20235187"/>
</p:tagLst>
</file>

<file path=ppt/tags/tag45.xml><?xml version="1.0" encoding="utf-8"?>
<p:tagLst xmlns:p="http://schemas.openxmlformats.org/presentationml/2006/main">
  <p:tag name="KSO_WM_BEAUTIFY_FLAG" val="#wm#"/>
  <p:tag name="KSO_WM_TEMPLATE_CATEGORY" val="diagram"/>
  <p:tag name="KSO_WM_TEMPLATE_INDEX" val="20235187"/>
</p:tagLst>
</file>

<file path=ppt/tags/tag46.xml><?xml version="1.0" encoding="utf-8"?>
<p:tagLst xmlns:p="http://schemas.openxmlformats.org/presentationml/2006/main">
  <p:tag name="KSO_WM_BEAUTIFY_FLAG" val="#wm#"/>
  <p:tag name="KSO_WM_TEMPLATE_CATEGORY" val="diagram"/>
  <p:tag name="KSO_WM_TEMPLATE_INDEX" val="20235187"/>
</p:tagLst>
</file>

<file path=ppt/tags/tag47.xml><?xml version="1.0" encoding="utf-8"?>
<p:tagLst xmlns:p="http://schemas.openxmlformats.org/presentationml/2006/main">
  <p:tag name="KSO_WM_BEAUTIFY_FLAG" val="#wm#"/>
  <p:tag name="KSO_WM_TEMPLATE_CATEGORY" val="diagram"/>
  <p:tag name="KSO_WM_TEMPLATE_INDEX" val="20235187"/>
</p:tagLst>
</file>

<file path=ppt/tags/tag48.xml><?xml version="1.0" encoding="utf-8"?>
<p:tagLst xmlns:p="http://schemas.openxmlformats.org/presentationml/2006/main">
  <p:tag name="KSO_WM_BEAUTIFY_FLAG" val="#wm#"/>
  <p:tag name="KSO_WM_TEMPLATE_CATEGORY" val="diagram"/>
  <p:tag name="KSO_WM_TEMPLATE_INDEX" val="20235187"/>
</p:tagLst>
</file>

<file path=ppt/theme/theme1.xml><?xml version="1.0" encoding="utf-8"?>
<a:theme xmlns:a="http://schemas.openxmlformats.org/drawingml/2006/main" name="1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8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9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0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6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7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8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9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0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8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5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31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4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34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30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32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29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35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23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22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26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21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27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33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36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37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38_wasedaSample5">
  <a:themeElements>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16995</Words>
  <Application>WPS 表格</Application>
  <PresentationFormat>全屏显示(4:3)</PresentationFormat>
  <Paragraphs>1105</Paragraphs>
  <Slides>98</Slides>
  <Notes>2</Notes>
  <HiddenSlides>0</HiddenSlides>
  <MMClips>0</MMClips>
  <ScaleCrop>false</ScaleCrop>
  <HeadingPairs>
    <vt:vector size="8" baseType="variant">
      <vt:variant>
        <vt:lpstr>已用的字体</vt:lpstr>
      </vt:variant>
      <vt:variant>
        <vt:i4>29</vt:i4>
      </vt:variant>
      <vt:variant>
        <vt:lpstr>主题</vt:lpstr>
      </vt:variant>
      <vt:variant>
        <vt:i4>38</vt:i4>
      </vt:variant>
      <vt:variant>
        <vt:lpstr>嵌入 OLE 服务器</vt:lpstr>
      </vt:variant>
      <vt:variant>
        <vt:i4>41</vt:i4>
      </vt:variant>
      <vt:variant>
        <vt:lpstr>幻灯片标题</vt:lpstr>
      </vt:variant>
      <vt:variant>
        <vt:i4>98</vt:i4>
      </vt:variant>
    </vt:vector>
  </HeadingPairs>
  <TitlesOfParts>
    <vt:vector size="206" baseType="lpstr">
      <vt:lpstr>Arial</vt:lpstr>
      <vt:lpstr>宋体</vt:lpstr>
      <vt:lpstr>Wingdings</vt:lpstr>
      <vt:lpstr>汉仪书宋二KW</vt:lpstr>
      <vt:lpstr>MS PGothic</vt:lpstr>
      <vt:lpstr>冬青黑体简体中文</vt:lpstr>
      <vt:lpstr>黑体</vt:lpstr>
      <vt:lpstr>汉仪中黑KW</vt:lpstr>
      <vt:lpstr>Times New Roman</vt:lpstr>
      <vt:lpstr>华文琥珀</vt:lpstr>
      <vt:lpstr>宋体-简</vt:lpstr>
      <vt:lpstr>楷体_GB2312</vt:lpstr>
      <vt:lpstr>汉仪楷体简</vt:lpstr>
      <vt:lpstr>微软雅黑</vt:lpstr>
      <vt:lpstr>方正雅意黑 GB18030L2</vt:lpstr>
      <vt:lpstr>宋体</vt:lpstr>
      <vt:lpstr>Arial Unicode MS</vt:lpstr>
      <vt:lpstr>Wingdings 3</vt:lpstr>
      <vt:lpstr>Symbol</vt:lpstr>
      <vt:lpstr>Kingsoft Sign</vt:lpstr>
      <vt:lpstr>MS PGothic</vt:lpstr>
      <vt:lpstr>Symbol</vt:lpstr>
      <vt:lpstr>Wingdings</vt:lpstr>
      <vt:lpstr>Wingdings 3</vt:lpstr>
      <vt:lpstr>华文琥珀</vt:lpstr>
      <vt:lpstr>楷体_GB2312</vt:lpstr>
      <vt:lpstr>黑体</vt:lpstr>
      <vt:lpstr>苹方-简</vt:lpstr>
      <vt:lpstr>Apple Color Emoji</vt:lpstr>
      <vt:lpstr>1_wasedaSample5</vt:lpstr>
      <vt:lpstr>2_wasedaSample5</vt:lpstr>
      <vt:lpstr>3_wasedaSample5</vt:lpstr>
      <vt:lpstr>4_wasedaSample5</vt:lpstr>
      <vt:lpstr>5_wasedaSample5</vt:lpstr>
      <vt:lpstr>6_wasedaSample5</vt:lpstr>
      <vt:lpstr>7_wasedaSample5</vt:lpstr>
      <vt:lpstr>8_wasedaSample5</vt:lpstr>
      <vt:lpstr>9_wasedaSample5</vt:lpstr>
      <vt:lpstr>10_wasedaSample5</vt:lpstr>
      <vt:lpstr>11_wasedaSample5</vt:lpstr>
      <vt:lpstr>12_wasedaSample5</vt:lpstr>
      <vt:lpstr>13_wasedaSample5</vt:lpstr>
      <vt:lpstr>14_wasedaSample5</vt:lpstr>
      <vt:lpstr>15_wasedaSample5</vt:lpstr>
      <vt:lpstr>16_wasedaSample5</vt:lpstr>
      <vt:lpstr>17_wasedaSample5</vt:lpstr>
      <vt:lpstr>18_wasedaSample5</vt:lpstr>
      <vt:lpstr>19_wasedaSample5</vt:lpstr>
      <vt:lpstr>20_wasedaSample5</vt:lpstr>
      <vt:lpstr>28_wasedaSample5</vt:lpstr>
      <vt:lpstr>25_wasedaSample5</vt:lpstr>
      <vt:lpstr>31_wasedaSample5</vt:lpstr>
      <vt:lpstr>24_wasedaSample5</vt:lpstr>
      <vt:lpstr>34_wasedaSample5</vt:lpstr>
      <vt:lpstr>30_wasedaSample5</vt:lpstr>
      <vt:lpstr>32_wasedaSample5</vt:lpstr>
      <vt:lpstr>29_wasedaSample5</vt:lpstr>
      <vt:lpstr>35_wasedaSample5</vt:lpstr>
      <vt:lpstr>23_wasedaSample5</vt:lpstr>
      <vt:lpstr>22_wasedaSample5</vt:lpstr>
      <vt:lpstr>26_wasedaSample5</vt:lpstr>
      <vt:lpstr>21_wasedaSample5</vt:lpstr>
      <vt:lpstr>27_wasedaSample5</vt:lpstr>
      <vt:lpstr>33_wasedaSample5</vt:lpstr>
      <vt:lpstr>36_wasedaSample5</vt:lpstr>
      <vt:lpstr>37_wasedaSample5</vt:lpstr>
      <vt:lpstr>38_wasedaSample5</vt:lpstr>
      <vt:lpstr>Paint.Picture</vt:lpstr>
      <vt:lpstr>Equation.DSMT4</vt:lpstr>
      <vt:lpstr>Equation.DSMT4</vt:lpstr>
      <vt:lpstr>Equation.DSMT4</vt:lpstr>
      <vt:lpstr>Equation.DSMT4</vt:lpstr>
      <vt:lpstr>Equation.3</vt:lpstr>
      <vt:lpstr>Equation.3</vt:lpstr>
      <vt:lpstr>Equation.3</vt:lpstr>
      <vt:lpstr>Equation.DSMT4</vt:lpstr>
      <vt:lpstr>Equation.DSMT4</vt:lpstr>
      <vt:lpstr>Equation.3</vt:lpstr>
      <vt:lpstr>Paint.Picture</vt:lpstr>
      <vt:lpstr>Equation.3</vt:lpstr>
      <vt:lpstr>Equation.3</vt:lpstr>
      <vt:lpstr>Equation.DSMT4</vt:lpstr>
      <vt:lpstr>Equation.DSMT4</vt:lpstr>
      <vt:lpstr>Equation.DSMT4</vt:lpstr>
      <vt:lpstr>Equation.3</vt:lpstr>
      <vt:lpstr>Equation.DSMT4</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SmartDraw.2</vt:lpstr>
      <vt:lpstr>Paint.Picture</vt:lpstr>
      <vt:lpstr>Equation.3</vt:lpstr>
      <vt:lpstr>Equation.DSMT4</vt:lpstr>
      <vt:lpstr>Equation.DSMT4</vt:lpstr>
      <vt:lpstr>Equation.3</vt:lpstr>
      <vt:lpstr>Equation.3</vt:lpstr>
      <vt:lpstr>第 2 章   知识表示与知识图谱  </vt:lpstr>
      <vt:lpstr>导引：大模型下对知识提取新方法</vt:lpstr>
      <vt:lpstr>PowerPoint 演示文稿</vt:lpstr>
      <vt:lpstr>PowerPoint 演示文稿</vt:lpstr>
      <vt:lpstr>第2章  知识表示与知识图谱</vt:lpstr>
      <vt:lpstr>第2章  知识表示与知识图谱</vt:lpstr>
      <vt:lpstr>2.1.1  知识的概念</vt:lpstr>
      <vt:lpstr>2.1.2 知识的特性</vt:lpstr>
      <vt:lpstr>PowerPoint 演示文稿</vt:lpstr>
      <vt:lpstr>PowerPoint 演示文稿</vt:lpstr>
      <vt:lpstr>PowerPoint 演示文稿</vt:lpstr>
      <vt:lpstr>PowerPoint 演示文稿</vt:lpstr>
      <vt:lpstr>PowerPoint 演示文稿</vt:lpstr>
      <vt:lpstr>2.1.2  知识的特性</vt:lpstr>
      <vt:lpstr>2.1.3  知识的表示</vt:lpstr>
      <vt:lpstr>第2章  知识表示与知识图谱</vt:lpstr>
      <vt:lpstr>PowerPoint 演示文稿</vt:lpstr>
      <vt:lpstr> 2.2  一阶谓词逻辑表示法</vt:lpstr>
      <vt:lpstr>2.2.1  命题</vt:lpstr>
      <vt:lpstr> 2.2.2  谓词</vt:lpstr>
      <vt:lpstr> 2.2.2  谓词</vt:lpstr>
      <vt:lpstr>2.2.3  谓词公式</vt:lpstr>
      <vt:lpstr>2.2.3  谓词公式</vt:lpstr>
      <vt:lpstr>2.2.3  谓词公式</vt:lpstr>
      <vt:lpstr>2.2.3  谓词公式</vt:lpstr>
      <vt:lpstr>2.2.3  谓词公式</vt:lpstr>
      <vt:lpstr>PowerPoint 演示文稿</vt:lpstr>
      <vt:lpstr>2.2.3  谓词公式</vt:lpstr>
      <vt:lpstr>2.2.3  谓词公式</vt:lpstr>
      <vt:lpstr>2.2.4  谓词公式的性质</vt:lpstr>
      <vt:lpstr>2.2.4  谓词公式的性质</vt:lpstr>
      <vt:lpstr>2.2.4  谓词公式的性质</vt:lpstr>
      <vt:lpstr>2.2.4  谓词公式的性质</vt:lpstr>
      <vt:lpstr>2.2.4  谓词公式的性质</vt:lpstr>
      <vt:lpstr>PowerPoint 演示文稿</vt:lpstr>
      <vt:lpstr>2.2.4  谓词公式的性质</vt:lpstr>
      <vt:lpstr>2.2.5  一阶谓词逻辑知识表示方法</vt:lpstr>
      <vt:lpstr>PowerPoint 演示文稿</vt:lpstr>
      <vt:lpstr>2.2.6  一阶谓词逻辑表示法的特点</vt:lpstr>
      <vt:lpstr>第2章  知识表示与知识图谱</vt:lpstr>
      <vt:lpstr> 2.3  产生式表示法</vt:lpstr>
      <vt:lpstr> 2.3.1  产生式</vt:lpstr>
      <vt:lpstr>2.3.1  产生式</vt:lpstr>
      <vt:lpstr>2.3.1  产生式</vt:lpstr>
      <vt:lpstr>2.3.1  产生式</vt:lpstr>
      <vt:lpstr>2.3.1  产生式</vt:lpstr>
      <vt:lpstr>2.3.2  产生式系统</vt:lpstr>
      <vt:lpstr>2.3.2  产生式系统</vt:lpstr>
      <vt:lpstr>PowerPoint 演示文稿</vt:lpstr>
      <vt:lpstr>2.3.3  产生式系统的例子——动物识别系统</vt:lpstr>
      <vt:lpstr>2.3.3  产生式系统的例子——动物识别系统</vt:lpstr>
      <vt:lpstr>2.3.3  产生式系统的例子——动物识别系统</vt:lpstr>
      <vt:lpstr>2.3.3  产生式系统的例子——动物识别系统</vt:lpstr>
      <vt:lpstr>PowerPoint 演示文稿</vt:lpstr>
      <vt:lpstr>2.3.4  产生式表示法的特点</vt:lpstr>
      <vt:lpstr>第2章  知识表示与知识图谱</vt:lpstr>
      <vt:lpstr> 2.4  框架表示法</vt:lpstr>
      <vt:lpstr>2.4.1  框架的一般结构</vt:lpstr>
      <vt:lpstr>2.4.1  框架的一般结构</vt:lpstr>
      <vt:lpstr>2.4.2  用框架表示知识的例子</vt:lpstr>
      <vt:lpstr>2.4.2  用框架表示知识的例子</vt:lpstr>
      <vt:lpstr>2.4.2  用框架表示知识的例子</vt:lpstr>
      <vt:lpstr>2.4.2  用框架表示知识的例子</vt:lpstr>
      <vt:lpstr>2.4.2  用框架表示知识的例子</vt:lpstr>
      <vt:lpstr>2.4.3  框架表示法的特点</vt:lpstr>
      <vt:lpstr>第2章  知识表示与知识图谱</vt:lpstr>
      <vt:lpstr>2.6  知识图谱</vt:lpstr>
      <vt:lpstr>2.5.2知识图谱的定义</vt:lpstr>
      <vt:lpstr>2.5.3 知识图谱的表示</vt:lpstr>
      <vt:lpstr>2.5.4知识图谱的架构</vt:lpstr>
      <vt:lpstr>2.5.4知识图谱的架构</vt:lpstr>
      <vt:lpstr>2.5.5 知识图谱的构建</vt:lpstr>
      <vt:lpstr>2.5.6 知识图谱的典型应用</vt:lpstr>
      <vt:lpstr>PowerPoint 演示文稿</vt:lpstr>
      <vt:lpstr>2.5.4 知识图谱的架构</vt:lpstr>
      <vt:lpstr>2.5.5 知识图谱的构建</vt:lpstr>
      <vt:lpstr>2.5.6 知识图谱的典型应用</vt:lpstr>
      <vt:lpstr>Q1: 搭建基于知识图谱的知识库，是否必须要有专门的“知识图谱工程师”？</vt:lpstr>
      <vt:lpstr>Q1: 搭建基于知识图谱的知识库，是否必须要有专门的“知识图谱工程师”？</vt:lpstr>
      <vt:lpstr>Q2: 知识图谱知识库和现在的“RAG（检索增强生成）+大模型”有什么区别？</vt:lpstr>
      <vt:lpstr>Q2: 知识图谱知识库和现在的“RAG（检索增强生成）+大模型”有什么区别？</vt:lpstr>
      <vt:lpstr>Q3: 这种结构化的知识库会不会导致由于规则太死板，员工不愿意用？</vt:lpstr>
      <vt:lpstr>Q3: 这种结构化的知识库会不会导致由于规则太死板，员工不愿意用？</vt:lpstr>
      <vt:lpstr>Q4: 知识图谱的可视化看起来很酷，但在实际工作中真的有用吗？ </vt:lpstr>
      <vt:lpstr>Q4: 知识图谱的可视化看起来很酷，但在实际工作中真的有用吗？ </vt:lpstr>
      <vt:lpstr>Q5:基于知识图谱的知识库是什么？</vt:lpstr>
      <vt:lpstr>Q5:基于知识图谱的知识库是什么？</vt:lpstr>
      <vt:lpstr>Q5-1:一份“软件采购合同”</vt:lpstr>
      <vt:lpstr>Q5-1:一份“软件采购合同”</vt:lpstr>
      <vt:lpstr>Q6:基于知识图谱的知识库在搜索与推荐上的优势对比</vt:lpstr>
      <vt:lpstr>Q6-1:“服务器报错代码 500”</vt:lpstr>
      <vt:lpstr>Q7:不同行业场景下的结构化知识管理方案选型思路</vt:lpstr>
      <vt:lpstr>Q7:不同行业场景下的结构化知识管理方案选型思路</vt:lpstr>
      <vt:lpstr>Q9:从传统知识库迁移到知识图谱知识库的关键步骤</vt:lpstr>
      <vt:lpstr>Q9:从传统知识库迁移到知识图谱知识库的关键步骤</vt:lpstr>
      <vt:lpstr>Q10:知识图谱知识库如何打通数据？</vt:lpstr>
      <vt:lpstr>Q10:知识图谱知识库如何打通数据？</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Jenny</cp:lastModifiedBy>
  <cp:revision>687</cp:revision>
  <dcterms:created xsi:type="dcterms:W3CDTF">2026-09-09T08:04:06Z</dcterms:created>
  <dcterms:modified xsi:type="dcterms:W3CDTF">2026-09-09T08:04:06Z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ICV">
    <vt:lpwstr>DB351EE07ED4714FA3D2A06AF023D15D_43</vt:lpwstr>
  </property>
  <property fmtid="{D5CDD505-2E9C-101B-9397-08002B2CF9AE}" pid="4" name="KSOProductBuildVer">
    <vt:lpwstr>2052-12.1.26055.26055</vt:lpwstr>
  </property>
</Properties>
</file>