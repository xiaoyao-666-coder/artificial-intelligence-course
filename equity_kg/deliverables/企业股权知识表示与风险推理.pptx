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13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图 DFS</c:v>
                </c:pt>
              </c:strCache>
            </c:strRef>
          </c:tx>
          <c:spPr>
            <a:ln w="30480">
              <a:solidFill>
                <a:srgbClr val="8F2843"/>
              </a:solidFill>
            </a:ln>
          </c:spPr>
          <c:marker>
            <c:symbol val="diamond"/>
            <c:size val="7"/>
            <c:spPr>
              <a:solidFill>
                <a:srgbClr val="8F2843"/>
              </a:solidFill>
              <a:ln>
                <a:solidFill>
                  <a:srgbClr val="8F2843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2层</c:v>
                </c:pt>
                <c:pt idx="1">
                  <c:v>4层</c:v>
                </c:pt>
                <c:pt idx="2">
                  <c:v>6层</c:v>
                </c:pt>
                <c:pt idx="3">
                  <c:v>8层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6.865000000289001E-3</c:v>
                </c:pt>
                <c:pt idx="1">
                  <c:v>3.1844999989516509E-2</c:v>
                </c:pt>
                <c:pt idx="2">
                  <c:v>0.1511200000095414</c:v>
                </c:pt>
                <c:pt idx="3">
                  <c:v>0.56359500001690321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AB-49EF-A8E9-E59613A0C9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SQL 递归 CTE</c:v>
                </c:pt>
              </c:strCache>
            </c:strRef>
          </c:tx>
          <c:spPr>
            <a:ln w="30480">
              <a:solidFill>
                <a:srgbClr val="D9652F"/>
              </a:solidFill>
            </a:ln>
          </c:spPr>
          <c:marker>
            <c:symbol val="square"/>
            <c:size val="7"/>
            <c:spPr>
              <a:solidFill>
                <a:srgbClr val="D9652F"/>
              </a:solidFill>
              <a:ln>
                <a:solidFill>
                  <a:srgbClr val="D9652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2层</c:v>
                </c:pt>
                <c:pt idx="1">
                  <c:v>4层</c:v>
                </c:pt>
                <c:pt idx="2">
                  <c:v>6层</c:v>
                </c:pt>
                <c:pt idx="3">
                  <c:v>8层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1.6479999999319261E-2</c:v>
                </c:pt>
                <c:pt idx="1">
                  <c:v>6.381499999861262E-2</c:v>
                </c:pt>
                <c:pt idx="2">
                  <c:v>0.24800000001050648</c:v>
                </c:pt>
                <c:pt idx="3">
                  <c:v>1.0333699999819146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AB-49EF-A8E9-E59613A0C9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SQL 逐层 JOIN</c:v>
                </c:pt>
              </c:strCache>
            </c:strRef>
          </c:tx>
          <c:spPr>
            <a:ln w="30480">
              <a:solidFill>
                <a:srgbClr val="326759"/>
              </a:solidFill>
            </a:ln>
          </c:spPr>
          <c:marker>
            <c:symbol val="triangle"/>
            <c:size val="7"/>
            <c:spPr>
              <a:solidFill>
                <a:srgbClr val="326759"/>
              </a:solidFill>
              <a:ln>
                <a:solidFill>
                  <a:srgbClr val="326759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2层</c:v>
                </c:pt>
                <c:pt idx="1">
                  <c:v>4层</c:v>
                </c:pt>
                <c:pt idx="2">
                  <c:v>6层</c:v>
                </c:pt>
                <c:pt idx="3">
                  <c:v>8层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1.5179999991232762E-2</c:v>
                </c:pt>
                <c:pt idx="1">
                  <c:v>5.9319999991203076E-2</c:v>
                </c:pt>
                <c:pt idx="2">
                  <c:v>0.20604500000445114</c:v>
                </c:pt>
                <c:pt idx="3">
                  <c:v>0.77046999999765831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AB-49EF-A8E9-E59613A0C9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.2"/>
          <c:min val="0"/>
        </c:scaling>
        <c:delete val="0"/>
        <c:axPos val="l"/>
        <c:majorGridlines>
          <c:spPr>
            <a:ln>
              <a:solidFill>
                <a:srgbClr val="D7BFA6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zh-CN"/>
          </a:p>
        </c:txPr>
        <c:crossAx val="2118791784"/>
        <c:crosses val="autoZero"/>
        <c:crossBetween val="between"/>
        <c:majorUnit val="0.3"/>
      </c:valAx>
    </c:plotArea>
    <c:legend>
      <c:legendPos val="b"/>
      <c:overlay val="0"/>
      <c:txPr>
        <a:bodyPr/>
        <a:lstStyle/>
        <a:p>
          <a:pPr>
            <a:defRPr sz="1200">
              <a:latin typeface="Microsoft YaHe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118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企业背后还有企业，谁在控制、权益多少、哪些交易要核查？我们用股权案例展示三种知识表示怎样协同推理。</a:t>
            </a:r>
          </a:p>
          <a:p>
            <a:endParaRPr/>
          </a:p>
          <a:p>
            <a:r>
              <a:t>【展开讲解】</a:t>
            </a:r>
          </a:p>
          <a:p>
            <a:r>
              <a:t>本项目用16个虚构实体构建股权、担保、交易和亲属关系。汇报沿着背景、建模、案例推理和验证展开。控制关系、经济持股与风险标签具有不同语义，下面分别解释。全组共同参与开发、测试与汇报；完整姓名、学号和分工保留在本页备注。</a:t>
            </a:r>
          </a:p>
          <a:p>
            <a:endParaRPr/>
          </a:p>
          <a:p>
            <a:r>
              <a:t>【来源与口径】</a:t>
            </a:r>
          </a:p>
          <a:p>
            <a:r>
              <a:t>项目报告（修订版）；dataset.py；组员信息沿用已发布修订版PPT。</a:t>
            </a:r>
          </a:p>
          <a:p>
            <a:endParaRPr/>
          </a:p>
          <a:p>
            <a:r>
              <a:t>组员与分工</a:t>
            </a:r>
          </a:p>
          <a:p>
            <a:r>
              <a:t>梁镇贤（组长）　202425220516　项目统筹、数据建模与功能联调</a:t>
            </a:r>
          </a:p>
          <a:p>
            <a:r>
              <a:t>陈宗波　202425220507　知识图谱构建、股权路径分析与可视化</a:t>
            </a:r>
          </a:p>
          <a:p>
            <a:r>
              <a:t>温文辉　202425220523　产生式规则、控制关系推理与解释链</a:t>
            </a:r>
          </a:p>
          <a:p>
            <a:r>
              <a:t>陈宇冲　202425220505　框架表示、风险线索汇总与测试验证</a:t>
            </a:r>
          </a:p>
          <a:p>
            <a:r>
              <a:t>刘亦达　202425220518　查询效率对比、结果分析与材料整合</a:t>
            </a:r>
          </a:p>
          <a:p>
            <a:r>
              <a:t>各成员工作量大致均衡，共同参与系统开发、测试验证、报告修改与汇报准备；表中列出各自侧重。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贷款审批和投资尽调需要穿透多层关系。ICIJ离岸数据库提供了关系追踪的真实行业参考；本项目用虚构数据演示建模、查询和证据核查。</a:t>
            </a:r>
          </a:p>
          <a:p>
            <a:endParaRPr/>
          </a:p>
          <a:p>
            <a:r>
              <a:t>【展开讲解】</a:t>
            </a:r>
          </a:p>
          <a:p>
            <a:r>
              <a:t>股东可能仍是企业，交易和担保又记录在不同表中。ICIJ Offshore Leaks公开数据库连接人员、企业和中介，启发我们以网络组织信息。本项目仅借鉴关系追踪思路，未导入其真实人员数据，也不声称复现其内部推理。关系出现本身不等于违法。</a:t>
            </a:r>
          </a:p>
          <a:p>
            <a:endParaRPr/>
          </a:p>
          <a:p>
            <a:r>
              <a:t>【来源与口径】</a:t>
            </a:r>
          </a:p>
          <a:p>
            <a:r>
              <a:t>ICIJ, About the Offshore Leaks Database: https://offshoreleaks.icij.org/pages/about</a:t>
            </a:r>
          </a:p>
          <a:p>
            <a:r>
              <a:t>项目报告（修订版）：背景与目标。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数据包含四名自然人、十二家企业、二十五条关系。关系记录转换成五十三条初始事实，推理结果再写回图谱和企业档案。</a:t>
            </a:r>
          </a:p>
          <a:p>
            <a:endParaRPr/>
          </a:p>
          <a:p>
            <a:r>
              <a:t>【展开讲解】</a:t>
            </a:r>
          </a:p>
          <a:p>
            <a:r>
              <a:t>17条持股、4条担保、3条交易、1条亲属关系合计25条原始关系。53条初始事实还包括Person、Company与IsA等类型事实，所以事实数与图的边数不是同一口径。持股比例、交易金额、担保金额和亲属类型是关系属性。</a:t>
            </a:r>
          </a:p>
          <a:p>
            <a:endParaRPr/>
          </a:p>
          <a:p>
            <a:r>
              <a:t>【来源与口径】</a:t>
            </a:r>
          </a:p>
          <a:p>
            <a:r>
              <a:t>dataset.py: demo_dataset；data/demo/*.csv</a:t>
            </a:r>
          </a:p>
          <a:p>
            <a:r>
              <a:t>kr/knowledge_graph.py: to_predicates；main.py。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图谱擅长路径和环路；产生式用明确条件推导并解释结论；框架通过槽、继承和覆盖组织企业档案。三者互补，也各有维护成本。</a:t>
            </a:r>
          </a:p>
          <a:p>
            <a:endParaRPr/>
          </a:p>
          <a:p>
            <a:r>
              <a:t>【展开讲解】</a:t>
            </a:r>
          </a:p>
          <a:p>
            <a:r>
              <a:t>图谱将实体与带属性的关系连接起来，便于多跳查询，但依赖实体对齐。产生式使用谓词事实和IF–THEN规则，便于保存依据，但规则多时匹配与冲突处理成本增加。框架通过槽和继承管理属性，但缺省值不是已验证事实，全局路径计算仍需图查询。</a:t>
            </a:r>
          </a:p>
          <a:p>
            <a:endParaRPr/>
          </a:p>
          <a:p>
            <a:r>
              <a:t>【来源与口径】</a:t>
            </a:r>
          </a:p>
          <a:p>
            <a:r>
              <a:t>kr/knowledge_graph.py；kr/production.py；kr/frames.py；reasoning/rules.py</a:t>
            </a:r>
          </a:p>
          <a:p>
            <a:r>
              <a:t>参考资料：知识表示与知识图谱。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王建国持有华鑫控股百分之八十；华鑫控股持有华鑫实业百分之六十五。两家公司分别持有恒通科技百分之二十和三十五。控制与经济权益要分开计算。</a:t>
            </a:r>
          </a:p>
          <a:p>
            <a:endParaRPr/>
          </a:p>
          <a:p>
            <a:r>
              <a:t>【展开讲解】</a:t>
            </a:r>
          </a:p>
          <a:p>
            <a:r>
              <a:t>图中只抽取恒通科技相关的4个节点与4条持股边，保留原始比例。Q1问能否按本项目规则形成控制关系；Q2问王建国沿两条路径对应的经济持股。前者由控制规则组合，后者为路径乘积再求和。节点简称对应CSV中的公司全称。</a:t>
            </a:r>
          </a:p>
          <a:p>
            <a:endParaRPr/>
          </a:p>
          <a:p>
            <a:r>
              <a:t>【来源与口径】</a:t>
            </a:r>
          </a:p>
          <a:p>
            <a:r>
              <a:t>data/demo/holdings.csv；persons.csv；companies.csv。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先按R1得到控股公司对子公司的控制，再按R4合并可支配的百分之二十和三十五，超过一半。R5传递控制，R6得到自然人控制人王建国。</a:t>
            </a:r>
          </a:p>
          <a:p>
            <a:endParaRPr/>
          </a:p>
          <a:p>
            <a:r>
              <a:t>【展开讲解】</a:t>
            </a:r>
          </a:p>
          <a:p>
            <a:r>
              <a:t>R1要求直接持股严格大于50%，所以恰好50%不成立。R4仅实现“自身与一个已控制子公司”合计持股过半的情形，并非任意多个子公司的通用合并。王建国对华鑫控股的80%满足R1；随后通过R5和R6得到当前模型下恒通科技的实际控制人结论。这里的55%是华鑫控股一侧可支配持股，不是王建国的经济权益。</a:t>
            </a:r>
          </a:p>
          <a:p>
            <a:endParaRPr/>
          </a:p>
          <a:p>
            <a:r>
              <a:t>【来源与口径】</a:t>
            </a:r>
          </a:p>
          <a:p>
            <a:r>
              <a:t>reasoning/rules.py：R1、R4、R5、R6；output/demo_run.txt。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经济持股按路径计算：百分之八十乘二十，得到十六；再乘六十五和三十五，得到十八点二。两条路径合计百分之三十四点二。</a:t>
            </a:r>
          </a:p>
          <a:p>
            <a:endParaRPr/>
          </a:p>
          <a:p>
            <a:r>
              <a:t>【展开讲解】</a:t>
            </a:r>
          </a:p>
          <a:p>
            <a:r>
              <a:t>第一条路径是王建国→华鑫控股→恒通科技，贡献16%；第二条经过华鑫实业，贡献18.2%。两条合计34.2%。本项目筛查以25%为阈值，且仅自然人可成为候选，并不构成法律认定。循环股权按简单路径截断，没有计算无限路径权益，因此结果边界必须说明。</a:t>
            </a:r>
          </a:p>
          <a:p>
            <a:endParaRPr/>
          </a:p>
          <a:p>
            <a:r>
              <a:t>【来源与口径】</a:t>
            </a:r>
          </a:p>
          <a:p>
            <a:r>
              <a:t>reasoning/graph_reasoning.py: penetrate；output/demo_run.txt；test_project.py。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推理机从已知事实出发，匹配规则，按优先级选择并执行，再记录前提。直到没有新事实，五十三条事实扩展为一百三十五条。</a:t>
            </a:r>
          </a:p>
          <a:p>
            <a:endParaRPr/>
          </a:p>
          <a:p>
            <a:r>
              <a:t>【展开讲解】</a:t>
            </a:r>
          </a:p>
          <a:p>
            <a:r>
              <a:t>综合数据库采用集合去重，并按谓词及首参数建立索引。每轮选最高优先级规则，同级按规则库顺序，执行所选规则在当前冲突集中的全部实例。不是每周期只产生一个事实。why保存规则与前提，trace保存过程。17周期后到达不动点，再运行无新增；现实现没有自动撤销过期推理结论。</a:t>
            </a:r>
          </a:p>
          <a:p>
            <a:endParaRPr/>
          </a:p>
          <a:p>
            <a:r>
              <a:t>【来源与口径】</a:t>
            </a:r>
          </a:p>
          <a:p>
            <a:r>
              <a:t>kr/production.py: WorkingMemory、InferenceEngine.run、explain；reasoning/rules.py。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远航贸易和恒通科技按当前规则由王建国共同控制，再结合五千万元交易，推出关联交易线索。恒通属于上市公司，触发待核查预警；其中配偶一致行动是假设。</a:t>
            </a:r>
          </a:p>
          <a:p>
            <a:endParaRPr/>
          </a:p>
          <a:p>
            <a:r>
              <a:t>【展开讲解】</a:t>
            </a:r>
          </a:p>
          <a:p>
            <a:r>
              <a:t>远航控制链依赖配偶一致行动简化假设R2，再由R3合计王建国30%与李秀英25%，由持股较多者形成控制关系。恒通控制来自R1/R4/R5。R6取得两边自然人控制人，R7结合交易得到RelatedTrade，R12结合上市公司类型触发预警。实务还要核实一致行动证据、交易是否真实、是否已披露及交易定价，不能直接据此判违法。</a:t>
            </a:r>
          </a:p>
          <a:p>
            <a:endParaRPr/>
          </a:p>
          <a:p>
            <a:r>
              <a:t>【来源与口径】</a:t>
            </a:r>
          </a:p>
          <a:p>
            <a:r>
              <a:t>data/demo/trades.csv；holdings.csv；kinships.csv</a:t>
            </a:r>
          </a:p>
          <a:p>
            <a:r>
              <a:t>reasoning/rules.py: R2/R3/R6/R7/R12；output/demo_run.txt。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股权子图找到鼎丰投资、鼎丰建设和瑞祥建材的循环；担保子图找到鼎丰建设、天润商贸和博远咨询的环路。两圈有重叠，风险企业要去重计数。</a:t>
            </a:r>
          </a:p>
          <a:p>
            <a:endParaRPr/>
          </a:p>
          <a:p>
            <a:r>
              <a:t>【展开讲解】</a:t>
            </a:r>
          </a:p>
          <a:p>
            <a:r>
              <a:t>循环持股边分别为60%、40%、30%；担保边分别为3000、2000、2500万元。规则R8/R9与R10/R11先推导持股和担保可达，再由R13/R14检测自可达。图算法用simple_cycles作为另一种实现，测试核对节点集。两圈各3家，鼎丰建设重叠，环路企业共5家，加恒通交易预警共6家。</a:t>
            </a:r>
          </a:p>
          <a:p>
            <a:endParaRPr/>
          </a:p>
          <a:p>
            <a:r>
              <a:t>【来源与口径】</a:t>
            </a:r>
          </a:p>
          <a:p>
            <a:r>
              <a:t>data/demo/holdings.csv；guarantees.csv；reasoning/rules.py: R8–R14</a:t>
            </a:r>
          </a:p>
          <a:p>
            <a:r>
              <a:t>reasoning/graph_reasoning.py: find_cycles；test_project.py: test_cycle_algorithms_agree。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恒通科技继承上市公司的披露属性；推理后，控制人由未识别变成王建国，风险提示变成关联交易待核查。默认低风险不代表已核实安全。</a:t>
            </a:r>
          </a:p>
          <a:p>
            <a:endParaRPr/>
          </a:p>
          <a:p>
            <a:r>
              <a:t>【展开讲解】</a:t>
            </a:r>
          </a:p>
          <a:p>
            <a:r>
              <a:t>框架继承链为企业→上市公司→恒通科技。披露要求和监管机构来自父框架，控制人与风险提示由实例覆盖。R15把任一预警定为“高”，属于简化定级规则。图谱同时新增实际控制边，使推理结果还能被后续查询使用。当前系统未自动撤回已失效结论，来源与时间管理是后续改进点。</a:t>
            </a:r>
          </a:p>
          <a:p>
            <a:endParaRPr/>
          </a:p>
          <a:p>
            <a:r>
              <a:t>【来源与口径】</a:t>
            </a:r>
          </a:p>
          <a:p>
            <a:r>
              <a:t>kr/frames.py: build_company_frames；main.py：知识增强</a:t>
            </a:r>
          </a:p>
          <a:p>
            <a:r>
              <a:t>reasoning/rules.py: R15；output/demo_run.txt。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本地十一项功能测试通过，覆盖控制链、经济持股、环路、边界和负例。例如恰好百分之五十不触发控制，深度截断的企业也不能标为自然人候选。</a:t>
            </a:r>
          </a:p>
          <a:p>
            <a:endParaRPr/>
          </a:p>
          <a:p>
            <a:r>
              <a:t>【展开讲解】</a:t>
            </a:r>
          </a:p>
          <a:p>
            <a:r>
              <a:t>正例检查恒通和远航的控制关系、34.2%权益和预警集合。负例检查星辰电子没有被错误识别出实际控制人。边界检查50%不触发R1、截断企业不作为自然人候选。框架测试检查继承、覆盖和非法槽值；重复变量匹配测试避免错误绑定；不动点测试核对二次运行无新增事实；SQL/图查询对照测试检查结果多重集合。11项通过验证实现逻辑，不是业务准确率。</a:t>
            </a:r>
          </a:p>
          <a:p>
            <a:endParaRPr/>
          </a:p>
          <a:p>
            <a:r>
              <a:t>【来源与口径】</a:t>
            </a:r>
          </a:p>
          <a:p>
            <a:r>
              <a:t>test_project.py：11项单元测试；2026-10-05 使用 D:/python/python.exe 本地复测通过。</a:t>
            </a:r>
          </a:p>
          <a:p>
            <a:r>
              <a:t>output/demo_run.txt；kr/production.py；reasoning/graph_reasoning.py。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历史基准固定四百三十个实体、七百九十二条边，查询二十个目标并重复九轮。八层时DFS约零点五六四毫秒，快于本次两种SQL实现；结论只适用于该实验。</a:t>
            </a:r>
          </a:p>
          <a:p>
            <a:endParaRPr/>
          </a:p>
          <a:p>
            <a:r>
              <a:t>【展开讲解】</a:t>
            </a:r>
          </a:p>
          <a:p>
            <a:r>
              <a:t>图中每点是9轮中每轮20个目标平均查询耗时的中位数，单位毫秒/目标；包含结果物化，不含建库与绘图。四个深度均先逐目标比较路径结果的多重集合，避免把去重或剪枝差异当成性能优势。8层数据为DFS 0.563595、CTE 1.03337、JOIN 0.77047毫秒。来自原基准，不是本次重新测量，也不能外推为图数据库普遍更快。原环境Python 3.13.1、NetworkX 3.5、SQLite 3.45.3，seed=42。</a:t>
            </a:r>
          </a:p>
          <a:p>
            <a:endParaRPr/>
          </a:p>
          <a:p>
            <a:r>
              <a:t>【来源与口径】</a:t>
            </a:r>
          </a:p>
          <a:p>
            <a:r>
              <a:t>output/benchmark.json、benchmark.csv；benchmark.py；kr/relational.py。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我们已实现知识表示、推理解释与结果回写。下一步补足身份与来源核验、控制协议、时间变化和失效结论撤回，让每条线索不仅算得出，也查得到依据。</a:t>
            </a:r>
          </a:p>
          <a:p>
            <a:endParaRPr/>
          </a:p>
          <a:p>
            <a:r>
              <a:t>【展开讲解】</a:t>
            </a:r>
          </a:p>
          <a:p>
            <a:r>
              <a:t>数据方面，加入身份对齐、来源凭证和时间戳；规则方面，从配偶等简化假设扩展到经验证的控制协议、投票权约束和规则冲突处理；算法方面，改进循环持股权益求解、撤回依赖失效事实的结论，并扩大基准规模。本项目展示三种知识表示的任务适配，不提供法律判断或生产环境准确率保证。完整团队分工见第1页备注，完整参考文献见修订报告。</a:t>
            </a:r>
          </a:p>
          <a:p>
            <a:endParaRPr/>
          </a:p>
          <a:p>
            <a:r>
              <a:t>【来源与口径】</a:t>
            </a:r>
          </a:p>
          <a:p>
            <a:r>
              <a:t>项目报告（修订版）：问题与改进、总结、参考文献。</a:t>
            </a:r>
          </a:p>
          <a:p>
            <a:r>
              <a:t>ICIJ Offshore Leaks: https://offshoreleaks.icij.org/pages/about</a:t>
            </a:r>
          </a:p>
          <a:p>
            <a:r>
              <a:t>Hogan et al., Knowledge Graphs, ACM Computing Surveys, 2021, doi:10.1145/3447772</a:t>
            </a:r>
          </a:p>
          <a:p>
            <a:r>
              <a:t>NetworkX: https://networkx.org/documentation/stable/；SQLite: https://www.sqlite.org/lang_with.html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3ED54-3267-D7DF-12E1-CE12C90D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FC921-6984-F50B-844D-C4FE34141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530C1-F549-0207-0CC0-688173171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【3分钟精讲】</a:t>
            </a:r>
          </a:p>
          <a:p>
            <a:r>
              <a:t>我们已实现知识表示、推理解释与结果回写。下一步补足身份与来源核验、控制协议、时间变化和失效结论撤回，让每条线索不仅算得出，也查得到依据。</a:t>
            </a:r>
          </a:p>
          <a:p>
            <a:endParaRPr/>
          </a:p>
          <a:p>
            <a:r>
              <a:t>【展开讲解】</a:t>
            </a:r>
          </a:p>
          <a:p>
            <a:r>
              <a:t>数据方面，加入身份对齐、来源凭证和时间戳；规则方面，从配偶等简化假设扩展到经验证的控制协议、投票权约束和规则冲突处理；算法方面，改进循环持股权益求解、撤回依赖失效事实的结论，并扩大基准规模。本项目展示三种知识表示的任务适配，不提供法律判断或生产环境准确率保证。完整团队分工见第1页备注，完整参考文献见修订报告。</a:t>
            </a:r>
          </a:p>
          <a:p>
            <a:endParaRPr/>
          </a:p>
          <a:p>
            <a:r>
              <a:t>【来源与口径】</a:t>
            </a:r>
          </a:p>
          <a:p>
            <a:r>
              <a:t>项目报告（修订版）：问题与改进、总结、参考文献。</a:t>
            </a:r>
          </a:p>
          <a:p>
            <a:r>
              <a:t>ICIJ Offshore Leaks: https://offshoreleaks.icij.org/pages/about</a:t>
            </a:r>
          </a:p>
          <a:p>
            <a:r>
              <a:t>Hogan et al., Knowledge Graphs, ACM Computing Surveys, 2021, doi:10.1145/3447772</a:t>
            </a:r>
          </a:p>
          <a:p>
            <a:r>
              <a:t>NetworkX: https://networkx.org/documentation/stable/；SQLite: https://www.sqlite.org/lang_with.html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18ED4-4EE6-DEE9-2BD6-7085CE5F5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17893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F2BD58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知识表示与推理</a:t>
            </a:r>
            <a:r>
              <a:rPr dirty="0">
                <a:ea typeface="Microsoft YaHei"/>
              </a:rPr>
              <a:t>  /  EQUITY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企业股权知识表示与风险推理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60687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连接分散记录，追踪控制关系，为每条风险线索保留依据</a:t>
            </a:r>
            <a:r>
              <a:rPr dirty="0">
                <a:ea typeface="Microsoft YaHei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E8D1B4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endParaRPr dirty="0"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E8D1B4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01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2940" y="3265463"/>
            <a:ext cx="7040880" cy="1463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900" b="1">
                <a:solidFill>
                  <a:srgbClr val="FFFFFF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看清关系</a:t>
            </a:r>
            <a:endParaRPr dirty="0">
              <a:ea typeface="Microsoft YaHei"/>
            </a:endParaRPr>
          </a:p>
          <a:p>
            <a:pPr>
              <a:lnSpc>
                <a:spcPct val="115000"/>
              </a:lnSpc>
              <a:spcAft>
                <a:spcPts val="500"/>
              </a:spcAft>
              <a:defRPr sz="3900" b="1">
                <a:solidFill>
                  <a:srgbClr val="FFFFFF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更要说清推理依据</a:t>
            </a:r>
            <a:endParaRPr dirty="0"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224" y="5064837"/>
            <a:ext cx="6126480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200" b="1">
                <a:solidFill>
                  <a:srgbClr val="F2BD58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图谱找路径</a:t>
            </a:r>
            <a:r>
              <a:rPr dirty="0">
                <a:ea typeface="Microsoft YaHei"/>
              </a:rPr>
              <a:t>  </a:t>
            </a:r>
            <a:r>
              <a:rPr lang="en-US" dirty="0">
                <a:ea typeface="Microsoft YaHei"/>
              </a:rPr>
              <a:t> </a:t>
            </a:r>
            <a:r>
              <a:rPr dirty="0">
                <a:ea typeface="Microsoft YaHei"/>
              </a:rPr>
              <a:t>  </a:t>
            </a:r>
            <a:r>
              <a:rPr dirty="0" err="1">
                <a:ea typeface="Microsoft YaHei"/>
              </a:rPr>
              <a:t>规则推结论</a:t>
            </a:r>
            <a:r>
              <a:rPr dirty="0">
                <a:ea typeface="Microsoft YaHei"/>
              </a:rPr>
              <a:t>  </a:t>
            </a:r>
            <a:r>
              <a:rPr lang="en-US" dirty="0">
                <a:ea typeface="Microsoft YaHei"/>
              </a:rPr>
              <a:t>  </a:t>
            </a:r>
            <a:r>
              <a:rPr dirty="0">
                <a:ea typeface="Microsoft YaHei"/>
              </a:rPr>
              <a:t> </a:t>
            </a:r>
            <a:r>
              <a:rPr dirty="0" err="1">
                <a:ea typeface="Microsoft YaHei"/>
              </a:rPr>
              <a:t>框架存档案</a:t>
            </a:r>
            <a:endParaRPr dirty="0">
              <a:ea typeface="Microsoft YaHe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2743200"/>
            <a:ext cx="2194560" cy="548640"/>
          </a:xfrm>
          <a:prstGeom prst="line">
            <a:avLst/>
          </a:prstGeom>
          <a:ln w="3810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2743200"/>
            <a:ext cx="457200" cy="1920240"/>
          </a:xfrm>
          <a:prstGeom prst="line">
            <a:avLst/>
          </a:prstGeom>
          <a:ln w="3810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686800" y="3291840"/>
            <a:ext cx="1737360" cy="1371600"/>
          </a:xfrm>
          <a:prstGeom prst="line">
            <a:avLst/>
          </a:prstGeom>
          <a:ln w="3810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24160" y="3291840"/>
            <a:ext cx="640080" cy="1920240"/>
          </a:xfrm>
          <a:prstGeom prst="line">
            <a:avLst/>
          </a:prstGeom>
          <a:ln w="3810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2331720"/>
            <a:ext cx="1207008" cy="667512"/>
          </a:xfrm>
          <a:prstGeom prst="roundRect">
            <a:avLst>
              <a:gd name="adj" fmla="val 12000"/>
            </a:avLst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2505456"/>
            <a:ext cx="1024128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551C30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自然人</a:t>
            </a:r>
            <a:endParaRPr dirty="0">
              <a:ea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802368" y="2926080"/>
            <a:ext cx="1207008" cy="667512"/>
          </a:xfrm>
          <a:prstGeom prst="roundRect">
            <a:avLst>
              <a:gd name="adj" fmla="val 12000"/>
            </a:avLst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93808" y="3102160"/>
            <a:ext cx="1024128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企业</a:t>
            </a:r>
            <a:r>
              <a:rPr dirty="0">
                <a:ea typeface="Microsoft YaHei"/>
              </a:rPr>
              <a:t> 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297680"/>
            <a:ext cx="1207008" cy="667512"/>
          </a:xfrm>
          <a:prstGeom prst="roundRect">
            <a:avLst>
              <a:gd name="adj" fmla="val 12000"/>
            </a:avLst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471416"/>
            <a:ext cx="1024128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企业</a:t>
            </a:r>
            <a:r>
              <a:rPr dirty="0">
                <a:ea typeface="Microsoft YaHei"/>
              </a:rPr>
              <a:t>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0736" y="4800600"/>
            <a:ext cx="1207008" cy="667512"/>
          </a:xfrm>
          <a:prstGeom prst="roundRect">
            <a:avLst>
              <a:gd name="adj" fmla="val 12000"/>
            </a:avLst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61319" y="4992624"/>
            <a:ext cx="1024128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企业</a:t>
            </a:r>
            <a:r>
              <a:rPr dirty="0">
                <a:ea typeface="Microsoft YaHei"/>
              </a:rPr>
              <a:t>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01 / 背景与任务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贷款审批时，为什么一张股东表不够？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目标：从“谁持股”进一步回答“谁控制、怎样关联、依据何在”。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02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395728"/>
            <a:ext cx="3520440" cy="1673352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542032"/>
            <a:ext cx="54864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D9652F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56946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3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多层股东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82112"/>
            <a:ext cx="3163824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自然人 → 控股公司 → 子公司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直接股东之外，还存在控制链。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395728"/>
            <a:ext cx="3520440" cy="1673352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9704" y="2542032"/>
            <a:ext cx="54864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D9652F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56946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3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关联交易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182112"/>
            <a:ext cx="3163824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交易双方名称不同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背后却可能由同一人控制。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2395728"/>
            <a:ext cx="3520440" cy="1673352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2542032"/>
            <a:ext cx="54864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D9652F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56946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3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交叉担保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3182112"/>
            <a:ext cx="3163824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多家企业彼此担保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单条记录难以暴露闭合链路。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11073384" cy="1207008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462272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行业参考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ICIJ Offshore Leaks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489704"/>
            <a:ext cx="736092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连接人员、企业与中介，让关系可追踪。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处理流程：记录整理 → 关系建模 → 查询推理 → 核查证据。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研究问题：让分散信息可连接，让推导过程可解释。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02 / 数据与系统流程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先定义实体与关系，再把记录变成知识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同一批合成数据进入图谱、事实库与企业框架，避免三个互不相干的演示。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endParaRPr dirty="0"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03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295144"/>
            <a:ext cx="2523744" cy="1042415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386584"/>
            <a:ext cx="2231136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4 + 12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980944"/>
            <a:ext cx="223113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自然人 + 企业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2295144"/>
            <a:ext cx="2523744" cy="1042415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2386584"/>
            <a:ext cx="2231136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80944"/>
            <a:ext cx="223113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原始关系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295144"/>
            <a:ext cx="2523744" cy="1042415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386584"/>
            <a:ext cx="2231136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80944"/>
            <a:ext cx="223113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初始谓词事实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2295144"/>
            <a:ext cx="2523744" cy="1042415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53728" y="2386584"/>
            <a:ext cx="2231136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980944"/>
            <a:ext cx="223113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产生式规则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63016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4014215"/>
            <a:ext cx="265176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17条 · 持股比例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363016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GUARANTEES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4014215"/>
            <a:ext cx="265176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4条 · 担保金额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63016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TRADES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4014215"/>
            <a:ext cx="265176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3条 · 交易金额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363016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KINSHIP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4014215"/>
            <a:ext cx="2651760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1条 · 亲属类型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4617720"/>
            <a:ext cx="2468880" cy="859536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718304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CSV 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129784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0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统一实体ID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90672" y="5020056"/>
            <a:ext cx="246888" cy="0"/>
          </a:xfrm>
          <a:prstGeom prst="line">
            <a:avLst/>
          </a:prstGeom>
          <a:ln w="25400">
            <a:solidFill>
              <a:srgbClr val="D965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419856" y="4617720"/>
            <a:ext cx="2468880" cy="859536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47872" y="4718304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知识表示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5129784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0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图谱 / 谓词 / 框架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25312" y="5020056"/>
            <a:ext cx="246888" cy="0"/>
          </a:xfrm>
          <a:prstGeom prst="line">
            <a:avLst/>
          </a:prstGeom>
          <a:ln w="25400">
            <a:solidFill>
              <a:srgbClr val="D965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254496" y="4617720"/>
            <a:ext cx="2468880" cy="859536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82512" y="4718304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推理与查询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129784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0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规则链 / 路径 / 环路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59952" y="5020056"/>
            <a:ext cx="246888" cy="0"/>
          </a:xfrm>
          <a:prstGeom prst="line">
            <a:avLst/>
          </a:prstGeom>
          <a:ln w="25400">
            <a:solidFill>
              <a:srgbClr val="D965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089136" y="4617720"/>
            <a:ext cx="2468880" cy="859536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2" y="4718304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知识增强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5129784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0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新增关系 / 档案更新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边、事实、推理结论分别计数；实体ID把不同知识表示连接起来。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03 / 方法比较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三种表示分别解决什么问题？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选表示方法，要同时看表达能力、推理任务与维护代价。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endParaRPr dirty="0"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04 / </a:t>
            </a:r>
            <a:r>
              <a:rPr lang="en-US" dirty="0">
                <a:ea typeface="Microsoft YaHei"/>
              </a:rPr>
              <a:t>15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340864"/>
            <a:ext cx="1764792" cy="521207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1490472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表示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2340864"/>
            <a:ext cx="3246120" cy="521207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50591" y="2468880"/>
            <a:ext cx="2971800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同一案例的表达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59552" y="2340864"/>
            <a:ext cx="2990088" cy="521207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96712" y="2468880"/>
            <a:ext cx="271576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适合的任务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2340864"/>
            <a:ext cx="3081528" cy="521207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2468880"/>
            <a:ext cx="280720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代价与局限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62072"/>
            <a:ext cx="1764792" cy="86868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008376"/>
            <a:ext cx="1490472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知识图谱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3432" y="2862072"/>
            <a:ext cx="3246120" cy="86868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50591" y="3008376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王建国 —持股80%→ 华鑫控股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节点 + 有向边 + 属性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59552" y="2862072"/>
            <a:ext cx="2990088" cy="86868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96712" y="3008376"/>
            <a:ext cx="271576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上游股东路径、循环关系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把分散实体连接起来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862072"/>
            <a:ext cx="3081528" cy="86868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3008376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实体同名需要核对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关系时间与来源需治理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9896"/>
            <a:ext cx="1764792" cy="868680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886200"/>
            <a:ext cx="1490472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谓词 + 产生式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13432" y="3739896"/>
            <a:ext cx="3246120" cy="868680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50591" y="388620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Holds(P1,C1,0.8)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IF 持股 &gt; 50% THEN 控制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59552" y="3739896"/>
            <a:ext cx="2990088" cy="868680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96712" y="3886200"/>
            <a:ext cx="271576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控制传递、风险触发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每条结论记录规则和前提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9640" y="3739896"/>
            <a:ext cx="3081528" cy="868680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0" y="3886200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规则匹配与冲突消解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简化规则需明确适用范围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617720"/>
            <a:ext cx="1764792" cy="86868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4764024"/>
            <a:ext cx="1490472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框架表示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13432" y="4617720"/>
            <a:ext cx="3246120" cy="86868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50591" y="476402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恒通科技 is_a 上市公司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槽：控制人 / 风险 / 披露要求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59552" y="4617720"/>
            <a:ext cx="2990088" cy="86868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96712" y="4764024"/>
            <a:ext cx="271576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档案组织、默认值继承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推理后覆盖实例槽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617720"/>
            <a:ext cx="3081528" cy="86868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0" y="4764024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默认低风险不代表安全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不擅长全局路径计算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图谱负责“找关系”，规则负责“推结论”，框架负责“组织与更新属性”。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04 / 贯穿案例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恒通科技：同一条股权链，两个不同问题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箭头方向：股东 → 被投资企业。名称和比例均来自本项目合成数据。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05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615184" y="2843784"/>
            <a:ext cx="1106424" cy="0"/>
          </a:xfrm>
          <a:prstGeom prst="line">
            <a:avLst/>
          </a:prstGeom>
          <a:ln w="31750">
            <a:solidFill>
              <a:srgbClr val="8F28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843784"/>
            <a:ext cx="2203704" cy="0"/>
          </a:xfrm>
          <a:prstGeom prst="line">
            <a:avLst/>
          </a:prstGeom>
          <a:ln w="31750">
            <a:solidFill>
              <a:srgbClr val="8F28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19472" y="3236976"/>
            <a:ext cx="1161288" cy="1399032"/>
          </a:xfrm>
          <a:prstGeom prst="line">
            <a:avLst/>
          </a:prstGeom>
          <a:ln w="31750">
            <a:solidFill>
              <a:srgbClr val="D965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662672" y="3236976"/>
            <a:ext cx="1810512" cy="1399032"/>
          </a:xfrm>
          <a:prstGeom prst="line">
            <a:avLst/>
          </a:prstGeom>
          <a:ln w="31750">
            <a:solidFill>
              <a:srgbClr val="D965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487168"/>
            <a:ext cx="1975104" cy="667512"/>
          </a:xfrm>
          <a:prstGeom prst="roundRect">
            <a:avLst>
              <a:gd name="adj" fmla="val 12000"/>
            </a:avLst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" y="2633472"/>
            <a:ext cx="1792224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王建国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30752" y="2487168"/>
            <a:ext cx="2350008" cy="667512"/>
          </a:xfrm>
          <a:prstGeom prst="roundRect">
            <a:avLst>
              <a:gd name="adj" fmla="val 12000"/>
            </a:avLst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22191" y="2633472"/>
            <a:ext cx="2167127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华鑫控股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487168"/>
            <a:ext cx="2350008" cy="667512"/>
          </a:xfrm>
          <a:prstGeom prst="roundRect">
            <a:avLst>
              <a:gd name="adj" fmla="val 12000"/>
            </a:avLst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633472"/>
            <a:ext cx="2167127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华鑫实业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5272" y="4663440"/>
            <a:ext cx="2560320" cy="667512"/>
          </a:xfrm>
          <a:prstGeom prst="roundRect">
            <a:avLst>
              <a:gd name="adj" fmla="val 12000"/>
            </a:avLst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96712" y="4809744"/>
            <a:ext cx="2377439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恒通科技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33172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33172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65%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2816" y="377647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4048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35%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4133087"/>
            <a:ext cx="1024128" cy="292608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" y="4165091"/>
            <a:ext cx="896112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Q1 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4562856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按当前规则，谁控制恒通科技？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" y="5020056"/>
            <a:ext cx="1024128" cy="292608"/>
          </a:xfrm>
          <a:prstGeom prst="rect">
            <a:avLst/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5052060"/>
            <a:ext cx="896112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Q2 权益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65376" y="500176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王建国的经济持股是多少？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先明确问题：控制关系的推导，与经济持股的计算，是两个任务。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05 / 控制关系推导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从 65% 到 55%：控制关系如何逐层成立？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对应规则 R1 → R4 → R5 → R6；保留每一步的前提，才能解释最终结论。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E8D1B4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E8D1B4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06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2414016"/>
            <a:ext cx="530352" cy="292608"/>
          </a:xfrm>
          <a:prstGeom prst="rect">
            <a:avLst/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446020"/>
            <a:ext cx="402335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04872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确立直接控制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414016"/>
            <a:ext cx="4270248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华鑫控股 → 华鑫实业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2386584"/>
            <a:ext cx="2606040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65% &gt; 50%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2825496"/>
            <a:ext cx="0" cy="301752"/>
          </a:xfrm>
          <a:prstGeom prst="line">
            <a:avLst/>
          </a:prstGeom>
          <a:ln w="21590">
            <a:solidFill>
              <a:srgbClr val="B8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58368" y="3191256"/>
            <a:ext cx="530352" cy="292608"/>
          </a:xfrm>
          <a:prstGeom prst="rect">
            <a:avLst/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3223260"/>
            <a:ext cx="402335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82112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合并可支配股份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191256"/>
            <a:ext cx="4270248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华鑫控股 + 所控子公司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3163824"/>
            <a:ext cx="2606040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20% + 35% = 55%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" y="3602736"/>
            <a:ext cx="0" cy="301752"/>
          </a:xfrm>
          <a:prstGeom prst="line">
            <a:avLst/>
          </a:prstGeom>
          <a:ln w="21590">
            <a:solidFill>
              <a:srgbClr val="B8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58368" y="3968496"/>
            <a:ext cx="530352" cy="292608"/>
          </a:xfrm>
          <a:prstGeom prst="rect">
            <a:avLst/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4000500"/>
            <a:ext cx="402335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R5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59352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控制向上传递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3968496"/>
            <a:ext cx="4270248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王建国 → 华鑫控股 → 恒通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3941064"/>
            <a:ext cx="2606040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传递控制关系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" y="4379976"/>
            <a:ext cx="0" cy="301752"/>
          </a:xfrm>
          <a:prstGeom prst="line">
            <a:avLst/>
          </a:prstGeom>
          <a:ln w="21590">
            <a:solidFill>
              <a:srgbClr val="B8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58368" y="4745736"/>
            <a:ext cx="530352" cy="292608"/>
          </a:xfrm>
          <a:prstGeom prst="rect">
            <a:avLst/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" y="4777740"/>
            <a:ext cx="402335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736592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筛出自然人控制人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6" y="4745736"/>
            <a:ext cx="4270248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Controls + Person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4718304"/>
            <a:ext cx="2606040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王建国 → 恒通科技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R4覆盖本案例的“自身 + 单个受控子公司”；全部控制结论遵循当前模型的简化假设。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551C30"/>
                </a:solidFill>
                <a:latin typeface="Microsoft YaHei"/>
              </a:defRPr>
            </a:pPr>
            <a:r>
              <a:rPr>
                <a:ea typeface="Microsoft YaHei"/>
              </a:rPr>
              <a:t>55% 回答“谁能支配”，不直接回答“王建国享有多少经济权益”。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06 / 股权穿透计算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两条路径相乘再求和，经济持股为 34.2%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路径内乘比例，路径间加贡献；把算式和路径同时展示，结果才可核查。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07 / 1</a:t>
            </a:r>
            <a:r>
              <a:rPr lang="en-US" dirty="0">
                <a:ea typeface="Microsoft YaHei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2386584"/>
            <a:ext cx="7525512" cy="1170432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8" y="2514600"/>
            <a:ext cx="804672" cy="292608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546604"/>
            <a:ext cx="676656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路径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6080760" cy="3749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王建国 → 华鑫控股 → 恒通科技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026663"/>
            <a:ext cx="6967728" cy="44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7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80% × 20% = 16.0%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3794760"/>
            <a:ext cx="7525512" cy="1170432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8" y="3922776"/>
            <a:ext cx="804672" cy="292608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3954780"/>
            <a:ext cx="676656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路径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13632"/>
            <a:ext cx="6080760" cy="3749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王建国 → 华鑫控股 → 华鑫实业 → 恒通科技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4434840"/>
            <a:ext cx="6967728" cy="44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7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80% × 65% × 35% = 18.2%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386584"/>
            <a:ext cx="3182112" cy="2578608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59368" y="2670048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经济持股合计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0224" y="3319272"/>
            <a:ext cx="2743200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44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34.2%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4315968"/>
            <a:ext cx="2724912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16.0% + 18.2%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30352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4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筛查阈值设为25%；只有自然人可标记为候选，深度截断处的企业不能替代自然人。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控制结论来自规则，经济权益来自路径；同一案例可以同时“受控”且“经济持股不足50%”。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07 / 推理机怎样工作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正向推理：新事实不断进入工作记忆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匹配 → 冲突消解 → 执行并记录依据 → 检查是否还能产生新事实。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endParaRPr dirty="0"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08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5216" y="2450592"/>
            <a:ext cx="2496312" cy="1572768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2578608"/>
            <a:ext cx="475488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560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218688"/>
            <a:ext cx="2185416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寻找满足全部前提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的变量绑定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200400"/>
            <a:ext cx="256032" cy="0"/>
          </a:xfrm>
          <a:prstGeom prst="line">
            <a:avLst/>
          </a:prstGeom>
          <a:ln w="25400">
            <a:solidFill>
              <a:srgbClr val="D965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19856" y="2450592"/>
            <a:ext cx="2496312" cy="1572768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75304" y="2578608"/>
            <a:ext cx="475488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2560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冲突消解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218688"/>
            <a:ext cx="2185416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优先级较高者先执行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同级按规则库顺序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3200400"/>
            <a:ext cx="256032" cy="0"/>
          </a:xfrm>
          <a:prstGeom prst="line">
            <a:avLst/>
          </a:prstGeom>
          <a:ln w="25400">
            <a:solidFill>
              <a:srgbClr val="D965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54496" y="2450592"/>
            <a:ext cx="2496312" cy="1572768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2578608"/>
            <a:ext cx="475488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560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执行与解释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218688"/>
            <a:ext cx="2185416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新事实加入工作记忆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保存规则号和前提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0" y="3200400"/>
            <a:ext cx="256032" cy="0"/>
          </a:xfrm>
          <a:prstGeom prst="line">
            <a:avLst/>
          </a:prstGeom>
          <a:ln w="25400">
            <a:solidFill>
              <a:srgbClr val="D965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089136" y="2450592"/>
            <a:ext cx="2496312" cy="1572768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4584" y="2578608"/>
            <a:ext cx="475488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560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终止判断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3218688"/>
            <a:ext cx="2185416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没有可产生新事实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的规则时停止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315968"/>
            <a:ext cx="6446520" cy="114300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6025896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控制识别 3  &gt;  关联 / 可达 2  &gt;  预警 1  &gt;  定级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965192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4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优先级对应规则库；工作记忆去重，依据保存在 why 中。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4315968"/>
            <a:ext cx="4114800" cy="6217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6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53 → 135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5056632"/>
            <a:ext cx="3877056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17 个执行周期 · 新增 82 条事实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“17周期”是规则执行轮数；“82条新增事实”是去重后的结论数。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08 / 风险证据链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一条交易预警，是怎样被推导出来的？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以“远航贸易 → 恒通科技，5000万元”的合成交易为例，逐项核对前提。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E8D1B4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E8D1B4"/>
                </a:solidFill>
                <a:latin typeface="Microsoft YaHei"/>
              </a:defRPr>
            </a:pPr>
            <a:r>
              <a:rPr dirty="0">
                <a:ea typeface="Microsoft YaHei"/>
              </a:rPr>
              <a:t>09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2304288"/>
            <a:ext cx="3401568" cy="130759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3072384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事实 A：同一控制人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852928"/>
            <a:ext cx="3035808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王建国 → 远航贸易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王建国 → 恒通科技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304288"/>
            <a:ext cx="3401568" cy="130759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450592"/>
            <a:ext cx="3072384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事实 B：存在交易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852928"/>
            <a:ext cx="3035808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远航贸易 → 恒通科技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金额：5000 万元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2304288"/>
            <a:ext cx="3401568" cy="130759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7" y="2450592"/>
            <a:ext cx="3072384" cy="3017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事实 C：企业类型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852928"/>
            <a:ext cx="3035808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恒通科技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is_a 上市公司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04288" y="3575304"/>
            <a:ext cx="1947672" cy="502920"/>
          </a:xfrm>
          <a:prstGeom prst="line">
            <a:avLst/>
          </a:prstGeom>
          <a:ln w="25400">
            <a:solidFill>
              <a:srgbClr val="F2BD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74920" y="3575304"/>
            <a:ext cx="996696" cy="502920"/>
          </a:xfrm>
          <a:prstGeom prst="line">
            <a:avLst/>
          </a:prstGeom>
          <a:ln w="25400">
            <a:solidFill>
              <a:srgbClr val="F2BD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31136" y="4123944"/>
            <a:ext cx="5020056" cy="667512"/>
          </a:xfrm>
          <a:prstGeom prst="roundRect">
            <a:avLst>
              <a:gd name="adj" fmla="val 12000"/>
            </a:avLst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22576" y="4270248"/>
            <a:ext cx="4837176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R7：共同控制 + 交易 → 关联线索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33488" y="4462272"/>
            <a:ext cx="594360" cy="0"/>
          </a:xfrm>
          <a:prstGeom prst="line">
            <a:avLst/>
          </a:prstGeom>
          <a:ln w="25400">
            <a:solidFill>
              <a:srgbClr val="F2BD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829800" y="3575304"/>
            <a:ext cx="0" cy="502920"/>
          </a:xfrm>
          <a:prstGeom prst="line">
            <a:avLst/>
          </a:prstGeom>
          <a:ln w="25400">
            <a:solidFill>
              <a:srgbClr val="F2BD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82712" y="4123944"/>
            <a:ext cx="3575304" cy="667512"/>
          </a:xfrm>
          <a:prstGeom prst="roundRect">
            <a:avLst>
              <a:gd name="adj" fmla="val 12000"/>
            </a:avLst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74152" y="4270248"/>
            <a:ext cx="3392424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551C30"/>
                </a:solidFill>
                <a:latin typeface="Microsoft YaHei"/>
              </a:defRPr>
            </a:pPr>
            <a:r>
              <a:rPr>
                <a:ea typeface="Microsoft YaHei"/>
              </a:rPr>
              <a:t>R12：关联交易待核查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202936"/>
            <a:ext cx="10579608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关键假设：配偶视为一致行动人（R2），30% + 25% &gt; 50%（R3）；实务需另行取证。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551C30"/>
                </a:solidFill>
                <a:latin typeface="Microsoft YaHei"/>
              </a:defRPr>
            </a:pPr>
            <a:r>
              <a:rPr>
                <a:ea typeface="Microsoft YaHei"/>
              </a:rPr>
              <a:t>预警意味着“需要核查”；披露情况、协议和交易背景仍需补充证据。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09 / 环路检测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循环持股与担保圈：两类关系，两种核查重点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先按关系类型构建子图，再寻找回到自身的闭合路径。金额单位：万元。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10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2267712"/>
            <a:ext cx="5367528" cy="3191256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04872"/>
            <a:ext cx="5001768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循环持股 / 权益解释难度增加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39312" y="3566160"/>
            <a:ext cx="850392" cy="832104"/>
          </a:xfrm>
          <a:prstGeom prst="line">
            <a:avLst/>
          </a:prstGeom>
          <a:ln w="27940">
            <a:solidFill>
              <a:srgbClr val="8F28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606040" y="4754880"/>
            <a:ext cx="1344168" cy="0"/>
          </a:xfrm>
          <a:prstGeom prst="line">
            <a:avLst/>
          </a:prstGeom>
          <a:ln w="27940">
            <a:solidFill>
              <a:srgbClr val="8F28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572768" y="3566160"/>
            <a:ext cx="1280160" cy="813816"/>
          </a:xfrm>
          <a:prstGeom prst="line">
            <a:avLst/>
          </a:prstGeom>
          <a:ln w="27940">
            <a:solidFill>
              <a:srgbClr val="8F28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0320" y="2926080"/>
            <a:ext cx="1444752" cy="667512"/>
          </a:xfrm>
          <a:prstGeom prst="roundRect">
            <a:avLst>
              <a:gd name="adj" fmla="val 12000"/>
            </a:avLst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3072384"/>
            <a:ext cx="1261872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鼎丰投资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95928" y="4425696"/>
            <a:ext cx="1444752" cy="667512"/>
          </a:xfrm>
          <a:prstGeom prst="roundRect">
            <a:avLst>
              <a:gd name="adj" fmla="val 12000"/>
            </a:avLst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87368" y="4572000"/>
            <a:ext cx="1261872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鼎丰建设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" y="4425696"/>
            <a:ext cx="1444752" cy="667512"/>
          </a:xfrm>
          <a:prstGeom prst="roundRect">
            <a:avLst>
              <a:gd name="adj" fmla="val 12000"/>
            </a:avLst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97864" y="4572000"/>
            <a:ext cx="1261872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瑞祥建材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68503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4946904"/>
            <a:ext cx="1005840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85032"/>
            <a:ext cx="1069848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30%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7064" y="2267712"/>
            <a:ext cx="5367528" cy="3191256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2404872"/>
            <a:ext cx="5001768" cy="3566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326759"/>
                </a:solidFill>
                <a:latin typeface="Microsoft YaHei"/>
              </a:defRPr>
            </a:pPr>
            <a:r>
              <a:rPr>
                <a:ea typeface="Microsoft YaHei"/>
              </a:rPr>
              <a:t>担保圈 / 关注潜在传染路径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72016" y="3566160"/>
            <a:ext cx="850392" cy="832104"/>
          </a:xfrm>
          <a:prstGeom prst="line">
            <a:avLst/>
          </a:prstGeom>
          <a:ln w="27940">
            <a:solidFill>
              <a:srgbClr val="3267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238744" y="4754880"/>
            <a:ext cx="1344168" cy="0"/>
          </a:xfrm>
          <a:prstGeom prst="line">
            <a:avLst/>
          </a:prstGeom>
          <a:ln w="27940">
            <a:solidFill>
              <a:srgbClr val="3267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05472" y="3566160"/>
            <a:ext cx="1280160" cy="813816"/>
          </a:xfrm>
          <a:prstGeom prst="line">
            <a:avLst/>
          </a:prstGeom>
          <a:ln w="27940">
            <a:solidFill>
              <a:srgbClr val="3267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93023" y="2926080"/>
            <a:ext cx="1444752" cy="667512"/>
          </a:xfrm>
          <a:prstGeom prst="roundRect">
            <a:avLst>
              <a:gd name="adj" fmla="val 12000"/>
            </a:avLst>
          </a:prstGeom>
          <a:solidFill>
            <a:srgbClr val="326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4463" y="3072384"/>
            <a:ext cx="1261872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鼎丰建设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8632" y="4425696"/>
            <a:ext cx="1444752" cy="667512"/>
          </a:xfrm>
          <a:prstGeom prst="roundRect">
            <a:avLst>
              <a:gd name="adj" fmla="val 12000"/>
            </a:avLst>
          </a:prstGeom>
          <a:solidFill>
            <a:srgbClr val="326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20072" y="4572000"/>
            <a:ext cx="1261872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天润商贸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7" y="4425696"/>
            <a:ext cx="1444752" cy="667512"/>
          </a:xfrm>
          <a:prstGeom prst="roundRect">
            <a:avLst>
              <a:gd name="adj" fmla="val 12000"/>
            </a:avLst>
          </a:prstGeom>
          <a:solidFill>
            <a:srgbClr val="326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30567" y="4572000"/>
            <a:ext cx="1261872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博远咨询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68503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326759"/>
                </a:solidFill>
                <a:latin typeface="Microsoft YaHei"/>
              </a:defRPr>
            </a:pPr>
            <a:r>
              <a:rPr>
                <a:ea typeface="Microsoft YaHei"/>
              </a:rPr>
              <a:t>3000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4946904"/>
            <a:ext cx="1005840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326759"/>
                </a:solidFill>
                <a:latin typeface="Microsoft YaHei"/>
              </a:defRPr>
            </a:pPr>
            <a:r>
              <a:rPr>
                <a:ea typeface="Microsoft YaHei"/>
              </a:rPr>
              <a:t>2000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4264" y="3685032"/>
            <a:ext cx="1069848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800" b="1">
                <a:solidFill>
                  <a:srgbClr val="326759"/>
                </a:solidFill>
                <a:latin typeface="Microsoft YaHei"/>
              </a:defRPr>
            </a:pPr>
            <a:r>
              <a:rPr>
                <a:ea typeface="Microsoft YaHei"/>
              </a:rPr>
              <a:t>2500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风险企业去重：循环持股 3 家 + 担保圈 3 家 − 重叠 1 家 + 交易预警 1 家 = 6 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10 / 知识增强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结论写回企业框架，形成可更新的档案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以恒通科技为例：类型继承提供公共属性，实例槽保存推理后的具体结果。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11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" y="2322576"/>
            <a:ext cx="960120" cy="292608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354580"/>
            <a:ext cx="832104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继承链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224" y="2276856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5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企业  →  上市公司  →  恒通科技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898648"/>
            <a:ext cx="2889504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980944"/>
            <a:ext cx="2578608" cy="2651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属性槽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898648"/>
            <a:ext cx="3300984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8456" y="2980944"/>
            <a:ext cx="2990088" cy="2651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推理前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3992" y="2898648"/>
            <a:ext cx="478231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980944"/>
            <a:ext cx="4471416" cy="26517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推理后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3337560"/>
            <a:ext cx="2889504" cy="466344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429000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实际控制人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3337560"/>
            <a:ext cx="3300984" cy="466344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48456" y="3429000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未识别（默认）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3992" y="3337560"/>
            <a:ext cx="4782312" cy="466344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3429000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8F2843"/>
                </a:solidFill>
                <a:latin typeface="Microsoft YaHei"/>
              </a:defRPr>
            </a:pPr>
            <a:r>
              <a:rPr dirty="0">
                <a:ea typeface="Microsoft YaHei"/>
              </a:rPr>
              <a:t>王建国（R6）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" y="3813048"/>
            <a:ext cx="2889504" cy="466344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904487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风险等级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813048"/>
            <a:ext cx="3300984" cy="466344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48456" y="3904487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低（默认）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93992" y="3813048"/>
            <a:ext cx="4782312" cy="466344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3904487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高（R15：简化定级）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" y="4288536"/>
            <a:ext cx="2889504" cy="466344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4379975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风险提示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4288536"/>
            <a:ext cx="3300984" cy="466344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48456" y="4379975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无（默认）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93992" y="4288536"/>
            <a:ext cx="4782312" cy="466344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49440" y="4379975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关联交易待核查（R12）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4764024"/>
            <a:ext cx="2889504" cy="466344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" y="4855464"/>
            <a:ext cx="257860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关联交易披露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764024"/>
            <a:ext cx="3300984" cy="466344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48456" y="4855464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必须公告披露（继承）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93992" y="4764024"/>
            <a:ext cx="4782312" cy="466344"/>
          </a:xfrm>
          <a:prstGeom prst="rect">
            <a:avLst/>
          </a:prstGeom>
          <a:solidFill>
            <a:srgbClr val="E8D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0" y="4855464"/>
            <a:ext cx="4471416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沿用上市公司类型属性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544068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4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实例值优先于继承值；缺省值用于组织档案，不等于现实世界已经确认的事实。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知识增强 = 推理出新事实 + 写回关系图谱 + 覆盖实例属性。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11 / 结果与验证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除了“能推出来”，还要检查“不该推的没推”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2026-10-05 本地功能复测：11 项测试通过；以下结果可在源码与日志中对应核查。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12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2295144"/>
            <a:ext cx="2496312" cy="1042415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2386584"/>
            <a:ext cx="2203704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980944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新增事实 / 135 − 53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295144"/>
            <a:ext cx="2496312" cy="1042415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5304" y="2386584"/>
            <a:ext cx="2203704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980944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自然人控制边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295144"/>
            <a:ext cx="2496312" cy="1042415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2386584"/>
            <a:ext cx="2203704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980944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风险企业 / 去重后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95144"/>
            <a:ext cx="2496312" cy="1042415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4584" y="2386584"/>
            <a:ext cx="2203704" cy="530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11 /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980944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功能测试通过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648456"/>
            <a:ext cx="704088" cy="292608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680460"/>
            <a:ext cx="576072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正例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3639312"/>
            <a:ext cx="6739128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控制关系、34.2%权益、环路节点集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648456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结论与合成案例一致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105656"/>
            <a:ext cx="704088" cy="292608"/>
          </a:xfrm>
          <a:prstGeom prst="rect">
            <a:avLst/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137660"/>
            <a:ext cx="576072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负例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4096512"/>
            <a:ext cx="6739128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星辰电子：没有错误控制人结论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4105656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没有证据时不强推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562856"/>
            <a:ext cx="704088" cy="292608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594860"/>
            <a:ext cx="576072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4553712"/>
            <a:ext cx="6739128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50%不控制；截断企业非自然人候选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4562856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避免边界误判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020056"/>
            <a:ext cx="704088" cy="292608"/>
          </a:xfrm>
          <a:prstGeom prst="rect">
            <a:avLst/>
          </a:prstGeom>
          <a:solidFill>
            <a:srgbClr val="D9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052060"/>
            <a:ext cx="576072" cy="210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一致性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5010912"/>
            <a:ext cx="6739128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框架覆盖 / 匹配 / 不动点 / SQL对照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5020056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不同机制相互验证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测试验证当前实现的逻辑与边界；真实业务的准确率和召回率仍需单独评估。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8F2843"/>
                </a:solidFill>
                <a:latin typeface="Microsoft YaHei"/>
              </a:defRPr>
            </a:pPr>
            <a:r>
              <a:rPr>
                <a:ea typeface="Microsoft YaHei"/>
              </a:rPr>
              <a:t>12 / 查询效率实验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252526"/>
                </a:solidFill>
                <a:latin typeface="Microsoft YaHei"/>
              </a:defRPr>
            </a:pPr>
            <a:r>
              <a:rPr>
                <a:ea typeface="Microsoft YaHei"/>
              </a:rPr>
              <a:t>查询越深，三种实现的耗时差异越明显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引用仓库既有基准：同一无环数据、同一路径语义，先核对结果一致，再计时。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D7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79665D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r>
              <a:rPr dirty="0">
                <a:ea typeface="Microsoft YaHei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79665D"/>
                </a:solidFill>
                <a:latin typeface="Microsoft YaHei"/>
              </a:defRPr>
            </a:pPr>
            <a:r>
              <a:rPr dirty="0">
                <a:ea typeface="Microsoft YaHei"/>
              </a:rPr>
              <a:t>13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2432304"/>
          <a:ext cx="69951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8" y="2130552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耗时 / 毫秒 / 目标（9轮中位数）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386584"/>
            <a:ext cx="3511296" cy="3090672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56032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8 层查询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0906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4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图 DFS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337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0.564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712463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4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SQL 递归 CTE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95935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1.033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334256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4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SQL 逐层 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58114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4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0.770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532120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0">
                <a:solidFill>
                  <a:srgbClr val="79665D"/>
                </a:solidFill>
                <a:latin typeface="Microsoft YaHei"/>
              </a:defRPr>
            </a:pPr>
            <a:r>
              <a:rPr>
                <a:ea typeface="Microsoft YaHei"/>
              </a:rPr>
              <a:t>430实体 · 792条边 · 20个目标 · 9轮重复；包含结果物化，不含建库与绘图。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这里只能比较当前数据与实现；“图查询普遍优于SQL”不是本实验能够支持的结论。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1207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2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13 / 总结与改进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1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下一步：增强数据可信度与推理可靠性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544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已实现知识表示、推理解释与结果回写；下一步完善数据、规则和更新机制。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E8D1B4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endParaRPr dirty="0"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E8D1B4"/>
                </a:solidFill>
                <a:latin typeface="Microsoft YaHei"/>
              </a:defRPr>
            </a:pPr>
            <a:r>
              <a:rPr dirty="0">
                <a:ea typeface="Microsoft YaHei"/>
              </a:rPr>
              <a:t>14 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2377440"/>
            <a:ext cx="3392424" cy="1874519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5420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962656"/>
            <a:ext cx="3026664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可信数据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575304"/>
            <a:ext cx="3017520" cy="6675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实体身份核验与来源凭证</a:t>
            </a:r>
            <a:endParaRPr dirty="0">
              <a:ea typeface="Microsoft YaHei"/>
            </a:endParaRP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为关系补充时间与版本</a:t>
            </a:r>
            <a:endParaRPr dirty="0"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2377440"/>
            <a:ext cx="3392424" cy="1874519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62656"/>
            <a:ext cx="3026664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可信规则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75304"/>
            <a:ext cx="3017520" cy="6675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核实控制协议与投票权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明确适用条件与冲突处理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2377440"/>
            <a:ext cx="3392424" cy="1874519"/>
          </a:xfrm>
          <a:prstGeom prst="rect">
            <a:avLst/>
          </a:prstGeom>
          <a:solidFill>
            <a:srgbClr val="8F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7615" y="25420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300" b="1">
                <a:solidFill>
                  <a:srgbClr val="F2BD58"/>
                </a:solidFill>
                <a:latin typeface="Microsoft YaHei"/>
              </a:defRPr>
            </a:pPr>
            <a:r>
              <a:rPr>
                <a:ea typeface="Microsoft YaHei"/>
              </a:rPr>
              <a:t>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962656"/>
            <a:ext cx="3026664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可信更新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3575304"/>
            <a:ext cx="3017520" cy="6675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结论随证据失效而撤回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7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改进循环权益与规模测试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08576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3300" b="1">
                <a:solidFill>
                  <a:srgbClr val="FFFFFF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让关系可计算，让结论有依据</a:t>
            </a:r>
            <a:r>
              <a:rPr dirty="0">
                <a:ea typeface="Microsoft YaHei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5431536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00" b="0">
                <a:solidFill>
                  <a:srgbClr val="E8D1B4"/>
                </a:solidFill>
                <a:latin typeface="Microsoft YaHei"/>
              </a:defRPr>
            </a:pPr>
            <a:r>
              <a:rPr>
                <a:ea typeface="Microsoft YaHei"/>
              </a:rPr>
              <a:t>参考：ICIJ Offshore Leaks · Hogan等《Knowledge Graphs》· NetworkX / SQLite文档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779008"/>
            <a:ext cx="11137392" cy="438912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61304"/>
            <a:ext cx="10762488" cy="283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600" b="1">
                <a:solidFill>
                  <a:srgbClr val="551C30"/>
                </a:solidFill>
                <a:latin typeface="Microsoft YaHei"/>
              </a:defRPr>
            </a:pPr>
            <a:r>
              <a:rPr>
                <a:ea typeface="Microsoft YaHei"/>
              </a:rPr>
              <a:t>三种表示协同：图谱找路径 → 规则推结论 → 框架存档案 → 测试核对边界。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1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AEB8F-3002-89A5-4FD7-698461F1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A6DDB8-2104-6A32-BDA7-7E2F74212E28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E0DF51F-6498-DC25-0A0E-A144EAC5CCE6}"/>
              </a:ext>
            </a:extLst>
          </p:cNvPr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890">
            <a:solidFill>
              <a:srgbClr val="B8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06DBE6-9BA6-6AB4-4FE1-A713CE053B97}"/>
              </a:ext>
            </a:extLst>
          </p:cNvPr>
          <p:cNvSpPr txBox="1"/>
          <p:nvPr/>
        </p:nvSpPr>
        <p:spPr>
          <a:xfrm>
            <a:off x="521207" y="651967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900" b="0">
                <a:solidFill>
                  <a:srgbClr val="E8D1B4"/>
                </a:solidFill>
                <a:latin typeface="Microsoft YaHei"/>
              </a:defRPr>
            </a:pPr>
            <a:r>
              <a:rPr dirty="0" err="1">
                <a:ea typeface="Microsoft YaHei"/>
              </a:rPr>
              <a:t>人工智能</a:t>
            </a:r>
            <a:r>
              <a:rPr dirty="0">
                <a:ea typeface="Microsoft YaHei"/>
              </a:rPr>
              <a:t>  /  </a:t>
            </a:r>
            <a:r>
              <a:rPr dirty="0" err="1">
                <a:ea typeface="Microsoft YaHei"/>
              </a:rPr>
              <a:t>企业股权知识表示与风险推理</a:t>
            </a:r>
            <a:endParaRPr dirty="0">
              <a:ea typeface="Microsoft YaHe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6B229A-E53A-10D0-3070-621D2D516692}"/>
              </a:ext>
            </a:extLst>
          </p:cNvPr>
          <p:cNvSpPr txBox="1"/>
          <p:nvPr/>
        </p:nvSpPr>
        <p:spPr>
          <a:xfrm>
            <a:off x="11091672" y="6492240"/>
            <a:ext cx="585216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  <a:defRPr sz="1000" b="0">
                <a:solidFill>
                  <a:srgbClr val="E8D1B4"/>
                </a:solidFill>
                <a:latin typeface="Microsoft YaHei"/>
              </a:defRPr>
            </a:pPr>
            <a:r>
              <a:rPr dirty="0">
                <a:ea typeface="Microsoft YaHei"/>
              </a:rPr>
              <a:t>1</a:t>
            </a:r>
            <a:r>
              <a:rPr lang="en-US" dirty="0">
                <a:ea typeface="Microsoft YaHei"/>
              </a:rPr>
              <a:t>5</a:t>
            </a:r>
            <a:r>
              <a:rPr dirty="0">
                <a:ea typeface="Microsoft YaHei"/>
              </a:rPr>
              <a:t>/ 1</a:t>
            </a:r>
            <a:r>
              <a:rPr lang="en-US" dirty="0">
                <a:ea typeface="Microsoft YaHei"/>
              </a:rPr>
              <a:t>5</a:t>
            </a:r>
            <a:endParaRPr dirty="0">
              <a:ea typeface="Microsoft YaHe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738608-373A-B00F-5D15-EA74A9EFBDA6}"/>
              </a:ext>
            </a:extLst>
          </p:cNvPr>
          <p:cNvSpPr/>
          <p:nvPr/>
        </p:nvSpPr>
        <p:spPr>
          <a:xfrm>
            <a:off x="3872191" y="2577787"/>
            <a:ext cx="4444570" cy="1819656"/>
          </a:xfrm>
          <a:prstGeom prst="rect">
            <a:avLst/>
          </a:prstGeom>
          <a:solidFill>
            <a:srgbClr val="F2B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组长：梁镇贤</a:t>
            </a:r>
            <a:endParaRPr lang="en-US" altLang="zh-CN" dirty="0">
              <a:solidFill>
                <a:schemeClr val="tx1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组员：陈宗波</a:t>
            </a:r>
            <a:r>
              <a:rPr lang="en-US" altLang="zh-CN" dirty="0">
                <a:solidFill>
                  <a:schemeClr val="tx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温文辉    陈宇冲    刘亦达</a:t>
            </a:r>
            <a:endParaRPr lang="en-US" altLang="zh-CN" dirty="0">
              <a:solidFill>
                <a:schemeClr val="tx1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pPr algn="ctr"/>
            <a:endParaRPr dirty="0">
              <a:solidFill>
                <a:schemeClr val="tx1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43ACE9-26E5-1D0E-F784-A64B345E4AC1}"/>
              </a:ext>
            </a:extLst>
          </p:cNvPr>
          <p:cNvSpPr txBox="1"/>
          <p:nvPr/>
        </p:nvSpPr>
        <p:spPr>
          <a:xfrm>
            <a:off x="5133183" y="1882338"/>
            <a:ext cx="2485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谢谢观看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8908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2401</Words>
  <Application>Microsoft Office PowerPoint</Application>
  <PresentationFormat>宽屏</PresentationFormat>
  <Paragraphs>447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SC Black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企业股权知识表示与风险推理｜暖色增强版</dc:title>
  <dc:subject>企业股权分析项目；14页；酒红与琥珀金；可编辑图表与关系图</dc:subject>
  <dc:creator>项目团队</dc:creator>
  <cp:keywords>知识图谱,产生式,框架,股权穿透,风险推理</cp:keywords>
  <dc:description>generated using python-pptx</dc:description>
  <cp:lastModifiedBy>梁镇贤</cp:lastModifiedBy>
  <cp:revision>3</cp:revision>
  <dcterms:created xsi:type="dcterms:W3CDTF">2013-01-27T09:14:16Z</dcterms:created>
  <dcterms:modified xsi:type="dcterms:W3CDTF">2026-10-05T07:20:06Z</dcterms:modified>
  <cp:category/>
</cp:coreProperties>
</file>